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329" r:id="rId6"/>
    <p:sldId id="330" r:id="rId7"/>
    <p:sldId id="260" r:id="rId8"/>
    <p:sldId id="327" r:id="rId9"/>
    <p:sldId id="328" r:id="rId10"/>
    <p:sldId id="261" r:id="rId11"/>
    <p:sldId id="325" r:id="rId12"/>
    <p:sldId id="326" r:id="rId13"/>
    <p:sldId id="262" r:id="rId14"/>
    <p:sldId id="323" r:id="rId15"/>
    <p:sldId id="324" r:id="rId16"/>
    <p:sldId id="263" r:id="rId17"/>
    <p:sldId id="322" r:id="rId18"/>
    <p:sldId id="264" r:id="rId19"/>
    <p:sldId id="321" r:id="rId20"/>
    <p:sldId id="265" r:id="rId21"/>
    <p:sldId id="266" r:id="rId22"/>
    <p:sldId id="318" r:id="rId23"/>
    <p:sldId id="319" r:id="rId24"/>
    <p:sldId id="320" r:id="rId25"/>
    <p:sldId id="267" r:id="rId26"/>
    <p:sldId id="316" r:id="rId27"/>
    <p:sldId id="317" r:id="rId28"/>
    <p:sldId id="268" r:id="rId29"/>
    <p:sldId id="313" r:id="rId30"/>
    <p:sldId id="314" r:id="rId31"/>
    <p:sldId id="315" r:id="rId32"/>
    <p:sldId id="269" r:id="rId33"/>
    <p:sldId id="311" r:id="rId34"/>
    <p:sldId id="312" r:id="rId35"/>
    <p:sldId id="270" r:id="rId36"/>
    <p:sldId id="309" r:id="rId37"/>
    <p:sldId id="310" r:id="rId38"/>
    <p:sldId id="271" r:id="rId39"/>
    <p:sldId id="272" r:id="rId40"/>
    <p:sldId id="306" r:id="rId41"/>
    <p:sldId id="307" r:id="rId42"/>
    <p:sldId id="308" r:id="rId43"/>
    <p:sldId id="273" r:id="rId44"/>
    <p:sldId id="304" r:id="rId45"/>
    <p:sldId id="305" r:id="rId46"/>
    <p:sldId id="274" r:id="rId47"/>
    <p:sldId id="301" r:id="rId48"/>
    <p:sldId id="302" r:id="rId49"/>
    <p:sldId id="303" r:id="rId50"/>
    <p:sldId id="275" r:id="rId51"/>
    <p:sldId id="299" r:id="rId52"/>
    <p:sldId id="300" r:id="rId53"/>
    <p:sldId id="276" r:id="rId54"/>
    <p:sldId id="277" r:id="rId55"/>
    <p:sldId id="297" r:id="rId56"/>
    <p:sldId id="298" r:id="rId57"/>
    <p:sldId id="278" r:id="rId58"/>
    <p:sldId id="294" r:id="rId59"/>
    <p:sldId id="295" r:id="rId60"/>
    <p:sldId id="296" r:id="rId61"/>
    <p:sldId id="279" r:id="rId62"/>
    <p:sldId id="293" r:id="rId63"/>
    <p:sldId id="280" r:id="rId64"/>
    <p:sldId id="291" r:id="rId65"/>
    <p:sldId id="292" r:id="rId66"/>
    <p:sldId id="281" r:id="rId67"/>
    <p:sldId id="288" r:id="rId68"/>
    <p:sldId id="289" r:id="rId69"/>
    <p:sldId id="290" r:id="rId70"/>
    <p:sldId id="282" r:id="rId71"/>
    <p:sldId id="283" r:id="rId72"/>
    <p:sldId id="286" r:id="rId73"/>
    <p:sldId id="287" r:id="rId74"/>
    <p:sldId id="284" r:id="rId75"/>
    <p:sldId id="285" r:id="rId7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BE4FE-0E36-89E9-6217-C7E88CEBE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44BAAD-4788-3DEB-14C6-70EE25F0A6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01A0F-69B0-CED3-FB6F-FF6399A43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E769-E875-4546-A98C-6D175C9D3A4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0EF42-99CB-7011-887D-E611D2E36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837C1-6AB7-2DD4-2A3C-287A64206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152CE-C7C2-4AE1-B8CA-B205CD150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521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C81F1-42C9-EB32-ED4D-A5F811FBE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AB3D5-5F9C-F982-9B3E-495A3F48E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61BA1-BE47-9842-58DC-3D6C99E6C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E769-E875-4546-A98C-6D175C9D3A4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A1931-3A72-1F9B-C2CD-BD91E5CDE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E205C-5A9D-E767-4952-EF06C9307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152CE-C7C2-4AE1-B8CA-B205CD150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386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32231-1574-4F8F-000F-97F5DE88F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9"/>
            <a:ext cx="15773400" cy="427910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1AED15-EF10-D2A9-55FA-33EB4FF762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7"/>
            <a:ext cx="15773400" cy="225028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E092D-B987-993F-F5B2-6AFA13E96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E769-E875-4546-A98C-6D175C9D3A4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B4482-9586-9AB0-2003-A555831F3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B2814-8CD0-6CE4-4A9F-24DEA873C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152CE-C7C2-4AE1-B8CA-B205CD150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76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58B00-9699-2D9F-E323-9993180C0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89F58-E77D-2019-0AF5-349604661B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41E4F3-13BF-2868-0DBC-8C1BD2A917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38B542-ABD9-3A62-0E1D-E3F5CDDC3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E769-E875-4546-A98C-6D175C9D3A4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EBDA11-56C4-8FC7-0015-4A509655D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501D2-AC82-285C-81EC-C47DE6237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152CE-C7C2-4AE1-B8CA-B205CD150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642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33C9C-E801-B804-6EA0-6F8978511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90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55ACCC-D5C5-4A43-075B-9B83EFD80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4" y="2521745"/>
            <a:ext cx="7736681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4DAD7F-F444-AF91-6F59-52BEFB374B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4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2491BB-94FE-C1D7-15A6-7036D500FA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F7270-81AB-0C30-6FB9-17E4340758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48603A-3A91-1786-7613-B1C7FAB11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E769-E875-4546-A98C-6D175C9D3A4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5C1E78-F843-AE07-D1D7-8F4B4FEBD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3B1473-DA41-07E7-2B81-EDA3F12F8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152CE-C7C2-4AE1-B8CA-B205CD150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125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D88D9-4AA8-275E-72EE-012E37543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D59BC0-6641-FBDC-932D-F59F95159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E769-E875-4546-A98C-6D175C9D3A4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28EFD1-F9A2-4EFC-CD93-5370C07B5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3D5419-AF58-8099-9567-995AC9562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152CE-C7C2-4AE1-B8CA-B205CD150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507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1F330D-2019-9E60-50D0-20FBFCFE0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E769-E875-4546-A98C-6D175C9D3A4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C68C58-7440-992B-D43C-F704BCD58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7A238-7C3E-DDCC-F8E3-491D48ADA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152CE-C7C2-4AE1-B8CA-B205CD150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94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DAE5A-3773-BF21-E1FD-49501F2CB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679E0-28A3-0EFE-9085-CF3326ECF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F4D7C0-5ADE-BA40-2B75-CA69B75DDD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E4E06E-1426-6FF0-C80F-DDA5D5971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E769-E875-4546-A98C-6D175C9D3A4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AC9626-C4A7-E8AC-E648-AC1227B51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E48EC8-2FE1-1420-5EEB-69C799294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152CE-C7C2-4AE1-B8CA-B205CD150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042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FE162-A4B6-A16E-B3B8-21A8CA69F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960F6F-14D7-8C28-00A1-C4C00CD9895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5B551A-147A-8A82-AA5D-B99BA82FDD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E1D987-DD84-AB43-1C77-2E098CAE2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E769-E875-4546-A98C-6D175C9D3A4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6A5A1F-14D9-F7AD-1219-E4C5BD93A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884178-67FE-B1F1-ECBE-6BE8B4EBF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152CE-C7C2-4AE1-B8CA-B205CD150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568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10232-3515-6DA7-AE50-0C904947B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CE67E-50EC-DB57-BE76-D312E794AE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12B5D-F5CA-27F2-3BD0-740B21053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E769-E875-4546-A98C-6D175C9D3A4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E2A5F-94E8-7DD2-7947-6D3FA43D6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CB51B-1E87-78D4-3F2C-9D0DECA25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152CE-C7C2-4AE1-B8CA-B205CD150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258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D72C2E-E157-E8F8-9042-C1286A4230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057498-8BFC-F222-F8EB-6F217686A5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41F19-FFB8-4DF3-030F-9BEB2844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E769-E875-4546-A98C-6D175C9D3A4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5C159-AC1E-2972-415D-ABC3219F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E951F-A34F-961B-4455-780C79B6A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152CE-C7C2-4AE1-B8CA-B205CD150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170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ECD11-B291-BB2C-B484-6C3703254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90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CA428-658B-DE7F-6E2D-A43A3241E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44419-7DC5-2C15-F962-9FFAF5C815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C4E769-E875-4546-A98C-6D175C9D3A48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1CF00-62DB-9114-179C-F4151544E5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AE96E-2F7D-6E42-71CC-B5D9440BA1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F152CE-C7C2-4AE1-B8CA-B205CD150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800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8.png"/><Relationship Id="rId4" Type="http://schemas.openxmlformats.org/officeDocument/2006/relationships/image" Target="../media/image36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6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tle #nochrome 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7F65827-BF1F-FFA9-0F65-347A5CD8D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3175000"/>
            <a:ext cx="9652000" cy="1651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12000">
                <a:solidFill>
                  <a:srgbClr val="15241D"/>
                </a:solidFill>
                <a:latin typeface="Bebas Neue" panose="020B0606020202050201" pitchFamily="34" charset="0"/>
              </a:rPr>
              <a:t>MOSFETs</a:t>
            </a:r>
          </a:p>
        </p:txBody>
      </p:sp>
      <p:sp>
        <p:nvSpPr>
          <p:cNvPr id="3" name="geo">
            <a:extLst>
              <a:ext uri="{FF2B5EF4-FFF2-40B4-BE49-F238E27FC236}">
                <a16:creationId xmlns:a16="http://schemas.microsoft.com/office/drawing/2014/main" id="{2658E693-3E6F-3B4E-4D69-D11B039A5BC3}"/>
              </a:ext>
            </a:extLst>
          </p:cNvPr>
          <p:cNvSpPr/>
          <p:nvPr/>
        </p:nvSpPr>
        <p:spPr>
          <a:xfrm>
            <a:off x="-635000" y="0"/>
            <a:ext cx="3810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eo">
            <a:extLst>
              <a:ext uri="{FF2B5EF4-FFF2-40B4-BE49-F238E27FC236}">
                <a16:creationId xmlns:a16="http://schemas.microsoft.com/office/drawing/2014/main" id="{D336A7D8-CDF1-12DE-FA9D-A90C15A4E971}"/>
              </a:ext>
            </a:extLst>
          </p:cNvPr>
          <p:cNvSpPr/>
          <p:nvPr/>
        </p:nvSpPr>
        <p:spPr>
          <a:xfrm>
            <a:off x="2946400" y="0"/>
            <a:ext cx="889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eo">
            <a:extLst>
              <a:ext uri="{FF2B5EF4-FFF2-40B4-BE49-F238E27FC236}">
                <a16:creationId xmlns:a16="http://schemas.microsoft.com/office/drawing/2014/main" id="{890F7548-2BC9-D9EB-C170-2FBE3C5BDAE1}"/>
              </a:ext>
            </a:extLst>
          </p:cNvPr>
          <p:cNvSpPr/>
          <p:nvPr/>
        </p:nvSpPr>
        <p:spPr>
          <a:xfrm>
            <a:off x="3810000" y="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eo">
            <a:extLst>
              <a:ext uri="{FF2B5EF4-FFF2-40B4-BE49-F238E27FC236}">
                <a16:creationId xmlns:a16="http://schemas.microsoft.com/office/drawing/2014/main" id="{20E9EAAF-7359-052A-2991-1CB70A9E546B}"/>
              </a:ext>
            </a:extLst>
          </p:cNvPr>
          <p:cNvSpPr/>
          <p:nvPr/>
        </p:nvSpPr>
        <p:spPr>
          <a:xfrm>
            <a:off x="15875000" y="0"/>
            <a:ext cx="3175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eo">
            <a:extLst>
              <a:ext uri="{FF2B5EF4-FFF2-40B4-BE49-F238E27FC236}">
                <a16:creationId xmlns:a16="http://schemas.microsoft.com/office/drawing/2014/main" id="{D2C910A9-0B90-0DF0-764F-641FF61EF111}"/>
              </a:ext>
            </a:extLst>
          </p:cNvPr>
          <p:cNvSpPr/>
          <p:nvPr/>
        </p:nvSpPr>
        <p:spPr>
          <a:xfrm>
            <a:off x="-635000" y="9575800"/>
            <a:ext cx="2540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geo">
            <a:extLst>
              <a:ext uri="{FF2B5EF4-FFF2-40B4-BE49-F238E27FC236}">
                <a16:creationId xmlns:a16="http://schemas.microsoft.com/office/drawing/2014/main" id="{862C832D-FDAB-CFFD-96A6-D02095B1FC8A}"/>
              </a:ext>
            </a:extLst>
          </p:cNvPr>
          <p:cNvSpPr/>
          <p:nvPr/>
        </p:nvSpPr>
        <p:spPr>
          <a:xfrm>
            <a:off x="1905000" y="1010920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eo">
            <a:extLst>
              <a:ext uri="{FF2B5EF4-FFF2-40B4-BE49-F238E27FC236}">
                <a16:creationId xmlns:a16="http://schemas.microsoft.com/office/drawing/2014/main" id="{603139C7-C4C9-0840-8FF6-81AECC265617}"/>
              </a:ext>
            </a:extLst>
          </p:cNvPr>
          <p:cNvSpPr/>
          <p:nvPr/>
        </p:nvSpPr>
        <p:spPr>
          <a:xfrm>
            <a:off x="14986000" y="9575800"/>
            <a:ext cx="4064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eo">
            <a:extLst>
              <a:ext uri="{FF2B5EF4-FFF2-40B4-BE49-F238E27FC236}">
                <a16:creationId xmlns:a16="http://schemas.microsoft.com/office/drawing/2014/main" id="{52EDF25C-7535-EA0B-9A4A-95E45F65329E}"/>
              </a:ext>
            </a:extLst>
          </p:cNvPr>
          <p:cNvSpPr/>
          <p:nvPr/>
        </p:nvSpPr>
        <p:spPr>
          <a:xfrm>
            <a:off x="14097000" y="9575800"/>
            <a:ext cx="8128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ag">
            <a:extLst>
              <a:ext uri="{FF2B5EF4-FFF2-40B4-BE49-F238E27FC236}">
                <a16:creationId xmlns:a16="http://schemas.microsoft.com/office/drawing/2014/main" id="{E5C99AF8-837D-10A1-340B-21016EF53EFA}"/>
              </a:ext>
            </a:extLst>
          </p:cNvPr>
          <p:cNvSpPr/>
          <p:nvPr/>
        </p:nvSpPr>
        <p:spPr>
          <a:xfrm>
            <a:off x="1016000" y="2540000"/>
            <a:ext cx="552043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25CPES102  ·  ELECTRONIC MATERIALS AND DEVICES</a:t>
            </a:r>
          </a:p>
        </p:txBody>
      </p:sp>
      <p:sp>
        <p:nvSpPr>
          <p:cNvPr id="12" name="subtitle">
            <a:extLst>
              <a:ext uri="{FF2B5EF4-FFF2-40B4-BE49-F238E27FC236}">
                <a16:creationId xmlns:a16="http://schemas.microsoft.com/office/drawing/2014/main" id="{C5EF766F-D08B-805C-DF0B-861649DD46F8}"/>
              </a:ext>
            </a:extLst>
          </p:cNvPr>
          <p:cNvSpPr txBox="1"/>
          <p:nvPr/>
        </p:nvSpPr>
        <p:spPr>
          <a:xfrm>
            <a:off x="1016000" y="4927599"/>
            <a:ext cx="88900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4D5B54"/>
                </a:solidFill>
                <a:latin typeface="DM Sans" pitchFamily="2" charset="0"/>
              </a:rPr>
              <a:t>Metal-oxide-semiconductor</a:t>
            </a:r>
          </a:p>
          <a:p>
            <a:r>
              <a:rPr lang="en-US" sz="2800">
                <a:solidFill>
                  <a:srgbClr val="4D5B54"/>
                </a:solidFill>
                <a:latin typeface="DM Sans" pitchFamily="2" charset="0"/>
              </a:rPr>
              <a:t>field-effect transistors</a:t>
            </a:r>
          </a:p>
        </p:txBody>
      </p:sp>
      <p:sp>
        <p:nvSpPr>
          <p:cNvPr id="13" name="lecture">
            <a:extLst>
              <a:ext uri="{FF2B5EF4-FFF2-40B4-BE49-F238E27FC236}">
                <a16:creationId xmlns:a16="http://schemas.microsoft.com/office/drawing/2014/main" id="{91C77FE3-76AB-F085-8982-AE18ABCE0B90}"/>
              </a:ext>
            </a:extLst>
          </p:cNvPr>
          <p:cNvSpPr txBox="1"/>
          <p:nvPr/>
        </p:nvSpPr>
        <p:spPr>
          <a:xfrm>
            <a:off x="1016000" y="6095999"/>
            <a:ext cx="5080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400">
                <a:solidFill>
                  <a:srgbClr val="B8581A"/>
                </a:solidFill>
                <a:latin typeface="Bebas Neue" panose="020B0606020202050201" pitchFamily="34" charset="0"/>
              </a:rPr>
              <a:t>LECTURE 3</a:t>
            </a:r>
          </a:p>
        </p:txBody>
      </p:sp>
      <p:sp>
        <p:nvSpPr>
          <p:cNvPr id="14" name="author">
            <a:extLst>
              <a:ext uri="{FF2B5EF4-FFF2-40B4-BE49-F238E27FC236}">
                <a16:creationId xmlns:a16="http://schemas.microsoft.com/office/drawing/2014/main" id="{F9A3C998-0056-A0C8-29CA-57F5E65E9E47}"/>
              </a:ext>
            </a:extLst>
          </p:cNvPr>
          <p:cNvSpPr txBox="1"/>
          <p:nvPr/>
        </p:nvSpPr>
        <p:spPr>
          <a:xfrm>
            <a:off x="1016000" y="7619999"/>
            <a:ext cx="889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 b="1">
                <a:solidFill>
                  <a:srgbClr val="15241D"/>
                </a:solidFill>
                <a:latin typeface="DM Sans" pitchFamily="2" charset="0"/>
              </a:rPr>
              <a:t>Dr. Zahraa Ismail</a:t>
            </a:r>
          </a:p>
        </p:txBody>
      </p:sp>
      <p:sp>
        <p:nvSpPr>
          <p:cNvPr id="15" name="meta">
            <a:extLst>
              <a:ext uri="{FF2B5EF4-FFF2-40B4-BE49-F238E27FC236}">
                <a16:creationId xmlns:a16="http://schemas.microsoft.com/office/drawing/2014/main" id="{A86DBC8B-26A7-BB0B-CF08-BA64BF38E18A}"/>
              </a:ext>
            </a:extLst>
          </p:cNvPr>
          <p:cNvSpPr txBox="1"/>
          <p:nvPr/>
        </p:nvSpPr>
        <p:spPr>
          <a:xfrm>
            <a:off x="1016000" y="8026399"/>
            <a:ext cx="9652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D5B54"/>
                </a:solidFill>
                <a:latin typeface="DM Sans" pitchFamily="2" charset="0"/>
              </a:rPr>
              <a:t>Computer Engineering  ·  Academic Year 2025/2026 · Semester One</a:t>
            </a:r>
          </a:p>
        </p:txBody>
      </p:sp>
      <p:sp>
        <p:nvSpPr>
          <p:cNvPr id="16" name="figure card">
            <a:extLst>
              <a:ext uri="{FF2B5EF4-FFF2-40B4-BE49-F238E27FC236}">
                <a16:creationId xmlns:a16="http://schemas.microsoft.com/office/drawing/2014/main" id="{A855445B-7E87-FD4E-7CFE-683A70870D7E}"/>
              </a:ext>
            </a:extLst>
          </p:cNvPr>
          <p:cNvSpPr/>
          <p:nvPr/>
        </p:nvSpPr>
        <p:spPr>
          <a:xfrm>
            <a:off x="10160000" y="3048000"/>
            <a:ext cx="7366000" cy="3343597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igure card">
            <a:extLst>
              <a:ext uri="{FF2B5EF4-FFF2-40B4-BE49-F238E27FC236}">
                <a16:creationId xmlns:a16="http://schemas.microsoft.com/office/drawing/2014/main" id="{4713FB6F-C281-EEE0-18EA-5704B23A8230}"/>
              </a:ext>
            </a:extLst>
          </p:cNvPr>
          <p:cNvSpPr/>
          <p:nvPr/>
        </p:nvSpPr>
        <p:spPr>
          <a:xfrm>
            <a:off x="10160000" y="3035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figure">
            <a:extLst>
              <a:ext uri="{FF2B5EF4-FFF2-40B4-BE49-F238E27FC236}">
                <a16:creationId xmlns:a16="http://schemas.microsoft.com/office/drawing/2014/main" id="{E4CC3BFE-B056-C18C-ACA5-0BE7F5C0B1F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4000" y="3302000"/>
            <a:ext cx="6858000" cy="2606997"/>
          </a:xfrm>
          <a:prstGeom prst="rect">
            <a:avLst/>
          </a:prstGeom>
        </p:spPr>
      </p:pic>
      <p:sp>
        <p:nvSpPr>
          <p:cNvPr id="20" name="credit">
            <a:extLst>
              <a:ext uri="{FF2B5EF4-FFF2-40B4-BE49-F238E27FC236}">
                <a16:creationId xmlns:a16="http://schemas.microsoft.com/office/drawing/2014/main" id="{38C0908A-01DB-82D1-BE5F-A120478E440A}"/>
              </a:ext>
            </a:extLst>
          </p:cNvPr>
          <p:cNvSpPr txBox="1"/>
          <p:nvPr/>
        </p:nvSpPr>
        <p:spPr>
          <a:xfrm>
            <a:off x="10414000" y="6035997"/>
            <a:ext cx="6858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</p:spTree>
    <p:extLst>
      <p:ext uri="{BB962C8B-B14F-4D97-AF65-F5344CB8AC3E}">
        <p14:creationId xmlns:p14="http://schemas.microsoft.com/office/powerpoint/2010/main" val="4200321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ap 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BD3D88F-B1AA-5CAF-6297-51EB97F81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Lecture map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23548639-274F-2D73-4579-A28D1D03EEED}"/>
              </a:ext>
            </a:extLst>
          </p:cNvPr>
          <p:cNvSpPr/>
          <p:nvPr/>
        </p:nvSpPr>
        <p:spPr>
          <a:xfrm>
            <a:off x="914400" y="279400"/>
            <a:ext cx="1488694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LECTURE 3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25D93A8D-97DD-F15E-38D3-D7169A4340EE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2BAD0D63-4D1B-C01B-0880-DCC660C41C34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map n">
            <a:extLst>
              <a:ext uri="{FF2B5EF4-FFF2-40B4-BE49-F238E27FC236}">
                <a16:creationId xmlns:a16="http://schemas.microsoft.com/office/drawing/2014/main" id="{80CF01BA-24A2-89D0-4917-6BCDCBB96F33}"/>
              </a:ext>
            </a:extLst>
          </p:cNvPr>
          <p:cNvSpPr/>
          <p:nvPr/>
        </p:nvSpPr>
        <p:spPr>
          <a:xfrm>
            <a:off x="914400" y="2286000"/>
            <a:ext cx="584200" cy="5842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3000">
                <a:solidFill>
                  <a:srgbClr val="FFFFFF"/>
                </a:solidFill>
                <a:latin typeface="Bebas Neue" panose="020B0606020202050201" pitchFamily="34" charset="0"/>
              </a:rPr>
              <a:t>1</a:t>
            </a:r>
          </a:p>
        </p:txBody>
      </p:sp>
      <p:sp>
        <p:nvSpPr>
          <p:cNvPr id="7" name="map t">
            <a:extLst>
              <a:ext uri="{FF2B5EF4-FFF2-40B4-BE49-F238E27FC236}">
                <a16:creationId xmlns:a16="http://schemas.microsoft.com/office/drawing/2014/main" id="{52CE052F-3717-5213-F07F-6A944C516AB3}"/>
              </a:ext>
            </a:extLst>
          </p:cNvPr>
          <p:cNvSpPr txBox="1"/>
          <p:nvPr/>
        </p:nvSpPr>
        <p:spPr>
          <a:xfrm>
            <a:off x="1752600" y="2260599"/>
            <a:ext cx="8128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15241D"/>
                </a:solidFill>
                <a:latin typeface="DM Sans" pitchFamily="2" charset="0"/>
              </a:rPr>
              <a:t>Structure and operation</a:t>
            </a:r>
          </a:p>
        </p:txBody>
      </p:sp>
      <p:sp>
        <p:nvSpPr>
          <p:cNvPr id="8" name="map s">
            <a:extLst>
              <a:ext uri="{FF2B5EF4-FFF2-40B4-BE49-F238E27FC236}">
                <a16:creationId xmlns:a16="http://schemas.microsoft.com/office/drawing/2014/main" id="{B989142A-0456-E334-FB8B-05813B22A671}"/>
              </a:ext>
            </a:extLst>
          </p:cNvPr>
          <p:cNvSpPr txBox="1"/>
          <p:nvPr/>
        </p:nvSpPr>
        <p:spPr>
          <a:xfrm>
            <a:off x="1752600" y="2641599"/>
            <a:ext cx="8128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4D5B54"/>
                </a:solidFill>
                <a:latin typeface="DM Sans" pitchFamily="2" charset="0"/>
              </a:rPr>
              <a:t>how a channel forms; the threshold voltage</a:t>
            </a:r>
          </a:p>
        </p:txBody>
      </p:sp>
      <p:sp>
        <p:nvSpPr>
          <p:cNvPr id="9" name="map n">
            <a:extLst>
              <a:ext uri="{FF2B5EF4-FFF2-40B4-BE49-F238E27FC236}">
                <a16:creationId xmlns:a16="http://schemas.microsoft.com/office/drawing/2014/main" id="{EC1EA900-D05A-4579-D107-94FF6544271A}"/>
              </a:ext>
            </a:extLst>
          </p:cNvPr>
          <p:cNvSpPr/>
          <p:nvPr/>
        </p:nvSpPr>
        <p:spPr>
          <a:xfrm>
            <a:off x="914400" y="3479800"/>
            <a:ext cx="584200" cy="5842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3000">
                <a:solidFill>
                  <a:srgbClr val="FFFFFF"/>
                </a:solidFill>
                <a:latin typeface="Bebas Neue" panose="020B0606020202050201" pitchFamily="34" charset="0"/>
              </a:rPr>
              <a:t>2</a:t>
            </a:r>
          </a:p>
        </p:txBody>
      </p:sp>
      <p:sp>
        <p:nvSpPr>
          <p:cNvPr id="10" name="map t">
            <a:extLst>
              <a:ext uri="{FF2B5EF4-FFF2-40B4-BE49-F238E27FC236}">
                <a16:creationId xmlns:a16="http://schemas.microsoft.com/office/drawing/2014/main" id="{D97A1714-F813-E965-F020-76318C6EBE02}"/>
              </a:ext>
            </a:extLst>
          </p:cNvPr>
          <p:cNvSpPr txBox="1"/>
          <p:nvPr/>
        </p:nvSpPr>
        <p:spPr>
          <a:xfrm>
            <a:off x="1752600" y="3454399"/>
            <a:ext cx="8128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15241D"/>
                </a:solidFill>
                <a:latin typeface="DM Sans" pitchFamily="2" charset="0"/>
              </a:rPr>
              <a:t>I–V characteristics</a:t>
            </a:r>
          </a:p>
        </p:txBody>
      </p:sp>
      <p:sp>
        <p:nvSpPr>
          <p:cNvPr id="11" name="map s">
            <a:extLst>
              <a:ext uri="{FF2B5EF4-FFF2-40B4-BE49-F238E27FC236}">
                <a16:creationId xmlns:a16="http://schemas.microsoft.com/office/drawing/2014/main" id="{DD5C7BB2-5D13-F0B0-3A90-EB2A4468D28A}"/>
              </a:ext>
            </a:extLst>
          </p:cNvPr>
          <p:cNvSpPr txBox="1"/>
          <p:nvPr/>
        </p:nvSpPr>
        <p:spPr>
          <a:xfrm>
            <a:off x="1752600" y="3835399"/>
            <a:ext cx="8128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4D5B54"/>
                </a:solidFill>
                <a:latin typeface="DM Sans" pitchFamily="2" charset="0"/>
              </a:rPr>
              <a:t>cutoff, triode and saturation</a:t>
            </a:r>
          </a:p>
        </p:txBody>
      </p:sp>
      <p:sp>
        <p:nvSpPr>
          <p:cNvPr id="12" name="map n">
            <a:extLst>
              <a:ext uri="{FF2B5EF4-FFF2-40B4-BE49-F238E27FC236}">
                <a16:creationId xmlns:a16="http://schemas.microsoft.com/office/drawing/2014/main" id="{2ACEAD01-D67C-0244-10F3-FB3AEC3AB5F1}"/>
              </a:ext>
            </a:extLst>
          </p:cNvPr>
          <p:cNvSpPr/>
          <p:nvPr/>
        </p:nvSpPr>
        <p:spPr>
          <a:xfrm>
            <a:off x="914400" y="4673600"/>
            <a:ext cx="584200" cy="5842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3000">
                <a:solidFill>
                  <a:srgbClr val="FFFFFF"/>
                </a:solidFill>
                <a:latin typeface="Bebas Neue" panose="020B0606020202050201" pitchFamily="34" charset="0"/>
              </a:rPr>
              <a:t>3</a:t>
            </a:r>
          </a:p>
        </p:txBody>
      </p:sp>
      <p:sp>
        <p:nvSpPr>
          <p:cNvPr id="13" name="map t">
            <a:extLst>
              <a:ext uri="{FF2B5EF4-FFF2-40B4-BE49-F238E27FC236}">
                <a16:creationId xmlns:a16="http://schemas.microsoft.com/office/drawing/2014/main" id="{1D7F4110-E437-4FA6-3BB1-C9B53F383526}"/>
              </a:ext>
            </a:extLst>
          </p:cNvPr>
          <p:cNvSpPr txBox="1"/>
          <p:nvPr/>
        </p:nvSpPr>
        <p:spPr>
          <a:xfrm>
            <a:off x="1752600" y="4648199"/>
            <a:ext cx="8128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15241D"/>
                </a:solidFill>
                <a:latin typeface="DM Sans" pitchFamily="2" charset="0"/>
              </a:rPr>
              <a:t>MOSFETs in DC circuits</a:t>
            </a:r>
          </a:p>
        </p:txBody>
      </p:sp>
      <p:sp>
        <p:nvSpPr>
          <p:cNvPr id="14" name="map s">
            <a:extLst>
              <a:ext uri="{FF2B5EF4-FFF2-40B4-BE49-F238E27FC236}">
                <a16:creationId xmlns:a16="http://schemas.microsoft.com/office/drawing/2014/main" id="{FA9C0201-2626-DB3F-CFAF-B76CED8266B5}"/>
              </a:ext>
            </a:extLst>
          </p:cNvPr>
          <p:cNvSpPr txBox="1"/>
          <p:nvPr/>
        </p:nvSpPr>
        <p:spPr>
          <a:xfrm>
            <a:off x="1752600" y="5029199"/>
            <a:ext cx="8128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4D5B54"/>
                </a:solidFill>
                <a:latin typeface="DM Sans" pitchFamily="2" charset="0"/>
              </a:rPr>
              <a:t>finding the operating point</a:t>
            </a:r>
          </a:p>
        </p:txBody>
      </p:sp>
      <p:sp>
        <p:nvSpPr>
          <p:cNvPr id="15" name="map n">
            <a:extLst>
              <a:ext uri="{FF2B5EF4-FFF2-40B4-BE49-F238E27FC236}">
                <a16:creationId xmlns:a16="http://schemas.microsoft.com/office/drawing/2014/main" id="{2D3A1D5A-4606-5721-7739-1E08D132DA4D}"/>
              </a:ext>
            </a:extLst>
          </p:cNvPr>
          <p:cNvSpPr/>
          <p:nvPr/>
        </p:nvSpPr>
        <p:spPr>
          <a:xfrm>
            <a:off x="914400" y="5867400"/>
            <a:ext cx="584200" cy="5842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3000">
                <a:solidFill>
                  <a:srgbClr val="FFFFFF"/>
                </a:solidFill>
                <a:latin typeface="Bebas Neue" panose="020B0606020202050201" pitchFamily="34" charset="0"/>
              </a:rPr>
              <a:t>4</a:t>
            </a:r>
          </a:p>
        </p:txBody>
      </p:sp>
      <p:sp>
        <p:nvSpPr>
          <p:cNvPr id="16" name="map t">
            <a:extLst>
              <a:ext uri="{FF2B5EF4-FFF2-40B4-BE49-F238E27FC236}">
                <a16:creationId xmlns:a16="http://schemas.microsoft.com/office/drawing/2014/main" id="{F0148EB6-21BF-0695-F7A3-2EABAC613E08}"/>
              </a:ext>
            </a:extLst>
          </p:cNvPr>
          <p:cNvSpPr txBox="1"/>
          <p:nvPr/>
        </p:nvSpPr>
        <p:spPr>
          <a:xfrm>
            <a:off x="1752600" y="5841999"/>
            <a:ext cx="8128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15241D"/>
                </a:solidFill>
                <a:latin typeface="DM Sans" pitchFamily="2" charset="0"/>
              </a:rPr>
              <a:t>The MOSFET as an amplifier</a:t>
            </a:r>
          </a:p>
        </p:txBody>
      </p:sp>
      <p:sp>
        <p:nvSpPr>
          <p:cNvPr id="17" name="map s">
            <a:extLst>
              <a:ext uri="{FF2B5EF4-FFF2-40B4-BE49-F238E27FC236}">
                <a16:creationId xmlns:a16="http://schemas.microsoft.com/office/drawing/2014/main" id="{12059EA0-D1C6-D2A6-BDFE-76C45572DA8C}"/>
              </a:ext>
            </a:extLst>
          </p:cNvPr>
          <p:cNvSpPr txBox="1"/>
          <p:nvPr/>
        </p:nvSpPr>
        <p:spPr>
          <a:xfrm>
            <a:off x="1752600" y="6222999"/>
            <a:ext cx="8128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4D5B54"/>
                </a:solidFill>
                <a:latin typeface="DM Sans" pitchFamily="2" charset="0"/>
              </a:rPr>
              <a:t>transconductance, small-signal model</a:t>
            </a:r>
          </a:p>
        </p:txBody>
      </p:sp>
      <p:sp>
        <p:nvSpPr>
          <p:cNvPr id="18" name="map n">
            <a:extLst>
              <a:ext uri="{FF2B5EF4-FFF2-40B4-BE49-F238E27FC236}">
                <a16:creationId xmlns:a16="http://schemas.microsoft.com/office/drawing/2014/main" id="{5D3EBB7C-71C4-AC83-44A7-ECBD05939C09}"/>
              </a:ext>
            </a:extLst>
          </p:cNvPr>
          <p:cNvSpPr/>
          <p:nvPr/>
        </p:nvSpPr>
        <p:spPr>
          <a:xfrm>
            <a:off x="914400" y="7061200"/>
            <a:ext cx="584200" cy="5842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3000">
                <a:solidFill>
                  <a:srgbClr val="FFFFFF"/>
                </a:solidFill>
                <a:latin typeface="Bebas Neue" panose="020B0606020202050201" pitchFamily="34" charset="0"/>
              </a:rPr>
              <a:t>5</a:t>
            </a:r>
          </a:p>
        </p:txBody>
      </p:sp>
      <p:sp>
        <p:nvSpPr>
          <p:cNvPr id="19" name="map t">
            <a:extLst>
              <a:ext uri="{FF2B5EF4-FFF2-40B4-BE49-F238E27FC236}">
                <a16:creationId xmlns:a16="http://schemas.microsoft.com/office/drawing/2014/main" id="{2ACEEC0F-7DA9-3632-E909-2F620C8DC113}"/>
              </a:ext>
            </a:extLst>
          </p:cNvPr>
          <p:cNvSpPr txBox="1"/>
          <p:nvPr/>
        </p:nvSpPr>
        <p:spPr>
          <a:xfrm>
            <a:off x="1752600" y="7035799"/>
            <a:ext cx="8128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00" b="1">
                <a:solidFill>
                  <a:srgbClr val="15241D"/>
                </a:solidFill>
                <a:latin typeface="DM Sans" pitchFamily="2" charset="0"/>
              </a:rPr>
              <a:t>The MOSFET as a switch</a:t>
            </a:r>
          </a:p>
        </p:txBody>
      </p:sp>
      <p:sp>
        <p:nvSpPr>
          <p:cNvPr id="20" name="outcomes">
            <a:extLst>
              <a:ext uri="{FF2B5EF4-FFF2-40B4-BE49-F238E27FC236}">
                <a16:creationId xmlns:a16="http://schemas.microsoft.com/office/drawing/2014/main" id="{40FB4BCA-2A4F-F5D5-A407-A1065F14BA50}"/>
              </a:ext>
            </a:extLst>
          </p:cNvPr>
          <p:cNvSpPr/>
          <p:nvPr/>
        </p:nvSpPr>
        <p:spPr>
          <a:xfrm>
            <a:off x="11176000" y="2286000"/>
            <a:ext cx="6197600" cy="5969000"/>
          </a:xfrm>
          <a:prstGeom prst="rect">
            <a:avLst/>
          </a:prstGeom>
          <a:solidFill>
            <a:srgbClr val="E5F0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utcomes">
            <a:extLst>
              <a:ext uri="{FF2B5EF4-FFF2-40B4-BE49-F238E27FC236}">
                <a16:creationId xmlns:a16="http://schemas.microsoft.com/office/drawing/2014/main" id="{8A2292BF-B3B5-8713-C9DE-C370888D432D}"/>
              </a:ext>
            </a:extLst>
          </p:cNvPr>
          <p:cNvSpPr/>
          <p:nvPr/>
        </p:nvSpPr>
        <p:spPr>
          <a:xfrm>
            <a:off x="11176000" y="2273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ag">
            <a:extLst>
              <a:ext uri="{FF2B5EF4-FFF2-40B4-BE49-F238E27FC236}">
                <a16:creationId xmlns:a16="http://schemas.microsoft.com/office/drawing/2014/main" id="{07B9A52D-DD2E-117E-A8D9-80833E6D8845}"/>
              </a:ext>
            </a:extLst>
          </p:cNvPr>
          <p:cNvSpPr/>
          <p:nvPr/>
        </p:nvSpPr>
        <p:spPr>
          <a:xfrm>
            <a:off x="11557000" y="2616200"/>
            <a:ext cx="2469387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BY THE END YOU CAN</a:t>
            </a:r>
          </a:p>
        </p:txBody>
      </p:sp>
      <p:sp>
        <p:nvSpPr>
          <p:cNvPr id="23" name="outcome">
            <a:extLst>
              <a:ext uri="{FF2B5EF4-FFF2-40B4-BE49-F238E27FC236}">
                <a16:creationId xmlns:a16="http://schemas.microsoft.com/office/drawing/2014/main" id="{56163976-467F-0118-DC10-C9CDAC5C73B5}"/>
              </a:ext>
            </a:extLst>
          </p:cNvPr>
          <p:cNvSpPr txBox="1"/>
          <p:nvPr/>
        </p:nvSpPr>
        <p:spPr>
          <a:xfrm>
            <a:off x="11557000" y="3302000"/>
            <a:ext cx="5435600" cy="6771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Explain how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creates a channel and how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pinches it off</a:t>
            </a:r>
          </a:p>
        </p:txBody>
      </p:sp>
      <p:sp>
        <p:nvSpPr>
          <p:cNvPr id="24" name="outcome">
            <a:extLst>
              <a:ext uri="{FF2B5EF4-FFF2-40B4-BE49-F238E27FC236}">
                <a16:creationId xmlns:a16="http://schemas.microsoft.com/office/drawing/2014/main" id="{C580A28D-F3ED-2FF4-4E40-0EE923F2F282}"/>
              </a:ext>
            </a:extLst>
          </p:cNvPr>
          <p:cNvSpPr txBox="1"/>
          <p:nvPr/>
        </p:nvSpPr>
        <p:spPr>
          <a:xfrm>
            <a:off x="11557000" y="4258508"/>
            <a:ext cx="5435600" cy="6771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Pick the right region and use its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equation</a:t>
            </a:r>
          </a:p>
        </p:txBody>
      </p:sp>
      <p:sp>
        <p:nvSpPr>
          <p:cNvPr id="25" name="outcome">
            <a:extLst>
              <a:ext uri="{FF2B5EF4-FFF2-40B4-BE49-F238E27FC236}">
                <a16:creationId xmlns:a16="http://schemas.microsoft.com/office/drawing/2014/main" id="{A52BA9F4-C5A3-C9D7-890E-8F88B82514A7}"/>
              </a:ext>
            </a:extLst>
          </p:cNvPr>
          <p:cNvSpPr txBox="1"/>
          <p:nvPr/>
        </p:nvSpPr>
        <p:spPr>
          <a:xfrm>
            <a:off x="11557000" y="5215016"/>
            <a:ext cx="5435600" cy="6771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Find the DC operating point of a MOSFET circuit</a:t>
            </a:r>
          </a:p>
        </p:txBody>
      </p:sp>
      <p:sp>
        <p:nvSpPr>
          <p:cNvPr id="26" name="outcome">
            <a:extLst>
              <a:ext uri="{FF2B5EF4-FFF2-40B4-BE49-F238E27FC236}">
                <a16:creationId xmlns:a16="http://schemas.microsoft.com/office/drawing/2014/main" id="{F78B64AE-117E-7F2F-B423-5E1B8C7E4CD4}"/>
              </a:ext>
            </a:extLst>
          </p:cNvPr>
          <p:cNvSpPr txBox="1"/>
          <p:nvPr/>
        </p:nvSpPr>
        <p:spPr>
          <a:xfrm>
            <a:off x="11557000" y="6171524"/>
            <a:ext cx="5435600" cy="6771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Find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g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m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and the gain of a simple MOSFET amplifier</a:t>
            </a:r>
          </a:p>
        </p:txBody>
      </p:sp>
      <p:sp>
        <p:nvSpPr>
          <p:cNvPr id="27" name="chrome page">
            <a:extLst>
              <a:ext uri="{FF2B5EF4-FFF2-40B4-BE49-F238E27FC236}">
                <a16:creationId xmlns:a16="http://schemas.microsoft.com/office/drawing/2014/main" id="{18558390-42D0-C7B7-1993-DB6110607754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hrome page">
            <a:extLst>
              <a:ext uri="{FF2B5EF4-FFF2-40B4-BE49-F238E27FC236}">
                <a16:creationId xmlns:a16="http://schemas.microsoft.com/office/drawing/2014/main" id="{A2FE3BBB-9032-9143-7A89-7A4039A4BB00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3882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 s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33E0C4A-6B1F-6840-8ED8-2D05AED0C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4191000"/>
            <a:ext cx="10414000" cy="1397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6700">
                <a:solidFill>
                  <a:srgbClr val="15241D"/>
                </a:solidFill>
                <a:latin typeface="Bebas Neue" panose="020B0606020202050201" pitchFamily="34" charset="0"/>
              </a:rPr>
              <a:t>Structure and operation</a:t>
            </a:r>
          </a:p>
        </p:txBody>
      </p:sp>
      <p:sp>
        <p:nvSpPr>
          <p:cNvPr id="3" name="geo">
            <a:extLst>
              <a:ext uri="{FF2B5EF4-FFF2-40B4-BE49-F238E27FC236}">
                <a16:creationId xmlns:a16="http://schemas.microsoft.com/office/drawing/2014/main" id="{4C0FDB0C-A8B9-36B9-D305-2C418EB7DC79}"/>
              </a:ext>
            </a:extLst>
          </p:cNvPr>
          <p:cNvSpPr/>
          <p:nvPr/>
        </p:nvSpPr>
        <p:spPr>
          <a:xfrm>
            <a:off x="-635000" y="0"/>
            <a:ext cx="3810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eo">
            <a:extLst>
              <a:ext uri="{FF2B5EF4-FFF2-40B4-BE49-F238E27FC236}">
                <a16:creationId xmlns:a16="http://schemas.microsoft.com/office/drawing/2014/main" id="{A7FEE1C2-D159-C092-775F-4312AB3109BA}"/>
              </a:ext>
            </a:extLst>
          </p:cNvPr>
          <p:cNvSpPr/>
          <p:nvPr/>
        </p:nvSpPr>
        <p:spPr>
          <a:xfrm>
            <a:off x="2946400" y="0"/>
            <a:ext cx="889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eo">
            <a:extLst>
              <a:ext uri="{FF2B5EF4-FFF2-40B4-BE49-F238E27FC236}">
                <a16:creationId xmlns:a16="http://schemas.microsoft.com/office/drawing/2014/main" id="{5082CD05-01E2-ACB0-AC81-985FD294616D}"/>
              </a:ext>
            </a:extLst>
          </p:cNvPr>
          <p:cNvSpPr/>
          <p:nvPr/>
        </p:nvSpPr>
        <p:spPr>
          <a:xfrm>
            <a:off x="3810000" y="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eo">
            <a:extLst>
              <a:ext uri="{FF2B5EF4-FFF2-40B4-BE49-F238E27FC236}">
                <a16:creationId xmlns:a16="http://schemas.microsoft.com/office/drawing/2014/main" id="{200A68EA-FFEF-8315-B312-439A53ACEA3C}"/>
              </a:ext>
            </a:extLst>
          </p:cNvPr>
          <p:cNvSpPr/>
          <p:nvPr/>
        </p:nvSpPr>
        <p:spPr>
          <a:xfrm>
            <a:off x="15875000" y="0"/>
            <a:ext cx="3175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eo">
            <a:extLst>
              <a:ext uri="{FF2B5EF4-FFF2-40B4-BE49-F238E27FC236}">
                <a16:creationId xmlns:a16="http://schemas.microsoft.com/office/drawing/2014/main" id="{2D1FAD49-64F4-6796-98B9-8362FED83D36}"/>
              </a:ext>
            </a:extLst>
          </p:cNvPr>
          <p:cNvSpPr/>
          <p:nvPr/>
        </p:nvSpPr>
        <p:spPr>
          <a:xfrm>
            <a:off x="-635000" y="9575800"/>
            <a:ext cx="2540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geo">
            <a:extLst>
              <a:ext uri="{FF2B5EF4-FFF2-40B4-BE49-F238E27FC236}">
                <a16:creationId xmlns:a16="http://schemas.microsoft.com/office/drawing/2014/main" id="{39C4DDE6-DFD1-41AB-3B6B-9A150CAF7137}"/>
              </a:ext>
            </a:extLst>
          </p:cNvPr>
          <p:cNvSpPr/>
          <p:nvPr/>
        </p:nvSpPr>
        <p:spPr>
          <a:xfrm>
            <a:off x="1905000" y="1010920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eo">
            <a:extLst>
              <a:ext uri="{FF2B5EF4-FFF2-40B4-BE49-F238E27FC236}">
                <a16:creationId xmlns:a16="http://schemas.microsoft.com/office/drawing/2014/main" id="{FAA32E60-C2CF-9E5B-9704-2393ABDA3200}"/>
              </a:ext>
            </a:extLst>
          </p:cNvPr>
          <p:cNvSpPr/>
          <p:nvPr/>
        </p:nvSpPr>
        <p:spPr>
          <a:xfrm>
            <a:off x="14986000" y="9575800"/>
            <a:ext cx="4064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eo">
            <a:extLst>
              <a:ext uri="{FF2B5EF4-FFF2-40B4-BE49-F238E27FC236}">
                <a16:creationId xmlns:a16="http://schemas.microsoft.com/office/drawing/2014/main" id="{82059241-92E9-7167-0D1F-5D4A2CA303B5}"/>
              </a:ext>
            </a:extLst>
          </p:cNvPr>
          <p:cNvSpPr/>
          <p:nvPr/>
        </p:nvSpPr>
        <p:spPr>
          <a:xfrm>
            <a:off x="14097000" y="9575800"/>
            <a:ext cx="8128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numeral">
            <a:extLst>
              <a:ext uri="{FF2B5EF4-FFF2-40B4-BE49-F238E27FC236}">
                <a16:creationId xmlns:a16="http://schemas.microsoft.com/office/drawing/2014/main" id="{762F359F-F729-4DC2-C356-D47E289711ED}"/>
              </a:ext>
            </a:extLst>
          </p:cNvPr>
          <p:cNvSpPr txBox="1"/>
          <p:nvPr/>
        </p:nvSpPr>
        <p:spPr>
          <a:xfrm>
            <a:off x="965200" y="1777999"/>
            <a:ext cx="5080000" cy="25400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 sz="20000">
                <a:solidFill>
                  <a:srgbClr val="145A43"/>
                </a:solidFill>
                <a:latin typeface="Bebas Neue" panose="020B0606020202050201" pitchFamily="34" charset="0"/>
              </a:rPr>
              <a:t>01</a:t>
            </a:r>
          </a:p>
        </p:txBody>
      </p:sp>
      <p:sp>
        <p:nvSpPr>
          <p:cNvPr id="12" name="item">
            <a:extLst>
              <a:ext uri="{FF2B5EF4-FFF2-40B4-BE49-F238E27FC236}">
                <a16:creationId xmlns:a16="http://schemas.microsoft.com/office/drawing/2014/main" id="{B6F9BCDA-3641-2ACC-8FA4-3D52A7022BA8}"/>
              </a:ext>
            </a:extLst>
          </p:cNvPr>
          <p:cNvSpPr txBox="1"/>
          <p:nvPr/>
        </p:nvSpPr>
        <p:spPr>
          <a:xfrm>
            <a:off x="1016000" y="58419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The device and its terminals</a:t>
            </a:r>
          </a:p>
        </p:txBody>
      </p:sp>
      <p:sp>
        <p:nvSpPr>
          <p:cNvPr id="13" name="item">
            <a:extLst>
              <a:ext uri="{FF2B5EF4-FFF2-40B4-BE49-F238E27FC236}">
                <a16:creationId xmlns:a16="http://schemas.microsoft.com/office/drawing/2014/main" id="{2FD1FFEF-D24E-316F-E2FC-E5D4ED1CBF56}"/>
              </a:ext>
            </a:extLst>
          </p:cNvPr>
          <p:cNvSpPr txBox="1"/>
          <p:nvPr/>
        </p:nvSpPr>
        <p:spPr>
          <a:xfrm>
            <a:off x="1016000" y="63753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pt-BR" sz="2300">
                <a:solidFill>
                  <a:srgbClr val="4D5B54"/>
                </a:solidFill>
                <a:latin typeface="DM Sans" pitchFamily="2" charset="0"/>
              </a:rPr>
              <a:t>No gate voltage: no current</a:t>
            </a:r>
            <a:endParaRPr lang="en-US" sz="2300">
              <a:solidFill>
                <a:srgbClr val="4D5B54"/>
              </a:solidFill>
              <a:latin typeface="DM Sans" pitchFamily="2" charset="0"/>
            </a:endParaRPr>
          </a:p>
        </p:txBody>
      </p:sp>
      <p:sp>
        <p:nvSpPr>
          <p:cNvPr id="14" name="item">
            <a:extLst>
              <a:ext uri="{FF2B5EF4-FFF2-40B4-BE49-F238E27FC236}">
                <a16:creationId xmlns:a16="http://schemas.microsoft.com/office/drawing/2014/main" id="{88A813CF-F9E8-6506-C073-438707E5C18C}"/>
              </a:ext>
            </a:extLst>
          </p:cNvPr>
          <p:cNvSpPr txBox="1"/>
          <p:nvPr/>
        </p:nvSpPr>
        <p:spPr>
          <a:xfrm>
            <a:off x="1016000" y="69087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The threshold voltage</a:t>
            </a:r>
          </a:p>
        </p:txBody>
      </p:sp>
      <p:sp>
        <p:nvSpPr>
          <p:cNvPr id="15" name="item">
            <a:extLst>
              <a:ext uri="{FF2B5EF4-FFF2-40B4-BE49-F238E27FC236}">
                <a16:creationId xmlns:a16="http://schemas.microsoft.com/office/drawing/2014/main" id="{7CA141A3-84C6-BCBE-4365-AE27AC07434A}"/>
              </a:ext>
            </a:extLst>
          </p:cNvPr>
          <p:cNvSpPr txBox="1"/>
          <p:nvPr/>
        </p:nvSpPr>
        <p:spPr>
          <a:xfrm>
            <a:off x="1016000" y="74421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Tapering and pinch-off</a:t>
            </a:r>
          </a:p>
        </p:txBody>
      </p:sp>
      <p:sp>
        <p:nvSpPr>
          <p:cNvPr id="16" name="item">
            <a:extLst>
              <a:ext uri="{FF2B5EF4-FFF2-40B4-BE49-F238E27FC236}">
                <a16:creationId xmlns:a16="http://schemas.microsoft.com/office/drawing/2014/main" id="{D1F7516B-6379-48B4-422A-65947DD7B1E5}"/>
              </a:ext>
            </a:extLst>
          </p:cNvPr>
          <p:cNvSpPr txBox="1"/>
          <p:nvPr/>
        </p:nvSpPr>
        <p:spPr>
          <a:xfrm>
            <a:off x="1016000" y="79755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CMOS; n- and p-channel symbols</a:t>
            </a:r>
          </a:p>
        </p:txBody>
      </p:sp>
      <p:sp>
        <p:nvSpPr>
          <p:cNvPr id="17" name="map">
            <a:extLst>
              <a:ext uri="{FF2B5EF4-FFF2-40B4-BE49-F238E27FC236}">
                <a16:creationId xmlns:a16="http://schemas.microsoft.com/office/drawing/2014/main" id="{51591B4A-2911-00B1-7A4A-99C939FCEECC}"/>
              </a:ext>
            </a:extLst>
          </p:cNvPr>
          <p:cNvSpPr/>
          <p:nvPr/>
        </p:nvSpPr>
        <p:spPr>
          <a:xfrm>
            <a:off x="12192000" y="2413000"/>
            <a:ext cx="431800" cy="431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FFFFFF"/>
                </a:solidFill>
                <a:latin typeface="Bebas Neue" panose="020B0606020202050201" pitchFamily="34" charset="0"/>
              </a:rPr>
              <a:t>1</a:t>
            </a:r>
          </a:p>
        </p:txBody>
      </p:sp>
      <p:sp>
        <p:nvSpPr>
          <p:cNvPr id="18" name="map">
            <a:extLst>
              <a:ext uri="{FF2B5EF4-FFF2-40B4-BE49-F238E27FC236}">
                <a16:creationId xmlns:a16="http://schemas.microsoft.com/office/drawing/2014/main" id="{6F7E00AB-4E75-0788-430B-EBEF27B430BD}"/>
              </a:ext>
            </a:extLst>
          </p:cNvPr>
          <p:cNvSpPr txBox="1"/>
          <p:nvPr/>
        </p:nvSpPr>
        <p:spPr>
          <a:xfrm>
            <a:off x="12827000" y="24129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b="1">
                <a:solidFill>
                  <a:srgbClr val="15241D"/>
                </a:solidFill>
                <a:latin typeface="DM Sans" pitchFamily="2" charset="0"/>
              </a:rPr>
              <a:t>Structure and operation</a:t>
            </a:r>
          </a:p>
        </p:txBody>
      </p:sp>
      <p:sp>
        <p:nvSpPr>
          <p:cNvPr id="19" name="map">
            <a:extLst>
              <a:ext uri="{FF2B5EF4-FFF2-40B4-BE49-F238E27FC236}">
                <a16:creationId xmlns:a16="http://schemas.microsoft.com/office/drawing/2014/main" id="{C690DD44-297B-4DA7-3E58-BCB3E2BCE90C}"/>
              </a:ext>
            </a:extLst>
          </p:cNvPr>
          <p:cNvSpPr/>
          <p:nvPr/>
        </p:nvSpPr>
        <p:spPr>
          <a:xfrm>
            <a:off x="12192000" y="32258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2</a:t>
            </a:r>
          </a:p>
        </p:txBody>
      </p:sp>
      <p:sp>
        <p:nvSpPr>
          <p:cNvPr id="20" name="map">
            <a:extLst>
              <a:ext uri="{FF2B5EF4-FFF2-40B4-BE49-F238E27FC236}">
                <a16:creationId xmlns:a16="http://schemas.microsoft.com/office/drawing/2014/main" id="{555DAA5E-6B56-8E98-06FB-4B4FE052B9D0}"/>
              </a:ext>
            </a:extLst>
          </p:cNvPr>
          <p:cNvSpPr txBox="1"/>
          <p:nvPr/>
        </p:nvSpPr>
        <p:spPr>
          <a:xfrm>
            <a:off x="12827000" y="32257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I–V characteristics</a:t>
            </a:r>
          </a:p>
        </p:txBody>
      </p:sp>
      <p:sp>
        <p:nvSpPr>
          <p:cNvPr id="21" name="map">
            <a:extLst>
              <a:ext uri="{FF2B5EF4-FFF2-40B4-BE49-F238E27FC236}">
                <a16:creationId xmlns:a16="http://schemas.microsoft.com/office/drawing/2014/main" id="{CF760CEC-F493-6BE2-7C45-1C349ECF15E8}"/>
              </a:ext>
            </a:extLst>
          </p:cNvPr>
          <p:cNvSpPr/>
          <p:nvPr/>
        </p:nvSpPr>
        <p:spPr>
          <a:xfrm>
            <a:off x="12192000" y="40386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3</a:t>
            </a:r>
          </a:p>
        </p:txBody>
      </p:sp>
      <p:sp>
        <p:nvSpPr>
          <p:cNvPr id="22" name="map">
            <a:extLst>
              <a:ext uri="{FF2B5EF4-FFF2-40B4-BE49-F238E27FC236}">
                <a16:creationId xmlns:a16="http://schemas.microsoft.com/office/drawing/2014/main" id="{D6B23EF1-3DEF-D7DA-EEE8-458912868FB4}"/>
              </a:ext>
            </a:extLst>
          </p:cNvPr>
          <p:cNvSpPr txBox="1"/>
          <p:nvPr/>
        </p:nvSpPr>
        <p:spPr>
          <a:xfrm>
            <a:off x="12827000" y="40385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MOSFETs in DC circuits</a:t>
            </a:r>
          </a:p>
        </p:txBody>
      </p:sp>
      <p:sp>
        <p:nvSpPr>
          <p:cNvPr id="23" name="map">
            <a:extLst>
              <a:ext uri="{FF2B5EF4-FFF2-40B4-BE49-F238E27FC236}">
                <a16:creationId xmlns:a16="http://schemas.microsoft.com/office/drawing/2014/main" id="{633B4FFA-AD7C-EBAE-1CE4-29A8F2B512AB}"/>
              </a:ext>
            </a:extLst>
          </p:cNvPr>
          <p:cNvSpPr/>
          <p:nvPr/>
        </p:nvSpPr>
        <p:spPr>
          <a:xfrm>
            <a:off x="12192000" y="48514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4</a:t>
            </a:r>
          </a:p>
        </p:txBody>
      </p:sp>
      <p:sp>
        <p:nvSpPr>
          <p:cNvPr id="24" name="map">
            <a:extLst>
              <a:ext uri="{FF2B5EF4-FFF2-40B4-BE49-F238E27FC236}">
                <a16:creationId xmlns:a16="http://schemas.microsoft.com/office/drawing/2014/main" id="{05F86F80-45C3-2941-7E9F-AB222B397651}"/>
              </a:ext>
            </a:extLst>
          </p:cNvPr>
          <p:cNvSpPr txBox="1"/>
          <p:nvPr/>
        </p:nvSpPr>
        <p:spPr>
          <a:xfrm>
            <a:off x="12827000" y="48513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The MOSFET as an amplifier</a:t>
            </a:r>
          </a:p>
        </p:txBody>
      </p:sp>
      <p:sp>
        <p:nvSpPr>
          <p:cNvPr id="25" name="map">
            <a:extLst>
              <a:ext uri="{FF2B5EF4-FFF2-40B4-BE49-F238E27FC236}">
                <a16:creationId xmlns:a16="http://schemas.microsoft.com/office/drawing/2014/main" id="{43F50439-DAEC-F1BD-B329-401A1DEAF327}"/>
              </a:ext>
            </a:extLst>
          </p:cNvPr>
          <p:cNvSpPr/>
          <p:nvPr/>
        </p:nvSpPr>
        <p:spPr>
          <a:xfrm>
            <a:off x="12192000" y="56642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5</a:t>
            </a:r>
          </a:p>
        </p:txBody>
      </p:sp>
      <p:sp>
        <p:nvSpPr>
          <p:cNvPr id="26" name="map">
            <a:extLst>
              <a:ext uri="{FF2B5EF4-FFF2-40B4-BE49-F238E27FC236}">
                <a16:creationId xmlns:a16="http://schemas.microsoft.com/office/drawing/2014/main" id="{3CD55314-9A82-44AA-F5FA-B99FBA6AC3E0}"/>
              </a:ext>
            </a:extLst>
          </p:cNvPr>
          <p:cNvSpPr txBox="1"/>
          <p:nvPr/>
        </p:nvSpPr>
        <p:spPr>
          <a:xfrm>
            <a:off x="12827000" y="56641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1918702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n-channel enhancement MOSF s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47D9466-AB68-CB38-346C-1FE7A8D2E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The n-channel enhancement MOSFET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FCB1F25A-F4B8-36D9-8338-6FBB0A48CFBE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0DCFA98A-9321-E69B-FEBB-ED7CE6A1FD6D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6A196185-CC13-73D0-8A50-3FE80E7BB12C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2F5C7366-2E3A-750C-30B1-04B8E6C99DAF}"/>
              </a:ext>
            </a:extLst>
          </p:cNvPr>
          <p:cNvSpPr/>
          <p:nvPr/>
        </p:nvSpPr>
        <p:spPr>
          <a:xfrm>
            <a:off x="3344141" y="2032000"/>
            <a:ext cx="11599717" cy="495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0E97FF72-5D40-C4A8-9DA7-39C8B40E3A88}"/>
              </a:ext>
            </a:extLst>
          </p:cNvPr>
          <p:cNvSpPr/>
          <p:nvPr/>
        </p:nvSpPr>
        <p:spPr>
          <a:xfrm>
            <a:off x="3344141" y="2019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66E555CF-E0BB-50C4-BE7F-AA1A7D6DE74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8141" y="2286000"/>
            <a:ext cx="11091718" cy="421640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4856E9E8-501E-19D5-C801-939DFF60891D}"/>
              </a:ext>
            </a:extLst>
          </p:cNvPr>
          <p:cNvSpPr txBox="1"/>
          <p:nvPr/>
        </p:nvSpPr>
        <p:spPr>
          <a:xfrm>
            <a:off x="3598141" y="6629400"/>
            <a:ext cx="1109171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47DB3876-C1A3-1104-EA46-28384A4BA3C2}"/>
              </a:ext>
            </a:extLst>
          </p:cNvPr>
          <p:cNvSpPr txBox="1"/>
          <p:nvPr/>
        </p:nvSpPr>
        <p:spPr>
          <a:xfrm>
            <a:off x="914400" y="7366000"/>
            <a:ext cx="16459200" cy="36298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Four terminals: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source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(S),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gate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(G),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drain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(D) and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body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(B).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20E61FE3-7E2A-12D9-3089-2642B00B6884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age">
            <a:extLst>
              <a:ext uri="{FF2B5EF4-FFF2-40B4-BE49-F238E27FC236}">
                <a16:creationId xmlns:a16="http://schemas.microsoft.com/office/drawing/2014/main" id="{0308E8D8-2BB0-0477-4A27-EB55FDC1A40E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56884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n-channel enhancement MOSF s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47D9466-AB68-CB38-346C-1FE7A8D2E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The n-channel enhancement MOSFET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FCB1F25A-F4B8-36D9-8338-6FBB0A48CFBE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0DCFA98A-9321-E69B-FEBB-ED7CE6A1FD6D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6A196185-CC13-73D0-8A50-3FE80E7BB12C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2F5C7366-2E3A-750C-30B1-04B8E6C99DAF}"/>
              </a:ext>
            </a:extLst>
          </p:cNvPr>
          <p:cNvSpPr/>
          <p:nvPr/>
        </p:nvSpPr>
        <p:spPr>
          <a:xfrm>
            <a:off x="3344141" y="2032000"/>
            <a:ext cx="11599717" cy="495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0E97FF72-5D40-C4A8-9DA7-39C8B40E3A88}"/>
              </a:ext>
            </a:extLst>
          </p:cNvPr>
          <p:cNvSpPr/>
          <p:nvPr/>
        </p:nvSpPr>
        <p:spPr>
          <a:xfrm>
            <a:off x="3344141" y="2019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66E555CF-E0BB-50C4-BE7F-AA1A7D6DE74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8141" y="2286000"/>
            <a:ext cx="11091718" cy="421640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4856E9E8-501E-19D5-C801-939DFF60891D}"/>
              </a:ext>
            </a:extLst>
          </p:cNvPr>
          <p:cNvSpPr txBox="1"/>
          <p:nvPr/>
        </p:nvSpPr>
        <p:spPr>
          <a:xfrm>
            <a:off x="3598141" y="6629400"/>
            <a:ext cx="1109171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47DB3876-C1A3-1104-EA46-28384A4BA3C2}"/>
              </a:ext>
            </a:extLst>
          </p:cNvPr>
          <p:cNvSpPr txBox="1"/>
          <p:nvPr/>
        </p:nvSpPr>
        <p:spPr>
          <a:xfrm>
            <a:off x="914400" y="7366000"/>
            <a:ext cx="16459200" cy="36298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Four terminals: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source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(S),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gate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(G),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drain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(D) and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body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(B).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2CC3077F-4B26-84E9-33CF-D33569B1AADF}"/>
              </a:ext>
            </a:extLst>
          </p:cNvPr>
          <p:cNvSpPr txBox="1"/>
          <p:nvPr/>
        </p:nvSpPr>
        <p:spPr>
          <a:xfrm>
            <a:off x="914400" y="8008384"/>
            <a:ext cx="16459200" cy="35907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A thin oxide (SiO₂) insulates the gate, so the gate draws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no current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0A8F2C25-D94F-D201-4042-9951A3C89DEB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age">
            <a:extLst>
              <a:ext uri="{FF2B5EF4-FFF2-40B4-BE49-F238E27FC236}">
                <a16:creationId xmlns:a16="http://schemas.microsoft.com/office/drawing/2014/main" id="{046BA3C7-E9B6-FD4C-B1BA-5120CA6B733D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95872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n-channel enhancement MOSF s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47D9466-AB68-CB38-346C-1FE7A8D2E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The n-channel enhancement MOSFET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FCB1F25A-F4B8-36D9-8338-6FBB0A48CFBE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0DCFA98A-9321-E69B-FEBB-ED7CE6A1FD6D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6A196185-CC13-73D0-8A50-3FE80E7BB12C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2F5C7366-2E3A-750C-30B1-04B8E6C99DAF}"/>
              </a:ext>
            </a:extLst>
          </p:cNvPr>
          <p:cNvSpPr/>
          <p:nvPr/>
        </p:nvSpPr>
        <p:spPr>
          <a:xfrm>
            <a:off x="3344141" y="2032000"/>
            <a:ext cx="11599717" cy="4953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0E97FF72-5D40-C4A8-9DA7-39C8B40E3A88}"/>
              </a:ext>
            </a:extLst>
          </p:cNvPr>
          <p:cNvSpPr/>
          <p:nvPr/>
        </p:nvSpPr>
        <p:spPr>
          <a:xfrm>
            <a:off x="3344141" y="2019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66E555CF-E0BB-50C4-BE7F-AA1A7D6DE74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8141" y="2286000"/>
            <a:ext cx="11091718" cy="421640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4856E9E8-501E-19D5-C801-939DFF60891D}"/>
              </a:ext>
            </a:extLst>
          </p:cNvPr>
          <p:cNvSpPr txBox="1"/>
          <p:nvPr/>
        </p:nvSpPr>
        <p:spPr>
          <a:xfrm>
            <a:off x="3598141" y="6629400"/>
            <a:ext cx="1109171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47DB3876-C1A3-1104-EA46-28384A4BA3C2}"/>
              </a:ext>
            </a:extLst>
          </p:cNvPr>
          <p:cNvSpPr txBox="1"/>
          <p:nvPr/>
        </p:nvSpPr>
        <p:spPr>
          <a:xfrm>
            <a:off x="914400" y="7366000"/>
            <a:ext cx="16459200" cy="36298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Four terminals: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source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(S),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gate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(G),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drain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(D) and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body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(B).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2CC3077F-4B26-84E9-33CF-D33569B1AADF}"/>
              </a:ext>
            </a:extLst>
          </p:cNvPr>
          <p:cNvSpPr txBox="1"/>
          <p:nvPr/>
        </p:nvSpPr>
        <p:spPr>
          <a:xfrm>
            <a:off x="914400" y="8008384"/>
            <a:ext cx="16459200" cy="35907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A thin oxide (SiO₂) insulates the gate, so the gate draws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no current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13" name="point @3">
            <a:extLst>
              <a:ext uri="{FF2B5EF4-FFF2-40B4-BE49-F238E27FC236}">
                <a16:creationId xmlns:a16="http://schemas.microsoft.com/office/drawing/2014/main" id="{1DBB958D-D057-640A-B8DD-0D4CEC661CD3}"/>
              </a:ext>
            </a:extLst>
          </p:cNvPr>
          <p:cNvSpPr txBox="1"/>
          <p:nvPr/>
        </p:nvSpPr>
        <p:spPr>
          <a:xfrm>
            <a:off x="914400" y="8646857"/>
            <a:ext cx="16459200" cy="35907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The channel region between the n⁺ source and drain has length L and width W.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8A804B9B-DCD0-B10B-C0A0-7CCBDF096E2E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age">
            <a:extLst>
              <a:ext uri="{FF2B5EF4-FFF2-40B4-BE49-F238E27FC236}">
                <a16:creationId xmlns:a16="http://schemas.microsoft.com/office/drawing/2014/main" id="{4E06D0A9-C901-DB33-9AF3-F9B2F7B23375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514656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ith no gate voltage, no curre s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67264A8-C846-9DB8-C43A-438377C44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With no gate voltage, no current flows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B521299C-BDC8-03B6-4762-E729D3FF6144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39A5CE23-B3AD-A86A-2102-8DCFA27764D9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5D5C4931-4C7C-D178-486B-AAF1032FED44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4C5A1304-067B-891B-25B8-5B82A317F25E}"/>
              </a:ext>
            </a:extLst>
          </p:cNvPr>
          <p:cNvSpPr/>
          <p:nvPr/>
        </p:nvSpPr>
        <p:spPr>
          <a:xfrm>
            <a:off x="914400" y="2222500"/>
            <a:ext cx="8128000" cy="4297348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710100C6-F878-B04E-8DB0-1E2ADD0F2319}"/>
              </a:ext>
            </a:extLst>
          </p:cNvPr>
          <p:cNvSpPr/>
          <p:nvPr/>
        </p:nvSpPr>
        <p:spPr>
          <a:xfrm>
            <a:off x="9144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95362EBE-D345-B0E7-3AA9-2D0F037BC66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7620000" cy="3560748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2AFFD662-2B67-1057-0A19-A2E087D96355}"/>
              </a:ext>
            </a:extLst>
          </p:cNvPr>
          <p:cNvSpPr txBox="1"/>
          <p:nvPr/>
        </p:nvSpPr>
        <p:spPr>
          <a:xfrm>
            <a:off x="1168400" y="6164248"/>
            <a:ext cx="762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web source, via the original lecture slides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3A74BD72-4F91-3C93-C59B-95C2A897A73E}"/>
              </a:ext>
            </a:extLst>
          </p:cNvPr>
          <p:cNvSpPr txBox="1"/>
          <p:nvPr/>
        </p:nvSpPr>
        <p:spPr>
          <a:xfrm>
            <a:off x="9652000" y="2413000"/>
            <a:ext cx="7721600" cy="11543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Source and drain are n⁺, the body is p-type: two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back-to-back pn junctions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lie between source and drain.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E4244138-150C-3908-BE95-53AD01B10E3D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age">
            <a:extLst>
              <a:ext uri="{FF2B5EF4-FFF2-40B4-BE49-F238E27FC236}">
                <a16:creationId xmlns:a16="http://schemas.microsoft.com/office/drawing/2014/main" id="{0A6DCBD1-2B20-C619-5CF2-060F2DA24BF5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64685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ith no gate voltage, no curre s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67264A8-C846-9DB8-C43A-438377C44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With no gate voltage, no current flows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B521299C-BDC8-03B6-4762-E729D3FF6144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39A5CE23-B3AD-A86A-2102-8DCFA27764D9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5D5C4931-4C7C-D178-486B-AAF1032FED44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4C5A1304-067B-891B-25B8-5B82A317F25E}"/>
              </a:ext>
            </a:extLst>
          </p:cNvPr>
          <p:cNvSpPr/>
          <p:nvPr/>
        </p:nvSpPr>
        <p:spPr>
          <a:xfrm>
            <a:off x="914400" y="2222500"/>
            <a:ext cx="8128000" cy="4297348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710100C6-F878-B04E-8DB0-1E2ADD0F2319}"/>
              </a:ext>
            </a:extLst>
          </p:cNvPr>
          <p:cNvSpPr/>
          <p:nvPr/>
        </p:nvSpPr>
        <p:spPr>
          <a:xfrm>
            <a:off x="9144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95362EBE-D345-B0E7-3AA9-2D0F037BC66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7620000" cy="3560748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2AFFD662-2B67-1057-0A19-A2E087D96355}"/>
              </a:ext>
            </a:extLst>
          </p:cNvPr>
          <p:cNvSpPr txBox="1"/>
          <p:nvPr/>
        </p:nvSpPr>
        <p:spPr>
          <a:xfrm>
            <a:off x="1168400" y="6164248"/>
            <a:ext cx="762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web source, via the original lecture slides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3A74BD72-4F91-3C93-C59B-95C2A897A73E}"/>
              </a:ext>
            </a:extLst>
          </p:cNvPr>
          <p:cNvSpPr txBox="1"/>
          <p:nvPr/>
        </p:nvSpPr>
        <p:spPr>
          <a:xfrm>
            <a:off x="9652000" y="2413000"/>
            <a:ext cx="7721600" cy="11543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Source and drain are n⁺, the body is p-type: two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back-to-back pn junctions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lie between source and drain.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6E0ED40B-D180-B6A0-911B-6EF2E76241FB}"/>
              </a:ext>
            </a:extLst>
          </p:cNvPr>
          <p:cNvSpPr txBox="1"/>
          <p:nvPr/>
        </p:nvSpPr>
        <p:spPr>
          <a:xfrm>
            <a:off x="9652000" y="3846755"/>
            <a:ext cx="7721600" cy="7665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Whatever the polarity of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, one junction is reverse-biased, so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≈ 0.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7B9E3ECF-00B4-9636-8941-E7FC90893F80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age">
            <a:extLst>
              <a:ext uri="{FF2B5EF4-FFF2-40B4-BE49-F238E27FC236}">
                <a16:creationId xmlns:a16="http://schemas.microsoft.com/office/drawing/2014/main" id="{7EEA1A02-E631-A52E-9FE7-58B83CAD1154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73944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ith no gate voltage, no curre s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67264A8-C846-9DB8-C43A-438377C44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With no gate voltage, no current flows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B521299C-BDC8-03B6-4762-E729D3FF6144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39A5CE23-B3AD-A86A-2102-8DCFA27764D9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5D5C4931-4C7C-D178-486B-AAF1032FED44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4C5A1304-067B-891B-25B8-5B82A317F25E}"/>
              </a:ext>
            </a:extLst>
          </p:cNvPr>
          <p:cNvSpPr/>
          <p:nvPr/>
        </p:nvSpPr>
        <p:spPr>
          <a:xfrm>
            <a:off x="914400" y="2222500"/>
            <a:ext cx="8128000" cy="4297348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710100C6-F878-B04E-8DB0-1E2ADD0F2319}"/>
              </a:ext>
            </a:extLst>
          </p:cNvPr>
          <p:cNvSpPr/>
          <p:nvPr/>
        </p:nvSpPr>
        <p:spPr>
          <a:xfrm>
            <a:off x="9144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95362EBE-D345-B0E7-3AA9-2D0F037BC66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7620000" cy="3560748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2AFFD662-2B67-1057-0A19-A2E087D96355}"/>
              </a:ext>
            </a:extLst>
          </p:cNvPr>
          <p:cNvSpPr txBox="1"/>
          <p:nvPr/>
        </p:nvSpPr>
        <p:spPr>
          <a:xfrm>
            <a:off x="1168400" y="6164248"/>
            <a:ext cx="762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web source, via the original lecture slides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3A74BD72-4F91-3C93-C59B-95C2A897A73E}"/>
              </a:ext>
            </a:extLst>
          </p:cNvPr>
          <p:cNvSpPr txBox="1"/>
          <p:nvPr/>
        </p:nvSpPr>
        <p:spPr>
          <a:xfrm>
            <a:off x="9652000" y="2413000"/>
            <a:ext cx="7721600" cy="11543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Source and drain are n⁺, the body is p-type: two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back-to-back pn junctions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lie between source and drain.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6E0ED40B-D180-B6A0-911B-6EF2E76241FB}"/>
              </a:ext>
            </a:extLst>
          </p:cNvPr>
          <p:cNvSpPr txBox="1"/>
          <p:nvPr/>
        </p:nvSpPr>
        <p:spPr>
          <a:xfrm>
            <a:off x="9652000" y="3846755"/>
            <a:ext cx="7721600" cy="7665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Whatever the polarity of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, one junction is reverse-biased, so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≈ 0.</a:t>
            </a:r>
          </a:p>
        </p:txBody>
      </p:sp>
      <p:sp>
        <p:nvSpPr>
          <p:cNvPr id="13" name="point @3">
            <a:extLst>
              <a:ext uri="{FF2B5EF4-FFF2-40B4-BE49-F238E27FC236}">
                <a16:creationId xmlns:a16="http://schemas.microsoft.com/office/drawing/2014/main" id="{24C80D12-40BB-7AA3-7E32-063D7A320E32}"/>
              </a:ext>
            </a:extLst>
          </p:cNvPr>
          <p:cNvSpPr txBox="1"/>
          <p:nvPr/>
        </p:nvSpPr>
        <p:spPr>
          <a:xfrm>
            <a:off x="9652000" y="4892712"/>
            <a:ext cx="7721600" cy="7665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The energy barrier (left) keeps the electrons of the source away from the drain.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D48695E9-235C-A538-BD1C-C51D02D88086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age">
            <a:extLst>
              <a:ext uri="{FF2B5EF4-FFF2-40B4-BE49-F238E27FC236}">
                <a16:creationId xmlns:a16="http://schemas.microsoft.com/office/drawing/2014/main" id="{26363C46-D463-9207-0F4F-71B4EE44E057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47104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reating a channel: the thresh s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7BBDCD2-D654-0BBA-8CCD-32543F2EA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Creating a channel: the threshold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C60B3E2D-3B10-E191-8F44-D23C1FE35D7B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712099D2-FD4E-779E-7AD8-F221AD816AB4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D1D666BB-2537-99D5-1F46-B5C5F682A4ED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8A32D654-DE36-9639-342A-0778FF6A7423}"/>
              </a:ext>
            </a:extLst>
          </p:cNvPr>
          <p:cNvSpPr/>
          <p:nvPr/>
        </p:nvSpPr>
        <p:spPr>
          <a:xfrm>
            <a:off x="8890000" y="2222500"/>
            <a:ext cx="8483600" cy="6788626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6C0B40D5-A699-3555-D007-693D4DD3F770}"/>
              </a:ext>
            </a:extLst>
          </p:cNvPr>
          <p:cNvSpPr/>
          <p:nvPr/>
        </p:nvSpPr>
        <p:spPr>
          <a:xfrm>
            <a:off x="88900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FE9F89E0-E114-2D5C-283A-2251D95B4A9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2476500"/>
            <a:ext cx="7975600" cy="6052026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A84231E6-85AB-B677-E418-4DED650FFC36}"/>
              </a:ext>
            </a:extLst>
          </p:cNvPr>
          <p:cNvSpPr txBox="1"/>
          <p:nvPr/>
        </p:nvSpPr>
        <p:spPr>
          <a:xfrm>
            <a:off x="9144000" y="8655526"/>
            <a:ext cx="7975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0A8D4C74-97D7-C652-B4F3-92C08EA7BEA9}"/>
              </a:ext>
            </a:extLst>
          </p:cNvPr>
          <p:cNvSpPr txBox="1"/>
          <p:nvPr/>
        </p:nvSpPr>
        <p:spPr>
          <a:xfrm>
            <a:off x="914400" y="2413000"/>
            <a:ext cx="7366000" cy="11543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A positive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pushes holes away from the region under the gate and draws electrons in from the n⁺ source and drain.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6E21408C-1B72-A850-AD81-BE543E857B39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age">
            <a:extLst>
              <a:ext uri="{FF2B5EF4-FFF2-40B4-BE49-F238E27FC236}">
                <a16:creationId xmlns:a16="http://schemas.microsoft.com/office/drawing/2014/main" id="{24C3C241-7B09-0861-604F-B2C5020298C7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749065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reating a channel: the thresh s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7BBDCD2-D654-0BBA-8CCD-32543F2EA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Creating a channel: the threshold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C60B3E2D-3B10-E191-8F44-D23C1FE35D7B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712099D2-FD4E-779E-7AD8-F221AD816AB4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D1D666BB-2537-99D5-1F46-B5C5F682A4ED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8A32D654-DE36-9639-342A-0778FF6A7423}"/>
              </a:ext>
            </a:extLst>
          </p:cNvPr>
          <p:cNvSpPr/>
          <p:nvPr/>
        </p:nvSpPr>
        <p:spPr>
          <a:xfrm>
            <a:off x="8890000" y="2222500"/>
            <a:ext cx="8483600" cy="6788626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6C0B40D5-A699-3555-D007-693D4DD3F770}"/>
              </a:ext>
            </a:extLst>
          </p:cNvPr>
          <p:cNvSpPr/>
          <p:nvPr/>
        </p:nvSpPr>
        <p:spPr>
          <a:xfrm>
            <a:off x="88900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FE9F89E0-E114-2D5C-283A-2251D95B4A9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2476500"/>
            <a:ext cx="7975600" cy="6052026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A84231E6-85AB-B677-E418-4DED650FFC36}"/>
              </a:ext>
            </a:extLst>
          </p:cNvPr>
          <p:cNvSpPr txBox="1"/>
          <p:nvPr/>
        </p:nvSpPr>
        <p:spPr>
          <a:xfrm>
            <a:off x="9144000" y="8655526"/>
            <a:ext cx="7975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0A8D4C74-97D7-C652-B4F3-92C08EA7BEA9}"/>
              </a:ext>
            </a:extLst>
          </p:cNvPr>
          <p:cNvSpPr txBox="1"/>
          <p:nvPr/>
        </p:nvSpPr>
        <p:spPr>
          <a:xfrm>
            <a:off x="914400" y="2413000"/>
            <a:ext cx="7366000" cy="11543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A positive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pushes holes away from the region under the gate and draws electrons in from the n⁺ source and drain.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6CEFF4FE-0719-6E4F-238C-4408480D9C13}"/>
              </a:ext>
            </a:extLst>
          </p:cNvPr>
          <p:cNvSpPr txBox="1"/>
          <p:nvPr/>
        </p:nvSpPr>
        <p:spPr>
          <a:xfrm>
            <a:off x="914400" y="3846755"/>
            <a:ext cx="7366000" cy="11543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Once enough electrons gather, they form an n-type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inversion layer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: the channel linking source to drain.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1AE33240-16AD-5B8E-7ABC-E9D1F0CAC730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age">
            <a:extLst>
              <a:ext uri="{FF2B5EF4-FFF2-40B4-BE49-F238E27FC236}">
                <a16:creationId xmlns:a16="http://schemas.microsoft.com/office/drawing/2014/main" id="{301219ED-20FA-3690-B6D5-28A30B8D4696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89405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reating a channel: the thresh s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7BBDCD2-D654-0BBA-8CCD-32543F2EA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Creating a channel: the threshold voltage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C60B3E2D-3B10-E191-8F44-D23C1FE35D7B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712099D2-FD4E-779E-7AD8-F221AD816AB4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D1D666BB-2537-99D5-1F46-B5C5F682A4ED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8A32D654-DE36-9639-342A-0778FF6A7423}"/>
              </a:ext>
            </a:extLst>
          </p:cNvPr>
          <p:cNvSpPr/>
          <p:nvPr/>
        </p:nvSpPr>
        <p:spPr>
          <a:xfrm>
            <a:off x="8890000" y="2222500"/>
            <a:ext cx="8483600" cy="6788626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6C0B40D5-A699-3555-D007-693D4DD3F770}"/>
              </a:ext>
            </a:extLst>
          </p:cNvPr>
          <p:cNvSpPr/>
          <p:nvPr/>
        </p:nvSpPr>
        <p:spPr>
          <a:xfrm>
            <a:off x="88900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FE9F89E0-E114-2D5C-283A-2251D95B4A9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2476500"/>
            <a:ext cx="7975600" cy="6052026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A84231E6-85AB-B677-E418-4DED650FFC36}"/>
              </a:ext>
            </a:extLst>
          </p:cNvPr>
          <p:cNvSpPr txBox="1"/>
          <p:nvPr/>
        </p:nvSpPr>
        <p:spPr>
          <a:xfrm>
            <a:off x="9144000" y="8655526"/>
            <a:ext cx="7975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0A8D4C74-97D7-C652-B4F3-92C08EA7BEA9}"/>
              </a:ext>
            </a:extLst>
          </p:cNvPr>
          <p:cNvSpPr txBox="1"/>
          <p:nvPr/>
        </p:nvSpPr>
        <p:spPr>
          <a:xfrm>
            <a:off x="914400" y="2413000"/>
            <a:ext cx="7366000" cy="11543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A positive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pushes holes away from the region under the gate and draws electrons in from the n⁺ source and drain.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6CEFF4FE-0719-6E4F-238C-4408480D9C13}"/>
              </a:ext>
            </a:extLst>
          </p:cNvPr>
          <p:cNvSpPr txBox="1"/>
          <p:nvPr/>
        </p:nvSpPr>
        <p:spPr>
          <a:xfrm>
            <a:off x="914400" y="3846755"/>
            <a:ext cx="7366000" cy="11543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Once enough electrons gather, they form an n-type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inversion layer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: the channel linking source to drain.</a:t>
            </a:r>
          </a:p>
        </p:txBody>
      </p:sp>
      <p:sp>
        <p:nvSpPr>
          <p:cNvPr id="13" name="def @3">
            <a:extLst>
              <a:ext uri="{FF2B5EF4-FFF2-40B4-BE49-F238E27FC236}">
                <a16:creationId xmlns:a16="http://schemas.microsoft.com/office/drawing/2014/main" id="{A1E0A9CC-8BF3-34D4-5398-157CCD8B6D50}"/>
              </a:ext>
            </a:extLst>
          </p:cNvPr>
          <p:cNvSpPr/>
          <p:nvPr/>
        </p:nvSpPr>
        <p:spPr>
          <a:xfrm>
            <a:off x="914400" y="5407510"/>
            <a:ext cx="7366000" cy="2159000"/>
          </a:xfrm>
          <a:prstGeom prst="rect">
            <a:avLst/>
          </a:prstGeom>
          <a:solidFill>
            <a:srgbClr val="E5F0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ef @3">
            <a:extLst>
              <a:ext uri="{FF2B5EF4-FFF2-40B4-BE49-F238E27FC236}">
                <a16:creationId xmlns:a16="http://schemas.microsoft.com/office/drawing/2014/main" id="{96ADBDA8-CD6F-9C4E-78D5-034923F8097F}"/>
              </a:ext>
            </a:extLst>
          </p:cNvPr>
          <p:cNvSpPr/>
          <p:nvPr/>
        </p:nvSpPr>
        <p:spPr>
          <a:xfrm>
            <a:off x="914400" y="539481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ef @3">
            <a:extLst>
              <a:ext uri="{FF2B5EF4-FFF2-40B4-BE49-F238E27FC236}">
                <a16:creationId xmlns:a16="http://schemas.microsoft.com/office/drawing/2014/main" id="{4FC9213F-2513-B733-DBEA-2D98DCF2AC68}"/>
              </a:ext>
            </a:extLst>
          </p:cNvPr>
          <p:cNvSpPr/>
          <p:nvPr/>
        </p:nvSpPr>
        <p:spPr>
          <a:xfrm>
            <a:off x="1244600" y="5686910"/>
            <a:ext cx="159766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DEFINITION</a:t>
            </a:r>
          </a:p>
        </p:txBody>
      </p:sp>
      <p:sp>
        <p:nvSpPr>
          <p:cNvPr id="16" name="def @3">
            <a:extLst>
              <a:ext uri="{FF2B5EF4-FFF2-40B4-BE49-F238E27FC236}">
                <a16:creationId xmlns:a16="http://schemas.microsoft.com/office/drawing/2014/main" id="{C54C143E-CADD-006A-07BA-ADF6099751F0}"/>
              </a:ext>
            </a:extLst>
          </p:cNvPr>
          <p:cNvSpPr txBox="1"/>
          <p:nvPr/>
        </p:nvSpPr>
        <p:spPr>
          <a:xfrm>
            <a:off x="1244600" y="6245709"/>
            <a:ext cx="6705600" cy="1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Threshold voltage </a:t>
            </a:r>
            <a:r>
              <a:rPr lang="en-US" sz="2400" b="1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b="1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: the value of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at which the channel just forms.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59A27426-7A8A-0572-A6DE-B0BBB25979A0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age">
            <a:extLst>
              <a:ext uri="{FF2B5EF4-FFF2-40B4-BE49-F238E27FC236}">
                <a16:creationId xmlns:a16="http://schemas.microsoft.com/office/drawing/2014/main" id="{0CC69CDA-C597-8F75-5F27-753FBCF63202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4359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creasing v_{DS}: the channel s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E34F65E-4A07-BB64-8488-FBCD39A7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Increasing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: the channel tapers and pinches off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21ED4FC0-F5C9-F07D-141B-731B23C614E8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D9EA67D1-D8BD-9E4B-3008-B6994624111E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59ABE9A0-90BF-3AFD-0B60-7EFB6E071EBE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AE0BCBDF-1EA3-F120-2F2E-752C27534215}"/>
              </a:ext>
            </a:extLst>
          </p:cNvPr>
          <p:cNvSpPr/>
          <p:nvPr/>
        </p:nvSpPr>
        <p:spPr>
          <a:xfrm>
            <a:off x="9144000" y="2222500"/>
            <a:ext cx="8229600" cy="6575531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C3DA70C1-B93A-D3DC-6F16-A2DD8F6F7EBA}"/>
              </a:ext>
            </a:extLst>
          </p:cNvPr>
          <p:cNvSpPr/>
          <p:nvPr/>
        </p:nvSpPr>
        <p:spPr>
          <a:xfrm>
            <a:off x="91440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439E4EE9-5ABC-FBDD-58C2-4CC12B70C0B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000" y="2476500"/>
            <a:ext cx="7721600" cy="5838931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B1D35C06-760D-CEEF-7C5E-72DCD83969E7}"/>
              </a:ext>
            </a:extLst>
          </p:cNvPr>
          <p:cNvSpPr txBox="1"/>
          <p:nvPr/>
        </p:nvSpPr>
        <p:spPr>
          <a:xfrm>
            <a:off x="9398000" y="8442431"/>
            <a:ext cx="7721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E850011C-A18E-64E3-3B68-9F009D8F5FA7}"/>
              </a:ext>
            </a:extLst>
          </p:cNvPr>
          <p:cNvSpPr txBox="1"/>
          <p:nvPr/>
        </p:nvSpPr>
        <p:spPr>
          <a:xfrm>
            <a:off x="914400" y="2349500"/>
            <a:ext cx="7620000" cy="734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Along the channel, the voltage rises from 0 at the source to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at the drain.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6091DB84-D5EF-5C8B-4852-D62D0CE5862C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age">
            <a:extLst>
              <a:ext uri="{FF2B5EF4-FFF2-40B4-BE49-F238E27FC236}">
                <a16:creationId xmlns:a16="http://schemas.microsoft.com/office/drawing/2014/main" id="{B9205DF9-935A-8FBF-A7C1-E8AC6D93EAE6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271215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creasing v_{DS}: the channel s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E34F65E-4A07-BB64-8488-FBCD39A7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Increasing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: the channel tapers and pinches off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21ED4FC0-F5C9-F07D-141B-731B23C614E8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D9EA67D1-D8BD-9E4B-3008-B6994624111E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59ABE9A0-90BF-3AFD-0B60-7EFB6E071EBE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AE0BCBDF-1EA3-F120-2F2E-752C27534215}"/>
              </a:ext>
            </a:extLst>
          </p:cNvPr>
          <p:cNvSpPr/>
          <p:nvPr/>
        </p:nvSpPr>
        <p:spPr>
          <a:xfrm>
            <a:off x="9144000" y="2222500"/>
            <a:ext cx="8229600" cy="6575531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C3DA70C1-B93A-D3DC-6F16-A2DD8F6F7EBA}"/>
              </a:ext>
            </a:extLst>
          </p:cNvPr>
          <p:cNvSpPr/>
          <p:nvPr/>
        </p:nvSpPr>
        <p:spPr>
          <a:xfrm>
            <a:off x="91440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439E4EE9-5ABC-FBDD-58C2-4CC12B70C0B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000" y="2476500"/>
            <a:ext cx="7721600" cy="5838931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B1D35C06-760D-CEEF-7C5E-72DCD83969E7}"/>
              </a:ext>
            </a:extLst>
          </p:cNvPr>
          <p:cNvSpPr txBox="1"/>
          <p:nvPr/>
        </p:nvSpPr>
        <p:spPr>
          <a:xfrm>
            <a:off x="9398000" y="8442431"/>
            <a:ext cx="7721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E850011C-A18E-64E3-3B68-9F009D8F5FA7}"/>
              </a:ext>
            </a:extLst>
          </p:cNvPr>
          <p:cNvSpPr txBox="1"/>
          <p:nvPr/>
        </p:nvSpPr>
        <p:spPr>
          <a:xfrm>
            <a:off x="914400" y="2349500"/>
            <a:ext cx="7620000" cy="734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Along the channel, the voltage rises from 0 at the source to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at the drain.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7F0761F7-BA80-E7C8-9895-2288F5804273}"/>
              </a:ext>
            </a:extLst>
          </p:cNvPr>
          <p:cNvSpPr txBox="1"/>
          <p:nvPr/>
        </p:nvSpPr>
        <p:spPr>
          <a:xfrm>
            <a:off x="914400" y="3363525"/>
            <a:ext cx="7620000" cy="11062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The gate-to-channel voltage therefore falls from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to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: the channel gets shallower toward the drain.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141CB50B-F14E-1344-F65C-D9A21A76593D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age">
            <a:extLst>
              <a:ext uri="{FF2B5EF4-FFF2-40B4-BE49-F238E27FC236}">
                <a16:creationId xmlns:a16="http://schemas.microsoft.com/office/drawing/2014/main" id="{D148D444-FE1B-7A47-4D21-4DADFC485007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979899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creasing v_{DS}: the channel s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E34F65E-4A07-BB64-8488-FBCD39A7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Increasing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: the channel tapers and pinches off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21ED4FC0-F5C9-F07D-141B-731B23C614E8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D9EA67D1-D8BD-9E4B-3008-B6994624111E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59ABE9A0-90BF-3AFD-0B60-7EFB6E071EBE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AE0BCBDF-1EA3-F120-2F2E-752C27534215}"/>
              </a:ext>
            </a:extLst>
          </p:cNvPr>
          <p:cNvSpPr/>
          <p:nvPr/>
        </p:nvSpPr>
        <p:spPr>
          <a:xfrm>
            <a:off x="9144000" y="2222500"/>
            <a:ext cx="8229600" cy="6575531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C3DA70C1-B93A-D3DC-6F16-A2DD8F6F7EBA}"/>
              </a:ext>
            </a:extLst>
          </p:cNvPr>
          <p:cNvSpPr/>
          <p:nvPr/>
        </p:nvSpPr>
        <p:spPr>
          <a:xfrm>
            <a:off x="91440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439E4EE9-5ABC-FBDD-58C2-4CC12B70C0B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000" y="2476500"/>
            <a:ext cx="7721600" cy="5838931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B1D35C06-760D-CEEF-7C5E-72DCD83969E7}"/>
              </a:ext>
            </a:extLst>
          </p:cNvPr>
          <p:cNvSpPr txBox="1"/>
          <p:nvPr/>
        </p:nvSpPr>
        <p:spPr>
          <a:xfrm>
            <a:off x="9398000" y="8442431"/>
            <a:ext cx="7721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E850011C-A18E-64E3-3B68-9F009D8F5FA7}"/>
              </a:ext>
            </a:extLst>
          </p:cNvPr>
          <p:cNvSpPr txBox="1"/>
          <p:nvPr/>
        </p:nvSpPr>
        <p:spPr>
          <a:xfrm>
            <a:off x="914400" y="2349500"/>
            <a:ext cx="7620000" cy="734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Along the channel, the voltage rises from 0 at the source to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at the drain.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7F0761F7-BA80-E7C8-9895-2288F5804273}"/>
              </a:ext>
            </a:extLst>
          </p:cNvPr>
          <p:cNvSpPr txBox="1"/>
          <p:nvPr/>
        </p:nvSpPr>
        <p:spPr>
          <a:xfrm>
            <a:off x="914400" y="3363525"/>
            <a:ext cx="7620000" cy="11062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The gate-to-channel voltage therefore falls from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to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: the channel gets shallower toward the drain.</a:t>
            </a:r>
          </a:p>
        </p:txBody>
      </p:sp>
      <p:sp>
        <p:nvSpPr>
          <p:cNvPr id="13" name="def @3">
            <a:extLst>
              <a:ext uri="{FF2B5EF4-FFF2-40B4-BE49-F238E27FC236}">
                <a16:creationId xmlns:a16="http://schemas.microsoft.com/office/drawing/2014/main" id="{3D057780-01A2-F265-171A-A30E9BB7D44D}"/>
              </a:ext>
            </a:extLst>
          </p:cNvPr>
          <p:cNvSpPr/>
          <p:nvPr/>
        </p:nvSpPr>
        <p:spPr>
          <a:xfrm>
            <a:off x="914400" y="4825390"/>
            <a:ext cx="7620000" cy="2540000"/>
          </a:xfrm>
          <a:prstGeom prst="rect">
            <a:avLst/>
          </a:prstGeom>
          <a:solidFill>
            <a:srgbClr val="E5F0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ef @3">
            <a:extLst>
              <a:ext uri="{FF2B5EF4-FFF2-40B4-BE49-F238E27FC236}">
                <a16:creationId xmlns:a16="http://schemas.microsoft.com/office/drawing/2014/main" id="{B613954F-2CBD-8D7A-DFCA-C8403F98B0CF}"/>
              </a:ext>
            </a:extLst>
          </p:cNvPr>
          <p:cNvSpPr/>
          <p:nvPr/>
        </p:nvSpPr>
        <p:spPr>
          <a:xfrm>
            <a:off x="914400" y="481269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ef @3">
            <a:extLst>
              <a:ext uri="{FF2B5EF4-FFF2-40B4-BE49-F238E27FC236}">
                <a16:creationId xmlns:a16="http://schemas.microsoft.com/office/drawing/2014/main" id="{06E982B0-17C0-B75C-81CD-036C895B9FF7}"/>
              </a:ext>
            </a:extLst>
          </p:cNvPr>
          <p:cNvSpPr/>
          <p:nvPr/>
        </p:nvSpPr>
        <p:spPr>
          <a:xfrm>
            <a:off x="1244600" y="5104790"/>
            <a:ext cx="1488694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PINCH-OFF</a:t>
            </a:r>
          </a:p>
        </p:txBody>
      </p:sp>
      <p:sp>
        <p:nvSpPr>
          <p:cNvPr id="16" name="def @3">
            <a:extLst>
              <a:ext uri="{FF2B5EF4-FFF2-40B4-BE49-F238E27FC236}">
                <a16:creationId xmlns:a16="http://schemas.microsoft.com/office/drawing/2014/main" id="{0C617D2F-0646-EF4F-239C-51D027CE56F6}"/>
              </a:ext>
            </a:extLst>
          </p:cNvPr>
          <p:cNvSpPr txBox="1"/>
          <p:nvPr/>
        </p:nvSpPr>
        <p:spPr>
          <a:xfrm>
            <a:off x="1244600" y="5663589"/>
            <a:ext cx="69596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When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=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, the channel depth at the drain end falls to almost zero. Increasing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further barely changes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: the current </a:t>
            </a:r>
            <a:r>
              <a:rPr lang="en-US" sz="2200" b="1">
                <a:solidFill>
                  <a:srgbClr val="15241D"/>
                </a:solidFill>
                <a:latin typeface="DM Sans" pitchFamily="2" charset="0"/>
              </a:rPr>
              <a:t>saturates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F4F24BA3-2230-CB70-2CD0-F32922C95D91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hrome page">
            <a:extLst>
              <a:ext uri="{FF2B5EF4-FFF2-40B4-BE49-F238E27FC236}">
                <a16:creationId xmlns:a16="http://schemas.microsoft.com/office/drawing/2014/main" id="{B785C4C2-04A7-21F7-2806-5E3CCBF6D648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89527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MOS: NMOS and PMOS on one chi s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5D8ED0E-E8CD-94B8-1ADE-37A267360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CMOS: NMOS and PMOS on one chip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6B7DC0BF-3AE1-ED98-518E-F648D85CCE48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DA4FC1C4-A44E-43E9-83CA-8AD18D7C41E4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4FDF18DD-E98B-4CB7-0D24-251032671275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5116209A-0278-DEA9-8FE5-A83DC7CCAEA2}"/>
              </a:ext>
            </a:extLst>
          </p:cNvPr>
          <p:cNvSpPr/>
          <p:nvPr/>
        </p:nvSpPr>
        <p:spPr>
          <a:xfrm>
            <a:off x="3188957" y="2032000"/>
            <a:ext cx="11910087" cy="5334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328BB498-C19C-80AA-0262-A44C5C10751D}"/>
              </a:ext>
            </a:extLst>
          </p:cNvPr>
          <p:cNvSpPr/>
          <p:nvPr/>
        </p:nvSpPr>
        <p:spPr>
          <a:xfrm>
            <a:off x="3188957" y="2019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F008B45B-4A36-90B2-2132-8B43734C9D1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957" y="2286000"/>
            <a:ext cx="11402087" cy="459740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9B2058CF-6AEF-A19A-28A8-DFDBB5E11EB4}"/>
              </a:ext>
            </a:extLst>
          </p:cNvPr>
          <p:cNvSpPr txBox="1"/>
          <p:nvPr/>
        </p:nvSpPr>
        <p:spPr>
          <a:xfrm>
            <a:off x="3442957" y="7010400"/>
            <a:ext cx="11402087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B29A5018-36C8-A855-ACF8-ECFBF5BF264E}"/>
              </a:ext>
            </a:extLst>
          </p:cNvPr>
          <p:cNvSpPr txBox="1"/>
          <p:nvPr/>
        </p:nvSpPr>
        <p:spPr>
          <a:xfrm>
            <a:off x="914400" y="7747000"/>
            <a:ext cx="16459200" cy="35907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The PMOS transistor is built in an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n-well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, with p⁺ source and drain.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7E7E04B2-3782-2E03-0ABF-6A562169FDCB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hrome page">
            <a:extLst>
              <a:ext uri="{FF2B5EF4-FFF2-40B4-BE49-F238E27FC236}">
                <a16:creationId xmlns:a16="http://schemas.microsoft.com/office/drawing/2014/main" id="{8609158C-FC9F-5CF9-C9FF-CC274915BD73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08892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MOS: NMOS and PMOS on one chi s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5D8ED0E-E8CD-94B8-1ADE-37A267360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CMOS: NMOS and PMOS on one chip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6B7DC0BF-3AE1-ED98-518E-F648D85CCE48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DA4FC1C4-A44E-43E9-83CA-8AD18D7C41E4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4FDF18DD-E98B-4CB7-0D24-251032671275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5116209A-0278-DEA9-8FE5-A83DC7CCAEA2}"/>
              </a:ext>
            </a:extLst>
          </p:cNvPr>
          <p:cNvSpPr/>
          <p:nvPr/>
        </p:nvSpPr>
        <p:spPr>
          <a:xfrm>
            <a:off x="3188957" y="2032000"/>
            <a:ext cx="11910087" cy="5334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328BB498-C19C-80AA-0262-A44C5C10751D}"/>
              </a:ext>
            </a:extLst>
          </p:cNvPr>
          <p:cNvSpPr/>
          <p:nvPr/>
        </p:nvSpPr>
        <p:spPr>
          <a:xfrm>
            <a:off x="3188957" y="2019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F008B45B-4A36-90B2-2132-8B43734C9D1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957" y="2286000"/>
            <a:ext cx="11402087" cy="459740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9B2058CF-6AEF-A19A-28A8-DFDBB5E11EB4}"/>
              </a:ext>
            </a:extLst>
          </p:cNvPr>
          <p:cNvSpPr txBox="1"/>
          <p:nvPr/>
        </p:nvSpPr>
        <p:spPr>
          <a:xfrm>
            <a:off x="3442957" y="7010400"/>
            <a:ext cx="11402087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B29A5018-36C8-A855-ACF8-ECFBF5BF264E}"/>
              </a:ext>
            </a:extLst>
          </p:cNvPr>
          <p:cNvSpPr txBox="1"/>
          <p:nvPr/>
        </p:nvSpPr>
        <p:spPr>
          <a:xfrm>
            <a:off x="914400" y="7747000"/>
            <a:ext cx="16459200" cy="35907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The PMOS transistor is built in an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n-well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, with p⁺ source and drain.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D7E901E8-E9DE-5187-B76E-7CC5F0E628CA}"/>
              </a:ext>
            </a:extLst>
          </p:cNvPr>
          <p:cNvSpPr txBox="1"/>
          <p:nvPr/>
        </p:nvSpPr>
        <p:spPr>
          <a:xfrm>
            <a:off x="914400" y="8385473"/>
            <a:ext cx="16459200" cy="36298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Thick oxide isolates neighbouring devices. CMOS circuits use both types together.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2A7C117D-74A6-C47F-6ACB-C9B9CCF410DE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hrome page">
            <a:extLst>
              <a:ext uri="{FF2B5EF4-FFF2-40B4-BE49-F238E27FC236}">
                <a16:creationId xmlns:a16="http://schemas.microsoft.com/office/drawing/2014/main" id="{E5D189BD-836F-6F33-A16E-32DDC099D3FB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748076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ircuit symbols: n-channel and s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F7246A0-63AE-8025-0F15-7F0F0FC93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Circuit symbols: n-channel and p-channel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3DC2469B-2195-9A19-F9C6-33A84BDA71E4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B379D7DB-0588-8C68-62E0-6974C299D72C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104B3E64-A423-0EE6-651F-080A95CD06AC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drawing card">
            <a:extLst>
              <a:ext uri="{FF2B5EF4-FFF2-40B4-BE49-F238E27FC236}">
                <a16:creationId xmlns:a16="http://schemas.microsoft.com/office/drawing/2014/main" id="{7A67BB36-DD74-D9A4-FBE0-E285CBF36848}"/>
              </a:ext>
            </a:extLst>
          </p:cNvPr>
          <p:cNvSpPr/>
          <p:nvPr/>
        </p:nvSpPr>
        <p:spPr>
          <a:xfrm>
            <a:off x="914400" y="2222500"/>
            <a:ext cx="8128000" cy="5334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rawing card">
            <a:extLst>
              <a:ext uri="{FF2B5EF4-FFF2-40B4-BE49-F238E27FC236}">
                <a16:creationId xmlns:a16="http://schemas.microsoft.com/office/drawing/2014/main" id="{E5DC5C98-24C0-A424-6D31-34C4C1D9EEF9}"/>
              </a:ext>
            </a:extLst>
          </p:cNvPr>
          <p:cNvSpPr/>
          <p:nvPr/>
        </p:nvSpPr>
        <p:spPr>
          <a:xfrm>
            <a:off x="9144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kt">
            <a:extLst>
              <a:ext uri="{FF2B5EF4-FFF2-40B4-BE49-F238E27FC236}">
                <a16:creationId xmlns:a16="http://schemas.microsoft.com/office/drawing/2014/main" id="{F2B5980E-077A-E8A3-18D4-8364AC5E7B76}"/>
              </a:ext>
            </a:extLst>
          </p:cNvPr>
          <p:cNvCxnSpPr/>
          <p:nvPr/>
        </p:nvCxnSpPr>
        <p:spPr>
          <a:xfrm>
            <a:off x="2946400" y="4211320"/>
            <a:ext cx="0" cy="97536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kt">
            <a:extLst>
              <a:ext uri="{FF2B5EF4-FFF2-40B4-BE49-F238E27FC236}">
                <a16:creationId xmlns:a16="http://schemas.microsoft.com/office/drawing/2014/main" id="{39D86D49-D65D-ED77-B9DC-2F7DCFA85001}"/>
              </a:ext>
            </a:extLst>
          </p:cNvPr>
          <p:cNvCxnSpPr/>
          <p:nvPr/>
        </p:nvCxnSpPr>
        <p:spPr>
          <a:xfrm>
            <a:off x="3098800" y="4089400"/>
            <a:ext cx="0" cy="174172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kt">
            <a:extLst>
              <a:ext uri="{FF2B5EF4-FFF2-40B4-BE49-F238E27FC236}">
                <a16:creationId xmlns:a16="http://schemas.microsoft.com/office/drawing/2014/main" id="{3EFB7C3E-C8B2-CB93-91C9-7888EE90EEFD}"/>
              </a:ext>
            </a:extLst>
          </p:cNvPr>
          <p:cNvCxnSpPr/>
          <p:nvPr/>
        </p:nvCxnSpPr>
        <p:spPr>
          <a:xfrm>
            <a:off x="3098800" y="4611914"/>
            <a:ext cx="0" cy="174172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kt">
            <a:extLst>
              <a:ext uri="{FF2B5EF4-FFF2-40B4-BE49-F238E27FC236}">
                <a16:creationId xmlns:a16="http://schemas.microsoft.com/office/drawing/2014/main" id="{C4E2A676-8137-3CC5-396B-8AD60836DDA6}"/>
              </a:ext>
            </a:extLst>
          </p:cNvPr>
          <p:cNvCxnSpPr/>
          <p:nvPr/>
        </p:nvCxnSpPr>
        <p:spPr>
          <a:xfrm>
            <a:off x="3098800" y="5134428"/>
            <a:ext cx="0" cy="174172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kt">
            <a:extLst>
              <a:ext uri="{FF2B5EF4-FFF2-40B4-BE49-F238E27FC236}">
                <a16:creationId xmlns:a16="http://schemas.microsoft.com/office/drawing/2014/main" id="{94730EC4-B8F5-282D-0714-79FA49E04D0B}"/>
              </a:ext>
            </a:extLst>
          </p:cNvPr>
          <p:cNvCxnSpPr/>
          <p:nvPr/>
        </p:nvCxnSpPr>
        <p:spPr>
          <a:xfrm>
            <a:off x="3098800" y="4176486"/>
            <a:ext cx="508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kt">
            <a:extLst>
              <a:ext uri="{FF2B5EF4-FFF2-40B4-BE49-F238E27FC236}">
                <a16:creationId xmlns:a16="http://schemas.microsoft.com/office/drawing/2014/main" id="{49AB1A06-356E-534C-CC50-82E6C0957327}"/>
              </a:ext>
            </a:extLst>
          </p:cNvPr>
          <p:cNvCxnSpPr/>
          <p:nvPr/>
        </p:nvCxnSpPr>
        <p:spPr>
          <a:xfrm>
            <a:off x="3098800" y="5221514"/>
            <a:ext cx="508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kt">
            <a:extLst>
              <a:ext uri="{FF2B5EF4-FFF2-40B4-BE49-F238E27FC236}">
                <a16:creationId xmlns:a16="http://schemas.microsoft.com/office/drawing/2014/main" id="{C7F56209-C780-5C2C-BB98-1FE3956A96C9}"/>
              </a:ext>
            </a:extLst>
          </p:cNvPr>
          <p:cNvCxnSpPr/>
          <p:nvPr/>
        </p:nvCxnSpPr>
        <p:spPr>
          <a:xfrm>
            <a:off x="3098800" y="4699000"/>
            <a:ext cx="508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kt">
            <a:extLst>
              <a:ext uri="{FF2B5EF4-FFF2-40B4-BE49-F238E27FC236}">
                <a16:creationId xmlns:a16="http://schemas.microsoft.com/office/drawing/2014/main" id="{747B8763-98C2-F076-BA4E-1220D7AC120C}"/>
              </a:ext>
            </a:extLst>
          </p:cNvPr>
          <p:cNvCxnSpPr/>
          <p:nvPr/>
        </p:nvCxnSpPr>
        <p:spPr>
          <a:xfrm flipH="1">
            <a:off x="3149600" y="4699000"/>
            <a:ext cx="330200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900D698A-B609-B589-E051-2191DDE62B4B}"/>
              </a:ext>
            </a:extLst>
          </p:cNvPr>
          <p:cNvCxnSpPr/>
          <p:nvPr/>
        </p:nvCxnSpPr>
        <p:spPr>
          <a:xfrm flipV="1">
            <a:off x="3606800" y="3302000"/>
            <a:ext cx="0" cy="87448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kt label">
            <a:extLst>
              <a:ext uri="{FF2B5EF4-FFF2-40B4-BE49-F238E27FC236}">
                <a16:creationId xmlns:a16="http://schemas.microsoft.com/office/drawing/2014/main" id="{2FC0F723-AE6F-811A-59B8-7A47AF889A23}"/>
              </a:ext>
            </a:extLst>
          </p:cNvPr>
          <p:cNvSpPr txBox="1"/>
          <p:nvPr/>
        </p:nvSpPr>
        <p:spPr>
          <a:xfrm>
            <a:off x="3733800" y="3111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D</a:t>
            </a:r>
          </a:p>
        </p:txBody>
      </p:sp>
      <p:cxnSp>
        <p:nvCxnSpPr>
          <p:cNvPr id="18" name="ckt">
            <a:extLst>
              <a:ext uri="{FF2B5EF4-FFF2-40B4-BE49-F238E27FC236}">
                <a16:creationId xmlns:a16="http://schemas.microsoft.com/office/drawing/2014/main" id="{3D13DD72-4A41-A5A5-90D5-6E47BD0CCF60}"/>
              </a:ext>
            </a:extLst>
          </p:cNvPr>
          <p:cNvCxnSpPr/>
          <p:nvPr/>
        </p:nvCxnSpPr>
        <p:spPr>
          <a:xfrm>
            <a:off x="3606800" y="5221514"/>
            <a:ext cx="0" cy="87448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kt label">
            <a:extLst>
              <a:ext uri="{FF2B5EF4-FFF2-40B4-BE49-F238E27FC236}">
                <a16:creationId xmlns:a16="http://schemas.microsoft.com/office/drawing/2014/main" id="{654134F5-C323-8438-9A43-03A4BB8EC13C}"/>
              </a:ext>
            </a:extLst>
          </p:cNvPr>
          <p:cNvSpPr txBox="1"/>
          <p:nvPr/>
        </p:nvSpPr>
        <p:spPr>
          <a:xfrm>
            <a:off x="3733800" y="5905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S</a:t>
            </a:r>
          </a:p>
        </p:txBody>
      </p:sp>
      <p:cxnSp>
        <p:nvCxnSpPr>
          <p:cNvPr id="20" name="ckt">
            <a:extLst>
              <a:ext uri="{FF2B5EF4-FFF2-40B4-BE49-F238E27FC236}">
                <a16:creationId xmlns:a16="http://schemas.microsoft.com/office/drawing/2014/main" id="{ACBF7893-E57F-68D3-EE69-67C07E949F4A}"/>
              </a:ext>
            </a:extLst>
          </p:cNvPr>
          <p:cNvCxnSpPr/>
          <p:nvPr/>
        </p:nvCxnSpPr>
        <p:spPr>
          <a:xfrm>
            <a:off x="3606800" y="4699000"/>
            <a:ext cx="635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kt label">
            <a:extLst>
              <a:ext uri="{FF2B5EF4-FFF2-40B4-BE49-F238E27FC236}">
                <a16:creationId xmlns:a16="http://schemas.microsoft.com/office/drawing/2014/main" id="{4DE9ECFD-0B33-4BAC-A7F3-B9B73CD1741F}"/>
              </a:ext>
            </a:extLst>
          </p:cNvPr>
          <p:cNvSpPr txBox="1"/>
          <p:nvPr/>
        </p:nvSpPr>
        <p:spPr>
          <a:xfrm>
            <a:off x="4343400" y="4508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B</a:t>
            </a:r>
          </a:p>
        </p:txBody>
      </p:sp>
      <p:cxnSp>
        <p:nvCxnSpPr>
          <p:cNvPr id="22" name="ckt">
            <a:extLst>
              <a:ext uri="{FF2B5EF4-FFF2-40B4-BE49-F238E27FC236}">
                <a16:creationId xmlns:a16="http://schemas.microsoft.com/office/drawing/2014/main" id="{36AF4C92-40A5-B4B8-AE99-F2D2A33A3F33}"/>
              </a:ext>
            </a:extLst>
          </p:cNvPr>
          <p:cNvCxnSpPr/>
          <p:nvPr/>
        </p:nvCxnSpPr>
        <p:spPr>
          <a:xfrm>
            <a:off x="2057400" y="4699000"/>
            <a:ext cx="889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kt label">
            <a:extLst>
              <a:ext uri="{FF2B5EF4-FFF2-40B4-BE49-F238E27FC236}">
                <a16:creationId xmlns:a16="http://schemas.microsoft.com/office/drawing/2014/main" id="{AB093CCF-81E1-CE32-4085-BB63D6FB62B9}"/>
              </a:ext>
            </a:extLst>
          </p:cNvPr>
          <p:cNvSpPr txBox="1"/>
          <p:nvPr/>
        </p:nvSpPr>
        <p:spPr>
          <a:xfrm>
            <a:off x="1422400" y="4508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G</a:t>
            </a:r>
          </a:p>
        </p:txBody>
      </p:sp>
      <p:sp>
        <p:nvSpPr>
          <p:cNvPr id="24" name="ckt label">
            <a:extLst>
              <a:ext uri="{FF2B5EF4-FFF2-40B4-BE49-F238E27FC236}">
                <a16:creationId xmlns:a16="http://schemas.microsoft.com/office/drawing/2014/main" id="{F607F4E7-9093-05D1-5446-B4D4349A191E}"/>
              </a:ext>
            </a:extLst>
          </p:cNvPr>
          <p:cNvSpPr txBox="1"/>
          <p:nvPr/>
        </p:nvSpPr>
        <p:spPr>
          <a:xfrm>
            <a:off x="1930400" y="6667499"/>
            <a:ext cx="254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n-channel</a:t>
            </a:r>
          </a:p>
        </p:txBody>
      </p:sp>
      <p:cxnSp>
        <p:nvCxnSpPr>
          <p:cNvPr id="25" name="ckt">
            <a:extLst>
              <a:ext uri="{FF2B5EF4-FFF2-40B4-BE49-F238E27FC236}">
                <a16:creationId xmlns:a16="http://schemas.microsoft.com/office/drawing/2014/main" id="{FEC3B446-7AE2-6B51-C690-727F28EE5DD2}"/>
              </a:ext>
            </a:extLst>
          </p:cNvPr>
          <p:cNvCxnSpPr/>
          <p:nvPr/>
        </p:nvCxnSpPr>
        <p:spPr>
          <a:xfrm>
            <a:off x="6502400" y="4211320"/>
            <a:ext cx="0" cy="97536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9792C620-960A-53E6-B7D8-69CCE2CD5931}"/>
              </a:ext>
            </a:extLst>
          </p:cNvPr>
          <p:cNvCxnSpPr/>
          <p:nvPr/>
        </p:nvCxnSpPr>
        <p:spPr>
          <a:xfrm>
            <a:off x="6654800" y="4089400"/>
            <a:ext cx="0" cy="174172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79D39007-3E85-8310-5632-F3CEA5ECD274}"/>
              </a:ext>
            </a:extLst>
          </p:cNvPr>
          <p:cNvCxnSpPr/>
          <p:nvPr/>
        </p:nvCxnSpPr>
        <p:spPr>
          <a:xfrm>
            <a:off x="6654800" y="4611914"/>
            <a:ext cx="0" cy="174172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25C0D175-D92A-F2D7-B211-CEAC5BBD32BB}"/>
              </a:ext>
            </a:extLst>
          </p:cNvPr>
          <p:cNvCxnSpPr/>
          <p:nvPr/>
        </p:nvCxnSpPr>
        <p:spPr>
          <a:xfrm>
            <a:off x="6654800" y="5134428"/>
            <a:ext cx="0" cy="174172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kt">
            <a:extLst>
              <a:ext uri="{FF2B5EF4-FFF2-40B4-BE49-F238E27FC236}">
                <a16:creationId xmlns:a16="http://schemas.microsoft.com/office/drawing/2014/main" id="{5A7FD2B1-6CBB-C1EF-9D80-9F4E4572137C}"/>
              </a:ext>
            </a:extLst>
          </p:cNvPr>
          <p:cNvCxnSpPr/>
          <p:nvPr/>
        </p:nvCxnSpPr>
        <p:spPr>
          <a:xfrm>
            <a:off x="6654800" y="4176486"/>
            <a:ext cx="508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kt">
            <a:extLst>
              <a:ext uri="{FF2B5EF4-FFF2-40B4-BE49-F238E27FC236}">
                <a16:creationId xmlns:a16="http://schemas.microsoft.com/office/drawing/2014/main" id="{92042D5E-55DC-B070-AEAE-E7C6ED9ED1A9}"/>
              </a:ext>
            </a:extLst>
          </p:cNvPr>
          <p:cNvCxnSpPr/>
          <p:nvPr/>
        </p:nvCxnSpPr>
        <p:spPr>
          <a:xfrm>
            <a:off x="6654800" y="5221514"/>
            <a:ext cx="508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kt">
            <a:extLst>
              <a:ext uri="{FF2B5EF4-FFF2-40B4-BE49-F238E27FC236}">
                <a16:creationId xmlns:a16="http://schemas.microsoft.com/office/drawing/2014/main" id="{9F154F58-8F21-C8C6-8E90-D57937CA6469}"/>
              </a:ext>
            </a:extLst>
          </p:cNvPr>
          <p:cNvCxnSpPr/>
          <p:nvPr/>
        </p:nvCxnSpPr>
        <p:spPr>
          <a:xfrm>
            <a:off x="6654800" y="4699000"/>
            <a:ext cx="508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kt">
            <a:extLst>
              <a:ext uri="{FF2B5EF4-FFF2-40B4-BE49-F238E27FC236}">
                <a16:creationId xmlns:a16="http://schemas.microsoft.com/office/drawing/2014/main" id="{F6EDCD13-6AB7-1C60-B24B-5BF84C3C48CA}"/>
              </a:ext>
            </a:extLst>
          </p:cNvPr>
          <p:cNvCxnSpPr/>
          <p:nvPr/>
        </p:nvCxnSpPr>
        <p:spPr>
          <a:xfrm>
            <a:off x="6705600" y="4699000"/>
            <a:ext cx="279400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kt">
            <a:extLst>
              <a:ext uri="{FF2B5EF4-FFF2-40B4-BE49-F238E27FC236}">
                <a16:creationId xmlns:a16="http://schemas.microsoft.com/office/drawing/2014/main" id="{9B559BA0-A28F-19FC-C719-52874CE46C56}"/>
              </a:ext>
            </a:extLst>
          </p:cNvPr>
          <p:cNvCxnSpPr/>
          <p:nvPr/>
        </p:nvCxnSpPr>
        <p:spPr>
          <a:xfrm flipV="1">
            <a:off x="7162800" y="3302000"/>
            <a:ext cx="0" cy="87448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kt label">
            <a:extLst>
              <a:ext uri="{FF2B5EF4-FFF2-40B4-BE49-F238E27FC236}">
                <a16:creationId xmlns:a16="http://schemas.microsoft.com/office/drawing/2014/main" id="{843D82B8-9DC9-9E46-97E4-8922908D3F29}"/>
              </a:ext>
            </a:extLst>
          </p:cNvPr>
          <p:cNvSpPr txBox="1"/>
          <p:nvPr/>
        </p:nvSpPr>
        <p:spPr>
          <a:xfrm>
            <a:off x="7289800" y="3111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D</a:t>
            </a:r>
          </a:p>
        </p:txBody>
      </p:sp>
      <p:cxnSp>
        <p:nvCxnSpPr>
          <p:cNvPr id="35" name="ckt">
            <a:extLst>
              <a:ext uri="{FF2B5EF4-FFF2-40B4-BE49-F238E27FC236}">
                <a16:creationId xmlns:a16="http://schemas.microsoft.com/office/drawing/2014/main" id="{93212071-7743-1A6B-F2D9-7A7CD56BF8CE}"/>
              </a:ext>
            </a:extLst>
          </p:cNvPr>
          <p:cNvCxnSpPr/>
          <p:nvPr/>
        </p:nvCxnSpPr>
        <p:spPr>
          <a:xfrm>
            <a:off x="7162800" y="5221514"/>
            <a:ext cx="0" cy="87448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kt label">
            <a:extLst>
              <a:ext uri="{FF2B5EF4-FFF2-40B4-BE49-F238E27FC236}">
                <a16:creationId xmlns:a16="http://schemas.microsoft.com/office/drawing/2014/main" id="{E7C7921F-7A6D-A7CE-0749-2AA5D0AFFE9C}"/>
              </a:ext>
            </a:extLst>
          </p:cNvPr>
          <p:cNvSpPr txBox="1"/>
          <p:nvPr/>
        </p:nvSpPr>
        <p:spPr>
          <a:xfrm>
            <a:off x="7289800" y="5905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S</a:t>
            </a:r>
          </a:p>
        </p:txBody>
      </p:sp>
      <p:cxnSp>
        <p:nvCxnSpPr>
          <p:cNvPr id="37" name="ckt">
            <a:extLst>
              <a:ext uri="{FF2B5EF4-FFF2-40B4-BE49-F238E27FC236}">
                <a16:creationId xmlns:a16="http://schemas.microsoft.com/office/drawing/2014/main" id="{4781A34C-2834-6831-A167-863554ABEA0F}"/>
              </a:ext>
            </a:extLst>
          </p:cNvPr>
          <p:cNvCxnSpPr/>
          <p:nvPr/>
        </p:nvCxnSpPr>
        <p:spPr>
          <a:xfrm>
            <a:off x="7162800" y="4699000"/>
            <a:ext cx="635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kt label">
            <a:extLst>
              <a:ext uri="{FF2B5EF4-FFF2-40B4-BE49-F238E27FC236}">
                <a16:creationId xmlns:a16="http://schemas.microsoft.com/office/drawing/2014/main" id="{26D3FE93-A7C4-C42E-B916-40D20EC94B00}"/>
              </a:ext>
            </a:extLst>
          </p:cNvPr>
          <p:cNvSpPr txBox="1"/>
          <p:nvPr/>
        </p:nvSpPr>
        <p:spPr>
          <a:xfrm>
            <a:off x="7899400" y="4508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B</a:t>
            </a:r>
          </a:p>
        </p:txBody>
      </p:sp>
      <p:cxnSp>
        <p:nvCxnSpPr>
          <p:cNvPr id="39" name="ckt">
            <a:extLst>
              <a:ext uri="{FF2B5EF4-FFF2-40B4-BE49-F238E27FC236}">
                <a16:creationId xmlns:a16="http://schemas.microsoft.com/office/drawing/2014/main" id="{F9A80DEA-7A39-5D72-DAAD-2FF8F2DB00F9}"/>
              </a:ext>
            </a:extLst>
          </p:cNvPr>
          <p:cNvCxnSpPr/>
          <p:nvPr/>
        </p:nvCxnSpPr>
        <p:spPr>
          <a:xfrm>
            <a:off x="5613400" y="4699000"/>
            <a:ext cx="889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kt label">
            <a:extLst>
              <a:ext uri="{FF2B5EF4-FFF2-40B4-BE49-F238E27FC236}">
                <a16:creationId xmlns:a16="http://schemas.microsoft.com/office/drawing/2014/main" id="{6332D7F1-2305-EFCE-C689-4E45AA8254FA}"/>
              </a:ext>
            </a:extLst>
          </p:cNvPr>
          <p:cNvSpPr txBox="1"/>
          <p:nvPr/>
        </p:nvSpPr>
        <p:spPr>
          <a:xfrm>
            <a:off x="4978400" y="4508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G</a:t>
            </a:r>
          </a:p>
        </p:txBody>
      </p:sp>
      <p:sp>
        <p:nvSpPr>
          <p:cNvPr id="41" name="ckt label">
            <a:extLst>
              <a:ext uri="{FF2B5EF4-FFF2-40B4-BE49-F238E27FC236}">
                <a16:creationId xmlns:a16="http://schemas.microsoft.com/office/drawing/2014/main" id="{889E572F-1A16-4786-902B-34654C9A834A}"/>
              </a:ext>
            </a:extLst>
          </p:cNvPr>
          <p:cNvSpPr txBox="1"/>
          <p:nvPr/>
        </p:nvSpPr>
        <p:spPr>
          <a:xfrm>
            <a:off x="5486400" y="6667499"/>
            <a:ext cx="254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p-channel</a:t>
            </a:r>
          </a:p>
        </p:txBody>
      </p:sp>
      <p:sp>
        <p:nvSpPr>
          <p:cNvPr id="42" name="point @1">
            <a:extLst>
              <a:ext uri="{FF2B5EF4-FFF2-40B4-BE49-F238E27FC236}">
                <a16:creationId xmlns:a16="http://schemas.microsoft.com/office/drawing/2014/main" id="{434FAD59-16EF-733D-90E8-97A31823C70F}"/>
              </a:ext>
            </a:extLst>
          </p:cNvPr>
          <p:cNvSpPr txBox="1"/>
          <p:nvPr/>
        </p:nvSpPr>
        <p:spPr>
          <a:xfrm>
            <a:off x="9652000" y="2413000"/>
            <a:ext cx="7721600" cy="11543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In these symbols the arrow is on the body: it points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in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for an n-channel device and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out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for a p-channel device.</a:t>
            </a:r>
          </a:p>
        </p:txBody>
      </p:sp>
      <p:sp>
        <p:nvSpPr>
          <p:cNvPr id="44" name="chrome page">
            <a:extLst>
              <a:ext uri="{FF2B5EF4-FFF2-40B4-BE49-F238E27FC236}">
                <a16:creationId xmlns:a16="http://schemas.microsoft.com/office/drawing/2014/main" id="{9CBED68D-C620-AF69-CC4D-D2C964A87C1B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chrome page">
            <a:extLst>
              <a:ext uri="{FF2B5EF4-FFF2-40B4-BE49-F238E27FC236}">
                <a16:creationId xmlns:a16="http://schemas.microsoft.com/office/drawing/2014/main" id="{FFA2EE36-AB08-32B7-9223-EE1ABF395409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377486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ircuit symbols: n-channel and s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F7246A0-63AE-8025-0F15-7F0F0FC93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Circuit symbols: n-channel and p-channel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3DC2469B-2195-9A19-F9C6-33A84BDA71E4}"/>
              </a:ext>
            </a:extLst>
          </p:cNvPr>
          <p:cNvSpPr/>
          <p:nvPr/>
        </p:nvSpPr>
        <p:spPr>
          <a:xfrm>
            <a:off x="914400" y="279400"/>
            <a:ext cx="345008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1 · STRUCTURE AND OPERATION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B379D7DB-0588-8C68-62E0-6974C299D72C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104B3E64-A423-0EE6-651F-080A95CD06AC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drawing card">
            <a:extLst>
              <a:ext uri="{FF2B5EF4-FFF2-40B4-BE49-F238E27FC236}">
                <a16:creationId xmlns:a16="http://schemas.microsoft.com/office/drawing/2014/main" id="{7A67BB36-DD74-D9A4-FBE0-E285CBF36848}"/>
              </a:ext>
            </a:extLst>
          </p:cNvPr>
          <p:cNvSpPr/>
          <p:nvPr/>
        </p:nvSpPr>
        <p:spPr>
          <a:xfrm>
            <a:off x="914400" y="2222500"/>
            <a:ext cx="8128000" cy="5334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rawing card">
            <a:extLst>
              <a:ext uri="{FF2B5EF4-FFF2-40B4-BE49-F238E27FC236}">
                <a16:creationId xmlns:a16="http://schemas.microsoft.com/office/drawing/2014/main" id="{E5DC5C98-24C0-A424-6D31-34C4C1D9EEF9}"/>
              </a:ext>
            </a:extLst>
          </p:cNvPr>
          <p:cNvSpPr/>
          <p:nvPr/>
        </p:nvSpPr>
        <p:spPr>
          <a:xfrm>
            <a:off x="9144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kt">
            <a:extLst>
              <a:ext uri="{FF2B5EF4-FFF2-40B4-BE49-F238E27FC236}">
                <a16:creationId xmlns:a16="http://schemas.microsoft.com/office/drawing/2014/main" id="{F2B5980E-077A-E8A3-18D4-8364AC5E7B76}"/>
              </a:ext>
            </a:extLst>
          </p:cNvPr>
          <p:cNvCxnSpPr/>
          <p:nvPr/>
        </p:nvCxnSpPr>
        <p:spPr>
          <a:xfrm>
            <a:off x="2946400" y="4211320"/>
            <a:ext cx="0" cy="97536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kt">
            <a:extLst>
              <a:ext uri="{FF2B5EF4-FFF2-40B4-BE49-F238E27FC236}">
                <a16:creationId xmlns:a16="http://schemas.microsoft.com/office/drawing/2014/main" id="{39D86D49-D65D-ED77-B9DC-2F7DCFA85001}"/>
              </a:ext>
            </a:extLst>
          </p:cNvPr>
          <p:cNvCxnSpPr/>
          <p:nvPr/>
        </p:nvCxnSpPr>
        <p:spPr>
          <a:xfrm>
            <a:off x="3098800" y="4089400"/>
            <a:ext cx="0" cy="174172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kt">
            <a:extLst>
              <a:ext uri="{FF2B5EF4-FFF2-40B4-BE49-F238E27FC236}">
                <a16:creationId xmlns:a16="http://schemas.microsoft.com/office/drawing/2014/main" id="{3EFB7C3E-C8B2-CB93-91C9-7888EE90EEFD}"/>
              </a:ext>
            </a:extLst>
          </p:cNvPr>
          <p:cNvCxnSpPr/>
          <p:nvPr/>
        </p:nvCxnSpPr>
        <p:spPr>
          <a:xfrm>
            <a:off x="3098800" y="4611914"/>
            <a:ext cx="0" cy="174172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kt">
            <a:extLst>
              <a:ext uri="{FF2B5EF4-FFF2-40B4-BE49-F238E27FC236}">
                <a16:creationId xmlns:a16="http://schemas.microsoft.com/office/drawing/2014/main" id="{C4E2A676-8137-3CC5-396B-8AD60836DDA6}"/>
              </a:ext>
            </a:extLst>
          </p:cNvPr>
          <p:cNvCxnSpPr/>
          <p:nvPr/>
        </p:nvCxnSpPr>
        <p:spPr>
          <a:xfrm>
            <a:off x="3098800" y="5134428"/>
            <a:ext cx="0" cy="174172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kt">
            <a:extLst>
              <a:ext uri="{FF2B5EF4-FFF2-40B4-BE49-F238E27FC236}">
                <a16:creationId xmlns:a16="http://schemas.microsoft.com/office/drawing/2014/main" id="{94730EC4-B8F5-282D-0714-79FA49E04D0B}"/>
              </a:ext>
            </a:extLst>
          </p:cNvPr>
          <p:cNvCxnSpPr/>
          <p:nvPr/>
        </p:nvCxnSpPr>
        <p:spPr>
          <a:xfrm>
            <a:off x="3098800" y="4176486"/>
            <a:ext cx="508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kt">
            <a:extLst>
              <a:ext uri="{FF2B5EF4-FFF2-40B4-BE49-F238E27FC236}">
                <a16:creationId xmlns:a16="http://schemas.microsoft.com/office/drawing/2014/main" id="{49AB1A06-356E-534C-CC50-82E6C0957327}"/>
              </a:ext>
            </a:extLst>
          </p:cNvPr>
          <p:cNvCxnSpPr/>
          <p:nvPr/>
        </p:nvCxnSpPr>
        <p:spPr>
          <a:xfrm>
            <a:off x="3098800" y="5221514"/>
            <a:ext cx="508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kt">
            <a:extLst>
              <a:ext uri="{FF2B5EF4-FFF2-40B4-BE49-F238E27FC236}">
                <a16:creationId xmlns:a16="http://schemas.microsoft.com/office/drawing/2014/main" id="{C7F56209-C780-5C2C-BB98-1FE3956A96C9}"/>
              </a:ext>
            </a:extLst>
          </p:cNvPr>
          <p:cNvCxnSpPr/>
          <p:nvPr/>
        </p:nvCxnSpPr>
        <p:spPr>
          <a:xfrm>
            <a:off x="3098800" y="4699000"/>
            <a:ext cx="508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kt">
            <a:extLst>
              <a:ext uri="{FF2B5EF4-FFF2-40B4-BE49-F238E27FC236}">
                <a16:creationId xmlns:a16="http://schemas.microsoft.com/office/drawing/2014/main" id="{747B8763-98C2-F076-BA4E-1220D7AC120C}"/>
              </a:ext>
            </a:extLst>
          </p:cNvPr>
          <p:cNvCxnSpPr/>
          <p:nvPr/>
        </p:nvCxnSpPr>
        <p:spPr>
          <a:xfrm flipH="1">
            <a:off x="3149600" y="4699000"/>
            <a:ext cx="330200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900D698A-B609-B589-E051-2191DDE62B4B}"/>
              </a:ext>
            </a:extLst>
          </p:cNvPr>
          <p:cNvCxnSpPr/>
          <p:nvPr/>
        </p:nvCxnSpPr>
        <p:spPr>
          <a:xfrm flipV="1">
            <a:off x="3606800" y="3302000"/>
            <a:ext cx="0" cy="87448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kt label">
            <a:extLst>
              <a:ext uri="{FF2B5EF4-FFF2-40B4-BE49-F238E27FC236}">
                <a16:creationId xmlns:a16="http://schemas.microsoft.com/office/drawing/2014/main" id="{2FC0F723-AE6F-811A-59B8-7A47AF889A23}"/>
              </a:ext>
            </a:extLst>
          </p:cNvPr>
          <p:cNvSpPr txBox="1"/>
          <p:nvPr/>
        </p:nvSpPr>
        <p:spPr>
          <a:xfrm>
            <a:off x="3733800" y="3111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D</a:t>
            </a:r>
          </a:p>
        </p:txBody>
      </p:sp>
      <p:cxnSp>
        <p:nvCxnSpPr>
          <p:cNvPr id="18" name="ckt">
            <a:extLst>
              <a:ext uri="{FF2B5EF4-FFF2-40B4-BE49-F238E27FC236}">
                <a16:creationId xmlns:a16="http://schemas.microsoft.com/office/drawing/2014/main" id="{3D13DD72-4A41-A5A5-90D5-6E47BD0CCF60}"/>
              </a:ext>
            </a:extLst>
          </p:cNvPr>
          <p:cNvCxnSpPr/>
          <p:nvPr/>
        </p:nvCxnSpPr>
        <p:spPr>
          <a:xfrm>
            <a:off x="3606800" y="5221514"/>
            <a:ext cx="0" cy="87448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kt label">
            <a:extLst>
              <a:ext uri="{FF2B5EF4-FFF2-40B4-BE49-F238E27FC236}">
                <a16:creationId xmlns:a16="http://schemas.microsoft.com/office/drawing/2014/main" id="{654134F5-C323-8438-9A43-03A4BB8EC13C}"/>
              </a:ext>
            </a:extLst>
          </p:cNvPr>
          <p:cNvSpPr txBox="1"/>
          <p:nvPr/>
        </p:nvSpPr>
        <p:spPr>
          <a:xfrm>
            <a:off x="3733800" y="5905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S</a:t>
            </a:r>
          </a:p>
        </p:txBody>
      </p:sp>
      <p:cxnSp>
        <p:nvCxnSpPr>
          <p:cNvPr id="20" name="ckt">
            <a:extLst>
              <a:ext uri="{FF2B5EF4-FFF2-40B4-BE49-F238E27FC236}">
                <a16:creationId xmlns:a16="http://schemas.microsoft.com/office/drawing/2014/main" id="{ACBF7893-E57F-68D3-EE69-67C07E949F4A}"/>
              </a:ext>
            </a:extLst>
          </p:cNvPr>
          <p:cNvCxnSpPr/>
          <p:nvPr/>
        </p:nvCxnSpPr>
        <p:spPr>
          <a:xfrm>
            <a:off x="3606800" y="4699000"/>
            <a:ext cx="635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kt label">
            <a:extLst>
              <a:ext uri="{FF2B5EF4-FFF2-40B4-BE49-F238E27FC236}">
                <a16:creationId xmlns:a16="http://schemas.microsoft.com/office/drawing/2014/main" id="{4DE9ECFD-0B33-4BAC-A7F3-B9B73CD1741F}"/>
              </a:ext>
            </a:extLst>
          </p:cNvPr>
          <p:cNvSpPr txBox="1"/>
          <p:nvPr/>
        </p:nvSpPr>
        <p:spPr>
          <a:xfrm>
            <a:off x="4343400" y="4508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B</a:t>
            </a:r>
          </a:p>
        </p:txBody>
      </p:sp>
      <p:cxnSp>
        <p:nvCxnSpPr>
          <p:cNvPr id="22" name="ckt">
            <a:extLst>
              <a:ext uri="{FF2B5EF4-FFF2-40B4-BE49-F238E27FC236}">
                <a16:creationId xmlns:a16="http://schemas.microsoft.com/office/drawing/2014/main" id="{36AF4C92-40A5-B4B8-AE99-F2D2A33A3F33}"/>
              </a:ext>
            </a:extLst>
          </p:cNvPr>
          <p:cNvCxnSpPr/>
          <p:nvPr/>
        </p:nvCxnSpPr>
        <p:spPr>
          <a:xfrm>
            <a:off x="2057400" y="4699000"/>
            <a:ext cx="889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kt label">
            <a:extLst>
              <a:ext uri="{FF2B5EF4-FFF2-40B4-BE49-F238E27FC236}">
                <a16:creationId xmlns:a16="http://schemas.microsoft.com/office/drawing/2014/main" id="{AB093CCF-81E1-CE32-4085-BB63D6FB62B9}"/>
              </a:ext>
            </a:extLst>
          </p:cNvPr>
          <p:cNvSpPr txBox="1"/>
          <p:nvPr/>
        </p:nvSpPr>
        <p:spPr>
          <a:xfrm>
            <a:off x="1422400" y="4508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G</a:t>
            </a:r>
          </a:p>
        </p:txBody>
      </p:sp>
      <p:sp>
        <p:nvSpPr>
          <p:cNvPr id="24" name="ckt label">
            <a:extLst>
              <a:ext uri="{FF2B5EF4-FFF2-40B4-BE49-F238E27FC236}">
                <a16:creationId xmlns:a16="http://schemas.microsoft.com/office/drawing/2014/main" id="{F607F4E7-9093-05D1-5446-B4D4349A191E}"/>
              </a:ext>
            </a:extLst>
          </p:cNvPr>
          <p:cNvSpPr txBox="1"/>
          <p:nvPr/>
        </p:nvSpPr>
        <p:spPr>
          <a:xfrm>
            <a:off x="1930400" y="6667499"/>
            <a:ext cx="254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n-channel</a:t>
            </a:r>
          </a:p>
        </p:txBody>
      </p:sp>
      <p:cxnSp>
        <p:nvCxnSpPr>
          <p:cNvPr id="25" name="ckt">
            <a:extLst>
              <a:ext uri="{FF2B5EF4-FFF2-40B4-BE49-F238E27FC236}">
                <a16:creationId xmlns:a16="http://schemas.microsoft.com/office/drawing/2014/main" id="{FEC3B446-7AE2-6B51-C690-727F28EE5DD2}"/>
              </a:ext>
            </a:extLst>
          </p:cNvPr>
          <p:cNvCxnSpPr/>
          <p:nvPr/>
        </p:nvCxnSpPr>
        <p:spPr>
          <a:xfrm>
            <a:off x="6502400" y="4211320"/>
            <a:ext cx="0" cy="97536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9792C620-960A-53E6-B7D8-69CCE2CD5931}"/>
              </a:ext>
            </a:extLst>
          </p:cNvPr>
          <p:cNvCxnSpPr/>
          <p:nvPr/>
        </p:nvCxnSpPr>
        <p:spPr>
          <a:xfrm>
            <a:off x="6654800" y="4089400"/>
            <a:ext cx="0" cy="174172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79D39007-3E85-8310-5632-F3CEA5ECD274}"/>
              </a:ext>
            </a:extLst>
          </p:cNvPr>
          <p:cNvCxnSpPr/>
          <p:nvPr/>
        </p:nvCxnSpPr>
        <p:spPr>
          <a:xfrm>
            <a:off x="6654800" y="4611914"/>
            <a:ext cx="0" cy="174172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25C0D175-D92A-F2D7-B211-CEAC5BBD32BB}"/>
              </a:ext>
            </a:extLst>
          </p:cNvPr>
          <p:cNvCxnSpPr/>
          <p:nvPr/>
        </p:nvCxnSpPr>
        <p:spPr>
          <a:xfrm>
            <a:off x="6654800" y="5134428"/>
            <a:ext cx="0" cy="174172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kt">
            <a:extLst>
              <a:ext uri="{FF2B5EF4-FFF2-40B4-BE49-F238E27FC236}">
                <a16:creationId xmlns:a16="http://schemas.microsoft.com/office/drawing/2014/main" id="{5A7FD2B1-6CBB-C1EF-9D80-9F4E4572137C}"/>
              </a:ext>
            </a:extLst>
          </p:cNvPr>
          <p:cNvCxnSpPr/>
          <p:nvPr/>
        </p:nvCxnSpPr>
        <p:spPr>
          <a:xfrm>
            <a:off x="6654800" y="4176486"/>
            <a:ext cx="508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kt">
            <a:extLst>
              <a:ext uri="{FF2B5EF4-FFF2-40B4-BE49-F238E27FC236}">
                <a16:creationId xmlns:a16="http://schemas.microsoft.com/office/drawing/2014/main" id="{92042D5E-55DC-B070-AEAE-E7C6ED9ED1A9}"/>
              </a:ext>
            </a:extLst>
          </p:cNvPr>
          <p:cNvCxnSpPr/>
          <p:nvPr/>
        </p:nvCxnSpPr>
        <p:spPr>
          <a:xfrm>
            <a:off x="6654800" y="5221514"/>
            <a:ext cx="508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kt">
            <a:extLst>
              <a:ext uri="{FF2B5EF4-FFF2-40B4-BE49-F238E27FC236}">
                <a16:creationId xmlns:a16="http://schemas.microsoft.com/office/drawing/2014/main" id="{9F154F58-8F21-C8C6-8E90-D57937CA6469}"/>
              </a:ext>
            </a:extLst>
          </p:cNvPr>
          <p:cNvCxnSpPr/>
          <p:nvPr/>
        </p:nvCxnSpPr>
        <p:spPr>
          <a:xfrm>
            <a:off x="6654800" y="4699000"/>
            <a:ext cx="508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kt">
            <a:extLst>
              <a:ext uri="{FF2B5EF4-FFF2-40B4-BE49-F238E27FC236}">
                <a16:creationId xmlns:a16="http://schemas.microsoft.com/office/drawing/2014/main" id="{F6EDCD13-6AB7-1C60-B24B-5BF84C3C48CA}"/>
              </a:ext>
            </a:extLst>
          </p:cNvPr>
          <p:cNvCxnSpPr/>
          <p:nvPr/>
        </p:nvCxnSpPr>
        <p:spPr>
          <a:xfrm>
            <a:off x="6705600" y="4699000"/>
            <a:ext cx="279400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kt">
            <a:extLst>
              <a:ext uri="{FF2B5EF4-FFF2-40B4-BE49-F238E27FC236}">
                <a16:creationId xmlns:a16="http://schemas.microsoft.com/office/drawing/2014/main" id="{9B559BA0-A28F-19FC-C719-52874CE46C56}"/>
              </a:ext>
            </a:extLst>
          </p:cNvPr>
          <p:cNvCxnSpPr/>
          <p:nvPr/>
        </p:nvCxnSpPr>
        <p:spPr>
          <a:xfrm flipV="1">
            <a:off x="7162800" y="3302000"/>
            <a:ext cx="0" cy="87448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kt label">
            <a:extLst>
              <a:ext uri="{FF2B5EF4-FFF2-40B4-BE49-F238E27FC236}">
                <a16:creationId xmlns:a16="http://schemas.microsoft.com/office/drawing/2014/main" id="{843D82B8-9DC9-9E46-97E4-8922908D3F29}"/>
              </a:ext>
            </a:extLst>
          </p:cNvPr>
          <p:cNvSpPr txBox="1"/>
          <p:nvPr/>
        </p:nvSpPr>
        <p:spPr>
          <a:xfrm>
            <a:off x="7289800" y="3111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D</a:t>
            </a:r>
          </a:p>
        </p:txBody>
      </p:sp>
      <p:cxnSp>
        <p:nvCxnSpPr>
          <p:cNvPr id="35" name="ckt">
            <a:extLst>
              <a:ext uri="{FF2B5EF4-FFF2-40B4-BE49-F238E27FC236}">
                <a16:creationId xmlns:a16="http://schemas.microsoft.com/office/drawing/2014/main" id="{93212071-7743-1A6B-F2D9-7A7CD56BF8CE}"/>
              </a:ext>
            </a:extLst>
          </p:cNvPr>
          <p:cNvCxnSpPr/>
          <p:nvPr/>
        </p:nvCxnSpPr>
        <p:spPr>
          <a:xfrm>
            <a:off x="7162800" y="5221514"/>
            <a:ext cx="0" cy="87448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kt label">
            <a:extLst>
              <a:ext uri="{FF2B5EF4-FFF2-40B4-BE49-F238E27FC236}">
                <a16:creationId xmlns:a16="http://schemas.microsoft.com/office/drawing/2014/main" id="{E7C7921F-7A6D-A7CE-0749-2AA5D0AFFE9C}"/>
              </a:ext>
            </a:extLst>
          </p:cNvPr>
          <p:cNvSpPr txBox="1"/>
          <p:nvPr/>
        </p:nvSpPr>
        <p:spPr>
          <a:xfrm>
            <a:off x="7289800" y="5905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S</a:t>
            </a:r>
          </a:p>
        </p:txBody>
      </p:sp>
      <p:cxnSp>
        <p:nvCxnSpPr>
          <p:cNvPr id="37" name="ckt">
            <a:extLst>
              <a:ext uri="{FF2B5EF4-FFF2-40B4-BE49-F238E27FC236}">
                <a16:creationId xmlns:a16="http://schemas.microsoft.com/office/drawing/2014/main" id="{4781A34C-2834-6831-A167-863554ABEA0F}"/>
              </a:ext>
            </a:extLst>
          </p:cNvPr>
          <p:cNvCxnSpPr/>
          <p:nvPr/>
        </p:nvCxnSpPr>
        <p:spPr>
          <a:xfrm>
            <a:off x="7162800" y="4699000"/>
            <a:ext cx="635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kt label">
            <a:extLst>
              <a:ext uri="{FF2B5EF4-FFF2-40B4-BE49-F238E27FC236}">
                <a16:creationId xmlns:a16="http://schemas.microsoft.com/office/drawing/2014/main" id="{26D3FE93-A7C4-C42E-B916-40D20EC94B00}"/>
              </a:ext>
            </a:extLst>
          </p:cNvPr>
          <p:cNvSpPr txBox="1"/>
          <p:nvPr/>
        </p:nvSpPr>
        <p:spPr>
          <a:xfrm>
            <a:off x="7899400" y="4508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B</a:t>
            </a:r>
          </a:p>
        </p:txBody>
      </p:sp>
      <p:cxnSp>
        <p:nvCxnSpPr>
          <p:cNvPr id="39" name="ckt">
            <a:extLst>
              <a:ext uri="{FF2B5EF4-FFF2-40B4-BE49-F238E27FC236}">
                <a16:creationId xmlns:a16="http://schemas.microsoft.com/office/drawing/2014/main" id="{F9A80DEA-7A39-5D72-DAAD-2FF8F2DB00F9}"/>
              </a:ext>
            </a:extLst>
          </p:cNvPr>
          <p:cNvCxnSpPr/>
          <p:nvPr/>
        </p:nvCxnSpPr>
        <p:spPr>
          <a:xfrm>
            <a:off x="5613400" y="4699000"/>
            <a:ext cx="889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kt label">
            <a:extLst>
              <a:ext uri="{FF2B5EF4-FFF2-40B4-BE49-F238E27FC236}">
                <a16:creationId xmlns:a16="http://schemas.microsoft.com/office/drawing/2014/main" id="{6332D7F1-2305-EFCE-C689-4E45AA8254FA}"/>
              </a:ext>
            </a:extLst>
          </p:cNvPr>
          <p:cNvSpPr txBox="1"/>
          <p:nvPr/>
        </p:nvSpPr>
        <p:spPr>
          <a:xfrm>
            <a:off x="4978400" y="4508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G</a:t>
            </a:r>
          </a:p>
        </p:txBody>
      </p:sp>
      <p:sp>
        <p:nvSpPr>
          <p:cNvPr id="41" name="ckt label">
            <a:extLst>
              <a:ext uri="{FF2B5EF4-FFF2-40B4-BE49-F238E27FC236}">
                <a16:creationId xmlns:a16="http://schemas.microsoft.com/office/drawing/2014/main" id="{889E572F-1A16-4786-902B-34654C9A834A}"/>
              </a:ext>
            </a:extLst>
          </p:cNvPr>
          <p:cNvSpPr txBox="1"/>
          <p:nvPr/>
        </p:nvSpPr>
        <p:spPr>
          <a:xfrm>
            <a:off x="5486400" y="6667499"/>
            <a:ext cx="254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p-channel</a:t>
            </a:r>
          </a:p>
        </p:txBody>
      </p:sp>
      <p:sp>
        <p:nvSpPr>
          <p:cNvPr id="42" name="point @1">
            <a:extLst>
              <a:ext uri="{FF2B5EF4-FFF2-40B4-BE49-F238E27FC236}">
                <a16:creationId xmlns:a16="http://schemas.microsoft.com/office/drawing/2014/main" id="{434FAD59-16EF-733D-90E8-97A31823C70F}"/>
              </a:ext>
            </a:extLst>
          </p:cNvPr>
          <p:cNvSpPr txBox="1"/>
          <p:nvPr/>
        </p:nvSpPr>
        <p:spPr>
          <a:xfrm>
            <a:off x="9652000" y="2413000"/>
            <a:ext cx="7721600" cy="11543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In these symbols the arrow is on the body: it points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in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for an n-channel device and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out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for a p-channel device.</a:t>
            </a:r>
          </a:p>
        </p:txBody>
      </p:sp>
      <p:sp>
        <p:nvSpPr>
          <p:cNvPr id="43" name="point @2">
            <a:extLst>
              <a:ext uri="{FF2B5EF4-FFF2-40B4-BE49-F238E27FC236}">
                <a16:creationId xmlns:a16="http://schemas.microsoft.com/office/drawing/2014/main" id="{FD1CD0BB-C4BB-2A62-743C-401626659258}"/>
              </a:ext>
            </a:extLst>
          </p:cNvPr>
          <p:cNvSpPr txBox="1"/>
          <p:nvPr/>
        </p:nvSpPr>
        <p:spPr>
          <a:xfrm>
            <a:off x="9652000" y="3846755"/>
            <a:ext cx="7721600" cy="115435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PMOS: holes carry the current and every voltage and current is reversed. It conducts when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, with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negative.</a:t>
            </a:r>
          </a:p>
        </p:txBody>
      </p:sp>
      <p:sp>
        <p:nvSpPr>
          <p:cNvPr id="44" name="chrome page">
            <a:extLst>
              <a:ext uri="{FF2B5EF4-FFF2-40B4-BE49-F238E27FC236}">
                <a16:creationId xmlns:a16="http://schemas.microsoft.com/office/drawing/2014/main" id="{1B0F3F1A-5F60-B4A1-BA0A-6F2EE833319E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chrome page">
            <a:extLst>
              <a:ext uri="{FF2B5EF4-FFF2-40B4-BE49-F238E27FC236}">
                <a16:creationId xmlns:a16="http://schemas.microsoft.com/office/drawing/2014/main" id="{E7B82BA1-39E1-D614-EEE8-AC5EED8C4422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8591328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 s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96E62F-13DB-37BD-E76F-47AD95275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4191000"/>
            <a:ext cx="10414000" cy="1397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9600">
                <a:solidFill>
                  <a:srgbClr val="15241D"/>
                </a:solidFill>
                <a:latin typeface="Bebas Neue" panose="020B0606020202050201" pitchFamily="34" charset="0"/>
              </a:rPr>
              <a:t>I–V characteristics</a:t>
            </a:r>
          </a:p>
        </p:txBody>
      </p:sp>
      <p:sp>
        <p:nvSpPr>
          <p:cNvPr id="3" name="geo">
            <a:extLst>
              <a:ext uri="{FF2B5EF4-FFF2-40B4-BE49-F238E27FC236}">
                <a16:creationId xmlns:a16="http://schemas.microsoft.com/office/drawing/2014/main" id="{D0DE4EFF-946A-BC32-8187-82CE3833AD42}"/>
              </a:ext>
            </a:extLst>
          </p:cNvPr>
          <p:cNvSpPr/>
          <p:nvPr/>
        </p:nvSpPr>
        <p:spPr>
          <a:xfrm>
            <a:off x="-635000" y="0"/>
            <a:ext cx="3810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eo">
            <a:extLst>
              <a:ext uri="{FF2B5EF4-FFF2-40B4-BE49-F238E27FC236}">
                <a16:creationId xmlns:a16="http://schemas.microsoft.com/office/drawing/2014/main" id="{62C62C19-DA4C-1069-DEF8-5D9C15B50C1F}"/>
              </a:ext>
            </a:extLst>
          </p:cNvPr>
          <p:cNvSpPr/>
          <p:nvPr/>
        </p:nvSpPr>
        <p:spPr>
          <a:xfrm>
            <a:off x="2946400" y="0"/>
            <a:ext cx="889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eo">
            <a:extLst>
              <a:ext uri="{FF2B5EF4-FFF2-40B4-BE49-F238E27FC236}">
                <a16:creationId xmlns:a16="http://schemas.microsoft.com/office/drawing/2014/main" id="{2D0C769A-9E47-7BB5-1C6F-7ED4F1612FC7}"/>
              </a:ext>
            </a:extLst>
          </p:cNvPr>
          <p:cNvSpPr/>
          <p:nvPr/>
        </p:nvSpPr>
        <p:spPr>
          <a:xfrm>
            <a:off x="3810000" y="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eo">
            <a:extLst>
              <a:ext uri="{FF2B5EF4-FFF2-40B4-BE49-F238E27FC236}">
                <a16:creationId xmlns:a16="http://schemas.microsoft.com/office/drawing/2014/main" id="{C22884F4-AC5E-F155-99DB-9F1B9D648AD3}"/>
              </a:ext>
            </a:extLst>
          </p:cNvPr>
          <p:cNvSpPr/>
          <p:nvPr/>
        </p:nvSpPr>
        <p:spPr>
          <a:xfrm>
            <a:off x="15875000" y="0"/>
            <a:ext cx="3175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eo">
            <a:extLst>
              <a:ext uri="{FF2B5EF4-FFF2-40B4-BE49-F238E27FC236}">
                <a16:creationId xmlns:a16="http://schemas.microsoft.com/office/drawing/2014/main" id="{A7DCF9EE-9CC5-6A89-8828-4F8F13C3CACA}"/>
              </a:ext>
            </a:extLst>
          </p:cNvPr>
          <p:cNvSpPr/>
          <p:nvPr/>
        </p:nvSpPr>
        <p:spPr>
          <a:xfrm>
            <a:off x="-635000" y="9575800"/>
            <a:ext cx="2540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geo">
            <a:extLst>
              <a:ext uri="{FF2B5EF4-FFF2-40B4-BE49-F238E27FC236}">
                <a16:creationId xmlns:a16="http://schemas.microsoft.com/office/drawing/2014/main" id="{06BBE21F-921C-6E54-06B9-3ACBA3179B7F}"/>
              </a:ext>
            </a:extLst>
          </p:cNvPr>
          <p:cNvSpPr/>
          <p:nvPr/>
        </p:nvSpPr>
        <p:spPr>
          <a:xfrm>
            <a:off x="1905000" y="1010920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eo">
            <a:extLst>
              <a:ext uri="{FF2B5EF4-FFF2-40B4-BE49-F238E27FC236}">
                <a16:creationId xmlns:a16="http://schemas.microsoft.com/office/drawing/2014/main" id="{FF65839D-382B-5939-718E-3C20DC59E2C9}"/>
              </a:ext>
            </a:extLst>
          </p:cNvPr>
          <p:cNvSpPr/>
          <p:nvPr/>
        </p:nvSpPr>
        <p:spPr>
          <a:xfrm>
            <a:off x="14986000" y="9575800"/>
            <a:ext cx="4064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eo">
            <a:extLst>
              <a:ext uri="{FF2B5EF4-FFF2-40B4-BE49-F238E27FC236}">
                <a16:creationId xmlns:a16="http://schemas.microsoft.com/office/drawing/2014/main" id="{61615F9E-95DE-3B43-6C70-441B149DED43}"/>
              </a:ext>
            </a:extLst>
          </p:cNvPr>
          <p:cNvSpPr/>
          <p:nvPr/>
        </p:nvSpPr>
        <p:spPr>
          <a:xfrm>
            <a:off x="14097000" y="9575800"/>
            <a:ext cx="8128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numeral">
            <a:extLst>
              <a:ext uri="{FF2B5EF4-FFF2-40B4-BE49-F238E27FC236}">
                <a16:creationId xmlns:a16="http://schemas.microsoft.com/office/drawing/2014/main" id="{848D9CC5-23AD-F99C-8EDE-1C085E464D2E}"/>
              </a:ext>
            </a:extLst>
          </p:cNvPr>
          <p:cNvSpPr txBox="1"/>
          <p:nvPr/>
        </p:nvSpPr>
        <p:spPr>
          <a:xfrm>
            <a:off x="965200" y="1777999"/>
            <a:ext cx="5080000" cy="25400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 sz="20000">
                <a:solidFill>
                  <a:srgbClr val="145A43"/>
                </a:solidFill>
                <a:latin typeface="Bebas Neue" panose="020B0606020202050201" pitchFamily="34" charset="0"/>
              </a:rPr>
              <a:t>02</a:t>
            </a:r>
          </a:p>
        </p:txBody>
      </p:sp>
      <p:sp>
        <p:nvSpPr>
          <p:cNvPr id="12" name="item">
            <a:extLst>
              <a:ext uri="{FF2B5EF4-FFF2-40B4-BE49-F238E27FC236}">
                <a16:creationId xmlns:a16="http://schemas.microsoft.com/office/drawing/2014/main" id="{6FB77D57-2E61-5174-9228-0313B68551BB}"/>
              </a:ext>
            </a:extLst>
          </p:cNvPr>
          <p:cNvSpPr txBox="1"/>
          <p:nvPr/>
        </p:nvSpPr>
        <p:spPr>
          <a:xfrm>
            <a:off x="1016000" y="58419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The </a:t>
            </a:r>
            <a:r>
              <a:rPr lang="en-US" sz="2300" i="1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23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–</a:t>
            </a:r>
            <a:r>
              <a:rPr lang="en-US" sz="23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4D5B54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 family</a:t>
            </a:r>
          </a:p>
        </p:txBody>
      </p:sp>
      <p:sp>
        <p:nvSpPr>
          <p:cNvPr id="13" name="item">
            <a:extLst>
              <a:ext uri="{FF2B5EF4-FFF2-40B4-BE49-F238E27FC236}">
                <a16:creationId xmlns:a16="http://schemas.microsoft.com/office/drawing/2014/main" id="{5E3DBCD1-62DB-9FFD-9939-9CEDF2F40223}"/>
              </a:ext>
            </a:extLst>
          </p:cNvPr>
          <p:cNvSpPr txBox="1"/>
          <p:nvPr/>
        </p:nvSpPr>
        <p:spPr>
          <a:xfrm>
            <a:off x="1016000" y="63753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Saturation: the square law</a:t>
            </a:r>
          </a:p>
        </p:txBody>
      </p:sp>
      <p:sp>
        <p:nvSpPr>
          <p:cNvPr id="14" name="item">
            <a:extLst>
              <a:ext uri="{FF2B5EF4-FFF2-40B4-BE49-F238E27FC236}">
                <a16:creationId xmlns:a16="http://schemas.microsoft.com/office/drawing/2014/main" id="{68AF50AF-1254-1786-D2C8-259C0C83CD3C}"/>
              </a:ext>
            </a:extLst>
          </p:cNvPr>
          <p:cNvSpPr txBox="1"/>
          <p:nvPr/>
        </p:nvSpPr>
        <p:spPr>
          <a:xfrm>
            <a:off x="1016000" y="69087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Triode and saturation equations</a:t>
            </a:r>
          </a:p>
        </p:txBody>
      </p:sp>
      <p:sp>
        <p:nvSpPr>
          <p:cNvPr id="15" name="item">
            <a:extLst>
              <a:ext uri="{FF2B5EF4-FFF2-40B4-BE49-F238E27FC236}">
                <a16:creationId xmlns:a16="http://schemas.microsoft.com/office/drawing/2014/main" id="{0072240B-8CD3-65B1-DFFE-88A4D13B46E0}"/>
              </a:ext>
            </a:extLst>
          </p:cNvPr>
          <p:cNvSpPr txBox="1"/>
          <p:nvPr/>
        </p:nvSpPr>
        <p:spPr>
          <a:xfrm>
            <a:off x="1016000" y="74421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Resistor and large-signal models</a:t>
            </a:r>
          </a:p>
        </p:txBody>
      </p:sp>
      <p:sp>
        <p:nvSpPr>
          <p:cNvPr id="16" name="map">
            <a:extLst>
              <a:ext uri="{FF2B5EF4-FFF2-40B4-BE49-F238E27FC236}">
                <a16:creationId xmlns:a16="http://schemas.microsoft.com/office/drawing/2014/main" id="{4A700792-AD01-9632-30B8-127FEC3B4A8E}"/>
              </a:ext>
            </a:extLst>
          </p:cNvPr>
          <p:cNvSpPr/>
          <p:nvPr/>
        </p:nvSpPr>
        <p:spPr>
          <a:xfrm>
            <a:off x="12192000" y="24130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1</a:t>
            </a:r>
          </a:p>
        </p:txBody>
      </p:sp>
      <p:sp>
        <p:nvSpPr>
          <p:cNvPr id="17" name="map">
            <a:extLst>
              <a:ext uri="{FF2B5EF4-FFF2-40B4-BE49-F238E27FC236}">
                <a16:creationId xmlns:a16="http://schemas.microsoft.com/office/drawing/2014/main" id="{43AB3673-1F24-FF2B-8FA7-1A62DB6AD904}"/>
              </a:ext>
            </a:extLst>
          </p:cNvPr>
          <p:cNvSpPr txBox="1"/>
          <p:nvPr/>
        </p:nvSpPr>
        <p:spPr>
          <a:xfrm>
            <a:off x="12827000" y="24129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Structure and operation</a:t>
            </a:r>
          </a:p>
        </p:txBody>
      </p:sp>
      <p:sp>
        <p:nvSpPr>
          <p:cNvPr id="18" name="map">
            <a:extLst>
              <a:ext uri="{FF2B5EF4-FFF2-40B4-BE49-F238E27FC236}">
                <a16:creationId xmlns:a16="http://schemas.microsoft.com/office/drawing/2014/main" id="{532A5080-B1F2-15AB-FFDC-5C5333496BAC}"/>
              </a:ext>
            </a:extLst>
          </p:cNvPr>
          <p:cNvSpPr/>
          <p:nvPr/>
        </p:nvSpPr>
        <p:spPr>
          <a:xfrm>
            <a:off x="12192000" y="3225800"/>
            <a:ext cx="431800" cy="431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FFFFFF"/>
                </a:solidFill>
                <a:latin typeface="Bebas Neue" panose="020B0606020202050201" pitchFamily="34" charset="0"/>
              </a:rPr>
              <a:t>2</a:t>
            </a:r>
          </a:p>
        </p:txBody>
      </p:sp>
      <p:sp>
        <p:nvSpPr>
          <p:cNvPr id="19" name="map">
            <a:extLst>
              <a:ext uri="{FF2B5EF4-FFF2-40B4-BE49-F238E27FC236}">
                <a16:creationId xmlns:a16="http://schemas.microsoft.com/office/drawing/2014/main" id="{5EF4A74A-9F9F-CB90-B9F2-99FCECA12813}"/>
              </a:ext>
            </a:extLst>
          </p:cNvPr>
          <p:cNvSpPr txBox="1"/>
          <p:nvPr/>
        </p:nvSpPr>
        <p:spPr>
          <a:xfrm>
            <a:off x="12827000" y="32257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b="1">
                <a:solidFill>
                  <a:srgbClr val="15241D"/>
                </a:solidFill>
                <a:latin typeface="DM Sans" pitchFamily="2" charset="0"/>
              </a:rPr>
              <a:t>I–V characteristics</a:t>
            </a:r>
          </a:p>
        </p:txBody>
      </p:sp>
      <p:sp>
        <p:nvSpPr>
          <p:cNvPr id="20" name="map">
            <a:extLst>
              <a:ext uri="{FF2B5EF4-FFF2-40B4-BE49-F238E27FC236}">
                <a16:creationId xmlns:a16="http://schemas.microsoft.com/office/drawing/2014/main" id="{F275C154-CA71-CBDC-A859-888E912CE3A0}"/>
              </a:ext>
            </a:extLst>
          </p:cNvPr>
          <p:cNvSpPr/>
          <p:nvPr/>
        </p:nvSpPr>
        <p:spPr>
          <a:xfrm>
            <a:off x="12192000" y="40386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3</a:t>
            </a:r>
          </a:p>
        </p:txBody>
      </p:sp>
      <p:sp>
        <p:nvSpPr>
          <p:cNvPr id="21" name="map">
            <a:extLst>
              <a:ext uri="{FF2B5EF4-FFF2-40B4-BE49-F238E27FC236}">
                <a16:creationId xmlns:a16="http://schemas.microsoft.com/office/drawing/2014/main" id="{1A18DEC8-501D-EE1B-E9F7-A84C0A632DE4}"/>
              </a:ext>
            </a:extLst>
          </p:cNvPr>
          <p:cNvSpPr txBox="1"/>
          <p:nvPr/>
        </p:nvSpPr>
        <p:spPr>
          <a:xfrm>
            <a:off x="12827000" y="40385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MOSFETs in DC circuits</a:t>
            </a:r>
          </a:p>
        </p:txBody>
      </p:sp>
      <p:sp>
        <p:nvSpPr>
          <p:cNvPr id="22" name="map">
            <a:extLst>
              <a:ext uri="{FF2B5EF4-FFF2-40B4-BE49-F238E27FC236}">
                <a16:creationId xmlns:a16="http://schemas.microsoft.com/office/drawing/2014/main" id="{8C107F50-3A6A-479E-68B1-234031CF095D}"/>
              </a:ext>
            </a:extLst>
          </p:cNvPr>
          <p:cNvSpPr/>
          <p:nvPr/>
        </p:nvSpPr>
        <p:spPr>
          <a:xfrm>
            <a:off x="12192000" y="48514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4</a:t>
            </a:r>
          </a:p>
        </p:txBody>
      </p:sp>
      <p:sp>
        <p:nvSpPr>
          <p:cNvPr id="23" name="map">
            <a:extLst>
              <a:ext uri="{FF2B5EF4-FFF2-40B4-BE49-F238E27FC236}">
                <a16:creationId xmlns:a16="http://schemas.microsoft.com/office/drawing/2014/main" id="{30E8D9D5-1E42-F5AD-260D-C29557479A51}"/>
              </a:ext>
            </a:extLst>
          </p:cNvPr>
          <p:cNvSpPr txBox="1"/>
          <p:nvPr/>
        </p:nvSpPr>
        <p:spPr>
          <a:xfrm>
            <a:off x="12827000" y="48513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The MOSFET as an amplifier</a:t>
            </a:r>
          </a:p>
        </p:txBody>
      </p:sp>
      <p:sp>
        <p:nvSpPr>
          <p:cNvPr id="24" name="map">
            <a:extLst>
              <a:ext uri="{FF2B5EF4-FFF2-40B4-BE49-F238E27FC236}">
                <a16:creationId xmlns:a16="http://schemas.microsoft.com/office/drawing/2014/main" id="{BF282947-E90D-5BB3-AD57-C507B33BEF86}"/>
              </a:ext>
            </a:extLst>
          </p:cNvPr>
          <p:cNvSpPr/>
          <p:nvPr/>
        </p:nvSpPr>
        <p:spPr>
          <a:xfrm>
            <a:off x="12192000" y="56642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5</a:t>
            </a:r>
          </a:p>
        </p:txBody>
      </p:sp>
      <p:sp>
        <p:nvSpPr>
          <p:cNvPr id="25" name="map">
            <a:extLst>
              <a:ext uri="{FF2B5EF4-FFF2-40B4-BE49-F238E27FC236}">
                <a16:creationId xmlns:a16="http://schemas.microsoft.com/office/drawing/2014/main" id="{8DDF7B3D-EDA2-B826-B568-6AAAB4F2C6A1}"/>
              </a:ext>
            </a:extLst>
          </p:cNvPr>
          <p:cNvSpPr txBox="1"/>
          <p:nvPr/>
        </p:nvSpPr>
        <p:spPr>
          <a:xfrm>
            <a:off x="12827000" y="56641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17580394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i_{D}–v_{DS} family of cur s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9CEDE6B-D031-F609-78AE-5C33EFF1C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The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–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 family of curves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E6086ECC-0421-D4D9-755A-EE55870CAB30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C1F1173D-FA93-3C4E-F679-CE5A44EAC1B5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50C72387-D575-91EE-B93F-25BBFE2E90C7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D9B02151-3F49-23A2-2B5F-FCA3A6E7C81C}"/>
              </a:ext>
            </a:extLst>
          </p:cNvPr>
          <p:cNvSpPr/>
          <p:nvPr/>
        </p:nvSpPr>
        <p:spPr>
          <a:xfrm>
            <a:off x="914400" y="2095500"/>
            <a:ext cx="8256628" cy="71755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DAD41DF8-FFF6-76F1-63CB-A83D79E3054A}"/>
              </a:ext>
            </a:extLst>
          </p:cNvPr>
          <p:cNvSpPr/>
          <p:nvPr/>
        </p:nvSpPr>
        <p:spPr>
          <a:xfrm>
            <a:off x="914400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94EA3989-8473-357E-7165-A18F2BC7413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349500"/>
            <a:ext cx="7748628" cy="643890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45632B4B-12F7-B74C-355E-7BBB8E58C010}"/>
              </a:ext>
            </a:extLst>
          </p:cNvPr>
          <p:cNvSpPr txBox="1"/>
          <p:nvPr/>
        </p:nvSpPr>
        <p:spPr>
          <a:xfrm>
            <a:off x="1168400" y="8915400"/>
            <a:ext cx="774862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EC10034C-F56E-3C6D-590A-342AFA54419B}"/>
              </a:ext>
            </a:extLst>
          </p:cNvPr>
          <p:cNvSpPr txBox="1"/>
          <p:nvPr/>
        </p:nvSpPr>
        <p:spPr>
          <a:xfrm>
            <a:off x="10668000" y="2349500"/>
            <a:ext cx="6705600" cy="37875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Each curve is one value of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&gt;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751C4DB7-871E-CA27-7E91-15A8B0A6A557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rome page">
            <a:extLst>
              <a:ext uri="{FF2B5EF4-FFF2-40B4-BE49-F238E27FC236}">
                <a16:creationId xmlns:a16="http://schemas.microsoft.com/office/drawing/2014/main" id="{051ABD56-026E-CA16-2894-E7DBF30493AB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817692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i_{D}–v_{DS} family of cur s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9CEDE6B-D031-F609-78AE-5C33EFF1C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The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–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 family of curves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E6086ECC-0421-D4D9-755A-EE55870CAB30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C1F1173D-FA93-3C4E-F679-CE5A44EAC1B5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50C72387-D575-91EE-B93F-25BBFE2E90C7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D9B02151-3F49-23A2-2B5F-FCA3A6E7C81C}"/>
              </a:ext>
            </a:extLst>
          </p:cNvPr>
          <p:cNvSpPr/>
          <p:nvPr/>
        </p:nvSpPr>
        <p:spPr>
          <a:xfrm>
            <a:off x="914400" y="2095500"/>
            <a:ext cx="8256628" cy="71755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DAD41DF8-FFF6-76F1-63CB-A83D79E3054A}"/>
              </a:ext>
            </a:extLst>
          </p:cNvPr>
          <p:cNvSpPr/>
          <p:nvPr/>
        </p:nvSpPr>
        <p:spPr>
          <a:xfrm>
            <a:off x="914400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94EA3989-8473-357E-7165-A18F2BC7413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349500"/>
            <a:ext cx="7748628" cy="643890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45632B4B-12F7-B74C-355E-7BBB8E58C010}"/>
              </a:ext>
            </a:extLst>
          </p:cNvPr>
          <p:cNvSpPr txBox="1"/>
          <p:nvPr/>
        </p:nvSpPr>
        <p:spPr>
          <a:xfrm>
            <a:off x="1168400" y="8915400"/>
            <a:ext cx="774862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EC10034C-F56E-3C6D-590A-342AFA54419B}"/>
              </a:ext>
            </a:extLst>
          </p:cNvPr>
          <p:cNvSpPr txBox="1"/>
          <p:nvPr/>
        </p:nvSpPr>
        <p:spPr>
          <a:xfrm>
            <a:off x="10668000" y="2349500"/>
            <a:ext cx="6705600" cy="37875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Each curve is one value of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&gt;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930B26BA-15E5-1766-1228-B1104B09D8FA}"/>
              </a:ext>
            </a:extLst>
          </p:cNvPr>
          <p:cNvSpPr txBox="1"/>
          <p:nvPr/>
        </p:nvSpPr>
        <p:spPr>
          <a:xfrm>
            <a:off x="10668000" y="3007658"/>
            <a:ext cx="6705600" cy="7665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Left of the dashed line (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):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triode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rises with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BA1564E6-49B7-7BE1-9121-85951B1CEAF5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rome page">
            <a:extLst>
              <a:ext uri="{FF2B5EF4-FFF2-40B4-BE49-F238E27FC236}">
                <a16:creationId xmlns:a16="http://schemas.microsoft.com/office/drawing/2014/main" id="{1962736D-E0E8-F558-307B-535E41F0BB47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5989570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i_{D}–v_{DS} family of cur s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9CEDE6B-D031-F609-78AE-5C33EFF1C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The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–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 family of curves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E6086ECC-0421-D4D9-755A-EE55870CAB30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C1F1173D-FA93-3C4E-F679-CE5A44EAC1B5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50C72387-D575-91EE-B93F-25BBFE2E90C7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D9B02151-3F49-23A2-2B5F-FCA3A6E7C81C}"/>
              </a:ext>
            </a:extLst>
          </p:cNvPr>
          <p:cNvSpPr/>
          <p:nvPr/>
        </p:nvSpPr>
        <p:spPr>
          <a:xfrm>
            <a:off x="914400" y="2095500"/>
            <a:ext cx="8256628" cy="71755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DAD41DF8-FFF6-76F1-63CB-A83D79E3054A}"/>
              </a:ext>
            </a:extLst>
          </p:cNvPr>
          <p:cNvSpPr/>
          <p:nvPr/>
        </p:nvSpPr>
        <p:spPr>
          <a:xfrm>
            <a:off x="914400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94EA3989-8473-357E-7165-A18F2BC7413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349500"/>
            <a:ext cx="7748628" cy="643890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45632B4B-12F7-B74C-355E-7BBB8E58C010}"/>
              </a:ext>
            </a:extLst>
          </p:cNvPr>
          <p:cNvSpPr txBox="1"/>
          <p:nvPr/>
        </p:nvSpPr>
        <p:spPr>
          <a:xfrm>
            <a:off x="1168400" y="8915400"/>
            <a:ext cx="774862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EC10034C-F56E-3C6D-590A-342AFA54419B}"/>
              </a:ext>
            </a:extLst>
          </p:cNvPr>
          <p:cNvSpPr txBox="1"/>
          <p:nvPr/>
        </p:nvSpPr>
        <p:spPr>
          <a:xfrm>
            <a:off x="10668000" y="2349500"/>
            <a:ext cx="6705600" cy="37875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Each curve is one value of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&gt;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930B26BA-15E5-1766-1228-B1104B09D8FA}"/>
              </a:ext>
            </a:extLst>
          </p:cNvPr>
          <p:cNvSpPr txBox="1"/>
          <p:nvPr/>
        </p:nvSpPr>
        <p:spPr>
          <a:xfrm>
            <a:off x="10668000" y="3007658"/>
            <a:ext cx="6705600" cy="7665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Left of the dashed line (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):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triode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rises with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13" name="point @3">
            <a:extLst>
              <a:ext uri="{FF2B5EF4-FFF2-40B4-BE49-F238E27FC236}">
                <a16:creationId xmlns:a16="http://schemas.microsoft.com/office/drawing/2014/main" id="{C113FB6B-53A2-3E49-2657-57DE1E3DB05C}"/>
              </a:ext>
            </a:extLst>
          </p:cNvPr>
          <p:cNvSpPr txBox="1"/>
          <p:nvPr/>
        </p:nvSpPr>
        <p:spPr>
          <a:xfrm>
            <a:off x="10668000" y="4053615"/>
            <a:ext cx="6705600" cy="37875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Right of it: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saturation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is set by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alone.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0B32CCC8-D96C-D761-3516-AB66C445ECF4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rome page">
            <a:extLst>
              <a:ext uri="{FF2B5EF4-FFF2-40B4-BE49-F238E27FC236}">
                <a16:creationId xmlns:a16="http://schemas.microsoft.com/office/drawing/2014/main" id="{D96BF9A6-1028-347E-67E1-7B598F73FEDA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6826313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i_{D}–v_{DS} family of cur s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9CEDE6B-D031-F609-78AE-5C33EFF1C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The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–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 family of curves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E6086ECC-0421-D4D9-755A-EE55870CAB30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C1F1173D-FA93-3C4E-F679-CE5A44EAC1B5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50C72387-D575-91EE-B93F-25BBFE2E90C7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D9B02151-3F49-23A2-2B5F-FCA3A6E7C81C}"/>
              </a:ext>
            </a:extLst>
          </p:cNvPr>
          <p:cNvSpPr/>
          <p:nvPr/>
        </p:nvSpPr>
        <p:spPr>
          <a:xfrm>
            <a:off x="914400" y="2095500"/>
            <a:ext cx="8256628" cy="71755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DAD41DF8-FFF6-76F1-63CB-A83D79E3054A}"/>
              </a:ext>
            </a:extLst>
          </p:cNvPr>
          <p:cNvSpPr/>
          <p:nvPr/>
        </p:nvSpPr>
        <p:spPr>
          <a:xfrm>
            <a:off x="914400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94EA3989-8473-357E-7165-A18F2BC7413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349500"/>
            <a:ext cx="7748628" cy="643890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45632B4B-12F7-B74C-355E-7BBB8E58C010}"/>
              </a:ext>
            </a:extLst>
          </p:cNvPr>
          <p:cNvSpPr txBox="1"/>
          <p:nvPr/>
        </p:nvSpPr>
        <p:spPr>
          <a:xfrm>
            <a:off x="1168400" y="8915400"/>
            <a:ext cx="7748628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EC10034C-F56E-3C6D-590A-342AFA54419B}"/>
              </a:ext>
            </a:extLst>
          </p:cNvPr>
          <p:cNvSpPr txBox="1"/>
          <p:nvPr/>
        </p:nvSpPr>
        <p:spPr>
          <a:xfrm>
            <a:off x="10668000" y="2349500"/>
            <a:ext cx="6705600" cy="37875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Each curve is one value of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&gt;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12" name="point @2">
            <a:extLst>
              <a:ext uri="{FF2B5EF4-FFF2-40B4-BE49-F238E27FC236}">
                <a16:creationId xmlns:a16="http://schemas.microsoft.com/office/drawing/2014/main" id="{930B26BA-15E5-1766-1228-B1104B09D8FA}"/>
              </a:ext>
            </a:extLst>
          </p:cNvPr>
          <p:cNvSpPr txBox="1"/>
          <p:nvPr/>
        </p:nvSpPr>
        <p:spPr>
          <a:xfrm>
            <a:off x="10668000" y="3007658"/>
            <a:ext cx="6705600" cy="7665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Left of the dashed line (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):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triode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rises with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13" name="point @3">
            <a:extLst>
              <a:ext uri="{FF2B5EF4-FFF2-40B4-BE49-F238E27FC236}">
                <a16:creationId xmlns:a16="http://schemas.microsoft.com/office/drawing/2014/main" id="{C113FB6B-53A2-3E49-2657-57DE1E3DB05C}"/>
              </a:ext>
            </a:extLst>
          </p:cNvPr>
          <p:cNvSpPr txBox="1"/>
          <p:nvPr/>
        </p:nvSpPr>
        <p:spPr>
          <a:xfrm>
            <a:off x="10668000" y="4053615"/>
            <a:ext cx="6705600" cy="37875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Right of it: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saturation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is set by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alone.</a:t>
            </a:r>
          </a:p>
        </p:txBody>
      </p:sp>
      <p:sp>
        <p:nvSpPr>
          <p:cNvPr id="14" name="point @4">
            <a:extLst>
              <a:ext uri="{FF2B5EF4-FFF2-40B4-BE49-F238E27FC236}">
                <a16:creationId xmlns:a16="http://schemas.microsoft.com/office/drawing/2014/main" id="{6DFB39DB-E06E-C517-8C67-C54BFCFD6D95}"/>
              </a:ext>
            </a:extLst>
          </p:cNvPr>
          <p:cNvSpPr txBox="1"/>
          <p:nvPr/>
        </p:nvSpPr>
        <p:spPr>
          <a:xfrm>
            <a:off x="10668000" y="4711773"/>
            <a:ext cx="6705600" cy="37875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nn-NO" sz="2400">
                <a:solidFill>
                  <a:srgbClr val="15241D"/>
                </a:solidFill>
                <a:latin typeface="DM Sans" pitchFamily="2" charset="0"/>
              </a:rPr>
              <a:t>For </a:t>
            </a:r>
            <a:r>
              <a:rPr lang="nn-NO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nn-NO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nn-NO" sz="2400">
                <a:solidFill>
                  <a:srgbClr val="15241D"/>
                </a:solidFill>
                <a:latin typeface="DM Sans" pitchFamily="2" charset="0"/>
              </a:rPr>
              <a:t> ≤ </a:t>
            </a:r>
            <a:r>
              <a:rPr lang="nn-NO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nn-NO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nn-NO" sz="2400">
                <a:solidFill>
                  <a:srgbClr val="15241D"/>
                </a:solidFill>
                <a:latin typeface="DM Sans" pitchFamily="2" charset="0"/>
              </a:rPr>
              <a:t>: </a:t>
            </a:r>
            <a:r>
              <a:rPr lang="nn-NO" sz="2400" b="1">
                <a:solidFill>
                  <a:srgbClr val="15241D"/>
                </a:solidFill>
                <a:latin typeface="DM Sans" pitchFamily="2" charset="0"/>
              </a:rPr>
              <a:t>cutoff</a:t>
            </a:r>
            <a:r>
              <a:rPr lang="nn-NO" sz="2400">
                <a:solidFill>
                  <a:srgbClr val="15241D"/>
                </a:solidFill>
                <a:latin typeface="DM Sans" pitchFamily="2" charset="0"/>
              </a:rPr>
              <a:t>, </a:t>
            </a:r>
            <a:r>
              <a:rPr lang="nn-NO" sz="2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nn-NO" sz="2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nn-NO" sz="2400">
                <a:solidFill>
                  <a:srgbClr val="15241D"/>
                </a:solidFill>
                <a:latin typeface="DM Sans" pitchFamily="2" charset="0"/>
              </a:rPr>
              <a:t> = 0.</a:t>
            </a:r>
            <a:endParaRPr lang="en-US" sz="2400">
              <a:solidFill>
                <a:srgbClr val="15241D"/>
              </a:solidFill>
              <a:latin typeface="DM Sans" pitchFamily="2" charset="0"/>
            </a:endParaRP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B7F43AEC-E519-EF56-F26F-C539E439B883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hrome page">
            <a:extLst>
              <a:ext uri="{FF2B5EF4-FFF2-40B4-BE49-F238E27FC236}">
                <a16:creationId xmlns:a16="http://schemas.microsoft.com/office/drawing/2014/main" id="{4C247E70-32C8-0F2D-CBB8-8DA7AFD86A25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6220823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 saturation, i_{D} depends o s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74C3A45-1E3D-12FE-AC22-A141A0543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In saturation,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 depends only on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5ECB8EBE-A66F-647C-FE87-7AE8C8ED3EB7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726C31C2-32D7-134F-2506-05A4483A4F71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B0E67FD9-A029-5885-A838-1703A41521A4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F8975F05-C258-26F9-7905-881806AA7281}"/>
              </a:ext>
            </a:extLst>
          </p:cNvPr>
          <p:cNvSpPr/>
          <p:nvPr/>
        </p:nvSpPr>
        <p:spPr>
          <a:xfrm>
            <a:off x="914400" y="2095500"/>
            <a:ext cx="7620000" cy="6693946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26141E8C-10EB-BF16-1C7D-784845A54CDD}"/>
              </a:ext>
            </a:extLst>
          </p:cNvPr>
          <p:cNvSpPr/>
          <p:nvPr/>
        </p:nvSpPr>
        <p:spPr>
          <a:xfrm>
            <a:off x="914400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16B2F76E-205D-D187-5641-38E067FB918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349500"/>
            <a:ext cx="7112000" cy="5957346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BC07EAA8-7D1E-6BF7-BADD-8760AE34F122}"/>
              </a:ext>
            </a:extLst>
          </p:cNvPr>
          <p:cNvSpPr txBox="1"/>
          <p:nvPr/>
        </p:nvSpPr>
        <p:spPr>
          <a:xfrm>
            <a:off x="1168400" y="8433846"/>
            <a:ext cx="711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BD5FF4B2-08A9-B533-C8DB-C64C3AA516CE}"/>
              </a:ext>
            </a:extLst>
          </p:cNvPr>
          <p:cNvSpPr txBox="1"/>
          <p:nvPr/>
        </p:nvSpPr>
        <p:spPr>
          <a:xfrm>
            <a:off x="9398000" y="2413000"/>
            <a:ext cx="7975600" cy="7665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Measured in saturation, the transfer characteristic is a parabola that starts at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=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52CD8555-41EC-9185-55F9-3446303C9366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age">
            <a:extLst>
              <a:ext uri="{FF2B5EF4-FFF2-40B4-BE49-F238E27FC236}">
                <a16:creationId xmlns:a16="http://schemas.microsoft.com/office/drawing/2014/main" id="{53A7EF90-CB3A-A131-01B6-264D51495985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0051802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 saturation, i_{D} depends o s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74C3A45-1E3D-12FE-AC22-A141A0543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In saturation,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 depends only on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5ECB8EBE-A66F-647C-FE87-7AE8C8ED3EB7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726C31C2-32D7-134F-2506-05A4483A4F71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B0E67FD9-A029-5885-A838-1703A41521A4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F8975F05-C258-26F9-7905-881806AA7281}"/>
              </a:ext>
            </a:extLst>
          </p:cNvPr>
          <p:cNvSpPr/>
          <p:nvPr/>
        </p:nvSpPr>
        <p:spPr>
          <a:xfrm>
            <a:off x="914400" y="2095500"/>
            <a:ext cx="7620000" cy="6693946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26141E8C-10EB-BF16-1C7D-784845A54CDD}"/>
              </a:ext>
            </a:extLst>
          </p:cNvPr>
          <p:cNvSpPr/>
          <p:nvPr/>
        </p:nvSpPr>
        <p:spPr>
          <a:xfrm>
            <a:off x="914400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16B2F76E-205D-D187-5641-38E067FB918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349500"/>
            <a:ext cx="7112000" cy="5957346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BC07EAA8-7D1E-6BF7-BADD-8760AE34F122}"/>
              </a:ext>
            </a:extLst>
          </p:cNvPr>
          <p:cNvSpPr txBox="1"/>
          <p:nvPr/>
        </p:nvSpPr>
        <p:spPr>
          <a:xfrm>
            <a:off x="1168400" y="8433846"/>
            <a:ext cx="711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BD5FF4B2-08A9-B533-C8DB-C64C3AA516CE}"/>
              </a:ext>
            </a:extLst>
          </p:cNvPr>
          <p:cNvSpPr txBox="1"/>
          <p:nvPr/>
        </p:nvSpPr>
        <p:spPr>
          <a:xfrm>
            <a:off x="9398000" y="2413000"/>
            <a:ext cx="7975600" cy="7665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Measured in saturation, the transfer characteristic is a parabola that starts at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=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q @2">
                <a:extLst>
                  <a:ext uri="{FF2B5EF4-FFF2-40B4-BE49-F238E27FC236}">
                    <a16:creationId xmlns:a16="http://schemas.microsoft.com/office/drawing/2014/main" id="{7468ED59-C99C-B500-77F4-EAF0E66DA2E9}"/>
                  </a:ext>
                </a:extLst>
              </p:cNvPr>
              <p:cNvSpPr txBox="1"/>
              <p:nvPr/>
            </p:nvSpPr>
            <p:spPr>
              <a:xfrm>
                <a:off x="9398000" y="3585956"/>
                <a:ext cx="7975600" cy="81788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8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8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8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2" name="eq @2">
                <a:extLst>
                  <a:ext uri="{FF2B5EF4-FFF2-40B4-BE49-F238E27FC236}">
                    <a16:creationId xmlns:a16="http://schemas.microsoft.com/office/drawing/2014/main" id="{7468ED59-C99C-B500-77F4-EAF0E66DA2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0" y="3585956"/>
                <a:ext cx="7975600" cy="8178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hrome page">
            <a:extLst>
              <a:ext uri="{FF2B5EF4-FFF2-40B4-BE49-F238E27FC236}">
                <a16:creationId xmlns:a16="http://schemas.microsoft.com/office/drawing/2014/main" id="{5BB31A86-3BCB-14A0-C987-130742910325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age">
            <a:extLst>
              <a:ext uri="{FF2B5EF4-FFF2-40B4-BE49-F238E27FC236}">
                <a16:creationId xmlns:a16="http://schemas.microsoft.com/office/drawing/2014/main" id="{E3DB73F9-F303-C542-24D7-CCA53126DF34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9764544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n saturation, i_{D} depends o s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74C3A45-1E3D-12FE-AC22-A141A0543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In saturation,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 depends only on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5ECB8EBE-A66F-647C-FE87-7AE8C8ED3EB7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726C31C2-32D7-134F-2506-05A4483A4F71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B0E67FD9-A029-5885-A838-1703A41521A4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F8975F05-C258-26F9-7905-881806AA7281}"/>
              </a:ext>
            </a:extLst>
          </p:cNvPr>
          <p:cNvSpPr/>
          <p:nvPr/>
        </p:nvSpPr>
        <p:spPr>
          <a:xfrm>
            <a:off x="914400" y="2095500"/>
            <a:ext cx="7620000" cy="6693946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26141E8C-10EB-BF16-1C7D-784845A54CDD}"/>
              </a:ext>
            </a:extLst>
          </p:cNvPr>
          <p:cNvSpPr/>
          <p:nvPr/>
        </p:nvSpPr>
        <p:spPr>
          <a:xfrm>
            <a:off x="914400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16B2F76E-205D-D187-5641-38E067FB918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349500"/>
            <a:ext cx="7112000" cy="5957346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BC07EAA8-7D1E-6BF7-BADD-8760AE34F122}"/>
              </a:ext>
            </a:extLst>
          </p:cNvPr>
          <p:cNvSpPr txBox="1"/>
          <p:nvPr/>
        </p:nvSpPr>
        <p:spPr>
          <a:xfrm>
            <a:off x="1168400" y="8433846"/>
            <a:ext cx="711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BD5FF4B2-08A9-B533-C8DB-C64C3AA516CE}"/>
              </a:ext>
            </a:extLst>
          </p:cNvPr>
          <p:cNvSpPr txBox="1"/>
          <p:nvPr/>
        </p:nvSpPr>
        <p:spPr>
          <a:xfrm>
            <a:off x="9398000" y="2413000"/>
            <a:ext cx="7975600" cy="7665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Measured in saturation, the transfer characteristic is a parabola that starts at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=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q @2">
                <a:extLst>
                  <a:ext uri="{FF2B5EF4-FFF2-40B4-BE49-F238E27FC236}">
                    <a16:creationId xmlns:a16="http://schemas.microsoft.com/office/drawing/2014/main" id="{7468ED59-C99C-B500-77F4-EAF0E66DA2E9}"/>
                  </a:ext>
                </a:extLst>
              </p:cNvPr>
              <p:cNvSpPr txBox="1"/>
              <p:nvPr/>
            </p:nvSpPr>
            <p:spPr>
              <a:xfrm>
                <a:off x="9398000" y="3585956"/>
                <a:ext cx="7975600" cy="81788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8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8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8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2" name="eq @2">
                <a:extLst>
                  <a:ext uri="{FF2B5EF4-FFF2-40B4-BE49-F238E27FC236}">
                    <a16:creationId xmlns:a16="http://schemas.microsoft.com/office/drawing/2014/main" id="{7468ED59-C99C-B500-77F4-EAF0E66DA2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0" y="3585956"/>
                <a:ext cx="7975600" cy="8178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oint @3">
            <a:extLst>
              <a:ext uri="{FF2B5EF4-FFF2-40B4-BE49-F238E27FC236}">
                <a16:creationId xmlns:a16="http://schemas.microsoft.com/office/drawing/2014/main" id="{7A51E50D-198D-E98D-DB10-33133BAE6467}"/>
              </a:ext>
            </a:extLst>
          </p:cNvPr>
          <p:cNvSpPr txBox="1"/>
          <p:nvPr/>
        </p:nvSpPr>
        <p:spPr>
          <a:xfrm>
            <a:off x="9398000" y="4982957"/>
            <a:ext cx="7975600" cy="37875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Doubling (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) quadruples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: the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square law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50E82006-E001-5DFD-22B8-F90BDA0EFB83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hrome page">
            <a:extLst>
              <a:ext uri="{FF2B5EF4-FFF2-40B4-BE49-F238E27FC236}">
                <a16:creationId xmlns:a16="http://schemas.microsoft.com/office/drawing/2014/main" id="{F199A09D-F4B3-ECC6-05BD-5D426E34B79E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355354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riode and saturation: one cur s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7110231-797A-422B-0280-44F50878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Triode and saturation: one curve, two equations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064DEDAB-5ABF-B5D2-E704-AFE882380E7D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FE727C78-8CCA-3CF8-A35C-601FDF0D1DB4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48027298-B345-B374-F3BC-13B03608F2CF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20DD9BBF-F41F-DC84-75FB-AD77F567B96C}"/>
              </a:ext>
            </a:extLst>
          </p:cNvPr>
          <p:cNvSpPr/>
          <p:nvPr/>
        </p:nvSpPr>
        <p:spPr>
          <a:xfrm>
            <a:off x="914400" y="2222500"/>
            <a:ext cx="8763000" cy="558845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7DAABA01-55AB-20B7-78C6-EB41CCA5C338}"/>
              </a:ext>
            </a:extLst>
          </p:cNvPr>
          <p:cNvSpPr/>
          <p:nvPr/>
        </p:nvSpPr>
        <p:spPr>
          <a:xfrm>
            <a:off x="9144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A68E027F-CE62-15EB-ACB0-7659A047A81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8255000" cy="485185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F0C65682-8458-2279-8E04-3E84678DD703}"/>
              </a:ext>
            </a:extLst>
          </p:cNvPr>
          <p:cNvSpPr txBox="1"/>
          <p:nvPr/>
        </p:nvSpPr>
        <p:spPr>
          <a:xfrm>
            <a:off x="1168400" y="7455350"/>
            <a:ext cx="825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3A85C914-8D81-36F8-3961-CACECF09693C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rome page">
            <a:extLst>
              <a:ext uri="{FF2B5EF4-FFF2-40B4-BE49-F238E27FC236}">
                <a16:creationId xmlns:a16="http://schemas.microsoft.com/office/drawing/2014/main" id="{3D0B9489-2C55-B1DB-A446-EAB09BF9B298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872040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riode and saturation: one cur s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7110231-797A-422B-0280-44F50878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Triode and saturation: one curve, two equations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064DEDAB-5ABF-B5D2-E704-AFE882380E7D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FE727C78-8CCA-3CF8-A35C-601FDF0D1DB4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48027298-B345-B374-F3BC-13B03608F2CF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20DD9BBF-F41F-DC84-75FB-AD77F567B96C}"/>
              </a:ext>
            </a:extLst>
          </p:cNvPr>
          <p:cNvSpPr/>
          <p:nvPr/>
        </p:nvSpPr>
        <p:spPr>
          <a:xfrm>
            <a:off x="914400" y="2222500"/>
            <a:ext cx="8763000" cy="558845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7DAABA01-55AB-20B7-78C6-EB41CCA5C338}"/>
              </a:ext>
            </a:extLst>
          </p:cNvPr>
          <p:cNvSpPr/>
          <p:nvPr/>
        </p:nvSpPr>
        <p:spPr>
          <a:xfrm>
            <a:off x="9144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A68E027F-CE62-15EB-ACB0-7659A047A81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8255000" cy="485185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F0C65682-8458-2279-8E04-3E84678DD703}"/>
              </a:ext>
            </a:extLst>
          </p:cNvPr>
          <p:cNvSpPr txBox="1"/>
          <p:nvPr/>
        </p:nvSpPr>
        <p:spPr>
          <a:xfrm>
            <a:off x="1168400" y="7455350"/>
            <a:ext cx="825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lab @2">
            <a:extLst>
              <a:ext uri="{FF2B5EF4-FFF2-40B4-BE49-F238E27FC236}">
                <a16:creationId xmlns:a16="http://schemas.microsoft.com/office/drawing/2014/main" id="{4FC3B738-0A7B-F7BC-131A-521B2213E0B0}"/>
              </a:ext>
            </a:extLst>
          </p:cNvPr>
          <p:cNvSpPr/>
          <p:nvPr/>
        </p:nvSpPr>
        <p:spPr>
          <a:xfrm>
            <a:off x="10287000" y="2349500"/>
            <a:ext cx="116179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TRIODE</a:t>
            </a:r>
          </a:p>
        </p:txBody>
      </p:sp>
      <p:sp>
        <p:nvSpPr>
          <p:cNvPr id="12" name="lab @2">
            <a:extLst>
              <a:ext uri="{FF2B5EF4-FFF2-40B4-BE49-F238E27FC236}">
                <a16:creationId xmlns:a16="http://schemas.microsoft.com/office/drawing/2014/main" id="{59B9D525-BE83-30D5-419F-6A54AB3229BD}"/>
              </a:ext>
            </a:extLst>
          </p:cNvPr>
          <p:cNvSpPr txBox="1"/>
          <p:nvPr/>
        </p:nvSpPr>
        <p:spPr>
          <a:xfrm>
            <a:off x="11651996" y="2324099"/>
            <a:ext cx="5721604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E0B68D97-C169-21C4-6596-E21B798AE0B4}"/>
                  </a:ext>
                </a:extLst>
              </p:cNvPr>
              <p:cNvSpPr txBox="1"/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𝐺𝑆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  <m:sup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E0B68D97-C169-21C4-6596-E21B798AE0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blipFill>
                <a:blip r:embed="rId3"/>
                <a:stretch>
                  <a:fillRect t="-1600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hrome page">
            <a:extLst>
              <a:ext uri="{FF2B5EF4-FFF2-40B4-BE49-F238E27FC236}">
                <a16:creationId xmlns:a16="http://schemas.microsoft.com/office/drawing/2014/main" id="{D7114FAA-9D9E-43AE-576C-BB121FD9F4B6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rome page">
            <a:extLst>
              <a:ext uri="{FF2B5EF4-FFF2-40B4-BE49-F238E27FC236}">
                <a16:creationId xmlns:a16="http://schemas.microsoft.com/office/drawing/2014/main" id="{7C35283D-904C-CD6F-E42A-6E8844B4DCFA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1684328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riode and saturation: one cur s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7110231-797A-422B-0280-44F50878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Triode and saturation: one curve, two equations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064DEDAB-5ABF-B5D2-E704-AFE882380E7D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FE727C78-8CCA-3CF8-A35C-601FDF0D1DB4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48027298-B345-B374-F3BC-13B03608F2CF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20DD9BBF-F41F-DC84-75FB-AD77F567B96C}"/>
              </a:ext>
            </a:extLst>
          </p:cNvPr>
          <p:cNvSpPr/>
          <p:nvPr/>
        </p:nvSpPr>
        <p:spPr>
          <a:xfrm>
            <a:off x="914400" y="2222500"/>
            <a:ext cx="8763000" cy="558845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7DAABA01-55AB-20B7-78C6-EB41CCA5C338}"/>
              </a:ext>
            </a:extLst>
          </p:cNvPr>
          <p:cNvSpPr/>
          <p:nvPr/>
        </p:nvSpPr>
        <p:spPr>
          <a:xfrm>
            <a:off x="9144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A68E027F-CE62-15EB-ACB0-7659A047A81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8255000" cy="485185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F0C65682-8458-2279-8E04-3E84678DD703}"/>
              </a:ext>
            </a:extLst>
          </p:cNvPr>
          <p:cNvSpPr txBox="1"/>
          <p:nvPr/>
        </p:nvSpPr>
        <p:spPr>
          <a:xfrm>
            <a:off x="1168400" y="7455350"/>
            <a:ext cx="825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lab @2">
            <a:extLst>
              <a:ext uri="{FF2B5EF4-FFF2-40B4-BE49-F238E27FC236}">
                <a16:creationId xmlns:a16="http://schemas.microsoft.com/office/drawing/2014/main" id="{4FC3B738-0A7B-F7BC-131A-521B2213E0B0}"/>
              </a:ext>
            </a:extLst>
          </p:cNvPr>
          <p:cNvSpPr/>
          <p:nvPr/>
        </p:nvSpPr>
        <p:spPr>
          <a:xfrm>
            <a:off x="10287000" y="2349500"/>
            <a:ext cx="116179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TRIODE</a:t>
            </a:r>
          </a:p>
        </p:txBody>
      </p:sp>
      <p:sp>
        <p:nvSpPr>
          <p:cNvPr id="12" name="lab @2">
            <a:extLst>
              <a:ext uri="{FF2B5EF4-FFF2-40B4-BE49-F238E27FC236}">
                <a16:creationId xmlns:a16="http://schemas.microsoft.com/office/drawing/2014/main" id="{59B9D525-BE83-30D5-419F-6A54AB3229BD}"/>
              </a:ext>
            </a:extLst>
          </p:cNvPr>
          <p:cNvSpPr txBox="1"/>
          <p:nvPr/>
        </p:nvSpPr>
        <p:spPr>
          <a:xfrm>
            <a:off x="11651996" y="2324099"/>
            <a:ext cx="5721604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E0B68D97-C169-21C4-6596-E21B798AE0B4}"/>
                  </a:ext>
                </a:extLst>
              </p:cNvPr>
              <p:cNvSpPr txBox="1"/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𝐺𝑆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  <m:sup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E0B68D97-C169-21C4-6596-E21B798AE0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blipFill>
                <a:blip r:embed="rId3"/>
                <a:stretch>
                  <a:fillRect t="-1600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lab @3">
            <a:extLst>
              <a:ext uri="{FF2B5EF4-FFF2-40B4-BE49-F238E27FC236}">
                <a16:creationId xmlns:a16="http://schemas.microsoft.com/office/drawing/2014/main" id="{DA61949F-F6C2-2867-7684-DA89133CDE3F}"/>
              </a:ext>
            </a:extLst>
          </p:cNvPr>
          <p:cNvSpPr/>
          <p:nvPr/>
        </p:nvSpPr>
        <p:spPr>
          <a:xfrm>
            <a:off x="10287000" y="4762500"/>
            <a:ext cx="159766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SATURATION</a:t>
            </a:r>
          </a:p>
        </p:txBody>
      </p:sp>
      <p:sp>
        <p:nvSpPr>
          <p:cNvPr id="15" name="lab @3">
            <a:extLst>
              <a:ext uri="{FF2B5EF4-FFF2-40B4-BE49-F238E27FC236}">
                <a16:creationId xmlns:a16="http://schemas.microsoft.com/office/drawing/2014/main" id="{2DF009E8-FE86-FDB6-7495-EBC06662BE6A}"/>
              </a:ext>
            </a:extLst>
          </p:cNvPr>
          <p:cNvSpPr txBox="1"/>
          <p:nvPr/>
        </p:nvSpPr>
        <p:spPr>
          <a:xfrm>
            <a:off x="12087860" y="4737099"/>
            <a:ext cx="528574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≥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eq @3">
                <a:extLst>
                  <a:ext uri="{FF2B5EF4-FFF2-40B4-BE49-F238E27FC236}">
                    <a16:creationId xmlns:a16="http://schemas.microsoft.com/office/drawing/2014/main" id="{1DC03979-CABA-B340-4A81-35D98CFAEAB6}"/>
                  </a:ext>
                </a:extLst>
              </p:cNvPr>
              <p:cNvSpPr txBox="1"/>
              <p:nvPr/>
            </p:nvSpPr>
            <p:spPr>
              <a:xfrm>
                <a:off x="10287000" y="5346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" name="eq @3">
                <a:extLst>
                  <a:ext uri="{FF2B5EF4-FFF2-40B4-BE49-F238E27FC236}">
                    <a16:creationId xmlns:a16="http://schemas.microsoft.com/office/drawing/2014/main" id="{1DC03979-CABA-B340-4A81-35D98CFAE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00" y="5346699"/>
                <a:ext cx="7086600" cy="7594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hrome page">
            <a:extLst>
              <a:ext uri="{FF2B5EF4-FFF2-40B4-BE49-F238E27FC236}">
                <a16:creationId xmlns:a16="http://schemas.microsoft.com/office/drawing/2014/main" id="{902E50CB-2D44-45BF-C602-4605DB875E85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rome page">
            <a:extLst>
              <a:ext uri="{FF2B5EF4-FFF2-40B4-BE49-F238E27FC236}">
                <a16:creationId xmlns:a16="http://schemas.microsoft.com/office/drawing/2014/main" id="{C90D8969-1596-53E7-D644-E5153ECB91C3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2735697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riode and saturation: one cur s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7110231-797A-422B-0280-44F50878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Triode and saturation: one curve, two equations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064DEDAB-5ABF-B5D2-E704-AFE882380E7D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FE727C78-8CCA-3CF8-A35C-601FDF0D1DB4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48027298-B345-B374-F3BC-13B03608F2CF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20DD9BBF-F41F-DC84-75FB-AD77F567B96C}"/>
              </a:ext>
            </a:extLst>
          </p:cNvPr>
          <p:cNvSpPr/>
          <p:nvPr/>
        </p:nvSpPr>
        <p:spPr>
          <a:xfrm>
            <a:off x="914400" y="2222500"/>
            <a:ext cx="8763000" cy="558845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7DAABA01-55AB-20B7-78C6-EB41CCA5C338}"/>
              </a:ext>
            </a:extLst>
          </p:cNvPr>
          <p:cNvSpPr/>
          <p:nvPr/>
        </p:nvSpPr>
        <p:spPr>
          <a:xfrm>
            <a:off x="9144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A68E027F-CE62-15EB-ACB0-7659A047A81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400" y="2476500"/>
            <a:ext cx="8255000" cy="4851850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F0C65682-8458-2279-8E04-3E84678DD703}"/>
              </a:ext>
            </a:extLst>
          </p:cNvPr>
          <p:cNvSpPr txBox="1"/>
          <p:nvPr/>
        </p:nvSpPr>
        <p:spPr>
          <a:xfrm>
            <a:off x="1168400" y="7455350"/>
            <a:ext cx="825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lab @2">
            <a:extLst>
              <a:ext uri="{FF2B5EF4-FFF2-40B4-BE49-F238E27FC236}">
                <a16:creationId xmlns:a16="http://schemas.microsoft.com/office/drawing/2014/main" id="{4FC3B738-0A7B-F7BC-131A-521B2213E0B0}"/>
              </a:ext>
            </a:extLst>
          </p:cNvPr>
          <p:cNvSpPr/>
          <p:nvPr/>
        </p:nvSpPr>
        <p:spPr>
          <a:xfrm>
            <a:off x="10287000" y="2349500"/>
            <a:ext cx="116179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TRIODE</a:t>
            </a:r>
          </a:p>
        </p:txBody>
      </p:sp>
      <p:sp>
        <p:nvSpPr>
          <p:cNvPr id="12" name="lab @2">
            <a:extLst>
              <a:ext uri="{FF2B5EF4-FFF2-40B4-BE49-F238E27FC236}">
                <a16:creationId xmlns:a16="http://schemas.microsoft.com/office/drawing/2014/main" id="{59B9D525-BE83-30D5-419F-6A54AB3229BD}"/>
              </a:ext>
            </a:extLst>
          </p:cNvPr>
          <p:cNvSpPr txBox="1"/>
          <p:nvPr/>
        </p:nvSpPr>
        <p:spPr>
          <a:xfrm>
            <a:off x="11651996" y="2324099"/>
            <a:ext cx="5721604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E0B68D97-C169-21C4-6596-E21B798AE0B4}"/>
                  </a:ext>
                </a:extLst>
              </p:cNvPr>
              <p:cNvSpPr txBox="1"/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𝐺𝑆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</m:s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  <m:sup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3" name="eq @2">
                <a:extLst>
                  <a:ext uri="{FF2B5EF4-FFF2-40B4-BE49-F238E27FC236}">
                    <a16:creationId xmlns:a16="http://schemas.microsoft.com/office/drawing/2014/main" id="{E0B68D97-C169-21C4-6596-E21B798AE0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00" y="2933699"/>
                <a:ext cx="7086600" cy="759460"/>
              </a:xfrm>
              <a:prstGeom prst="rect">
                <a:avLst/>
              </a:prstGeom>
              <a:blipFill>
                <a:blip r:embed="rId3"/>
                <a:stretch>
                  <a:fillRect t="-1600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lab @3">
            <a:extLst>
              <a:ext uri="{FF2B5EF4-FFF2-40B4-BE49-F238E27FC236}">
                <a16:creationId xmlns:a16="http://schemas.microsoft.com/office/drawing/2014/main" id="{DA61949F-F6C2-2867-7684-DA89133CDE3F}"/>
              </a:ext>
            </a:extLst>
          </p:cNvPr>
          <p:cNvSpPr/>
          <p:nvPr/>
        </p:nvSpPr>
        <p:spPr>
          <a:xfrm>
            <a:off x="10287000" y="4762500"/>
            <a:ext cx="159766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SATURATION</a:t>
            </a:r>
          </a:p>
        </p:txBody>
      </p:sp>
      <p:sp>
        <p:nvSpPr>
          <p:cNvPr id="15" name="lab @3">
            <a:extLst>
              <a:ext uri="{FF2B5EF4-FFF2-40B4-BE49-F238E27FC236}">
                <a16:creationId xmlns:a16="http://schemas.microsoft.com/office/drawing/2014/main" id="{2DF009E8-FE86-FDB6-7495-EBC06662BE6A}"/>
              </a:ext>
            </a:extLst>
          </p:cNvPr>
          <p:cNvSpPr txBox="1"/>
          <p:nvPr/>
        </p:nvSpPr>
        <p:spPr>
          <a:xfrm>
            <a:off x="12087860" y="4737099"/>
            <a:ext cx="5285740" cy="406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≥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eq @3">
                <a:extLst>
                  <a:ext uri="{FF2B5EF4-FFF2-40B4-BE49-F238E27FC236}">
                    <a16:creationId xmlns:a16="http://schemas.microsoft.com/office/drawing/2014/main" id="{1DC03979-CABA-B340-4A81-35D98CFAEAB6}"/>
                  </a:ext>
                </a:extLst>
              </p:cNvPr>
              <p:cNvSpPr txBox="1"/>
              <p:nvPr/>
            </p:nvSpPr>
            <p:spPr>
              <a:xfrm>
                <a:off x="10287000" y="5346699"/>
                <a:ext cx="7086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" name="eq @3">
                <a:extLst>
                  <a:ext uri="{FF2B5EF4-FFF2-40B4-BE49-F238E27FC236}">
                    <a16:creationId xmlns:a16="http://schemas.microsoft.com/office/drawing/2014/main" id="{1DC03979-CABA-B340-4A81-35D98CFAE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00" y="5346699"/>
                <a:ext cx="7086600" cy="7594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note @4">
            <a:extLst>
              <a:ext uri="{FF2B5EF4-FFF2-40B4-BE49-F238E27FC236}">
                <a16:creationId xmlns:a16="http://schemas.microsoft.com/office/drawing/2014/main" id="{2863BD8A-820E-BB72-2115-7F5C8E6720F5}"/>
              </a:ext>
            </a:extLst>
          </p:cNvPr>
          <p:cNvSpPr txBox="1"/>
          <p:nvPr/>
        </p:nvSpPr>
        <p:spPr>
          <a:xfrm>
            <a:off x="10287000" y="7175499"/>
            <a:ext cx="70866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Both require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&gt;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: without a channel,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= 0 (cutoff).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174FC1A8-78A6-50FC-ED32-AE2D1381D364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hrome page">
            <a:extLst>
              <a:ext uri="{FF2B5EF4-FFF2-40B4-BE49-F238E27FC236}">
                <a16:creationId xmlns:a16="http://schemas.microsoft.com/office/drawing/2014/main" id="{749624B8-3903-FF4F-0570-FFFFCDD91855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31929939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mall v_{DS}: a voltage-contro s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903ED8F-DFEA-A34F-C2F5-9FDE72CE7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Small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: a voltage-controlled resistor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60ACCEC3-5250-13F3-927C-990961A3E008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D9A25C63-474E-EF95-034A-55B07F3FCE4B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E5360F41-0B0C-C16A-F853-446B5AD4D3AB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BEA1CF38-A79C-C2BF-521E-AE1024BBD7F9}"/>
              </a:ext>
            </a:extLst>
          </p:cNvPr>
          <p:cNvSpPr/>
          <p:nvPr/>
        </p:nvSpPr>
        <p:spPr>
          <a:xfrm>
            <a:off x="9652000" y="2222500"/>
            <a:ext cx="7721600" cy="4976371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25DF8C19-AE92-A29E-5DE7-8025F82DCE31}"/>
              </a:ext>
            </a:extLst>
          </p:cNvPr>
          <p:cNvSpPr/>
          <p:nvPr/>
        </p:nvSpPr>
        <p:spPr>
          <a:xfrm>
            <a:off x="96520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C80B39C5-7030-EC04-BB60-1A57FCAC0A2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2476500"/>
            <a:ext cx="7213600" cy="4239771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9DA7C189-92CD-59DA-DABE-56A87B3A5A73}"/>
              </a:ext>
            </a:extLst>
          </p:cNvPr>
          <p:cNvSpPr txBox="1"/>
          <p:nvPr/>
        </p:nvSpPr>
        <p:spPr>
          <a:xfrm>
            <a:off x="9906000" y="6843271"/>
            <a:ext cx="7213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227579E6-8F76-74FB-8DB4-ECBFEA203F8E}"/>
              </a:ext>
            </a:extLst>
          </p:cNvPr>
          <p:cNvSpPr txBox="1"/>
          <p:nvPr/>
        </p:nvSpPr>
        <p:spPr>
          <a:xfrm>
            <a:off x="914400" y="2349500"/>
            <a:ext cx="8128000" cy="35907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For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≪ 2(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) the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² term is negligible: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q @1">
                <a:extLst>
                  <a:ext uri="{FF2B5EF4-FFF2-40B4-BE49-F238E27FC236}">
                    <a16:creationId xmlns:a16="http://schemas.microsoft.com/office/drawing/2014/main" id="{F0BFB1A4-CD91-165C-EDEB-F1C9515DF448}"/>
                  </a:ext>
                </a:extLst>
              </p:cNvPr>
              <p:cNvSpPr txBox="1"/>
              <p:nvPr/>
            </p:nvSpPr>
            <p:spPr>
              <a:xfrm>
                <a:off x="1244600" y="2987972"/>
                <a:ext cx="8128000" cy="78867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7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≈</m:t>
                      </m:r>
                      <m:sSubSup>
                        <m:sSubSup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7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7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7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</m:t>
                      </m:r>
                      <m:sSub>
                        <m:sSub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𝐷𝑆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eq @1">
                <a:extLst>
                  <a:ext uri="{FF2B5EF4-FFF2-40B4-BE49-F238E27FC236}">
                    <a16:creationId xmlns:a16="http://schemas.microsoft.com/office/drawing/2014/main" id="{F0BFB1A4-CD91-165C-EDEB-F1C9515DF448}"/>
                  </a:ext>
                </a:extLst>
              </p:cNvPr>
              <p:cNvSpPr txBox="1"/>
              <p:nvPr/>
            </p:nvSpPr>
            <p:spPr>
              <a:xfrm>
                <a:off x="1244600" y="2987972"/>
                <a:ext cx="8128000" cy="78867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\approx k_n^{\prime}\frac{W}{L}\,(v_{GS}-V_t)\,v_{DS}</a:t>
                </a:r>
              </a:p>
            </p:txBody>
          </p:sp>
        </mc:Fallback>
      </mc:AlternateContent>
      <p:sp>
        <p:nvSpPr>
          <p:cNvPr id="8" name="chrome page">
            <a:extLst>
              <a:ext uri="{FF2B5EF4-FFF2-40B4-BE49-F238E27FC236}">
                <a16:creationId xmlns:a16="http://schemas.microsoft.com/office/drawing/2014/main" id="{B43D5741-5462-B865-E200-2DD3DC77E65D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hrome page">
            <a:extLst>
              <a:ext uri="{FF2B5EF4-FFF2-40B4-BE49-F238E27FC236}">
                <a16:creationId xmlns:a16="http://schemas.microsoft.com/office/drawing/2014/main" id="{B531F328-6DC0-1498-4DDB-6932DA725674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38203989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mall v_{DS}: a voltage-contro s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903ED8F-DFEA-A34F-C2F5-9FDE72CE7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Small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: a voltage-controlled resistor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60ACCEC3-5250-13F3-927C-990961A3E008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D9A25C63-474E-EF95-034A-55B07F3FCE4B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E5360F41-0B0C-C16A-F853-446B5AD4D3AB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BEA1CF38-A79C-C2BF-521E-AE1024BBD7F9}"/>
              </a:ext>
            </a:extLst>
          </p:cNvPr>
          <p:cNvSpPr/>
          <p:nvPr/>
        </p:nvSpPr>
        <p:spPr>
          <a:xfrm>
            <a:off x="9652000" y="2222500"/>
            <a:ext cx="7721600" cy="4976371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25DF8C19-AE92-A29E-5DE7-8025F82DCE31}"/>
              </a:ext>
            </a:extLst>
          </p:cNvPr>
          <p:cNvSpPr/>
          <p:nvPr/>
        </p:nvSpPr>
        <p:spPr>
          <a:xfrm>
            <a:off x="96520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C80B39C5-7030-EC04-BB60-1A57FCAC0A2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2476500"/>
            <a:ext cx="7213600" cy="4239771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9DA7C189-92CD-59DA-DABE-56A87B3A5A73}"/>
              </a:ext>
            </a:extLst>
          </p:cNvPr>
          <p:cNvSpPr txBox="1"/>
          <p:nvPr/>
        </p:nvSpPr>
        <p:spPr>
          <a:xfrm>
            <a:off x="9906000" y="6843271"/>
            <a:ext cx="7213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227579E6-8F76-74FB-8DB4-ECBFEA203F8E}"/>
              </a:ext>
            </a:extLst>
          </p:cNvPr>
          <p:cNvSpPr txBox="1"/>
          <p:nvPr/>
        </p:nvSpPr>
        <p:spPr>
          <a:xfrm>
            <a:off x="914400" y="2349500"/>
            <a:ext cx="8128000" cy="35907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For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≪ 2(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) the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² term is negligible: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q @1">
                <a:extLst>
                  <a:ext uri="{FF2B5EF4-FFF2-40B4-BE49-F238E27FC236}">
                    <a16:creationId xmlns:a16="http://schemas.microsoft.com/office/drawing/2014/main" id="{F0BFB1A4-CD91-165C-EDEB-F1C9515DF448}"/>
                  </a:ext>
                </a:extLst>
              </p:cNvPr>
              <p:cNvSpPr txBox="1"/>
              <p:nvPr/>
            </p:nvSpPr>
            <p:spPr>
              <a:xfrm>
                <a:off x="1244600" y="2987972"/>
                <a:ext cx="8128000" cy="78867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7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≈</m:t>
                      </m:r>
                      <m:sSubSup>
                        <m:sSubSup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7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7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7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</m:t>
                      </m:r>
                      <m:sSub>
                        <m:sSub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𝐷𝑆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2" name="eq @1">
                <a:extLst>
                  <a:ext uri="{FF2B5EF4-FFF2-40B4-BE49-F238E27FC236}">
                    <a16:creationId xmlns:a16="http://schemas.microsoft.com/office/drawing/2014/main" id="{F0BFB1A4-CD91-165C-EDEB-F1C9515DF4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600" y="2987972"/>
                <a:ext cx="8128000" cy="7886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oint @2">
            <a:extLst>
              <a:ext uri="{FF2B5EF4-FFF2-40B4-BE49-F238E27FC236}">
                <a16:creationId xmlns:a16="http://schemas.microsoft.com/office/drawing/2014/main" id="{57E69961-B535-9138-7CCE-98DB8A566759}"/>
              </a:ext>
            </a:extLst>
          </p:cNvPr>
          <p:cNvSpPr txBox="1"/>
          <p:nvPr/>
        </p:nvSpPr>
        <p:spPr>
          <a:xfrm>
            <a:off x="914400" y="4003973"/>
            <a:ext cx="8128000" cy="36298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The channel behaves as a resistor whose value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sets: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eq @2">
                <a:extLst>
                  <a:ext uri="{FF2B5EF4-FFF2-40B4-BE49-F238E27FC236}">
                    <a16:creationId xmlns:a16="http://schemas.microsoft.com/office/drawing/2014/main" id="{9B51FBF4-107C-73E6-2BF5-677B223DCB20}"/>
                  </a:ext>
                </a:extLst>
              </p:cNvPr>
              <p:cNvSpPr txBox="1"/>
              <p:nvPr/>
            </p:nvSpPr>
            <p:spPr>
              <a:xfrm>
                <a:off x="1244600" y="4646356"/>
                <a:ext cx="8128000" cy="78867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𝐷𝑆</m:t>
                          </m:r>
                        </m:sub>
                      </m:sSub>
                      <m:r>
                        <a:rPr lang="en-US" sz="27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700" b="0" i="1">
                              <a:solidFill>
                                <a:srgbClr val="15241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700" b="0" i="1">
                                  <a:solidFill>
                                    <a:srgbClr val="15241D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′</m:t>
                                  </m:r>
                                </m:sup>
                              </m:sSubSup>
                              <m:f>
                                <m:fPr>
                                  <m:ctrlP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𝑊</m:t>
                                  </m:r>
                                </m:num>
                                <m:den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en-US" sz="27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𝐺𝑆</m:t>
                                  </m:r>
                                </m:sub>
                              </m:sSub>
                              <m:r>
                                <a:rPr lang="en-US" sz="27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7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4" name="eq @2">
                <a:extLst>
                  <a:ext uri="{FF2B5EF4-FFF2-40B4-BE49-F238E27FC236}">
                    <a16:creationId xmlns:a16="http://schemas.microsoft.com/office/drawing/2014/main" id="{9B51FBF4-107C-73E6-2BF5-677B223DCB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600" y="4646356"/>
                <a:ext cx="8128000" cy="788670"/>
              </a:xfrm>
              <a:prstGeom prst="rect">
                <a:avLst/>
              </a:prstGeom>
              <a:blipFill>
                <a:blip r:embed="rId4"/>
                <a:stretch>
                  <a:fillRect t="-6923" b="-12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hrome page">
            <a:extLst>
              <a:ext uri="{FF2B5EF4-FFF2-40B4-BE49-F238E27FC236}">
                <a16:creationId xmlns:a16="http://schemas.microsoft.com/office/drawing/2014/main" id="{ED9064D0-6D7C-02F1-148B-CF9EBDD860DC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hrome page">
            <a:extLst>
              <a:ext uri="{FF2B5EF4-FFF2-40B4-BE49-F238E27FC236}">
                <a16:creationId xmlns:a16="http://schemas.microsoft.com/office/drawing/2014/main" id="{3196BBCC-AE7D-9D92-1C15-4A0318F10EB4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4576728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mall v_{DS}: a voltage-contro s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903ED8F-DFEA-A34F-C2F5-9FDE72CE7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Small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: a voltage-controlled resistor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60ACCEC3-5250-13F3-927C-990961A3E008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D9A25C63-474E-EF95-034A-55B07F3FCE4B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E5360F41-0B0C-C16A-F853-446B5AD4D3AB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figure card">
            <a:extLst>
              <a:ext uri="{FF2B5EF4-FFF2-40B4-BE49-F238E27FC236}">
                <a16:creationId xmlns:a16="http://schemas.microsoft.com/office/drawing/2014/main" id="{BEA1CF38-A79C-C2BF-521E-AE1024BBD7F9}"/>
              </a:ext>
            </a:extLst>
          </p:cNvPr>
          <p:cNvSpPr/>
          <p:nvPr/>
        </p:nvSpPr>
        <p:spPr>
          <a:xfrm>
            <a:off x="9652000" y="2222500"/>
            <a:ext cx="7721600" cy="4976371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e card">
            <a:extLst>
              <a:ext uri="{FF2B5EF4-FFF2-40B4-BE49-F238E27FC236}">
                <a16:creationId xmlns:a16="http://schemas.microsoft.com/office/drawing/2014/main" id="{25DF8C19-AE92-A29E-5DE7-8025F82DCE31}"/>
              </a:ext>
            </a:extLst>
          </p:cNvPr>
          <p:cNvSpPr/>
          <p:nvPr/>
        </p:nvSpPr>
        <p:spPr>
          <a:xfrm>
            <a:off x="96520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figure">
            <a:extLst>
              <a:ext uri="{FF2B5EF4-FFF2-40B4-BE49-F238E27FC236}">
                <a16:creationId xmlns:a16="http://schemas.microsoft.com/office/drawing/2014/main" id="{C80B39C5-7030-EC04-BB60-1A57FCAC0A2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2476500"/>
            <a:ext cx="7213600" cy="4239771"/>
          </a:xfrm>
          <a:prstGeom prst="rect">
            <a:avLst/>
          </a:prstGeom>
        </p:spPr>
      </p:pic>
      <p:sp>
        <p:nvSpPr>
          <p:cNvPr id="10" name="credit">
            <a:extLst>
              <a:ext uri="{FF2B5EF4-FFF2-40B4-BE49-F238E27FC236}">
                <a16:creationId xmlns:a16="http://schemas.microsoft.com/office/drawing/2014/main" id="{9DA7C189-92CD-59DA-DABE-56A87B3A5A73}"/>
              </a:ext>
            </a:extLst>
          </p:cNvPr>
          <p:cNvSpPr txBox="1"/>
          <p:nvPr/>
        </p:nvSpPr>
        <p:spPr>
          <a:xfrm>
            <a:off x="9906000" y="6843271"/>
            <a:ext cx="7213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200">
                <a:solidFill>
                  <a:srgbClr val="4D5B54"/>
                </a:solidFill>
                <a:latin typeface="DM Sans" pitchFamily="2" charset="0"/>
              </a:rPr>
              <a:t>Figure: Sedra &amp; Smith, Microelectronic Circuits</a:t>
            </a:r>
          </a:p>
        </p:txBody>
      </p:sp>
      <p:sp>
        <p:nvSpPr>
          <p:cNvPr id="11" name="point @1">
            <a:extLst>
              <a:ext uri="{FF2B5EF4-FFF2-40B4-BE49-F238E27FC236}">
                <a16:creationId xmlns:a16="http://schemas.microsoft.com/office/drawing/2014/main" id="{227579E6-8F76-74FB-8DB4-ECBFEA203F8E}"/>
              </a:ext>
            </a:extLst>
          </p:cNvPr>
          <p:cNvSpPr txBox="1"/>
          <p:nvPr/>
        </p:nvSpPr>
        <p:spPr>
          <a:xfrm>
            <a:off x="914400" y="2349500"/>
            <a:ext cx="8128000" cy="35907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For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≪ 2(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) the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² term is negligible: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q @1">
                <a:extLst>
                  <a:ext uri="{FF2B5EF4-FFF2-40B4-BE49-F238E27FC236}">
                    <a16:creationId xmlns:a16="http://schemas.microsoft.com/office/drawing/2014/main" id="{F0BFB1A4-CD91-165C-EDEB-F1C9515DF448}"/>
                  </a:ext>
                </a:extLst>
              </p:cNvPr>
              <p:cNvSpPr txBox="1"/>
              <p:nvPr/>
            </p:nvSpPr>
            <p:spPr>
              <a:xfrm>
                <a:off x="1244600" y="2987972"/>
                <a:ext cx="8128000" cy="78867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7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≈</m:t>
                      </m:r>
                      <m:sSubSup>
                        <m:sSubSup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7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7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7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</m:t>
                      </m:r>
                      <m:sSub>
                        <m:sSub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𝐷𝑆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2" name="eq @1">
                <a:extLst>
                  <a:ext uri="{FF2B5EF4-FFF2-40B4-BE49-F238E27FC236}">
                    <a16:creationId xmlns:a16="http://schemas.microsoft.com/office/drawing/2014/main" id="{F0BFB1A4-CD91-165C-EDEB-F1C9515DF4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600" y="2987972"/>
                <a:ext cx="8128000" cy="7886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point @2">
            <a:extLst>
              <a:ext uri="{FF2B5EF4-FFF2-40B4-BE49-F238E27FC236}">
                <a16:creationId xmlns:a16="http://schemas.microsoft.com/office/drawing/2014/main" id="{57E69961-B535-9138-7CCE-98DB8A566759}"/>
              </a:ext>
            </a:extLst>
          </p:cNvPr>
          <p:cNvSpPr txBox="1"/>
          <p:nvPr/>
        </p:nvSpPr>
        <p:spPr>
          <a:xfrm>
            <a:off x="914400" y="4003973"/>
            <a:ext cx="8128000" cy="36298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The channel behaves as a resistor whose value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sets: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eq @2">
                <a:extLst>
                  <a:ext uri="{FF2B5EF4-FFF2-40B4-BE49-F238E27FC236}">
                    <a16:creationId xmlns:a16="http://schemas.microsoft.com/office/drawing/2014/main" id="{9B51FBF4-107C-73E6-2BF5-677B223DCB20}"/>
                  </a:ext>
                </a:extLst>
              </p:cNvPr>
              <p:cNvSpPr txBox="1"/>
              <p:nvPr/>
            </p:nvSpPr>
            <p:spPr>
              <a:xfrm>
                <a:off x="1244600" y="4646356"/>
                <a:ext cx="8128000" cy="78867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𝐷𝑆</m:t>
                          </m:r>
                        </m:sub>
                      </m:sSub>
                      <m:r>
                        <a:rPr lang="en-US" sz="27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700" b="0" i="1">
                              <a:solidFill>
                                <a:srgbClr val="15241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700" b="0" i="1">
                                  <a:solidFill>
                                    <a:srgbClr val="15241D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𝑛</m:t>
                                  </m:r>
                                </m:sub>
                                <m:sup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′</m:t>
                                  </m:r>
                                </m:sup>
                              </m:sSubSup>
                              <m:f>
                                <m:fPr>
                                  <m:ctrlP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𝑊</m:t>
                                  </m:r>
                                </m:num>
                                <m:den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en-US" sz="27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𝐺𝑆</m:t>
                                  </m:r>
                                </m:sub>
                              </m:sSub>
                              <m:r>
                                <a:rPr lang="en-US" sz="27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7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7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en-US" sz="27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4" name="eq @2">
                <a:extLst>
                  <a:ext uri="{FF2B5EF4-FFF2-40B4-BE49-F238E27FC236}">
                    <a16:creationId xmlns:a16="http://schemas.microsoft.com/office/drawing/2014/main" id="{9B51FBF4-107C-73E6-2BF5-677B223DCB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600" y="4646356"/>
                <a:ext cx="8128000" cy="788670"/>
              </a:xfrm>
              <a:prstGeom prst="rect">
                <a:avLst/>
              </a:prstGeom>
              <a:blipFill>
                <a:blip r:embed="rId4"/>
                <a:stretch>
                  <a:fillRect t="-6923" b="-12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point @3">
            <a:extLst>
              <a:ext uri="{FF2B5EF4-FFF2-40B4-BE49-F238E27FC236}">
                <a16:creationId xmlns:a16="http://schemas.microsoft.com/office/drawing/2014/main" id="{F9C7A9AB-09E2-7423-1D77-688C2815229D}"/>
              </a:ext>
            </a:extLst>
          </p:cNvPr>
          <p:cNvSpPr txBox="1"/>
          <p:nvPr/>
        </p:nvSpPr>
        <p:spPr>
          <a:xfrm>
            <a:off x="914400" y="5865557"/>
            <a:ext cx="8128000" cy="734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This is the region used when the MOSFET acts as a closed switch (Section 5).</a:t>
            </a:r>
          </a:p>
        </p:txBody>
      </p:sp>
      <p:sp>
        <p:nvSpPr>
          <p:cNvPr id="8" name="chrome page">
            <a:extLst>
              <a:ext uri="{FF2B5EF4-FFF2-40B4-BE49-F238E27FC236}">
                <a16:creationId xmlns:a16="http://schemas.microsoft.com/office/drawing/2014/main" id="{A8A9F088-6E04-5EEB-2B5E-28EFB7D659F0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hrome page">
            <a:extLst>
              <a:ext uri="{FF2B5EF4-FFF2-40B4-BE49-F238E27FC236}">
                <a16:creationId xmlns:a16="http://schemas.microsoft.com/office/drawing/2014/main" id="{F4F6DADD-3740-CC1C-3151-A017BB2507F8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9936352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arge-signal model in saturati s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76A3E00-C904-4DFE-C3CB-133D542D9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Large-signal model in saturation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4DFB4B23-90DF-6B89-7179-01FC5A32C46A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1D10C530-FC48-AD1B-C656-CE39FF2DEC00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81F75A04-6440-9344-2991-F17F14C91137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drawing card">
            <a:extLst>
              <a:ext uri="{FF2B5EF4-FFF2-40B4-BE49-F238E27FC236}">
                <a16:creationId xmlns:a16="http://schemas.microsoft.com/office/drawing/2014/main" id="{152628FF-DE44-7F99-7C7C-1578A683CAA8}"/>
              </a:ext>
            </a:extLst>
          </p:cNvPr>
          <p:cNvSpPr/>
          <p:nvPr/>
        </p:nvSpPr>
        <p:spPr>
          <a:xfrm>
            <a:off x="914400" y="2095500"/>
            <a:ext cx="7874000" cy="508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rawing card">
            <a:extLst>
              <a:ext uri="{FF2B5EF4-FFF2-40B4-BE49-F238E27FC236}">
                <a16:creationId xmlns:a16="http://schemas.microsoft.com/office/drawing/2014/main" id="{8DF1E28D-42B2-B459-9184-605548B22267}"/>
              </a:ext>
            </a:extLst>
          </p:cNvPr>
          <p:cNvSpPr/>
          <p:nvPr/>
        </p:nvSpPr>
        <p:spPr>
          <a:xfrm>
            <a:off x="914400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kt">
            <a:extLst>
              <a:ext uri="{FF2B5EF4-FFF2-40B4-BE49-F238E27FC236}">
                <a16:creationId xmlns:a16="http://schemas.microsoft.com/office/drawing/2014/main" id="{94AF10C4-8E96-9DCF-022B-3413D3DEACB4}"/>
              </a:ext>
            </a:extLst>
          </p:cNvPr>
          <p:cNvSpPr/>
          <p:nvPr/>
        </p:nvSpPr>
        <p:spPr>
          <a:xfrm>
            <a:off x="2241550" y="3105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kt label">
            <a:extLst>
              <a:ext uri="{FF2B5EF4-FFF2-40B4-BE49-F238E27FC236}">
                <a16:creationId xmlns:a16="http://schemas.microsoft.com/office/drawing/2014/main" id="{B5A40FAE-0584-9C8B-BC11-E8029933B37F}"/>
              </a:ext>
            </a:extLst>
          </p:cNvPr>
          <p:cNvSpPr txBox="1"/>
          <p:nvPr/>
        </p:nvSpPr>
        <p:spPr>
          <a:xfrm>
            <a:off x="1600200" y="2984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G</a:t>
            </a:r>
          </a:p>
        </p:txBody>
      </p:sp>
      <p:sp>
        <p:nvSpPr>
          <p:cNvPr id="10" name="ckt label">
            <a:extLst>
              <a:ext uri="{FF2B5EF4-FFF2-40B4-BE49-F238E27FC236}">
                <a16:creationId xmlns:a16="http://schemas.microsoft.com/office/drawing/2014/main" id="{74D763D4-CCA7-8DFF-C29D-1DE1F9A0CE2E}"/>
              </a:ext>
            </a:extLst>
          </p:cNvPr>
          <p:cNvSpPr txBox="1"/>
          <p:nvPr/>
        </p:nvSpPr>
        <p:spPr>
          <a:xfrm>
            <a:off x="2489200" y="3063874"/>
            <a:ext cx="1397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G</a:t>
            </a:r>
            <a:r>
              <a:rPr lang="en-US" sz="1700">
                <a:solidFill>
                  <a:srgbClr val="4D5B54"/>
                </a:solidFill>
                <a:latin typeface="DM Sans" pitchFamily="2" charset="0"/>
              </a:rPr>
              <a:t> = 0</a:t>
            </a:r>
          </a:p>
        </p:txBody>
      </p:sp>
      <p:sp>
        <p:nvSpPr>
          <p:cNvPr id="11" name="ckt">
            <a:extLst>
              <a:ext uri="{FF2B5EF4-FFF2-40B4-BE49-F238E27FC236}">
                <a16:creationId xmlns:a16="http://schemas.microsoft.com/office/drawing/2014/main" id="{05319BF0-A7D5-48C4-32F0-A378D5BEC1F6}"/>
              </a:ext>
            </a:extLst>
          </p:cNvPr>
          <p:cNvSpPr/>
          <p:nvPr/>
        </p:nvSpPr>
        <p:spPr>
          <a:xfrm>
            <a:off x="2241550" y="6153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kt label">
            <a:extLst>
              <a:ext uri="{FF2B5EF4-FFF2-40B4-BE49-F238E27FC236}">
                <a16:creationId xmlns:a16="http://schemas.microsoft.com/office/drawing/2014/main" id="{32CEB92D-3FE2-49E0-4B35-C05EB58CFC3F}"/>
              </a:ext>
            </a:extLst>
          </p:cNvPr>
          <p:cNvSpPr txBox="1"/>
          <p:nvPr/>
        </p:nvSpPr>
        <p:spPr>
          <a:xfrm>
            <a:off x="1600200" y="6032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S</a:t>
            </a:r>
          </a:p>
        </p:txBody>
      </p:sp>
      <p:sp>
        <p:nvSpPr>
          <p:cNvPr id="13" name="ckt label">
            <a:extLst>
              <a:ext uri="{FF2B5EF4-FFF2-40B4-BE49-F238E27FC236}">
                <a16:creationId xmlns:a16="http://schemas.microsoft.com/office/drawing/2014/main" id="{2C28F093-27EF-6597-9AB2-EE03332FE32A}"/>
              </a:ext>
            </a:extLst>
          </p:cNvPr>
          <p:cNvSpPr txBox="1"/>
          <p:nvPr/>
        </p:nvSpPr>
        <p:spPr>
          <a:xfrm>
            <a:off x="2235200" y="34924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+</a:t>
            </a:r>
          </a:p>
        </p:txBody>
      </p:sp>
      <p:sp>
        <p:nvSpPr>
          <p:cNvPr id="14" name="ckt label">
            <a:extLst>
              <a:ext uri="{FF2B5EF4-FFF2-40B4-BE49-F238E27FC236}">
                <a16:creationId xmlns:a16="http://schemas.microsoft.com/office/drawing/2014/main" id="{8F378EF3-57C5-00F1-26B1-CE5C15B7255A}"/>
              </a:ext>
            </a:extLst>
          </p:cNvPr>
          <p:cNvSpPr txBox="1"/>
          <p:nvPr/>
        </p:nvSpPr>
        <p:spPr>
          <a:xfrm>
            <a:off x="2082800" y="4508499"/>
            <a:ext cx="1016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0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</a:p>
        </p:txBody>
      </p:sp>
      <p:sp>
        <p:nvSpPr>
          <p:cNvPr id="15" name="ckt label">
            <a:extLst>
              <a:ext uri="{FF2B5EF4-FFF2-40B4-BE49-F238E27FC236}">
                <a16:creationId xmlns:a16="http://schemas.microsoft.com/office/drawing/2014/main" id="{AB928894-34CB-8A3C-E021-51EE23A01DD8}"/>
              </a:ext>
            </a:extLst>
          </p:cNvPr>
          <p:cNvSpPr txBox="1"/>
          <p:nvPr/>
        </p:nvSpPr>
        <p:spPr>
          <a:xfrm>
            <a:off x="2235200" y="55244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−</a:t>
            </a:r>
          </a:p>
        </p:txBody>
      </p:sp>
      <p:cxnSp>
        <p:nvCxnSpPr>
          <p:cNvPr id="16" name="ckt">
            <a:extLst>
              <a:ext uri="{FF2B5EF4-FFF2-40B4-BE49-F238E27FC236}">
                <a16:creationId xmlns:a16="http://schemas.microsoft.com/office/drawing/2014/main" id="{387939AE-BDFA-DDD1-D3E7-78BF656388CF}"/>
              </a:ext>
            </a:extLst>
          </p:cNvPr>
          <p:cNvCxnSpPr/>
          <p:nvPr/>
        </p:nvCxnSpPr>
        <p:spPr>
          <a:xfrm>
            <a:off x="2381250" y="6223000"/>
            <a:ext cx="310515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kt">
            <a:extLst>
              <a:ext uri="{FF2B5EF4-FFF2-40B4-BE49-F238E27FC236}">
                <a16:creationId xmlns:a16="http://schemas.microsoft.com/office/drawing/2014/main" id="{A6FCE4AE-AAF4-9600-EB7A-79E159694FE2}"/>
              </a:ext>
            </a:extLst>
          </p:cNvPr>
          <p:cNvSpPr/>
          <p:nvPr/>
        </p:nvSpPr>
        <p:spPr>
          <a:xfrm>
            <a:off x="5429250" y="6165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ckt">
            <a:extLst>
              <a:ext uri="{FF2B5EF4-FFF2-40B4-BE49-F238E27FC236}">
                <a16:creationId xmlns:a16="http://schemas.microsoft.com/office/drawing/2014/main" id="{7599F2E1-4EF7-8DC0-217C-7FF9B280EB98}"/>
              </a:ext>
            </a:extLst>
          </p:cNvPr>
          <p:cNvCxnSpPr/>
          <p:nvPr/>
        </p:nvCxnSpPr>
        <p:spPr>
          <a:xfrm>
            <a:off x="5486400" y="3175000"/>
            <a:ext cx="158115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kt">
            <a:extLst>
              <a:ext uri="{FF2B5EF4-FFF2-40B4-BE49-F238E27FC236}">
                <a16:creationId xmlns:a16="http://schemas.microsoft.com/office/drawing/2014/main" id="{FA964030-DEA1-5510-C9BB-0BF6C59F2406}"/>
              </a:ext>
            </a:extLst>
          </p:cNvPr>
          <p:cNvSpPr/>
          <p:nvPr/>
        </p:nvSpPr>
        <p:spPr>
          <a:xfrm>
            <a:off x="7067550" y="3105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kt label">
            <a:extLst>
              <a:ext uri="{FF2B5EF4-FFF2-40B4-BE49-F238E27FC236}">
                <a16:creationId xmlns:a16="http://schemas.microsoft.com/office/drawing/2014/main" id="{862EB3DA-B9CE-F0C4-101B-00F28616BAE8}"/>
              </a:ext>
            </a:extLst>
          </p:cNvPr>
          <p:cNvSpPr txBox="1"/>
          <p:nvPr/>
        </p:nvSpPr>
        <p:spPr>
          <a:xfrm>
            <a:off x="7315200" y="2984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D</a:t>
            </a:r>
          </a:p>
        </p:txBody>
      </p:sp>
      <p:cxnSp>
        <p:nvCxnSpPr>
          <p:cNvPr id="21" name="ckt">
            <a:extLst>
              <a:ext uri="{FF2B5EF4-FFF2-40B4-BE49-F238E27FC236}">
                <a16:creationId xmlns:a16="http://schemas.microsoft.com/office/drawing/2014/main" id="{456CA801-BC8E-C63A-9BA6-DB7DF58F2719}"/>
              </a:ext>
            </a:extLst>
          </p:cNvPr>
          <p:cNvCxnSpPr/>
          <p:nvPr/>
        </p:nvCxnSpPr>
        <p:spPr>
          <a:xfrm>
            <a:off x="5486400" y="3175000"/>
            <a:ext cx="0" cy="1193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kt">
            <a:extLst>
              <a:ext uri="{FF2B5EF4-FFF2-40B4-BE49-F238E27FC236}">
                <a16:creationId xmlns:a16="http://schemas.microsoft.com/office/drawing/2014/main" id="{0F43F32A-8251-FD2B-7340-472B6180C1B9}"/>
              </a:ext>
            </a:extLst>
          </p:cNvPr>
          <p:cNvCxnSpPr/>
          <p:nvPr/>
        </p:nvCxnSpPr>
        <p:spPr>
          <a:xfrm>
            <a:off x="5486400" y="5029200"/>
            <a:ext cx="0" cy="1193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kt">
            <a:extLst>
              <a:ext uri="{FF2B5EF4-FFF2-40B4-BE49-F238E27FC236}">
                <a16:creationId xmlns:a16="http://schemas.microsoft.com/office/drawing/2014/main" id="{0836F66B-27C8-31BD-36A2-C11C476C8E5A}"/>
              </a:ext>
            </a:extLst>
          </p:cNvPr>
          <p:cNvSpPr/>
          <p:nvPr/>
        </p:nvSpPr>
        <p:spPr>
          <a:xfrm rot="2700000">
            <a:off x="5248656" y="4461256"/>
            <a:ext cx="475488" cy="475488"/>
          </a:xfrm>
          <a:prstGeom prst="rect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ckt">
            <a:extLst>
              <a:ext uri="{FF2B5EF4-FFF2-40B4-BE49-F238E27FC236}">
                <a16:creationId xmlns:a16="http://schemas.microsoft.com/office/drawing/2014/main" id="{5206E7FE-D334-9BEF-FD04-BCF7F0DE5E79}"/>
              </a:ext>
            </a:extLst>
          </p:cNvPr>
          <p:cNvCxnSpPr/>
          <p:nvPr/>
        </p:nvCxnSpPr>
        <p:spPr>
          <a:xfrm>
            <a:off x="5486400" y="4533900"/>
            <a:ext cx="0" cy="346710"/>
          </a:xfrm>
          <a:prstGeom prst="line">
            <a:avLst/>
          </a:prstGeom>
          <a:ln w="22225">
            <a:solidFill>
              <a:srgbClr val="1524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kt label">
            <a:extLst>
              <a:ext uri="{FF2B5EF4-FFF2-40B4-BE49-F238E27FC236}">
                <a16:creationId xmlns:a16="http://schemas.microsoft.com/office/drawing/2014/main" id="{DA160754-7296-E9E3-1AC0-7E52F4CC2F77}"/>
              </a:ext>
            </a:extLst>
          </p:cNvPr>
          <p:cNvSpPr txBox="1"/>
          <p:nvPr/>
        </p:nvSpPr>
        <p:spPr>
          <a:xfrm>
            <a:off x="5994400" y="3394074"/>
            <a:ext cx="762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</a:p>
        </p:txBody>
      </p:sp>
      <p:sp>
        <p:nvSpPr>
          <p:cNvPr id="26" name="point @1">
            <a:extLst>
              <a:ext uri="{FF2B5EF4-FFF2-40B4-BE49-F238E27FC236}">
                <a16:creationId xmlns:a16="http://schemas.microsoft.com/office/drawing/2014/main" id="{A366DDC1-5514-8C0C-B3DF-5B32EA51E4DE}"/>
              </a:ext>
            </a:extLst>
          </p:cNvPr>
          <p:cNvSpPr txBox="1"/>
          <p:nvPr/>
        </p:nvSpPr>
        <p:spPr>
          <a:xfrm>
            <a:off x="9652000" y="2349500"/>
            <a:ext cx="7721600" cy="734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In saturation the MOSFET acts as a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voltage-controlled current source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from drain to source.</a:t>
            </a:r>
          </a:p>
        </p:txBody>
      </p:sp>
      <p:sp>
        <p:nvSpPr>
          <p:cNvPr id="30" name="chrome page">
            <a:extLst>
              <a:ext uri="{FF2B5EF4-FFF2-40B4-BE49-F238E27FC236}">
                <a16:creationId xmlns:a16="http://schemas.microsoft.com/office/drawing/2014/main" id="{606DA6F6-830E-57C5-5091-6155A5CF2AD4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hrome page">
            <a:extLst>
              <a:ext uri="{FF2B5EF4-FFF2-40B4-BE49-F238E27FC236}">
                <a16:creationId xmlns:a16="http://schemas.microsoft.com/office/drawing/2014/main" id="{970C97F5-CFF3-46E2-16FD-99499B04A059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9290085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arge-signal model in saturati s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76A3E00-C904-4DFE-C3CB-133D542D9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Large-signal model in saturation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4DFB4B23-90DF-6B89-7179-01FC5A32C46A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1D10C530-FC48-AD1B-C656-CE39FF2DEC00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81F75A04-6440-9344-2991-F17F14C91137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drawing card">
            <a:extLst>
              <a:ext uri="{FF2B5EF4-FFF2-40B4-BE49-F238E27FC236}">
                <a16:creationId xmlns:a16="http://schemas.microsoft.com/office/drawing/2014/main" id="{152628FF-DE44-7F99-7C7C-1578A683CAA8}"/>
              </a:ext>
            </a:extLst>
          </p:cNvPr>
          <p:cNvSpPr/>
          <p:nvPr/>
        </p:nvSpPr>
        <p:spPr>
          <a:xfrm>
            <a:off x="914400" y="2095500"/>
            <a:ext cx="7874000" cy="508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rawing card">
            <a:extLst>
              <a:ext uri="{FF2B5EF4-FFF2-40B4-BE49-F238E27FC236}">
                <a16:creationId xmlns:a16="http://schemas.microsoft.com/office/drawing/2014/main" id="{8DF1E28D-42B2-B459-9184-605548B22267}"/>
              </a:ext>
            </a:extLst>
          </p:cNvPr>
          <p:cNvSpPr/>
          <p:nvPr/>
        </p:nvSpPr>
        <p:spPr>
          <a:xfrm>
            <a:off x="914400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kt">
            <a:extLst>
              <a:ext uri="{FF2B5EF4-FFF2-40B4-BE49-F238E27FC236}">
                <a16:creationId xmlns:a16="http://schemas.microsoft.com/office/drawing/2014/main" id="{94AF10C4-8E96-9DCF-022B-3413D3DEACB4}"/>
              </a:ext>
            </a:extLst>
          </p:cNvPr>
          <p:cNvSpPr/>
          <p:nvPr/>
        </p:nvSpPr>
        <p:spPr>
          <a:xfrm>
            <a:off x="2241550" y="3105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kt label">
            <a:extLst>
              <a:ext uri="{FF2B5EF4-FFF2-40B4-BE49-F238E27FC236}">
                <a16:creationId xmlns:a16="http://schemas.microsoft.com/office/drawing/2014/main" id="{B5A40FAE-0584-9C8B-BC11-E8029933B37F}"/>
              </a:ext>
            </a:extLst>
          </p:cNvPr>
          <p:cNvSpPr txBox="1"/>
          <p:nvPr/>
        </p:nvSpPr>
        <p:spPr>
          <a:xfrm>
            <a:off x="1600200" y="2984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G</a:t>
            </a:r>
          </a:p>
        </p:txBody>
      </p:sp>
      <p:sp>
        <p:nvSpPr>
          <p:cNvPr id="10" name="ckt label">
            <a:extLst>
              <a:ext uri="{FF2B5EF4-FFF2-40B4-BE49-F238E27FC236}">
                <a16:creationId xmlns:a16="http://schemas.microsoft.com/office/drawing/2014/main" id="{74D763D4-CCA7-8DFF-C29D-1DE1F9A0CE2E}"/>
              </a:ext>
            </a:extLst>
          </p:cNvPr>
          <p:cNvSpPr txBox="1"/>
          <p:nvPr/>
        </p:nvSpPr>
        <p:spPr>
          <a:xfrm>
            <a:off x="2489200" y="3063874"/>
            <a:ext cx="1397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G</a:t>
            </a:r>
            <a:r>
              <a:rPr lang="en-US" sz="1700">
                <a:solidFill>
                  <a:srgbClr val="4D5B54"/>
                </a:solidFill>
                <a:latin typeface="DM Sans" pitchFamily="2" charset="0"/>
              </a:rPr>
              <a:t> = 0</a:t>
            </a:r>
          </a:p>
        </p:txBody>
      </p:sp>
      <p:sp>
        <p:nvSpPr>
          <p:cNvPr id="11" name="ckt">
            <a:extLst>
              <a:ext uri="{FF2B5EF4-FFF2-40B4-BE49-F238E27FC236}">
                <a16:creationId xmlns:a16="http://schemas.microsoft.com/office/drawing/2014/main" id="{05319BF0-A7D5-48C4-32F0-A378D5BEC1F6}"/>
              </a:ext>
            </a:extLst>
          </p:cNvPr>
          <p:cNvSpPr/>
          <p:nvPr/>
        </p:nvSpPr>
        <p:spPr>
          <a:xfrm>
            <a:off x="2241550" y="6153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kt label">
            <a:extLst>
              <a:ext uri="{FF2B5EF4-FFF2-40B4-BE49-F238E27FC236}">
                <a16:creationId xmlns:a16="http://schemas.microsoft.com/office/drawing/2014/main" id="{32CEB92D-3FE2-49E0-4B35-C05EB58CFC3F}"/>
              </a:ext>
            </a:extLst>
          </p:cNvPr>
          <p:cNvSpPr txBox="1"/>
          <p:nvPr/>
        </p:nvSpPr>
        <p:spPr>
          <a:xfrm>
            <a:off x="1600200" y="6032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S</a:t>
            </a:r>
          </a:p>
        </p:txBody>
      </p:sp>
      <p:sp>
        <p:nvSpPr>
          <p:cNvPr id="13" name="ckt label">
            <a:extLst>
              <a:ext uri="{FF2B5EF4-FFF2-40B4-BE49-F238E27FC236}">
                <a16:creationId xmlns:a16="http://schemas.microsoft.com/office/drawing/2014/main" id="{2C28F093-27EF-6597-9AB2-EE03332FE32A}"/>
              </a:ext>
            </a:extLst>
          </p:cNvPr>
          <p:cNvSpPr txBox="1"/>
          <p:nvPr/>
        </p:nvSpPr>
        <p:spPr>
          <a:xfrm>
            <a:off x="2235200" y="34924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+</a:t>
            </a:r>
          </a:p>
        </p:txBody>
      </p:sp>
      <p:sp>
        <p:nvSpPr>
          <p:cNvPr id="14" name="ckt label">
            <a:extLst>
              <a:ext uri="{FF2B5EF4-FFF2-40B4-BE49-F238E27FC236}">
                <a16:creationId xmlns:a16="http://schemas.microsoft.com/office/drawing/2014/main" id="{8F378EF3-57C5-00F1-26B1-CE5C15B7255A}"/>
              </a:ext>
            </a:extLst>
          </p:cNvPr>
          <p:cNvSpPr txBox="1"/>
          <p:nvPr/>
        </p:nvSpPr>
        <p:spPr>
          <a:xfrm>
            <a:off x="2082800" y="4508499"/>
            <a:ext cx="1016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0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</a:p>
        </p:txBody>
      </p:sp>
      <p:sp>
        <p:nvSpPr>
          <p:cNvPr id="15" name="ckt label">
            <a:extLst>
              <a:ext uri="{FF2B5EF4-FFF2-40B4-BE49-F238E27FC236}">
                <a16:creationId xmlns:a16="http://schemas.microsoft.com/office/drawing/2014/main" id="{AB928894-34CB-8A3C-E021-51EE23A01DD8}"/>
              </a:ext>
            </a:extLst>
          </p:cNvPr>
          <p:cNvSpPr txBox="1"/>
          <p:nvPr/>
        </p:nvSpPr>
        <p:spPr>
          <a:xfrm>
            <a:off x="2235200" y="55244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−</a:t>
            </a:r>
          </a:p>
        </p:txBody>
      </p:sp>
      <p:cxnSp>
        <p:nvCxnSpPr>
          <p:cNvPr id="16" name="ckt">
            <a:extLst>
              <a:ext uri="{FF2B5EF4-FFF2-40B4-BE49-F238E27FC236}">
                <a16:creationId xmlns:a16="http://schemas.microsoft.com/office/drawing/2014/main" id="{387939AE-BDFA-DDD1-D3E7-78BF656388CF}"/>
              </a:ext>
            </a:extLst>
          </p:cNvPr>
          <p:cNvCxnSpPr/>
          <p:nvPr/>
        </p:nvCxnSpPr>
        <p:spPr>
          <a:xfrm>
            <a:off x="2381250" y="6223000"/>
            <a:ext cx="310515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kt">
            <a:extLst>
              <a:ext uri="{FF2B5EF4-FFF2-40B4-BE49-F238E27FC236}">
                <a16:creationId xmlns:a16="http://schemas.microsoft.com/office/drawing/2014/main" id="{A6FCE4AE-AAF4-9600-EB7A-79E159694FE2}"/>
              </a:ext>
            </a:extLst>
          </p:cNvPr>
          <p:cNvSpPr/>
          <p:nvPr/>
        </p:nvSpPr>
        <p:spPr>
          <a:xfrm>
            <a:off x="5429250" y="6165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ckt">
            <a:extLst>
              <a:ext uri="{FF2B5EF4-FFF2-40B4-BE49-F238E27FC236}">
                <a16:creationId xmlns:a16="http://schemas.microsoft.com/office/drawing/2014/main" id="{7599F2E1-4EF7-8DC0-217C-7FF9B280EB98}"/>
              </a:ext>
            </a:extLst>
          </p:cNvPr>
          <p:cNvCxnSpPr/>
          <p:nvPr/>
        </p:nvCxnSpPr>
        <p:spPr>
          <a:xfrm>
            <a:off x="5486400" y="3175000"/>
            <a:ext cx="158115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kt">
            <a:extLst>
              <a:ext uri="{FF2B5EF4-FFF2-40B4-BE49-F238E27FC236}">
                <a16:creationId xmlns:a16="http://schemas.microsoft.com/office/drawing/2014/main" id="{FA964030-DEA1-5510-C9BB-0BF6C59F2406}"/>
              </a:ext>
            </a:extLst>
          </p:cNvPr>
          <p:cNvSpPr/>
          <p:nvPr/>
        </p:nvSpPr>
        <p:spPr>
          <a:xfrm>
            <a:off x="7067550" y="3105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kt label">
            <a:extLst>
              <a:ext uri="{FF2B5EF4-FFF2-40B4-BE49-F238E27FC236}">
                <a16:creationId xmlns:a16="http://schemas.microsoft.com/office/drawing/2014/main" id="{862EB3DA-B9CE-F0C4-101B-00F28616BAE8}"/>
              </a:ext>
            </a:extLst>
          </p:cNvPr>
          <p:cNvSpPr txBox="1"/>
          <p:nvPr/>
        </p:nvSpPr>
        <p:spPr>
          <a:xfrm>
            <a:off x="7315200" y="2984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D</a:t>
            </a:r>
          </a:p>
        </p:txBody>
      </p:sp>
      <p:cxnSp>
        <p:nvCxnSpPr>
          <p:cNvPr id="21" name="ckt">
            <a:extLst>
              <a:ext uri="{FF2B5EF4-FFF2-40B4-BE49-F238E27FC236}">
                <a16:creationId xmlns:a16="http://schemas.microsoft.com/office/drawing/2014/main" id="{456CA801-BC8E-C63A-9BA6-DB7DF58F2719}"/>
              </a:ext>
            </a:extLst>
          </p:cNvPr>
          <p:cNvCxnSpPr/>
          <p:nvPr/>
        </p:nvCxnSpPr>
        <p:spPr>
          <a:xfrm>
            <a:off x="5486400" y="3175000"/>
            <a:ext cx="0" cy="1193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kt">
            <a:extLst>
              <a:ext uri="{FF2B5EF4-FFF2-40B4-BE49-F238E27FC236}">
                <a16:creationId xmlns:a16="http://schemas.microsoft.com/office/drawing/2014/main" id="{0F43F32A-8251-FD2B-7340-472B6180C1B9}"/>
              </a:ext>
            </a:extLst>
          </p:cNvPr>
          <p:cNvCxnSpPr/>
          <p:nvPr/>
        </p:nvCxnSpPr>
        <p:spPr>
          <a:xfrm>
            <a:off x="5486400" y="5029200"/>
            <a:ext cx="0" cy="1193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kt">
            <a:extLst>
              <a:ext uri="{FF2B5EF4-FFF2-40B4-BE49-F238E27FC236}">
                <a16:creationId xmlns:a16="http://schemas.microsoft.com/office/drawing/2014/main" id="{0836F66B-27C8-31BD-36A2-C11C476C8E5A}"/>
              </a:ext>
            </a:extLst>
          </p:cNvPr>
          <p:cNvSpPr/>
          <p:nvPr/>
        </p:nvSpPr>
        <p:spPr>
          <a:xfrm rot="2700000">
            <a:off x="5248656" y="4461256"/>
            <a:ext cx="475488" cy="475488"/>
          </a:xfrm>
          <a:prstGeom prst="rect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ckt">
            <a:extLst>
              <a:ext uri="{FF2B5EF4-FFF2-40B4-BE49-F238E27FC236}">
                <a16:creationId xmlns:a16="http://schemas.microsoft.com/office/drawing/2014/main" id="{5206E7FE-D334-9BEF-FD04-BCF7F0DE5E79}"/>
              </a:ext>
            </a:extLst>
          </p:cNvPr>
          <p:cNvCxnSpPr/>
          <p:nvPr/>
        </p:nvCxnSpPr>
        <p:spPr>
          <a:xfrm>
            <a:off x="5486400" y="4533900"/>
            <a:ext cx="0" cy="346710"/>
          </a:xfrm>
          <a:prstGeom prst="line">
            <a:avLst/>
          </a:prstGeom>
          <a:ln w="22225">
            <a:solidFill>
              <a:srgbClr val="1524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kt label">
            <a:extLst>
              <a:ext uri="{FF2B5EF4-FFF2-40B4-BE49-F238E27FC236}">
                <a16:creationId xmlns:a16="http://schemas.microsoft.com/office/drawing/2014/main" id="{DA160754-7296-E9E3-1AC0-7E52F4CC2F77}"/>
              </a:ext>
            </a:extLst>
          </p:cNvPr>
          <p:cNvSpPr txBox="1"/>
          <p:nvPr/>
        </p:nvSpPr>
        <p:spPr>
          <a:xfrm>
            <a:off x="5994400" y="3394074"/>
            <a:ext cx="762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</a:p>
        </p:txBody>
      </p:sp>
      <p:sp>
        <p:nvSpPr>
          <p:cNvPr id="26" name="point @1">
            <a:extLst>
              <a:ext uri="{FF2B5EF4-FFF2-40B4-BE49-F238E27FC236}">
                <a16:creationId xmlns:a16="http://schemas.microsoft.com/office/drawing/2014/main" id="{A366DDC1-5514-8C0C-B3DF-5B32EA51E4DE}"/>
              </a:ext>
            </a:extLst>
          </p:cNvPr>
          <p:cNvSpPr txBox="1"/>
          <p:nvPr/>
        </p:nvSpPr>
        <p:spPr>
          <a:xfrm>
            <a:off x="9652000" y="2349500"/>
            <a:ext cx="7721600" cy="734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In saturation the MOSFET acts as a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voltage-controlled current source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from drain to source.</a:t>
            </a:r>
          </a:p>
        </p:txBody>
      </p:sp>
      <p:sp>
        <p:nvSpPr>
          <p:cNvPr id="27" name="point @2">
            <a:extLst>
              <a:ext uri="{FF2B5EF4-FFF2-40B4-BE49-F238E27FC236}">
                <a16:creationId xmlns:a16="http://schemas.microsoft.com/office/drawing/2014/main" id="{D612FE12-06F2-B26E-B95B-339B369838F3}"/>
              </a:ext>
            </a:extLst>
          </p:cNvPr>
          <p:cNvSpPr txBox="1"/>
          <p:nvPr/>
        </p:nvSpPr>
        <p:spPr>
          <a:xfrm>
            <a:off x="9652000" y="3363525"/>
            <a:ext cx="7721600" cy="36298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The gate draws no current: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= 0.</a:t>
            </a:r>
          </a:p>
        </p:txBody>
      </p:sp>
      <p:sp>
        <p:nvSpPr>
          <p:cNvPr id="30" name="chrome page">
            <a:extLst>
              <a:ext uri="{FF2B5EF4-FFF2-40B4-BE49-F238E27FC236}">
                <a16:creationId xmlns:a16="http://schemas.microsoft.com/office/drawing/2014/main" id="{5B52DBF0-FAF9-F29D-8270-34743C110E03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hrome page">
            <a:extLst>
              <a:ext uri="{FF2B5EF4-FFF2-40B4-BE49-F238E27FC236}">
                <a16:creationId xmlns:a16="http://schemas.microsoft.com/office/drawing/2014/main" id="{03E78214-E2FD-6E55-36F7-121B460C255C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366060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arge-signal model in saturati s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76A3E00-C904-4DFE-C3CB-133D542D9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Large-signal model in saturation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4DFB4B23-90DF-6B89-7179-01FC5A32C46A}"/>
              </a:ext>
            </a:extLst>
          </p:cNvPr>
          <p:cNvSpPr/>
          <p:nvPr/>
        </p:nvSpPr>
        <p:spPr>
          <a:xfrm>
            <a:off x="914400" y="279400"/>
            <a:ext cx="3014218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2 · I–V CHARACTERISTICS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1D10C530-FC48-AD1B-C656-CE39FF2DEC00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81F75A04-6440-9344-2991-F17F14C91137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drawing card">
            <a:extLst>
              <a:ext uri="{FF2B5EF4-FFF2-40B4-BE49-F238E27FC236}">
                <a16:creationId xmlns:a16="http://schemas.microsoft.com/office/drawing/2014/main" id="{152628FF-DE44-7F99-7C7C-1578A683CAA8}"/>
              </a:ext>
            </a:extLst>
          </p:cNvPr>
          <p:cNvSpPr/>
          <p:nvPr/>
        </p:nvSpPr>
        <p:spPr>
          <a:xfrm>
            <a:off x="914400" y="2095500"/>
            <a:ext cx="7874000" cy="508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rawing card">
            <a:extLst>
              <a:ext uri="{FF2B5EF4-FFF2-40B4-BE49-F238E27FC236}">
                <a16:creationId xmlns:a16="http://schemas.microsoft.com/office/drawing/2014/main" id="{8DF1E28D-42B2-B459-9184-605548B22267}"/>
              </a:ext>
            </a:extLst>
          </p:cNvPr>
          <p:cNvSpPr/>
          <p:nvPr/>
        </p:nvSpPr>
        <p:spPr>
          <a:xfrm>
            <a:off x="914400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kt">
            <a:extLst>
              <a:ext uri="{FF2B5EF4-FFF2-40B4-BE49-F238E27FC236}">
                <a16:creationId xmlns:a16="http://schemas.microsoft.com/office/drawing/2014/main" id="{94AF10C4-8E96-9DCF-022B-3413D3DEACB4}"/>
              </a:ext>
            </a:extLst>
          </p:cNvPr>
          <p:cNvSpPr/>
          <p:nvPr/>
        </p:nvSpPr>
        <p:spPr>
          <a:xfrm>
            <a:off x="2241550" y="3105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kt label">
            <a:extLst>
              <a:ext uri="{FF2B5EF4-FFF2-40B4-BE49-F238E27FC236}">
                <a16:creationId xmlns:a16="http://schemas.microsoft.com/office/drawing/2014/main" id="{B5A40FAE-0584-9C8B-BC11-E8029933B37F}"/>
              </a:ext>
            </a:extLst>
          </p:cNvPr>
          <p:cNvSpPr txBox="1"/>
          <p:nvPr/>
        </p:nvSpPr>
        <p:spPr>
          <a:xfrm>
            <a:off x="1600200" y="2984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G</a:t>
            </a:r>
          </a:p>
        </p:txBody>
      </p:sp>
      <p:sp>
        <p:nvSpPr>
          <p:cNvPr id="10" name="ckt label">
            <a:extLst>
              <a:ext uri="{FF2B5EF4-FFF2-40B4-BE49-F238E27FC236}">
                <a16:creationId xmlns:a16="http://schemas.microsoft.com/office/drawing/2014/main" id="{74D763D4-CCA7-8DFF-C29D-1DE1F9A0CE2E}"/>
              </a:ext>
            </a:extLst>
          </p:cNvPr>
          <p:cNvSpPr txBox="1"/>
          <p:nvPr/>
        </p:nvSpPr>
        <p:spPr>
          <a:xfrm>
            <a:off x="2489200" y="3063874"/>
            <a:ext cx="1397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G</a:t>
            </a:r>
            <a:r>
              <a:rPr lang="en-US" sz="1700">
                <a:solidFill>
                  <a:srgbClr val="4D5B54"/>
                </a:solidFill>
                <a:latin typeface="DM Sans" pitchFamily="2" charset="0"/>
              </a:rPr>
              <a:t> = 0</a:t>
            </a:r>
          </a:p>
        </p:txBody>
      </p:sp>
      <p:sp>
        <p:nvSpPr>
          <p:cNvPr id="11" name="ckt">
            <a:extLst>
              <a:ext uri="{FF2B5EF4-FFF2-40B4-BE49-F238E27FC236}">
                <a16:creationId xmlns:a16="http://schemas.microsoft.com/office/drawing/2014/main" id="{05319BF0-A7D5-48C4-32F0-A378D5BEC1F6}"/>
              </a:ext>
            </a:extLst>
          </p:cNvPr>
          <p:cNvSpPr/>
          <p:nvPr/>
        </p:nvSpPr>
        <p:spPr>
          <a:xfrm>
            <a:off x="2241550" y="6153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kt label">
            <a:extLst>
              <a:ext uri="{FF2B5EF4-FFF2-40B4-BE49-F238E27FC236}">
                <a16:creationId xmlns:a16="http://schemas.microsoft.com/office/drawing/2014/main" id="{32CEB92D-3FE2-49E0-4B35-C05EB58CFC3F}"/>
              </a:ext>
            </a:extLst>
          </p:cNvPr>
          <p:cNvSpPr txBox="1"/>
          <p:nvPr/>
        </p:nvSpPr>
        <p:spPr>
          <a:xfrm>
            <a:off x="1600200" y="6032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S</a:t>
            </a:r>
          </a:p>
        </p:txBody>
      </p:sp>
      <p:sp>
        <p:nvSpPr>
          <p:cNvPr id="13" name="ckt label">
            <a:extLst>
              <a:ext uri="{FF2B5EF4-FFF2-40B4-BE49-F238E27FC236}">
                <a16:creationId xmlns:a16="http://schemas.microsoft.com/office/drawing/2014/main" id="{2C28F093-27EF-6597-9AB2-EE03332FE32A}"/>
              </a:ext>
            </a:extLst>
          </p:cNvPr>
          <p:cNvSpPr txBox="1"/>
          <p:nvPr/>
        </p:nvSpPr>
        <p:spPr>
          <a:xfrm>
            <a:off x="2235200" y="34924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+</a:t>
            </a:r>
          </a:p>
        </p:txBody>
      </p:sp>
      <p:sp>
        <p:nvSpPr>
          <p:cNvPr id="14" name="ckt label">
            <a:extLst>
              <a:ext uri="{FF2B5EF4-FFF2-40B4-BE49-F238E27FC236}">
                <a16:creationId xmlns:a16="http://schemas.microsoft.com/office/drawing/2014/main" id="{8F378EF3-57C5-00F1-26B1-CE5C15B7255A}"/>
              </a:ext>
            </a:extLst>
          </p:cNvPr>
          <p:cNvSpPr txBox="1"/>
          <p:nvPr/>
        </p:nvSpPr>
        <p:spPr>
          <a:xfrm>
            <a:off x="2082800" y="4508499"/>
            <a:ext cx="1016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0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</a:p>
        </p:txBody>
      </p:sp>
      <p:sp>
        <p:nvSpPr>
          <p:cNvPr id="15" name="ckt label">
            <a:extLst>
              <a:ext uri="{FF2B5EF4-FFF2-40B4-BE49-F238E27FC236}">
                <a16:creationId xmlns:a16="http://schemas.microsoft.com/office/drawing/2014/main" id="{AB928894-34CB-8A3C-E021-51EE23A01DD8}"/>
              </a:ext>
            </a:extLst>
          </p:cNvPr>
          <p:cNvSpPr txBox="1"/>
          <p:nvPr/>
        </p:nvSpPr>
        <p:spPr>
          <a:xfrm>
            <a:off x="2235200" y="55244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−</a:t>
            </a:r>
          </a:p>
        </p:txBody>
      </p:sp>
      <p:cxnSp>
        <p:nvCxnSpPr>
          <p:cNvPr id="16" name="ckt">
            <a:extLst>
              <a:ext uri="{FF2B5EF4-FFF2-40B4-BE49-F238E27FC236}">
                <a16:creationId xmlns:a16="http://schemas.microsoft.com/office/drawing/2014/main" id="{387939AE-BDFA-DDD1-D3E7-78BF656388CF}"/>
              </a:ext>
            </a:extLst>
          </p:cNvPr>
          <p:cNvCxnSpPr/>
          <p:nvPr/>
        </p:nvCxnSpPr>
        <p:spPr>
          <a:xfrm>
            <a:off x="2381250" y="6223000"/>
            <a:ext cx="310515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kt">
            <a:extLst>
              <a:ext uri="{FF2B5EF4-FFF2-40B4-BE49-F238E27FC236}">
                <a16:creationId xmlns:a16="http://schemas.microsoft.com/office/drawing/2014/main" id="{A6FCE4AE-AAF4-9600-EB7A-79E159694FE2}"/>
              </a:ext>
            </a:extLst>
          </p:cNvPr>
          <p:cNvSpPr/>
          <p:nvPr/>
        </p:nvSpPr>
        <p:spPr>
          <a:xfrm>
            <a:off x="5429250" y="6165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ckt">
            <a:extLst>
              <a:ext uri="{FF2B5EF4-FFF2-40B4-BE49-F238E27FC236}">
                <a16:creationId xmlns:a16="http://schemas.microsoft.com/office/drawing/2014/main" id="{7599F2E1-4EF7-8DC0-217C-7FF9B280EB98}"/>
              </a:ext>
            </a:extLst>
          </p:cNvPr>
          <p:cNvCxnSpPr/>
          <p:nvPr/>
        </p:nvCxnSpPr>
        <p:spPr>
          <a:xfrm>
            <a:off x="5486400" y="3175000"/>
            <a:ext cx="158115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kt">
            <a:extLst>
              <a:ext uri="{FF2B5EF4-FFF2-40B4-BE49-F238E27FC236}">
                <a16:creationId xmlns:a16="http://schemas.microsoft.com/office/drawing/2014/main" id="{FA964030-DEA1-5510-C9BB-0BF6C59F2406}"/>
              </a:ext>
            </a:extLst>
          </p:cNvPr>
          <p:cNvSpPr/>
          <p:nvPr/>
        </p:nvSpPr>
        <p:spPr>
          <a:xfrm>
            <a:off x="7067550" y="3105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kt label">
            <a:extLst>
              <a:ext uri="{FF2B5EF4-FFF2-40B4-BE49-F238E27FC236}">
                <a16:creationId xmlns:a16="http://schemas.microsoft.com/office/drawing/2014/main" id="{862EB3DA-B9CE-F0C4-101B-00F28616BAE8}"/>
              </a:ext>
            </a:extLst>
          </p:cNvPr>
          <p:cNvSpPr txBox="1"/>
          <p:nvPr/>
        </p:nvSpPr>
        <p:spPr>
          <a:xfrm>
            <a:off x="7315200" y="2984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D</a:t>
            </a:r>
          </a:p>
        </p:txBody>
      </p:sp>
      <p:cxnSp>
        <p:nvCxnSpPr>
          <p:cNvPr id="21" name="ckt">
            <a:extLst>
              <a:ext uri="{FF2B5EF4-FFF2-40B4-BE49-F238E27FC236}">
                <a16:creationId xmlns:a16="http://schemas.microsoft.com/office/drawing/2014/main" id="{456CA801-BC8E-C63A-9BA6-DB7DF58F2719}"/>
              </a:ext>
            </a:extLst>
          </p:cNvPr>
          <p:cNvCxnSpPr/>
          <p:nvPr/>
        </p:nvCxnSpPr>
        <p:spPr>
          <a:xfrm>
            <a:off x="5486400" y="3175000"/>
            <a:ext cx="0" cy="1193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kt">
            <a:extLst>
              <a:ext uri="{FF2B5EF4-FFF2-40B4-BE49-F238E27FC236}">
                <a16:creationId xmlns:a16="http://schemas.microsoft.com/office/drawing/2014/main" id="{0F43F32A-8251-FD2B-7340-472B6180C1B9}"/>
              </a:ext>
            </a:extLst>
          </p:cNvPr>
          <p:cNvCxnSpPr/>
          <p:nvPr/>
        </p:nvCxnSpPr>
        <p:spPr>
          <a:xfrm>
            <a:off x="5486400" y="5029200"/>
            <a:ext cx="0" cy="1193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kt">
            <a:extLst>
              <a:ext uri="{FF2B5EF4-FFF2-40B4-BE49-F238E27FC236}">
                <a16:creationId xmlns:a16="http://schemas.microsoft.com/office/drawing/2014/main" id="{0836F66B-27C8-31BD-36A2-C11C476C8E5A}"/>
              </a:ext>
            </a:extLst>
          </p:cNvPr>
          <p:cNvSpPr/>
          <p:nvPr/>
        </p:nvSpPr>
        <p:spPr>
          <a:xfrm rot="2700000">
            <a:off x="5248656" y="4461256"/>
            <a:ext cx="475488" cy="475488"/>
          </a:xfrm>
          <a:prstGeom prst="rect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ckt">
            <a:extLst>
              <a:ext uri="{FF2B5EF4-FFF2-40B4-BE49-F238E27FC236}">
                <a16:creationId xmlns:a16="http://schemas.microsoft.com/office/drawing/2014/main" id="{5206E7FE-D334-9BEF-FD04-BCF7F0DE5E79}"/>
              </a:ext>
            </a:extLst>
          </p:cNvPr>
          <p:cNvCxnSpPr/>
          <p:nvPr/>
        </p:nvCxnSpPr>
        <p:spPr>
          <a:xfrm>
            <a:off x="5486400" y="4533900"/>
            <a:ext cx="0" cy="346710"/>
          </a:xfrm>
          <a:prstGeom prst="line">
            <a:avLst/>
          </a:prstGeom>
          <a:ln w="22225">
            <a:solidFill>
              <a:srgbClr val="1524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kt label">
            <a:extLst>
              <a:ext uri="{FF2B5EF4-FFF2-40B4-BE49-F238E27FC236}">
                <a16:creationId xmlns:a16="http://schemas.microsoft.com/office/drawing/2014/main" id="{DA160754-7296-E9E3-1AC0-7E52F4CC2F77}"/>
              </a:ext>
            </a:extLst>
          </p:cNvPr>
          <p:cNvSpPr txBox="1"/>
          <p:nvPr/>
        </p:nvSpPr>
        <p:spPr>
          <a:xfrm>
            <a:off x="5994400" y="3394074"/>
            <a:ext cx="762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</a:p>
        </p:txBody>
      </p:sp>
      <p:sp>
        <p:nvSpPr>
          <p:cNvPr id="26" name="point @1">
            <a:extLst>
              <a:ext uri="{FF2B5EF4-FFF2-40B4-BE49-F238E27FC236}">
                <a16:creationId xmlns:a16="http://schemas.microsoft.com/office/drawing/2014/main" id="{A366DDC1-5514-8C0C-B3DF-5B32EA51E4DE}"/>
              </a:ext>
            </a:extLst>
          </p:cNvPr>
          <p:cNvSpPr txBox="1"/>
          <p:nvPr/>
        </p:nvSpPr>
        <p:spPr>
          <a:xfrm>
            <a:off x="9652000" y="2349500"/>
            <a:ext cx="7721600" cy="734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In saturation the MOSFET acts as a </a:t>
            </a:r>
            <a:r>
              <a:rPr lang="en-US" sz="2300" b="1">
                <a:solidFill>
                  <a:srgbClr val="15241D"/>
                </a:solidFill>
                <a:latin typeface="DM Sans" pitchFamily="2" charset="0"/>
              </a:rPr>
              <a:t>voltage-controlled current source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from drain to source.</a:t>
            </a:r>
          </a:p>
        </p:txBody>
      </p:sp>
      <p:sp>
        <p:nvSpPr>
          <p:cNvPr id="27" name="point @2">
            <a:extLst>
              <a:ext uri="{FF2B5EF4-FFF2-40B4-BE49-F238E27FC236}">
                <a16:creationId xmlns:a16="http://schemas.microsoft.com/office/drawing/2014/main" id="{D612FE12-06F2-B26E-B95B-339B369838F3}"/>
              </a:ext>
            </a:extLst>
          </p:cNvPr>
          <p:cNvSpPr txBox="1"/>
          <p:nvPr/>
        </p:nvSpPr>
        <p:spPr>
          <a:xfrm>
            <a:off x="9652000" y="3363525"/>
            <a:ext cx="7721600" cy="36298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The gate draws no current: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= 0.</a:t>
            </a:r>
          </a:p>
        </p:txBody>
      </p:sp>
      <p:sp>
        <p:nvSpPr>
          <p:cNvPr id="28" name="point @3">
            <a:extLst>
              <a:ext uri="{FF2B5EF4-FFF2-40B4-BE49-F238E27FC236}">
                <a16:creationId xmlns:a16="http://schemas.microsoft.com/office/drawing/2014/main" id="{6523C48A-B060-6A5F-B461-5EAE128C0451}"/>
              </a:ext>
            </a:extLst>
          </p:cNvPr>
          <p:cNvSpPr txBox="1"/>
          <p:nvPr/>
        </p:nvSpPr>
        <p:spPr>
          <a:xfrm>
            <a:off x="9652000" y="4005909"/>
            <a:ext cx="7721600" cy="36298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The drain current is set by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alone: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eq @3">
                <a:extLst>
                  <a:ext uri="{FF2B5EF4-FFF2-40B4-BE49-F238E27FC236}">
                    <a16:creationId xmlns:a16="http://schemas.microsoft.com/office/drawing/2014/main" id="{01D60B89-77C5-D41B-9052-42730B208DBB}"/>
                  </a:ext>
                </a:extLst>
              </p:cNvPr>
              <p:cNvSpPr txBox="1"/>
              <p:nvPr/>
            </p:nvSpPr>
            <p:spPr>
              <a:xfrm>
                <a:off x="9982200" y="5968999"/>
                <a:ext cx="7391400" cy="81788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8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8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8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8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9" name="eq @3">
                <a:extLst>
                  <a:ext uri="{FF2B5EF4-FFF2-40B4-BE49-F238E27FC236}">
                    <a16:creationId xmlns:a16="http://schemas.microsoft.com/office/drawing/2014/main" id="{01D60B89-77C5-D41B-9052-42730B208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2200" y="5968999"/>
                <a:ext cx="7391400" cy="8178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chrome page">
            <a:extLst>
              <a:ext uri="{FF2B5EF4-FFF2-40B4-BE49-F238E27FC236}">
                <a16:creationId xmlns:a16="http://schemas.microsoft.com/office/drawing/2014/main" id="{4ECDF40B-22DC-C674-E567-CEC95736BE48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chrome page">
            <a:extLst>
              <a:ext uri="{FF2B5EF4-FFF2-40B4-BE49-F238E27FC236}">
                <a16:creationId xmlns:a16="http://schemas.microsoft.com/office/drawing/2014/main" id="{CDB60447-F314-21CE-F9C5-FF0196EFAFB0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24875951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 s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BB3940B-F0AB-7AB6-0B18-2187D20E3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4191000"/>
            <a:ext cx="10414000" cy="1397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9600">
                <a:solidFill>
                  <a:srgbClr val="15241D"/>
                </a:solidFill>
                <a:latin typeface="Bebas Neue" panose="020B0606020202050201" pitchFamily="34" charset="0"/>
              </a:rPr>
              <a:t>MOSFETs in DC circuits</a:t>
            </a:r>
          </a:p>
        </p:txBody>
      </p:sp>
      <p:sp>
        <p:nvSpPr>
          <p:cNvPr id="3" name="geo">
            <a:extLst>
              <a:ext uri="{FF2B5EF4-FFF2-40B4-BE49-F238E27FC236}">
                <a16:creationId xmlns:a16="http://schemas.microsoft.com/office/drawing/2014/main" id="{C001480B-5C51-3EC4-28BF-4C2711D0A847}"/>
              </a:ext>
            </a:extLst>
          </p:cNvPr>
          <p:cNvSpPr/>
          <p:nvPr/>
        </p:nvSpPr>
        <p:spPr>
          <a:xfrm>
            <a:off x="-635000" y="0"/>
            <a:ext cx="3810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eo">
            <a:extLst>
              <a:ext uri="{FF2B5EF4-FFF2-40B4-BE49-F238E27FC236}">
                <a16:creationId xmlns:a16="http://schemas.microsoft.com/office/drawing/2014/main" id="{8C2B8214-6DCC-A68C-79B6-62CA00B4DCD2}"/>
              </a:ext>
            </a:extLst>
          </p:cNvPr>
          <p:cNvSpPr/>
          <p:nvPr/>
        </p:nvSpPr>
        <p:spPr>
          <a:xfrm>
            <a:off x="2946400" y="0"/>
            <a:ext cx="889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eo">
            <a:extLst>
              <a:ext uri="{FF2B5EF4-FFF2-40B4-BE49-F238E27FC236}">
                <a16:creationId xmlns:a16="http://schemas.microsoft.com/office/drawing/2014/main" id="{8D57B0E5-7426-B1FB-98BB-714E7738C27B}"/>
              </a:ext>
            </a:extLst>
          </p:cNvPr>
          <p:cNvSpPr/>
          <p:nvPr/>
        </p:nvSpPr>
        <p:spPr>
          <a:xfrm>
            <a:off x="3810000" y="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eo">
            <a:extLst>
              <a:ext uri="{FF2B5EF4-FFF2-40B4-BE49-F238E27FC236}">
                <a16:creationId xmlns:a16="http://schemas.microsoft.com/office/drawing/2014/main" id="{11073FAD-9436-F907-B92D-0B86641AB0F3}"/>
              </a:ext>
            </a:extLst>
          </p:cNvPr>
          <p:cNvSpPr/>
          <p:nvPr/>
        </p:nvSpPr>
        <p:spPr>
          <a:xfrm>
            <a:off x="15875000" y="0"/>
            <a:ext cx="3175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eo">
            <a:extLst>
              <a:ext uri="{FF2B5EF4-FFF2-40B4-BE49-F238E27FC236}">
                <a16:creationId xmlns:a16="http://schemas.microsoft.com/office/drawing/2014/main" id="{6C367302-C147-7100-06A3-E4240C11B2B8}"/>
              </a:ext>
            </a:extLst>
          </p:cNvPr>
          <p:cNvSpPr/>
          <p:nvPr/>
        </p:nvSpPr>
        <p:spPr>
          <a:xfrm>
            <a:off x="-635000" y="9575800"/>
            <a:ext cx="2540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geo">
            <a:extLst>
              <a:ext uri="{FF2B5EF4-FFF2-40B4-BE49-F238E27FC236}">
                <a16:creationId xmlns:a16="http://schemas.microsoft.com/office/drawing/2014/main" id="{07F9F8A0-CCCB-3345-81E5-0EA9C0C96D3B}"/>
              </a:ext>
            </a:extLst>
          </p:cNvPr>
          <p:cNvSpPr/>
          <p:nvPr/>
        </p:nvSpPr>
        <p:spPr>
          <a:xfrm>
            <a:off x="1905000" y="1010920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eo">
            <a:extLst>
              <a:ext uri="{FF2B5EF4-FFF2-40B4-BE49-F238E27FC236}">
                <a16:creationId xmlns:a16="http://schemas.microsoft.com/office/drawing/2014/main" id="{36BE01A2-9C5E-B228-AF1C-B4A1C1A33EDE}"/>
              </a:ext>
            </a:extLst>
          </p:cNvPr>
          <p:cNvSpPr/>
          <p:nvPr/>
        </p:nvSpPr>
        <p:spPr>
          <a:xfrm>
            <a:off x="14986000" y="9575800"/>
            <a:ext cx="4064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eo">
            <a:extLst>
              <a:ext uri="{FF2B5EF4-FFF2-40B4-BE49-F238E27FC236}">
                <a16:creationId xmlns:a16="http://schemas.microsoft.com/office/drawing/2014/main" id="{7EF57156-6EC0-8D99-566C-788CF68DF096}"/>
              </a:ext>
            </a:extLst>
          </p:cNvPr>
          <p:cNvSpPr/>
          <p:nvPr/>
        </p:nvSpPr>
        <p:spPr>
          <a:xfrm>
            <a:off x="14097000" y="9575800"/>
            <a:ext cx="8128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numeral">
            <a:extLst>
              <a:ext uri="{FF2B5EF4-FFF2-40B4-BE49-F238E27FC236}">
                <a16:creationId xmlns:a16="http://schemas.microsoft.com/office/drawing/2014/main" id="{919AC0AB-C987-A6F7-11FD-21C825777EB3}"/>
              </a:ext>
            </a:extLst>
          </p:cNvPr>
          <p:cNvSpPr txBox="1"/>
          <p:nvPr/>
        </p:nvSpPr>
        <p:spPr>
          <a:xfrm>
            <a:off x="965200" y="1777999"/>
            <a:ext cx="5080000" cy="25400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 sz="20000">
                <a:solidFill>
                  <a:srgbClr val="145A43"/>
                </a:solidFill>
                <a:latin typeface="Bebas Neue" panose="020B0606020202050201" pitchFamily="34" charset="0"/>
              </a:rPr>
              <a:t>03</a:t>
            </a:r>
          </a:p>
        </p:txBody>
      </p:sp>
      <p:sp>
        <p:nvSpPr>
          <p:cNvPr id="12" name="item">
            <a:extLst>
              <a:ext uri="{FF2B5EF4-FFF2-40B4-BE49-F238E27FC236}">
                <a16:creationId xmlns:a16="http://schemas.microsoft.com/office/drawing/2014/main" id="{FF88B717-5AB3-8102-6268-E51694E1815D}"/>
              </a:ext>
            </a:extLst>
          </p:cNvPr>
          <p:cNvSpPr txBox="1"/>
          <p:nvPr/>
        </p:nvSpPr>
        <p:spPr>
          <a:xfrm>
            <a:off x="1016000" y="58419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Assume, solve, check</a:t>
            </a:r>
          </a:p>
        </p:txBody>
      </p:sp>
      <p:sp>
        <p:nvSpPr>
          <p:cNvPr id="13" name="item">
            <a:extLst>
              <a:ext uri="{FF2B5EF4-FFF2-40B4-BE49-F238E27FC236}">
                <a16:creationId xmlns:a16="http://schemas.microsoft.com/office/drawing/2014/main" id="{CF98082C-8220-424F-91E5-C95FA237F663}"/>
              </a:ext>
            </a:extLst>
          </p:cNvPr>
          <p:cNvSpPr txBox="1"/>
          <p:nvPr/>
        </p:nvSpPr>
        <p:spPr>
          <a:xfrm>
            <a:off x="1016000" y="63753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Example: the drain voltage</a:t>
            </a:r>
          </a:p>
        </p:txBody>
      </p:sp>
      <p:sp>
        <p:nvSpPr>
          <p:cNvPr id="14" name="item">
            <a:extLst>
              <a:ext uri="{FF2B5EF4-FFF2-40B4-BE49-F238E27FC236}">
                <a16:creationId xmlns:a16="http://schemas.microsoft.com/office/drawing/2014/main" id="{2B5AA2E4-E88F-2995-B1EF-24CA5152DBA4}"/>
              </a:ext>
            </a:extLst>
          </p:cNvPr>
          <p:cNvSpPr txBox="1"/>
          <p:nvPr/>
        </p:nvSpPr>
        <p:spPr>
          <a:xfrm>
            <a:off x="1016000" y="69087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The current mirror</a:t>
            </a:r>
          </a:p>
        </p:txBody>
      </p:sp>
      <p:sp>
        <p:nvSpPr>
          <p:cNvPr id="15" name="map">
            <a:extLst>
              <a:ext uri="{FF2B5EF4-FFF2-40B4-BE49-F238E27FC236}">
                <a16:creationId xmlns:a16="http://schemas.microsoft.com/office/drawing/2014/main" id="{AB7014B1-12B6-6BE4-EE41-912D0D81BD43}"/>
              </a:ext>
            </a:extLst>
          </p:cNvPr>
          <p:cNvSpPr/>
          <p:nvPr/>
        </p:nvSpPr>
        <p:spPr>
          <a:xfrm>
            <a:off x="12192000" y="24130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1</a:t>
            </a:r>
          </a:p>
        </p:txBody>
      </p:sp>
      <p:sp>
        <p:nvSpPr>
          <p:cNvPr id="16" name="map">
            <a:extLst>
              <a:ext uri="{FF2B5EF4-FFF2-40B4-BE49-F238E27FC236}">
                <a16:creationId xmlns:a16="http://schemas.microsoft.com/office/drawing/2014/main" id="{BA2FE144-6F3F-D70C-69AB-FD61105D1C9D}"/>
              </a:ext>
            </a:extLst>
          </p:cNvPr>
          <p:cNvSpPr txBox="1"/>
          <p:nvPr/>
        </p:nvSpPr>
        <p:spPr>
          <a:xfrm>
            <a:off x="12827000" y="24129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Structure and operation</a:t>
            </a:r>
          </a:p>
        </p:txBody>
      </p:sp>
      <p:sp>
        <p:nvSpPr>
          <p:cNvPr id="17" name="map">
            <a:extLst>
              <a:ext uri="{FF2B5EF4-FFF2-40B4-BE49-F238E27FC236}">
                <a16:creationId xmlns:a16="http://schemas.microsoft.com/office/drawing/2014/main" id="{80BDFB4C-7B56-7AF3-E8DC-C7D1936F1BF1}"/>
              </a:ext>
            </a:extLst>
          </p:cNvPr>
          <p:cNvSpPr/>
          <p:nvPr/>
        </p:nvSpPr>
        <p:spPr>
          <a:xfrm>
            <a:off x="12192000" y="32258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2</a:t>
            </a:r>
          </a:p>
        </p:txBody>
      </p:sp>
      <p:sp>
        <p:nvSpPr>
          <p:cNvPr id="18" name="map">
            <a:extLst>
              <a:ext uri="{FF2B5EF4-FFF2-40B4-BE49-F238E27FC236}">
                <a16:creationId xmlns:a16="http://schemas.microsoft.com/office/drawing/2014/main" id="{59F9D0FF-F305-C4A1-D466-909C94AD92A1}"/>
              </a:ext>
            </a:extLst>
          </p:cNvPr>
          <p:cNvSpPr txBox="1"/>
          <p:nvPr/>
        </p:nvSpPr>
        <p:spPr>
          <a:xfrm>
            <a:off x="12827000" y="32257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I–V characteristics</a:t>
            </a:r>
          </a:p>
        </p:txBody>
      </p:sp>
      <p:sp>
        <p:nvSpPr>
          <p:cNvPr id="19" name="map">
            <a:extLst>
              <a:ext uri="{FF2B5EF4-FFF2-40B4-BE49-F238E27FC236}">
                <a16:creationId xmlns:a16="http://schemas.microsoft.com/office/drawing/2014/main" id="{5ED94A15-F5F8-9939-E826-190D012DF592}"/>
              </a:ext>
            </a:extLst>
          </p:cNvPr>
          <p:cNvSpPr/>
          <p:nvPr/>
        </p:nvSpPr>
        <p:spPr>
          <a:xfrm>
            <a:off x="12192000" y="4038600"/>
            <a:ext cx="431800" cy="431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FFFFFF"/>
                </a:solidFill>
                <a:latin typeface="Bebas Neue" panose="020B0606020202050201" pitchFamily="34" charset="0"/>
              </a:rPr>
              <a:t>3</a:t>
            </a:r>
          </a:p>
        </p:txBody>
      </p:sp>
      <p:sp>
        <p:nvSpPr>
          <p:cNvPr id="20" name="map">
            <a:extLst>
              <a:ext uri="{FF2B5EF4-FFF2-40B4-BE49-F238E27FC236}">
                <a16:creationId xmlns:a16="http://schemas.microsoft.com/office/drawing/2014/main" id="{E4F40B9C-93AF-47E5-0585-228C8A9A41C3}"/>
              </a:ext>
            </a:extLst>
          </p:cNvPr>
          <p:cNvSpPr txBox="1"/>
          <p:nvPr/>
        </p:nvSpPr>
        <p:spPr>
          <a:xfrm>
            <a:off x="12827000" y="40385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b="1">
                <a:solidFill>
                  <a:srgbClr val="15241D"/>
                </a:solidFill>
                <a:latin typeface="DM Sans" pitchFamily="2" charset="0"/>
              </a:rPr>
              <a:t>MOSFETs in DC circuits</a:t>
            </a:r>
          </a:p>
        </p:txBody>
      </p:sp>
      <p:sp>
        <p:nvSpPr>
          <p:cNvPr id="21" name="map">
            <a:extLst>
              <a:ext uri="{FF2B5EF4-FFF2-40B4-BE49-F238E27FC236}">
                <a16:creationId xmlns:a16="http://schemas.microsoft.com/office/drawing/2014/main" id="{D005DAB5-B015-F6E4-E1CD-23588CBE4214}"/>
              </a:ext>
            </a:extLst>
          </p:cNvPr>
          <p:cNvSpPr/>
          <p:nvPr/>
        </p:nvSpPr>
        <p:spPr>
          <a:xfrm>
            <a:off x="12192000" y="48514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4</a:t>
            </a:r>
          </a:p>
        </p:txBody>
      </p:sp>
      <p:sp>
        <p:nvSpPr>
          <p:cNvPr id="22" name="map">
            <a:extLst>
              <a:ext uri="{FF2B5EF4-FFF2-40B4-BE49-F238E27FC236}">
                <a16:creationId xmlns:a16="http://schemas.microsoft.com/office/drawing/2014/main" id="{20D169D5-2326-B5D8-F604-37DADB51AF31}"/>
              </a:ext>
            </a:extLst>
          </p:cNvPr>
          <p:cNvSpPr txBox="1"/>
          <p:nvPr/>
        </p:nvSpPr>
        <p:spPr>
          <a:xfrm>
            <a:off x="12827000" y="48513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The MOSFET as an amplifier</a:t>
            </a:r>
          </a:p>
        </p:txBody>
      </p:sp>
      <p:sp>
        <p:nvSpPr>
          <p:cNvPr id="23" name="map">
            <a:extLst>
              <a:ext uri="{FF2B5EF4-FFF2-40B4-BE49-F238E27FC236}">
                <a16:creationId xmlns:a16="http://schemas.microsoft.com/office/drawing/2014/main" id="{DC537F8A-F9CE-754D-A12B-4F334E036682}"/>
              </a:ext>
            </a:extLst>
          </p:cNvPr>
          <p:cNvSpPr/>
          <p:nvPr/>
        </p:nvSpPr>
        <p:spPr>
          <a:xfrm>
            <a:off x="12192000" y="56642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5</a:t>
            </a:r>
          </a:p>
        </p:txBody>
      </p:sp>
      <p:sp>
        <p:nvSpPr>
          <p:cNvPr id="24" name="map">
            <a:extLst>
              <a:ext uri="{FF2B5EF4-FFF2-40B4-BE49-F238E27FC236}">
                <a16:creationId xmlns:a16="http://schemas.microsoft.com/office/drawing/2014/main" id="{64420307-E5A9-2E43-236A-23091D395CA1}"/>
              </a:ext>
            </a:extLst>
          </p:cNvPr>
          <p:cNvSpPr txBox="1"/>
          <p:nvPr/>
        </p:nvSpPr>
        <p:spPr>
          <a:xfrm>
            <a:off x="12827000" y="56641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16669494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C analysis: assume, solve, ch s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6A43F55-8421-9E07-F47C-FF416B9E1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DC analysis: assume, solve, check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6C83D5CE-2512-2B3D-208C-23D2358C06D9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A8FD712B-C9FD-FD07-47B4-25CA925C79A6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CFB6AA00-5056-0446-1AD1-7A6DAAC3E7CF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card @1">
            <a:extLst>
              <a:ext uri="{FF2B5EF4-FFF2-40B4-BE49-F238E27FC236}">
                <a16:creationId xmlns:a16="http://schemas.microsoft.com/office/drawing/2014/main" id="{259074F4-86C1-3BB7-4250-0AD7383C7768}"/>
              </a:ext>
            </a:extLst>
          </p:cNvPr>
          <p:cNvSpPr/>
          <p:nvPr/>
        </p:nvSpPr>
        <p:spPr>
          <a:xfrm>
            <a:off x="914400" y="2540000"/>
            <a:ext cx="5080000" cy="381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rd @1">
            <a:extLst>
              <a:ext uri="{FF2B5EF4-FFF2-40B4-BE49-F238E27FC236}">
                <a16:creationId xmlns:a16="http://schemas.microsoft.com/office/drawing/2014/main" id="{B53D63CB-19FB-41C3-CD55-1F1809B631AB}"/>
              </a:ext>
            </a:extLst>
          </p:cNvPr>
          <p:cNvSpPr/>
          <p:nvPr/>
        </p:nvSpPr>
        <p:spPr>
          <a:xfrm>
            <a:off x="914400" y="2527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adge @1">
            <a:extLst>
              <a:ext uri="{FF2B5EF4-FFF2-40B4-BE49-F238E27FC236}">
                <a16:creationId xmlns:a16="http://schemas.microsoft.com/office/drawing/2014/main" id="{54309279-CECD-55DF-6DAA-C56A8A732A3D}"/>
              </a:ext>
            </a:extLst>
          </p:cNvPr>
          <p:cNvSpPr/>
          <p:nvPr/>
        </p:nvSpPr>
        <p:spPr>
          <a:xfrm>
            <a:off x="1295400" y="2946400"/>
            <a:ext cx="558800" cy="558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9" name="head @1">
            <a:extLst>
              <a:ext uri="{FF2B5EF4-FFF2-40B4-BE49-F238E27FC236}">
                <a16:creationId xmlns:a16="http://schemas.microsoft.com/office/drawing/2014/main" id="{F4E6B94D-9D1C-08B7-D6DA-C025B863F37E}"/>
              </a:ext>
            </a:extLst>
          </p:cNvPr>
          <p:cNvSpPr txBox="1"/>
          <p:nvPr/>
        </p:nvSpPr>
        <p:spPr>
          <a:xfrm>
            <a:off x="1295400" y="3759199"/>
            <a:ext cx="431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400">
                <a:solidFill>
                  <a:srgbClr val="15241D"/>
                </a:solidFill>
                <a:latin typeface="Bebas Neue" panose="020B0606020202050201" pitchFamily="34" charset="0"/>
              </a:rPr>
              <a:t>Assume</a:t>
            </a:r>
          </a:p>
        </p:txBody>
      </p:sp>
      <p:sp>
        <p:nvSpPr>
          <p:cNvPr id="10" name="body @1">
            <a:extLst>
              <a:ext uri="{FF2B5EF4-FFF2-40B4-BE49-F238E27FC236}">
                <a16:creationId xmlns:a16="http://schemas.microsoft.com/office/drawing/2014/main" id="{4721CD9A-0449-7D6C-36F3-A6ED2F85850D}"/>
              </a:ext>
            </a:extLst>
          </p:cNvPr>
          <p:cNvSpPr txBox="1"/>
          <p:nvPr/>
        </p:nvSpPr>
        <p:spPr>
          <a:xfrm>
            <a:off x="1295400" y="4521199"/>
            <a:ext cx="4318000" cy="279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a region, usually saturation (and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&gt;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).</a:t>
            </a:r>
          </a:p>
        </p:txBody>
      </p:sp>
      <p:sp>
        <p:nvSpPr>
          <p:cNvPr id="22" name="chrome page">
            <a:extLst>
              <a:ext uri="{FF2B5EF4-FFF2-40B4-BE49-F238E27FC236}">
                <a16:creationId xmlns:a16="http://schemas.microsoft.com/office/drawing/2014/main" id="{F7E5409C-7405-FDCB-F903-237C5845C610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hrome page">
            <a:extLst>
              <a:ext uri="{FF2B5EF4-FFF2-40B4-BE49-F238E27FC236}">
                <a16:creationId xmlns:a16="http://schemas.microsoft.com/office/drawing/2014/main" id="{035D9854-24E2-47E8-89C1-25EA01E7BF4E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7229887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C analysis: assume, solve, ch s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6A43F55-8421-9E07-F47C-FF416B9E1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DC analysis: assume, solve, check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6C83D5CE-2512-2B3D-208C-23D2358C06D9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A8FD712B-C9FD-FD07-47B4-25CA925C79A6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CFB6AA00-5056-0446-1AD1-7A6DAAC3E7CF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card @1">
            <a:extLst>
              <a:ext uri="{FF2B5EF4-FFF2-40B4-BE49-F238E27FC236}">
                <a16:creationId xmlns:a16="http://schemas.microsoft.com/office/drawing/2014/main" id="{259074F4-86C1-3BB7-4250-0AD7383C7768}"/>
              </a:ext>
            </a:extLst>
          </p:cNvPr>
          <p:cNvSpPr/>
          <p:nvPr/>
        </p:nvSpPr>
        <p:spPr>
          <a:xfrm>
            <a:off x="914400" y="2540000"/>
            <a:ext cx="5080000" cy="381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rd @1">
            <a:extLst>
              <a:ext uri="{FF2B5EF4-FFF2-40B4-BE49-F238E27FC236}">
                <a16:creationId xmlns:a16="http://schemas.microsoft.com/office/drawing/2014/main" id="{B53D63CB-19FB-41C3-CD55-1F1809B631AB}"/>
              </a:ext>
            </a:extLst>
          </p:cNvPr>
          <p:cNvSpPr/>
          <p:nvPr/>
        </p:nvSpPr>
        <p:spPr>
          <a:xfrm>
            <a:off x="914400" y="2527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adge @1">
            <a:extLst>
              <a:ext uri="{FF2B5EF4-FFF2-40B4-BE49-F238E27FC236}">
                <a16:creationId xmlns:a16="http://schemas.microsoft.com/office/drawing/2014/main" id="{54309279-CECD-55DF-6DAA-C56A8A732A3D}"/>
              </a:ext>
            </a:extLst>
          </p:cNvPr>
          <p:cNvSpPr/>
          <p:nvPr/>
        </p:nvSpPr>
        <p:spPr>
          <a:xfrm>
            <a:off x="1295400" y="2946400"/>
            <a:ext cx="558800" cy="558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9" name="head @1">
            <a:extLst>
              <a:ext uri="{FF2B5EF4-FFF2-40B4-BE49-F238E27FC236}">
                <a16:creationId xmlns:a16="http://schemas.microsoft.com/office/drawing/2014/main" id="{F4E6B94D-9D1C-08B7-D6DA-C025B863F37E}"/>
              </a:ext>
            </a:extLst>
          </p:cNvPr>
          <p:cNvSpPr txBox="1"/>
          <p:nvPr/>
        </p:nvSpPr>
        <p:spPr>
          <a:xfrm>
            <a:off x="1295400" y="3759199"/>
            <a:ext cx="431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400">
                <a:solidFill>
                  <a:srgbClr val="15241D"/>
                </a:solidFill>
                <a:latin typeface="Bebas Neue" panose="020B0606020202050201" pitchFamily="34" charset="0"/>
              </a:rPr>
              <a:t>Assume</a:t>
            </a:r>
          </a:p>
        </p:txBody>
      </p:sp>
      <p:sp>
        <p:nvSpPr>
          <p:cNvPr id="10" name="body @1">
            <a:extLst>
              <a:ext uri="{FF2B5EF4-FFF2-40B4-BE49-F238E27FC236}">
                <a16:creationId xmlns:a16="http://schemas.microsoft.com/office/drawing/2014/main" id="{4721CD9A-0449-7D6C-36F3-A6ED2F85850D}"/>
              </a:ext>
            </a:extLst>
          </p:cNvPr>
          <p:cNvSpPr txBox="1"/>
          <p:nvPr/>
        </p:nvSpPr>
        <p:spPr>
          <a:xfrm>
            <a:off x="1295400" y="4521199"/>
            <a:ext cx="4318000" cy="279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a region, usually saturation (and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&gt;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).</a:t>
            </a:r>
          </a:p>
        </p:txBody>
      </p:sp>
      <p:sp>
        <p:nvSpPr>
          <p:cNvPr id="11" name="card @2">
            <a:extLst>
              <a:ext uri="{FF2B5EF4-FFF2-40B4-BE49-F238E27FC236}">
                <a16:creationId xmlns:a16="http://schemas.microsoft.com/office/drawing/2014/main" id="{6EAA7234-AE2B-82C1-3E30-CE8E984CA43F}"/>
              </a:ext>
            </a:extLst>
          </p:cNvPr>
          <p:cNvSpPr/>
          <p:nvPr/>
        </p:nvSpPr>
        <p:spPr>
          <a:xfrm>
            <a:off x="6604000" y="2540000"/>
            <a:ext cx="5080000" cy="381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ard @2">
            <a:extLst>
              <a:ext uri="{FF2B5EF4-FFF2-40B4-BE49-F238E27FC236}">
                <a16:creationId xmlns:a16="http://schemas.microsoft.com/office/drawing/2014/main" id="{52CC5848-411D-34E0-2D4C-2720B38AA004}"/>
              </a:ext>
            </a:extLst>
          </p:cNvPr>
          <p:cNvSpPr/>
          <p:nvPr/>
        </p:nvSpPr>
        <p:spPr>
          <a:xfrm>
            <a:off x="6604000" y="2527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badge @2">
            <a:extLst>
              <a:ext uri="{FF2B5EF4-FFF2-40B4-BE49-F238E27FC236}">
                <a16:creationId xmlns:a16="http://schemas.microsoft.com/office/drawing/2014/main" id="{345296A3-C68E-CF8A-F437-AAE7F6897D48}"/>
              </a:ext>
            </a:extLst>
          </p:cNvPr>
          <p:cNvSpPr/>
          <p:nvPr/>
        </p:nvSpPr>
        <p:spPr>
          <a:xfrm>
            <a:off x="6985000" y="2946400"/>
            <a:ext cx="558800" cy="558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2</a:t>
            </a:r>
          </a:p>
        </p:txBody>
      </p:sp>
      <p:sp>
        <p:nvSpPr>
          <p:cNvPr id="14" name="head @2">
            <a:extLst>
              <a:ext uri="{FF2B5EF4-FFF2-40B4-BE49-F238E27FC236}">
                <a16:creationId xmlns:a16="http://schemas.microsoft.com/office/drawing/2014/main" id="{66444378-7896-1DFA-E69E-C243F3384F2C}"/>
              </a:ext>
            </a:extLst>
          </p:cNvPr>
          <p:cNvSpPr txBox="1"/>
          <p:nvPr/>
        </p:nvSpPr>
        <p:spPr>
          <a:xfrm>
            <a:off x="6985000" y="3759199"/>
            <a:ext cx="431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400">
                <a:solidFill>
                  <a:srgbClr val="15241D"/>
                </a:solidFill>
                <a:latin typeface="Bebas Neue" panose="020B0606020202050201" pitchFamily="34" charset="0"/>
              </a:rPr>
              <a:t>Solve</a:t>
            </a:r>
          </a:p>
        </p:txBody>
      </p:sp>
      <p:sp>
        <p:nvSpPr>
          <p:cNvPr id="15" name="body @2">
            <a:extLst>
              <a:ext uri="{FF2B5EF4-FFF2-40B4-BE49-F238E27FC236}">
                <a16:creationId xmlns:a16="http://schemas.microsoft.com/office/drawing/2014/main" id="{1C290A7B-BAEC-B248-4950-ED1ABF67AF3B}"/>
              </a:ext>
            </a:extLst>
          </p:cNvPr>
          <p:cNvSpPr txBox="1"/>
          <p:nvPr/>
        </p:nvSpPr>
        <p:spPr>
          <a:xfrm>
            <a:off x="6985000" y="4521199"/>
            <a:ext cx="4318000" cy="279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with that region’s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equation and KVL/KCL. Reject roots that give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22" name="chrome page">
            <a:extLst>
              <a:ext uri="{FF2B5EF4-FFF2-40B4-BE49-F238E27FC236}">
                <a16:creationId xmlns:a16="http://schemas.microsoft.com/office/drawing/2014/main" id="{CDAE392F-E964-0C79-E3A9-81CBABACF246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hrome page">
            <a:extLst>
              <a:ext uri="{FF2B5EF4-FFF2-40B4-BE49-F238E27FC236}">
                <a16:creationId xmlns:a16="http://schemas.microsoft.com/office/drawing/2014/main" id="{43A40910-2C41-FD1F-D80A-94563EF9EDA0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33174981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C analysis: assume, solve, ch s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6A43F55-8421-9E07-F47C-FF416B9E1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DC analysis: assume, solve, check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6C83D5CE-2512-2B3D-208C-23D2358C06D9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A8FD712B-C9FD-FD07-47B4-25CA925C79A6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CFB6AA00-5056-0446-1AD1-7A6DAAC3E7CF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card @1">
            <a:extLst>
              <a:ext uri="{FF2B5EF4-FFF2-40B4-BE49-F238E27FC236}">
                <a16:creationId xmlns:a16="http://schemas.microsoft.com/office/drawing/2014/main" id="{259074F4-86C1-3BB7-4250-0AD7383C7768}"/>
              </a:ext>
            </a:extLst>
          </p:cNvPr>
          <p:cNvSpPr/>
          <p:nvPr/>
        </p:nvSpPr>
        <p:spPr>
          <a:xfrm>
            <a:off x="914400" y="2540000"/>
            <a:ext cx="5080000" cy="381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rd @1">
            <a:extLst>
              <a:ext uri="{FF2B5EF4-FFF2-40B4-BE49-F238E27FC236}">
                <a16:creationId xmlns:a16="http://schemas.microsoft.com/office/drawing/2014/main" id="{B53D63CB-19FB-41C3-CD55-1F1809B631AB}"/>
              </a:ext>
            </a:extLst>
          </p:cNvPr>
          <p:cNvSpPr/>
          <p:nvPr/>
        </p:nvSpPr>
        <p:spPr>
          <a:xfrm>
            <a:off x="914400" y="2527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adge @1">
            <a:extLst>
              <a:ext uri="{FF2B5EF4-FFF2-40B4-BE49-F238E27FC236}">
                <a16:creationId xmlns:a16="http://schemas.microsoft.com/office/drawing/2014/main" id="{54309279-CECD-55DF-6DAA-C56A8A732A3D}"/>
              </a:ext>
            </a:extLst>
          </p:cNvPr>
          <p:cNvSpPr/>
          <p:nvPr/>
        </p:nvSpPr>
        <p:spPr>
          <a:xfrm>
            <a:off x="1295400" y="2946400"/>
            <a:ext cx="558800" cy="558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9" name="head @1">
            <a:extLst>
              <a:ext uri="{FF2B5EF4-FFF2-40B4-BE49-F238E27FC236}">
                <a16:creationId xmlns:a16="http://schemas.microsoft.com/office/drawing/2014/main" id="{F4E6B94D-9D1C-08B7-D6DA-C025B863F37E}"/>
              </a:ext>
            </a:extLst>
          </p:cNvPr>
          <p:cNvSpPr txBox="1"/>
          <p:nvPr/>
        </p:nvSpPr>
        <p:spPr>
          <a:xfrm>
            <a:off x="1295400" y="3759199"/>
            <a:ext cx="431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400">
                <a:solidFill>
                  <a:srgbClr val="15241D"/>
                </a:solidFill>
                <a:latin typeface="Bebas Neue" panose="020B0606020202050201" pitchFamily="34" charset="0"/>
              </a:rPr>
              <a:t>Assume</a:t>
            </a:r>
          </a:p>
        </p:txBody>
      </p:sp>
      <p:sp>
        <p:nvSpPr>
          <p:cNvPr id="10" name="body @1">
            <a:extLst>
              <a:ext uri="{FF2B5EF4-FFF2-40B4-BE49-F238E27FC236}">
                <a16:creationId xmlns:a16="http://schemas.microsoft.com/office/drawing/2014/main" id="{4721CD9A-0449-7D6C-36F3-A6ED2F85850D}"/>
              </a:ext>
            </a:extLst>
          </p:cNvPr>
          <p:cNvSpPr txBox="1"/>
          <p:nvPr/>
        </p:nvSpPr>
        <p:spPr>
          <a:xfrm>
            <a:off x="1295400" y="4521199"/>
            <a:ext cx="4318000" cy="279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a region, usually saturation (and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&gt;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).</a:t>
            </a:r>
          </a:p>
        </p:txBody>
      </p:sp>
      <p:sp>
        <p:nvSpPr>
          <p:cNvPr id="11" name="card @2">
            <a:extLst>
              <a:ext uri="{FF2B5EF4-FFF2-40B4-BE49-F238E27FC236}">
                <a16:creationId xmlns:a16="http://schemas.microsoft.com/office/drawing/2014/main" id="{6EAA7234-AE2B-82C1-3E30-CE8E984CA43F}"/>
              </a:ext>
            </a:extLst>
          </p:cNvPr>
          <p:cNvSpPr/>
          <p:nvPr/>
        </p:nvSpPr>
        <p:spPr>
          <a:xfrm>
            <a:off x="6604000" y="2540000"/>
            <a:ext cx="5080000" cy="381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ard @2">
            <a:extLst>
              <a:ext uri="{FF2B5EF4-FFF2-40B4-BE49-F238E27FC236}">
                <a16:creationId xmlns:a16="http://schemas.microsoft.com/office/drawing/2014/main" id="{52CC5848-411D-34E0-2D4C-2720B38AA004}"/>
              </a:ext>
            </a:extLst>
          </p:cNvPr>
          <p:cNvSpPr/>
          <p:nvPr/>
        </p:nvSpPr>
        <p:spPr>
          <a:xfrm>
            <a:off x="6604000" y="2527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badge @2">
            <a:extLst>
              <a:ext uri="{FF2B5EF4-FFF2-40B4-BE49-F238E27FC236}">
                <a16:creationId xmlns:a16="http://schemas.microsoft.com/office/drawing/2014/main" id="{345296A3-C68E-CF8A-F437-AAE7F6897D48}"/>
              </a:ext>
            </a:extLst>
          </p:cNvPr>
          <p:cNvSpPr/>
          <p:nvPr/>
        </p:nvSpPr>
        <p:spPr>
          <a:xfrm>
            <a:off x="6985000" y="2946400"/>
            <a:ext cx="558800" cy="558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2</a:t>
            </a:r>
          </a:p>
        </p:txBody>
      </p:sp>
      <p:sp>
        <p:nvSpPr>
          <p:cNvPr id="14" name="head @2">
            <a:extLst>
              <a:ext uri="{FF2B5EF4-FFF2-40B4-BE49-F238E27FC236}">
                <a16:creationId xmlns:a16="http://schemas.microsoft.com/office/drawing/2014/main" id="{66444378-7896-1DFA-E69E-C243F3384F2C}"/>
              </a:ext>
            </a:extLst>
          </p:cNvPr>
          <p:cNvSpPr txBox="1"/>
          <p:nvPr/>
        </p:nvSpPr>
        <p:spPr>
          <a:xfrm>
            <a:off x="6985000" y="3759199"/>
            <a:ext cx="431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400">
                <a:solidFill>
                  <a:srgbClr val="15241D"/>
                </a:solidFill>
                <a:latin typeface="Bebas Neue" panose="020B0606020202050201" pitchFamily="34" charset="0"/>
              </a:rPr>
              <a:t>Solve</a:t>
            </a:r>
          </a:p>
        </p:txBody>
      </p:sp>
      <p:sp>
        <p:nvSpPr>
          <p:cNvPr id="15" name="body @2">
            <a:extLst>
              <a:ext uri="{FF2B5EF4-FFF2-40B4-BE49-F238E27FC236}">
                <a16:creationId xmlns:a16="http://schemas.microsoft.com/office/drawing/2014/main" id="{1C290A7B-BAEC-B248-4950-ED1ABF67AF3B}"/>
              </a:ext>
            </a:extLst>
          </p:cNvPr>
          <p:cNvSpPr txBox="1"/>
          <p:nvPr/>
        </p:nvSpPr>
        <p:spPr>
          <a:xfrm>
            <a:off x="6985000" y="4521199"/>
            <a:ext cx="4318000" cy="279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with that region’s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equation and KVL/KCL. Reject roots that give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16" name="card @3">
            <a:extLst>
              <a:ext uri="{FF2B5EF4-FFF2-40B4-BE49-F238E27FC236}">
                <a16:creationId xmlns:a16="http://schemas.microsoft.com/office/drawing/2014/main" id="{2AF8CC41-46CA-0EBE-2CC7-23BDCDA111C6}"/>
              </a:ext>
            </a:extLst>
          </p:cNvPr>
          <p:cNvSpPr/>
          <p:nvPr/>
        </p:nvSpPr>
        <p:spPr>
          <a:xfrm>
            <a:off x="12293600" y="2540000"/>
            <a:ext cx="5080000" cy="381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ard @3">
            <a:extLst>
              <a:ext uri="{FF2B5EF4-FFF2-40B4-BE49-F238E27FC236}">
                <a16:creationId xmlns:a16="http://schemas.microsoft.com/office/drawing/2014/main" id="{08EBE31E-B989-31EF-68BC-A87AC25E1EA8}"/>
              </a:ext>
            </a:extLst>
          </p:cNvPr>
          <p:cNvSpPr/>
          <p:nvPr/>
        </p:nvSpPr>
        <p:spPr>
          <a:xfrm>
            <a:off x="12293600" y="2527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badge @3">
            <a:extLst>
              <a:ext uri="{FF2B5EF4-FFF2-40B4-BE49-F238E27FC236}">
                <a16:creationId xmlns:a16="http://schemas.microsoft.com/office/drawing/2014/main" id="{E53BA231-81C9-F494-E26E-360D30DCA36E}"/>
              </a:ext>
            </a:extLst>
          </p:cNvPr>
          <p:cNvSpPr/>
          <p:nvPr/>
        </p:nvSpPr>
        <p:spPr>
          <a:xfrm>
            <a:off x="12674600" y="2946400"/>
            <a:ext cx="558800" cy="558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3</a:t>
            </a:r>
          </a:p>
        </p:txBody>
      </p:sp>
      <p:sp>
        <p:nvSpPr>
          <p:cNvPr id="19" name="head @3">
            <a:extLst>
              <a:ext uri="{FF2B5EF4-FFF2-40B4-BE49-F238E27FC236}">
                <a16:creationId xmlns:a16="http://schemas.microsoft.com/office/drawing/2014/main" id="{3D733256-1D97-96FB-3600-E1B089914041}"/>
              </a:ext>
            </a:extLst>
          </p:cNvPr>
          <p:cNvSpPr txBox="1"/>
          <p:nvPr/>
        </p:nvSpPr>
        <p:spPr>
          <a:xfrm>
            <a:off x="12674600" y="3759199"/>
            <a:ext cx="431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400">
                <a:solidFill>
                  <a:srgbClr val="15241D"/>
                </a:solidFill>
                <a:latin typeface="Bebas Neue" panose="020B0606020202050201" pitchFamily="34" charset="0"/>
              </a:rPr>
              <a:t>Check</a:t>
            </a:r>
          </a:p>
        </p:txBody>
      </p:sp>
      <p:sp>
        <p:nvSpPr>
          <p:cNvPr id="20" name="body @3">
            <a:extLst>
              <a:ext uri="{FF2B5EF4-FFF2-40B4-BE49-F238E27FC236}">
                <a16:creationId xmlns:a16="http://schemas.microsoft.com/office/drawing/2014/main" id="{F100FC0C-0E30-10CE-F582-643289C12B88}"/>
              </a:ext>
            </a:extLst>
          </p:cNvPr>
          <p:cNvSpPr txBox="1"/>
          <p:nvPr/>
        </p:nvSpPr>
        <p:spPr>
          <a:xfrm>
            <a:off x="12674600" y="4521199"/>
            <a:ext cx="4318000" cy="279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the assumption: saturation needs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≥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. If it fails, redo it in triode.</a:t>
            </a:r>
          </a:p>
        </p:txBody>
      </p:sp>
      <p:sp>
        <p:nvSpPr>
          <p:cNvPr id="22" name="chrome page">
            <a:extLst>
              <a:ext uri="{FF2B5EF4-FFF2-40B4-BE49-F238E27FC236}">
                <a16:creationId xmlns:a16="http://schemas.microsoft.com/office/drawing/2014/main" id="{5FF7ABBC-FA78-C7C2-7C1B-D519992EB4C8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hrome page">
            <a:extLst>
              <a:ext uri="{FF2B5EF4-FFF2-40B4-BE49-F238E27FC236}">
                <a16:creationId xmlns:a16="http://schemas.microsoft.com/office/drawing/2014/main" id="{861EDECF-D15B-1BEF-5324-FA6C628C321A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27660138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C analysis: assume, solve, ch s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6A43F55-8421-9E07-F47C-FF416B9E1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DC analysis: assume, solve, check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6C83D5CE-2512-2B3D-208C-23D2358C06D9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A8FD712B-C9FD-FD07-47B4-25CA925C79A6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CFB6AA00-5056-0446-1AD1-7A6DAAC3E7CF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card @1">
            <a:extLst>
              <a:ext uri="{FF2B5EF4-FFF2-40B4-BE49-F238E27FC236}">
                <a16:creationId xmlns:a16="http://schemas.microsoft.com/office/drawing/2014/main" id="{259074F4-86C1-3BB7-4250-0AD7383C7768}"/>
              </a:ext>
            </a:extLst>
          </p:cNvPr>
          <p:cNvSpPr/>
          <p:nvPr/>
        </p:nvSpPr>
        <p:spPr>
          <a:xfrm>
            <a:off x="914400" y="2540000"/>
            <a:ext cx="5080000" cy="381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rd @1">
            <a:extLst>
              <a:ext uri="{FF2B5EF4-FFF2-40B4-BE49-F238E27FC236}">
                <a16:creationId xmlns:a16="http://schemas.microsoft.com/office/drawing/2014/main" id="{B53D63CB-19FB-41C3-CD55-1F1809B631AB}"/>
              </a:ext>
            </a:extLst>
          </p:cNvPr>
          <p:cNvSpPr/>
          <p:nvPr/>
        </p:nvSpPr>
        <p:spPr>
          <a:xfrm>
            <a:off x="914400" y="2527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adge @1">
            <a:extLst>
              <a:ext uri="{FF2B5EF4-FFF2-40B4-BE49-F238E27FC236}">
                <a16:creationId xmlns:a16="http://schemas.microsoft.com/office/drawing/2014/main" id="{54309279-CECD-55DF-6DAA-C56A8A732A3D}"/>
              </a:ext>
            </a:extLst>
          </p:cNvPr>
          <p:cNvSpPr/>
          <p:nvPr/>
        </p:nvSpPr>
        <p:spPr>
          <a:xfrm>
            <a:off x="1295400" y="2946400"/>
            <a:ext cx="558800" cy="558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9" name="head @1">
            <a:extLst>
              <a:ext uri="{FF2B5EF4-FFF2-40B4-BE49-F238E27FC236}">
                <a16:creationId xmlns:a16="http://schemas.microsoft.com/office/drawing/2014/main" id="{F4E6B94D-9D1C-08B7-D6DA-C025B863F37E}"/>
              </a:ext>
            </a:extLst>
          </p:cNvPr>
          <p:cNvSpPr txBox="1"/>
          <p:nvPr/>
        </p:nvSpPr>
        <p:spPr>
          <a:xfrm>
            <a:off x="1295400" y="3759199"/>
            <a:ext cx="431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400">
                <a:solidFill>
                  <a:srgbClr val="15241D"/>
                </a:solidFill>
                <a:latin typeface="Bebas Neue" panose="020B0606020202050201" pitchFamily="34" charset="0"/>
              </a:rPr>
              <a:t>Assume</a:t>
            </a:r>
          </a:p>
        </p:txBody>
      </p:sp>
      <p:sp>
        <p:nvSpPr>
          <p:cNvPr id="10" name="body @1">
            <a:extLst>
              <a:ext uri="{FF2B5EF4-FFF2-40B4-BE49-F238E27FC236}">
                <a16:creationId xmlns:a16="http://schemas.microsoft.com/office/drawing/2014/main" id="{4721CD9A-0449-7D6C-36F3-A6ED2F85850D}"/>
              </a:ext>
            </a:extLst>
          </p:cNvPr>
          <p:cNvSpPr txBox="1"/>
          <p:nvPr/>
        </p:nvSpPr>
        <p:spPr>
          <a:xfrm>
            <a:off x="1295400" y="4521199"/>
            <a:ext cx="4318000" cy="279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a region, usually saturation (and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&gt;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).</a:t>
            </a:r>
          </a:p>
        </p:txBody>
      </p:sp>
      <p:sp>
        <p:nvSpPr>
          <p:cNvPr id="11" name="card @2">
            <a:extLst>
              <a:ext uri="{FF2B5EF4-FFF2-40B4-BE49-F238E27FC236}">
                <a16:creationId xmlns:a16="http://schemas.microsoft.com/office/drawing/2014/main" id="{6EAA7234-AE2B-82C1-3E30-CE8E984CA43F}"/>
              </a:ext>
            </a:extLst>
          </p:cNvPr>
          <p:cNvSpPr/>
          <p:nvPr/>
        </p:nvSpPr>
        <p:spPr>
          <a:xfrm>
            <a:off x="6604000" y="2540000"/>
            <a:ext cx="5080000" cy="381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ard @2">
            <a:extLst>
              <a:ext uri="{FF2B5EF4-FFF2-40B4-BE49-F238E27FC236}">
                <a16:creationId xmlns:a16="http://schemas.microsoft.com/office/drawing/2014/main" id="{52CC5848-411D-34E0-2D4C-2720B38AA004}"/>
              </a:ext>
            </a:extLst>
          </p:cNvPr>
          <p:cNvSpPr/>
          <p:nvPr/>
        </p:nvSpPr>
        <p:spPr>
          <a:xfrm>
            <a:off x="6604000" y="2527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badge @2">
            <a:extLst>
              <a:ext uri="{FF2B5EF4-FFF2-40B4-BE49-F238E27FC236}">
                <a16:creationId xmlns:a16="http://schemas.microsoft.com/office/drawing/2014/main" id="{345296A3-C68E-CF8A-F437-AAE7F6897D48}"/>
              </a:ext>
            </a:extLst>
          </p:cNvPr>
          <p:cNvSpPr/>
          <p:nvPr/>
        </p:nvSpPr>
        <p:spPr>
          <a:xfrm>
            <a:off x="6985000" y="2946400"/>
            <a:ext cx="558800" cy="558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2</a:t>
            </a:r>
          </a:p>
        </p:txBody>
      </p:sp>
      <p:sp>
        <p:nvSpPr>
          <p:cNvPr id="14" name="head @2">
            <a:extLst>
              <a:ext uri="{FF2B5EF4-FFF2-40B4-BE49-F238E27FC236}">
                <a16:creationId xmlns:a16="http://schemas.microsoft.com/office/drawing/2014/main" id="{66444378-7896-1DFA-E69E-C243F3384F2C}"/>
              </a:ext>
            </a:extLst>
          </p:cNvPr>
          <p:cNvSpPr txBox="1"/>
          <p:nvPr/>
        </p:nvSpPr>
        <p:spPr>
          <a:xfrm>
            <a:off x="6985000" y="3759199"/>
            <a:ext cx="431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400">
                <a:solidFill>
                  <a:srgbClr val="15241D"/>
                </a:solidFill>
                <a:latin typeface="Bebas Neue" panose="020B0606020202050201" pitchFamily="34" charset="0"/>
              </a:rPr>
              <a:t>Solve</a:t>
            </a:r>
          </a:p>
        </p:txBody>
      </p:sp>
      <p:sp>
        <p:nvSpPr>
          <p:cNvPr id="15" name="body @2">
            <a:extLst>
              <a:ext uri="{FF2B5EF4-FFF2-40B4-BE49-F238E27FC236}">
                <a16:creationId xmlns:a16="http://schemas.microsoft.com/office/drawing/2014/main" id="{1C290A7B-BAEC-B248-4950-ED1ABF67AF3B}"/>
              </a:ext>
            </a:extLst>
          </p:cNvPr>
          <p:cNvSpPr txBox="1"/>
          <p:nvPr/>
        </p:nvSpPr>
        <p:spPr>
          <a:xfrm>
            <a:off x="6985000" y="4521199"/>
            <a:ext cx="4318000" cy="279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with that region’s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equation and KVL/KCL. Reject roots that give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16" name="card @3">
            <a:extLst>
              <a:ext uri="{FF2B5EF4-FFF2-40B4-BE49-F238E27FC236}">
                <a16:creationId xmlns:a16="http://schemas.microsoft.com/office/drawing/2014/main" id="{2AF8CC41-46CA-0EBE-2CC7-23BDCDA111C6}"/>
              </a:ext>
            </a:extLst>
          </p:cNvPr>
          <p:cNvSpPr/>
          <p:nvPr/>
        </p:nvSpPr>
        <p:spPr>
          <a:xfrm>
            <a:off x="12293600" y="2540000"/>
            <a:ext cx="5080000" cy="381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ard @3">
            <a:extLst>
              <a:ext uri="{FF2B5EF4-FFF2-40B4-BE49-F238E27FC236}">
                <a16:creationId xmlns:a16="http://schemas.microsoft.com/office/drawing/2014/main" id="{08EBE31E-B989-31EF-68BC-A87AC25E1EA8}"/>
              </a:ext>
            </a:extLst>
          </p:cNvPr>
          <p:cNvSpPr/>
          <p:nvPr/>
        </p:nvSpPr>
        <p:spPr>
          <a:xfrm>
            <a:off x="12293600" y="2527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badge @3">
            <a:extLst>
              <a:ext uri="{FF2B5EF4-FFF2-40B4-BE49-F238E27FC236}">
                <a16:creationId xmlns:a16="http://schemas.microsoft.com/office/drawing/2014/main" id="{E53BA231-81C9-F494-E26E-360D30DCA36E}"/>
              </a:ext>
            </a:extLst>
          </p:cNvPr>
          <p:cNvSpPr/>
          <p:nvPr/>
        </p:nvSpPr>
        <p:spPr>
          <a:xfrm>
            <a:off x="12674600" y="2946400"/>
            <a:ext cx="558800" cy="558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3</a:t>
            </a:r>
          </a:p>
        </p:txBody>
      </p:sp>
      <p:sp>
        <p:nvSpPr>
          <p:cNvPr id="19" name="head @3">
            <a:extLst>
              <a:ext uri="{FF2B5EF4-FFF2-40B4-BE49-F238E27FC236}">
                <a16:creationId xmlns:a16="http://schemas.microsoft.com/office/drawing/2014/main" id="{3D733256-1D97-96FB-3600-E1B089914041}"/>
              </a:ext>
            </a:extLst>
          </p:cNvPr>
          <p:cNvSpPr txBox="1"/>
          <p:nvPr/>
        </p:nvSpPr>
        <p:spPr>
          <a:xfrm>
            <a:off x="12674600" y="3759199"/>
            <a:ext cx="43180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400">
                <a:solidFill>
                  <a:srgbClr val="15241D"/>
                </a:solidFill>
                <a:latin typeface="Bebas Neue" panose="020B0606020202050201" pitchFamily="34" charset="0"/>
              </a:rPr>
              <a:t>Check</a:t>
            </a:r>
          </a:p>
        </p:txBody>
      </p:sp>
      <p:sp>
        <p:nvSpPr>
          <p:cNvPr id="20" name="body @3">
            <a:extLst>
              <a:ext uri="{FF2B5EF4-FFF2-40B4-BE49-F238E27FC236}">
                <a16:creationId xmlns:a16="http://schemas.microsoft.com/office/drawing/2014/main" id="{F100FC0C-0E30-10CE-F582-643289C12B88}"/>
              </a:ext>
            </a:extLst>
          </p:cNvPr>
          <p:cNvSpPr txBox="1"/>
          <p:nvPr/>
        </p:nvSpPr>
        <p:spPr>
          <a:xfrm>
            <a:off x="12674600" y="4521199"/>
            <a:ext cx="4318000" cy="279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the assumption: saturation needs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≥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. If it fails, redo it in triode.</a:t>
            </a:r>
          </a:p>
        </p:txBody>
      </p:sp>
      <p:sp>
        <p:nvSpPr>
          <p:cNvPr id="21" name="note @4">
            <a:extLst>
              <a:ext uri="{FF2B5EF4-FFF2-40B4-BE49-F238E27FC236}">
                <a16:creationId xmlns:a16="http://schemas.microsoft.com/office/drawing/2014/main" id="{C1170604-4F2C-1E52-304E-A73734D58FDF}"/>
              </a:ext>
            </a:extLst>
          </p:cNvPr>
          <p:cNvSpPr txBox="1"/>
          <p:nvPr/>
        </p:nvSpPr>
        <p:spPr>
          <a:xfrm>
            <a:off x="914400" y="6857999"/>
            <a:ext cx="16459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The gate draws no current, so gate-bias resistors form an unloaded divider.</a:t>
            </a:r>
          </a:p>
        </p:txBody>
      </p:sp>
      <p:sp>
        <p:nvSpPr>
          <p:cNvPr id="22" name="chrome page">
            <a:extLst>
              <a:ext uri="{FF2B5EF4-FFF2-40B4-BE49-F238E27FC236}">
                <a16:creationId xmlns:a16="http://schemas.microsoft.com/office/drawing/2014/main" id="{626FD2C1-681F-CCBA-199F-16F4A13D7356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hrome page">
            <a:extLst>
              <a:ext uri="{FF2B5EF4-FFF2-40B4-BE49-F238E27FC236}">
                <a16:creationId xmlns:a16="http://schemas.microsoft.com/office/drawing/2014/main" id="{1155C7D8-F2E5-B12E-E2CA-0A319B52D1F4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5013419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 1: find the drain volt s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388CE88-7EC6-9725-7E7B-1C87DB408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Example 1: find the drain voltage (1 of 2)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502D4E38-8381-3B1E-F02B-31A38F9E75CF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486193B3-405E-3629-A5E6-7F91B844830C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80637731-76B8-1CDB-513B-80D98EDCD56A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circuit card">
            <a:extLst>
              <a:ext uri="{FF2B5EF4-FFF2-40B4-BE49-F238E27FC236}">
                <a16:creationId xmlns:a16="http://schemas.microsoft.com/office/drawing/2014/main" id="{FDEAA09A-D229-5742-EB8A-8DC174F45B45}"/>
              </a:ext>
            </a:extLst>
          </p:cNvPr>
          <p:cNvSpPr/>
          <p:nvPr/>
        </p:nvSpPr>
        <p:spPr>
          <a:xfrm>
            <a:off x="914400" y="1905000"/>
            <a:ext cx="5969000" cy="5715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75E3DF4D-A3C8-0209-AF7E-64A8B51A72B9}"/>
              </a:ext>
            </a:extLst>
          </p:cNvPr>
          <p:cNvSpPr/>
          <p:nvPr/>
        </p:nvSpPr>
        <p:spPr>
          <a:xfrm>
            <a:off x="914400" y="1892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kt">
            <a:extLst>
              <a:ext uri="{FF2B5EF4-FFF2-40B4-BE49-F238E27FC236}">
                <a16:creationId xmlns:a16="http://schemas.microsoft.com/office/drawing/2014/main" id="{19C9D1B5-6764-2A33-950D-77042C09C1A6}"/>
              </a:ext>
            </a:extLst>
          </p:cNvPr>
          <p:cNvSpPr/>
          <p:nvPr/>
        </p:nvSpPr>
        <p:spPr>
          <a:xfrm>
            <a:off x="4464050" y="22923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ckt">
            <a:extLst>
              <a:ext uri="{FF2B5EF4-FFF2-40B4-BE49-F238E27FC236}">
                <a16:creationId xmlns:a16="http://schemas.microsoft.com/office/drawing/2014/main" id="{BC1680E3-E964-D5B2-EB9E-6779299F8E85}"/>
              </a:ext>
            </a:extLst>
          </p:cNvPr>
          <p:cNvCxnSpPr/>
          <p:nvPr/>
        </p:nvCxnSpPr>
        <p:spPr>
          <a:xfrm>
            <a:off x="4533900" y="2432050"/>
            <a:ext cx="0" cy="51435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kt label">
            <a:extLst>
              <a:ext uri="{FF2B5EF4-FFF2-40B4-BE49-F238E27FC236}">
                <a16:creationId xmlns:a16="http://schemas.microsoft.com/office/drawing/2014/main" id="{F34192B6-3E37-A38B-53DC-312CA9895B78}"/>
              </a:ext>
            </a:extLst>
          </p:cNvPr>
          <p:cNvSpPr txBox="1"/>
          <p:nvPr/>
        </p:nvSpPr>
        <p:spPr>
          <a:xfrm>
            <a:off x="4711700" y="21653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b="1">
                <a:solidFill>
                  <a:srgbClr val="1F6FA8"/>
                </a:solidFill>
                <a:latin typeface="DM Sans" pitchFamily="2" charset="0"/>
              </a:rPr>
              <a:t>+</a:t>
            </a:r>
            <a:r>
              <a:rPr lang="en-US" b="1" i="1">
                <a:solidFill>
                  <a:srgbClr val="1F6FA8"/>
                </a:solidFill>
                <a:latin typeface="DM Sans" pitchFamily="2" charset="0"/>
              </a:rPr>
              <a:t>V</a:t>
            </a:r>
            <a:r>
              <a:rPr lang="en-US" b="1" i="1" baseline="-25000">
                <a:solidFill>
                  <a:srgbClr val="1F6FA8"/>
                </a:solidFill>
                <a:latin typeface="DM Sans" pitchFamily="2" charset="0"/>
              </a:rPr>
              <a:t>DD</a:t>
            </a:r>
            <a:r>
              <a:rPr lang="en-US" b="1">
                <a:solidFill>
                  <a:srgbClr val="1F6FA8"/>
                </a:solidFill>
                <a:latin typeface="DM Sans" pitchFamily="2" charset="0"/>
              </a:rPr>
              <a:t> = 10 V</a:t>
            </a:r>
          </a:p>
        </p:txBody>
      </p:sp>
      <p:cxnSp>
        <p:nvCxnSpPr>
          <p:cNvPr id="11" name="ckt">
            <a:extLst>
              <a:ext uri="{FF2B5EF4-FFF2-40B4-BE49-F238E27FC236}">
                <a16:creationId xmlns:a16="http://schemas.microsoft.com/office/drawing/2014/main" id="{1297D368-4A70-E28F-E5EC-F9D4AF48D73B}"/>
              </a:ext>
            </a:extLst>
          </p:cNvPr>
          <p:cNvCxnSpPr/>
          <p:nvPr/>
        </p:nvCxnSpPr>
        <p:spPr>
          <a:xfrm>
            <a:off x="3327400" y="2946400"/>
            <a:ext cx="2413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kt">
            <a:extLst>
              <a:ext uri="{FF2B5EF4-FFF2-40B4-BE49-F238E27FC236}">
                <a16:creationId xmlns:a16="http://schemas.microsoft.com/office/drawing/2014/main" id="{68FA446B-AD94-DB68-2CBD-F80BEFCF1E55}"/>
              </a:ext>
            </a:extLst>
          </p:cNvPr>
          <p:cNvSpPr/>
          <p:nvPr/>
        </p:nvSpPr>
        <p:spPr>
          <a:xfrm>
            <a:off x="4476750" y="28892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kt">
            <a:extLst>
              <a:ext uri="{FF2B5EF4-FFF2-40B4-BE49-F238E27FC236}">
                <a16:creationId xmlns:a16="http://schemas.microsoft.com/office/drawing/2014/main" id="{0B6A9AF9-548C-CF87-622D-279A6C1EFB39}"/>
              </a:ext>
            </a:extLst>
          </p:cNvPr>
          <p:cNvCxnSpPr/>
          <p:nvPr/>
        </p:nvCxnSpPr>
        <p:spPr>
          <a:xfrm>
            <a:off x="3327400" y="7010400"/>
            <a:ext cx="2413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kt">
            <a:extLst>
              <a:ext uri="{FF2B5EF4-FFF2-40B4-BE49-F238E27FC236}">
                <a16:creationId xmlns:a16="http://schemas.microsoft.com/office/drawing/2014/main" id="{42F7185F-A5BF-9947-0BEE-476CC4F4652E}"/>
              </a:ext>
            </a:extLst>
          </p:cNvPr>
          <p:cNvSpPr/>
          <p:nvPr/>
        </p:nvSpPr>
        <p:spPr>
          <a:xfrm>
            <a:off x="4476750" y="69532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kt">
            <a:extLst>
              <a:ext uri="{FF2B5EF4-FFF2-40B4-BE49-F238E27FC236}">
                <a16:creationId xmlns:a16="http://schemas.microsoft.com/office/drawing/2014/main" id="{549F113D-0520-27ED-770B-DEDF68671C32}"/>
              </a:ext>
            </a:extLst>
          </p:cNvPr>
          <p:cNvCxnSpPr/>
          <p:nvPr/>
        </p:nvCxnSpPr>
        <p:spPr>
          <a:xfrm>
            <a:off x="4533900" y="70104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CC65533B-3931-E73B-9C27-78FA6803730D}"/>
              </a:ext>
            </a:extLst>
          </p:cNvPr>
          <p:cNvCxnSpPr/>
          <p:nvPr/>
        </p:nvCxnSpPr>
        <p:spPr>
          <a:xfrm>
            <a:off x="4343400" y="71628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9491B2DD-CA49-3D6E-50BD-4A2885B067FE}"/>
              </a:ext>
            </a:extLst>
          </p:cNvPr>
          <p:cNvCxnSpPr/>
          <p:nvPr/>
        </p:nvCxnSpPr>
        <p:spPr>
          <a:xfrm>
            <a:off x="4413250" y="72326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kt">
            <a:extLst>
              <a:ext uri="{FF2B5EF4-FFF2-40B4-BE49-F238E27FC236}">
                <a16:creationId xmlns:a16="http://schemas.microsoft.com/office/drawing/2014/main" id="{9E917E80-BD41-3BC1-E791-944BF5ECC6F7}"/>
              </a:ext>
            </a:extLst>
          </p:cNvPr>
          <p:cNvCxnSpPr/>
          <p:nvPr/>
        </p:nvCxnSpPr>
        <p:spPr>
          <a:xfrm>
            <a:off x="4483100" y="73025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kt">
            <a:extLst>
              <a:ext uri="{FF2B5EF4-FFF2-40B4-BE49-F238E27FC236}">
                <a16:creationId xmlns:a16="http://schemas.microsoft.com/office/drawing/2014/main" id="{E87490E1-D9E0-325B-D31C-E2A0C2C17886}"/>
              </a:ext>
            </a:extLst>
          </p:cNvPr>
          <p:cNvSpPr/>
          <p:nvPr/>
        </p:nvSpPr>
        <p:spPr>
          <a:xfrm>
            <a:off x="3200400" y="2946400"/>
            <a:ext cx="254001" cy="2032001"/>
          </a:xfrm>
          <a:custGeom>
            <a:avLst/>
            <a:gdLst/>
            <a:ahLst/>
            <a:cxnLst/>
            <a:rect l="0" t="0" r="0" b="0"/>
            <a:pathLst>
              <a:path w="254001" h="2032001">
                <a:moveTo>
                  <a:pt x="127000" y="0"/>
                </a:moveTo>
                <a:lnTo>
                  <a:pt x="127000" y="647700"/>
                </a:lnTo>
                <a:lnTo>
                  <a:pt x="0" y="709083"/>
                </a:lnTo>
                <a:lnTo>
                  <a:pt x="254000" y="831850"/>
                </a:lnTo>
                <a:lnTo>
                  <a:pt x="0" y="954617"/>
                </a:lnTo>
                <a:lnTo>
                  <a:pt x="254000" y="1077383"/>
                </a:lnTo>
                <a:lnTo>
                  <a:pt x="0" y="1200150"/>
                </a:lnTo>
                <a:lnTo>
                  <a:pt x="254000" y="1322917"/>
                </a:lnTo>
                <a:lnTo>
                  <a:pt x="127000" y="1384300"/>
                </a:lnTo>
                <a:lnTo>
                  <a:pt x="127000" y="20320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kt">
            <a:extLst>
              <a:ext uri="{FF2B5EF4-FFF2-40B4-BE49-F238E27FC236}">
                <a16:creationId xmlns:a16="http://schemas.microsoft.com/office/drawing/2014/main" id="{6C3CFF8A-D46E-A96B-4F41-5BE2206CE40B}"/>
              </a:ext>
            </a:extLst>
          </p:cNvPr>
          <p:cNvSpPr/>
          <p:nvPr/>
        </p:nvSpPr>
        <p:spPr>
          <a:xfrm>
            <a:off x="3200400" y="4978400"/>
            <a:ext cx="254001" cy="2032001"/>
          </a:xfrm>
          <a:custGeom>
            <a:avLst/>
            <a:gdLst/>
            <a:ahLst/>
            <a:cxnLst/>
            <a:rect l="0" t="0" r="0" b="0"/>
            <a:pathLst>
              <a:path w="254001" h="2032001">
                <a:moveTo>
                  <a:pt x="127000" y="0"/>
                </a:moveTo>
                <a:lnTo>
                  <a:pt x="127000" y="647700"/>
                </a:lnTo>
                <a:lnTo>
                  <a:pt x="0" y="709083"/>
                </a:lnTo>
                <a:lnTo>
                  <a:pt x="254000" y="831850"/>
                </a:lnTo>
                <a:lnTo>
                  <a:pt x="0" y="954617"/>
                </a:lnTo>
                <a:lnTo>
                  <a:pt x="254000" y="1077383"/>
                </a:lnTo>
                <a:lnTo>
                  <a:pt x="0" y="1200150"/>
                </a:lnTo>
                <a:lnTo>
                  <a:pt x="254000" y="1322917"/>
                </a:lnTo>
                <a:lnTo>
                  <a:pt x="127000" y="1384300"/>
                </a:lnTo>
                <a:lnTo>
                  <a:pt x="127000" y="20320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kt">
            <a:extLst>
              <a:ext uri="{FF2B5EF4-FFF2-40B4-BE49-F238E27FC236}">
                <a16:creationId xmlns:a16="http://schemas.microsoft.com/office/drawing/2014/main" id="{C2B84C50-393B-5A21-C62D-B237FE873EBE}"/>
              </a:ext>
            </a:extLst>
          </p:cNvPr>
          <p:cNvSpPr/>
          <p:nvPr/>
        </p:nvSpPr>
        <p:spPr>
          <a:xfrm>
            <a:off x="3270250" y="49212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kt label">
            <a:extLst>
              <a:ext uri="{FF2B5EF4-FFF2-40B4-BE49-F238E27FC236}">
                <a16:creationId xmlns:a16="http://schemas.microsoft.com/office/drawing/2014/main" id="{F76D124F-E56E-9572-06AE-097358E2FACA}"/>
              </a:ext>
            </a:extLst>
          </p:cNvPr>
          <p:cNvSpPr txBox="1"/>
          <p:nvPr/>
        </p:nvSpPr>
        <p:spPr>
          <a:xfrm>
            <a:off x="304800" y="37909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b="1" baseline="-25000">
                <a:solidFill>
                  <a:srgbClr val="7A3E9D"/>
                </a:solidFill>
                <a:latin typeface="DM Sans" pitchFamily="2" charset="0"/>
              </a:rPr>
              <a:t>G1</a:t>
            </a:r>
            <a:r>
              <a:rPr lang="en-US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b="1">
                <a:solidFill>
                  <a:srgbClr val="7A3E9D"/>
                </a:solidFill>
              </a:rPr>
              <a:t>Ω</a:t>
            </a:r>
            <a:endParaRPr lang="en-US" b="1">
              <a:solidFill>
                <a:srgbClr val="7A3E9D"/>
              </a:solidFill>
              <a:latin typeface="DM Sans" pitchFamily="2" charset="0"/>
            </a:endParaRPr>
          </a:p>
        </p:txBody>
      </p:sp>
      <p:sp>
        <p:nvSpPr>
          <p:cNvPr id="23" name="ckt label">
            <a:extLst>
              <a:ext uri="{FF2B5EF4-FFF2-40B4-BE49-F238E27FC236}">
                <a16:creationId xmlns:a16="http://schemas.microsoft.com/office/drawing/2014/main" id="{DC641877-F35C-E817-1EF8-494A0FC8F195}"/>
              </a:ext>
            </a:extLst>
          </p:cNvPr>
          <p:cNvSpPr txBox="1"/>
          <p:nvPr/>
        </p:nvSpPr>
        <p:spPr>
          <a:xfrm>
            <a:off x="304800" y="58229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b="1" baseline="-25000">
                <a:solidFill>
                  <a:srgbClr val="7A3E9D"/>
                </a:solidFill>
                <a:latin typeface="DM Sans" pitchFamily="2" charset="0"/>
              </a:rPr>
              <a:t>G2</a:t>
            </a:r>
            <a:r>
              <a:rPr lang="en-US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b="1">
                <a:solidFill>
                  <a:srgbClr val="7A3E9D"/>
                </a:solidFill>
              </a:rPr>
              <a:t>Ω</a:t>
            </a:r>
            <a:endParaRPr lang="en-US" b="1">
              <a:solidFill>
                <a:srgbClr val="7A3E9D"/>
              </a:solidFill>
              <a:latin typeface="DM Sans" pitchFamily="2" charset="0"/>
            </a:endParaRPr>
          </a:p>
        </p:txBody>
      </p:sp>
      <p:cxnSp>
        <p:nvCxnSpPr>
          <p:cNvPr id="24" name="ckt">
            <a:extLst>
              <a:ext uri="{FF2B5EF4-FFF2-40B4-BE49-F238E27FC236}">
                <a16:creationId xmlns:a16="http://schemas.microsoft.com/office/drawing/2014/main" id="{73C4B403-DE21-271E-60C8-6074E1451826}"/>
              </a:ext>
            </a:extLst>
          </p:cNvPr>
          <p:cNvCxnSpPr/>
          <p:nvPr/>
        </p:nvCxnSpPr>
        <p:spPr>
          <a:xfrm>
            <a:off x="5181600" y="45943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D0264B56-5C1D-5202-EE17-367E1A238319}"/>
              </a:ext>
            </a:extLst>
          </p:cNvPr>
          <p:cNvCxnSpPr/>
          <p:nvPr/>
        </p:nvCxnSpPr>
        <p:spPr>
          <a:xfrm>
            <a:off x="5308600" y="4445000"/>
            <a:ext cx="0" cy="1066800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3F4C545C-99F1-0450-F228-F6A0FDCEDDA9}"/>
              </a:ext>
            </a:extLst>
          </p:cNvPr>
          <p:cNvCxnSpPr/>
          <p:nvPr/>
        </p:nvCxnSpPr>
        <p:spPr>
          <a:xfrm>
            <a:off x="5308600" y="45466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8DE2FE91-3461-20EA-15AB-3AB1B4BD673E}"/>
              </a:ext>
            </a:extLst>
          </p:cNvPr>
          <p:cNvCxnSpPr/>
          <p:nvPr/>
        </p:nvCxnSpPr>
        <p:spPr>
          <a:xfrm>
            <a:off x="5308600" y="54102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BED9EC4C-E8F3-1C12-3A1C-3326492D3549}"/>
              </a:ext>
            </a:extLst>
          </p:cNvPr>
          <p:cNvCxnSpPr/>
          <p:nvPr/>
        </p:nvCxnSpPr>
        <p:spPr>
          <a:xfrm>
            <a:off x="5610860" y="5410200"/>
            <a:ext cx="12954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kt">
            <a:extLst>
              <a:ext uri="{FF2B5EF4-FFF2-40B4-BE49-F238E27FC236}">
                <a16:creationId xmlns:a16="http://schemas.microsoft.com/office/drawing/2014/main" id="{6F12BAF3-A214-7BB4-CE8C-51C172ACAA60}"/>
              </a:ext>
            </a:extLst>
          </p:cNvPr>
          <p:cNvCxnSpPr/>
          <p:nvPr/>
        </p:nvCxnSpPr>
        <p:spPr>
          <a:xfrm>
            <a:off x="3327400" y="4978400"/>
            <a:ext cx="18542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kt">
            <a:extLst>
              <a:ext uri="{FF2B5EF4-FFF2-40B4-BE49-F238E27FC236}">
                <a16:creationId xmlns:a16="http://schemas.microsoft.com/office/drawing/2014/main" id="{02D11C1B-B02E-4DCE-949A-FB2F2BE56A2B}"/>
              </a:ext>
            </a:extLst>
          </p:cNvPr>
          <p:cNvSpPr/>
          <p:nvPr/>
        </p:nvSpPr>
        <p:spPr>
          <a:xfrm>
            <a:off x="5613400" y="2946400"/>
            <a:ext cx="254001" cy="1168401"/>
          </a:xfrm>
          <a:custGeom>
            <a:avLst/>
            <a:gdLst/>
            <a:ahLst/>
            <a:cxnLst/>
            <a:rect l="0" t="0" r="0" b="0"/>
            <a:pathLst>
              <a:path w="254001" h="1168401">
                <a:moveTo>
                  <a:pt x="127000" y="0"/>
                </a:moveTo>
                <a:lnTo>
                  <a:pt x="127000" y="215900"/>
                </a:lnTo>
                <a:lnTo>
                  <a:pt x="0" y="277283"/>
                </a:lnTo>
                <a:lnTo>
                  <a:pt x="254000" y="400050"/>
                </a:lnTo>
                <a:lnTo>
                  <a:pt x="0" y="522817"/>
                </a:lnTo>
                <a:lnTo>
                  <a:pt x="254000" y="645583"/>
                </a:lnTo>
                <a:lnTo>
                  <a:pt x="0" y="768350"/>
                </a:lnTo>
                <a:lnTo>
                  <a:pt x="254000" y="891117"/>
                </a:lnTo>
                <a:lnTo>
                  <a:pt x="127000" y="952500"/>
                </a:lnTo>
                <a:lnTo>
                  <a:pt x="127000" y="11684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ckt">
            <a:extLst>
              <a:ext uri="{FF2B5EF4-FFF2-40B4-BE49-F238E27FC236}">
                <a16:creationId xmlns:a16="http://schemas.microsoft.com/office/drawing/2014/main" id="{73E58604-88AA-0DD8-0BFE-7C2FB7199334}"/>
              </a:ext>
            </a:extLst>
          </p:cNvPr>
          <p:cNvCxnSpPr/>
          <p:nvPr/>
        </p:nvCxnSpPr>
        <p:spPr>
          <a:xfrm>
            <a:off x="5740400" y="4114800"/>
            <a:ext cx="0" cy="431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kt">
            <a:extLst>
              <a:ext uri="{FF2B5EF4-FFF2-40B4-BE49-F238E27FC236}">
                <a16:creationId xmlns:a16="http://schemas.microsoft.com/office/drawing/2014/main" id="{4B26BB23-BFF8-EE1D-6652-4A1F8B5B957B}"/>
              </a:ext>
            </a:extLst>
          </p:cNvPr>
          <p:cNvSpPr/>
          <p:nvPr/>
        </p:nvSpPr>
        <p:spPr>
          <a:xfrm>
            <a:off x="5613400" y="5842000"/>
            <a:ext cx="254001" cy="1168401"/>
          </a:xfrm>
          <a:custGeom>
            <a:avLst/>
            <a:gdLst/>
            <a:ahLst/>
            <a:cxnLst/>
            <a:rect l="0" t="0" r="0" b="0"/>
            <a:pathLst>
              <a:path w="254001" h="1168401">
                <a:moveTo>
                  <a:pt x="127000" y="0"/>
                </a:moveTo>
                <a:lnTo>
                  <a:pt x="127000" y="215900"/>
                </a:lnTo>
                <a:lnTo>
                  <a:pt x="0" y="277283"/>
                </a:lnTo>
                <a:lnTo>
                  <a:pt x="254000" y="400050"/>
                </a:lnTo>
                <a:lnTo>
                  <a:pt x="0" y="522817"/>
                </a:lnTo>
                <a:lnTo>
                  <a:pt x="254000" y="645583"/>
                </a:lnTo>
                <a:lnTo>
                  <a:pt x="0" y="768350"/>
                </a:lnTo>
                <a:lnTo>
                  <a:pt x="254000" y="891117"/>
                </a:lnTo>
                <a:lnTo>
                  <a:pt x="127000" y="952500"/>
                </a:lnTo>
                <a:lnTo>
                  <a:pt x="127000" y="11684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ckt">
            <a:extLst>
              <a:ext uri="{FF2B5EF4-FFF2-40B4-BE49-F238E27FC236}">
                <a16:creationId xmlns:a16="http://schemas.microsoft.com/office/drawing/2014/main" id="{4214C5FE-B612-A59D-8E50-EE4CE4646DC4}"/>
              </a:ext>
            </a:extLst>
          </p:cNvPr>
          <p:cNvCxnSpPr/>
          <p:nvPr/>
        </p:nvCxnSpPr>
        <p:spPr>
          <a:xfrm>
            <a:off x="5740400" y="5410200"/>
            <a:ext cx="0" cy="431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kt label">
            <a:extLst>
              <a:ext uri="{FF2B5EF4-FFF2-40B4-BE49-F238E27FC236}">
                <a16:creationId xmlns:a16="http://schemas.microsoft.com/office/drawing/2014/main" id="{CD21857E-FDC3-5619-AFEB-0674EB803C42}"/>
              </a:ext>
            </a:extLst>
          </p:cNvPr>
          <p:cNvSpPr txBox="1"/>
          <p:nvPr/>
        </p:nvSpPr>
        <p:spPr>
          <a:xfrm>
            <a:off x="5969000" y="33591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b="1" i="1" baseline="-25000">
                <a:solidFill>
                  <a:srgbClr val="0E7C7B"/>
                </a:solidFill>
                <a:latin typeface="DM Sans" pitchFamily="2" charset="0"/>
              </a:rPr>
              <a:t>D</a:t>
            </a:r>
            <a:r>
              <a:rPr lang="en-US" b="1">
                <a:solidFill>
                  <a:srgbClr val="0E7C7B"/>
                </a:solidFill>
                <a:latin typeface="DM Sans" pitchFamily="2" charset="0"/>
              </a:rPr>
              <a:t> = 6 k</a:t>
            </a:r>
            <a:r>
              <a:rPr lang="el-GR" b="1">
                <a:solidFill>
                  <a:srgbClr val="0E7C7B"/>
                </a:solidFill>
              </a:rPr>
              <a:t>Ω</a:t>
            </a:r>
            <a:endParaRPr lang="en-US" b="1">
              <a:solidFill>
                <a:srgbClr val="0E7C7B"/>
              </a:solidFill>
              <a:latin typeface="DM Sans" pitchFamily="2" charset="0"/>
            </a:endParaRPr>
          </a:p>
        </p:txBody>
      </p:sp>
      <p:sp>
        <p:nvSpPr>
          <p:cNvPr id="35" name="ckt label">
            <a:extLst>
              <a:ext uri="{FF2B5EF4-FFF2-40B4-BE49-F238E27FC236}">
                <a16:creationId xmlns:a16="http://schemas.microsoft.com/office/drawing/2014/main" id="{C2A5079B-D273-26F2-4E6E-EDCB09156858}"/>
              </a:ext>
            </a:extLst>
          </p:cNvPr>
          <p:cNvSpPr txBox="1"/>
          <p:nvPr/>
        </p:nvSpPr>
        <p:spPr>
          <a:xfrm>
            <a:off x="5969000" y="62547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b="1" i="1" baseline="-25000">
                <a:solidFill>
                  <a:srgbClr val="0E7C7B"/>
                </a:solidFill>
                <a:latin typeface="DM Sans" pitchFamily="2" charset="0"/>
              </a:rPr>
              <a:t>S</a:t>
            </a:r>
            <a:r>
              <a:rPr lang="en-US" b="1">
                <a:solidFill>
                  <a:srgbClr val="0E7C7B"/>
                </a:solidFill>
                <a:latin typeface="DM Sans" pitchFamily="2" charset="0"/>
              </a:rPr>
              <a:t> = 6 k</a:t>
            </a:r>
            <a:r>
              <a:rPr lang="el-GR" b="1">
                <a:solidFill>
                  <a:srgbClr val="0E7C7B"/>
                </a:solidFill>
              </a:rPr>
              <a:t>Ω</a:t>
            </a:r>
            <a:endParaRPr lang="en-US" b="1">
              <a:solidFill>
                <a:srgbClr val="0E7C7B"/>
              </a:solidFill>
              <a:latin typeface="DM Sans" pitchFamily="2" charset="0"/>
            </a:endParaRPr>
          </a:p>
        </p:txBody>
      </p:sp>
      <p:sp>
        <p:nvSpPr>
          <p:cNvPr id="37" name="given">
            <a:extLst>
              <a:ext uri="{FF2B5EF4-FFF2-40B4-BE49-F238E27FC236}">
                <a16:creationId xmlns:a16="http://schemas.microsoft.com/office/drawing/2014/main" id="{4787ABFC-74C6-841B-8C9B-F2301D33DAF1}"/>
              </a:ext>
            </a:extLst>
          </p:cNvPr>
          <p:cNvSpPr/>
          <p:nvPr/>
        </p:nvSpPr>
        <p:spPr>
          <a:xfrm>
            <a:off x="914400" y="7772400"/>
            <a:ext cx="105283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GIVEN</a:t>
            </a:r>
          </a:p>
        </p:txBody>
      </p:sp>
      <p:sp>
        <p:nvSpPr>
          <p:cNvPr id="38" name="given">
            <a:extLst>
              <a:ext uri="{FF2B5EF4-FFF2-40B4-BE49-F238E27FC236}">
                <a16:creationId xmlns:a16="http://schemas.microsoft.com/office/drawing/2014/main" id="{D775F1B6-6BA7-B638-3378-89CB9EBDD962}"/>
              </a:ext>
            </a:extLst>
          </p:cNvPr>
          <p:cNvSpPr/>
          <p:nvPr/>
        </p:nvSpPr>
        <p:spPr>
          <a:xfrm>
            <a:off x="914400" y="8355965"/>
            <a:ext cx="118745" cy="118745"/>
          </a:xfrm>
          <a:prstGeom prst="rect">
            <a:avLst/>
          </a:prstGeom>
          <a:solidFill>
            <a:srgbClr val="1F6F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given">
            <a:extLst>
              <a:ext uri="{FF2B5EF4-FFF2-40B4-BE49-F238E27FC236}">
                <a16:creationId xmlns:a16="http://schemas.microsoft.com/office/drawing/2014/main" id="{22D5079B-CB4F-1610-6F97-A52200ED4ECB}"/>
              </a:ext>
            </a:extLst>
          </p:cNvPr>
          <p:cNvSpPr txBox="1"/>
          <p:nvPr/>
        </p:nvSpPr>
        <p:spPr>
          <a:xfrm>
            <a:off x="1130300" y="8280400"/>
            <a:ext cx="5753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1F6FA8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1F6FA8"/>
                </a:solidFill>
                <a:latin typeface="DM Sans" pitchFamily="2" charset="0"/>
              </a:rPr>
              <a:t>DD</a:t>
            </a:r>
            <a:r>
              <a:rPr lang="en-US" sz="1700" b="1">
                <a:solidFill>
                  <a:srgbClr val="1F6FA8"/>
                </a:solidFill>
                <a:latin typeface="DM Sans" pitchFamily="2" charset="0"/>
              </a:rPr>
              <a:t> = 10 V</a:t>
            </a:r>
          </a:p>
        </p:txBody>
      </p:sp>
      <p:sp>
        <p:nvSpPr>
          <p:cNvPr id="40" name="given">
            <a:extLst>
              <a:ext uri="{FF2B5EF4-FFF2-40B4-BE49-F238E27FC236}">
                <a16:creationId xmlns:a16="http://schemas.microsoft.com/office/drawing/2014/main" id="{152AA92D-1D94-BDE1-09C4-0BB44BF0F293}"/>
              </a:ext>
            </a:extLst>
          </p:cNvPr>
          <p:cNvSpPr/>
          <p:nvPr/>
        </p:nvSpPr>
        <p:spPr>
          <a:xfrm>
            <a:off x="914400" y="8642975"/>
            <a:ext cx="118745" cy="118744"/>
          </a:xfrm>
          <a:prstGeom prst="rect">
            <a:avLst/>
          </a:prstGeom>
          <a:solidFill>
            <a:srgbClr val="7A3E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given">
            <a:extLst>
              <a:ext uri="{FF2B5EF4-FFF2-40B4-BE49-F238E27FC236}">
                <a16:creationId xmlns:a16="http://schemas.microsoft.com/office/drawing/2014/main" id="{72A23700-D5F8-6923-08D8-B901156868FE}"/>
              </a:ext>
            </a:extLst>
          </p:cNvPr>
          <p:cNvSpPr txBox="1"/>
          <p:nvPr/>
        </p:nvSpPr>
        <p:spPr>
          <a:xfrm>
            <a:off x="1130300" y="8567410"/>
            <a:ext cx="5753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sz="1700" b="1" baseline="-25000">
                <a:solidFill>
                  <a:srgbClr val="7A3E9D"/>
                </a:solidFill>
                <a:latin typeface="DM Sans" pitchFamily="2" charset="0"/>
              </a:rPr>
              <a:t>G1</a:t>
            </a:r>
            <a:r>
              <a:rPr lang="en-US" sz="1700" b="1">
                <a:solidFill>
                  <a:srgbClr val="7A3E9D"/>
                </a:solidFill>
                <a:latin typeface="DM Sans" pitchFamily="2" charset="0"/>
              </a:rPr>
              <a:t> = </a:t>
            </a:r>
            <a:r>
              <a:rPr lang="en-US" sz="1700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sz="1700" b="1" baseline="-25000">
                <a:solidFill>
                  <a:srgbClr val="7A3E9D"/>
                </a:solidFill>
                <a:latin typeface="DM Sans" pitchFamily="2" charset="0"/>
              </a:rPr>
              <a:t>G2</a:t>
            </a:r>
            <a:r>
              <a:rPr lang="en-US" sz="1700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sz="1700" b="1">
                <a:solidFill>
                  <a:srgbClr val="7A3E9D"/>
                </a:solidFill>
              </a:rPr>
              <a:t>Ω</a:t>
            </a:r>
            <a:endParaRPr lang="en-US" sz="1700" b="1">
              <a:solidFill>
                <a:srgbClr val="7A3E9D"/>
              </a:solidFill>
              <a:latin typeface="DM Sans" pitchFamily="2" charset="0"/>
            </a:endParaRPr>
          </a:p>
        </p:txBody>
      </p:sp>
      <p:sp>
        <p:nvSpPr>
          <p:cNvPr id="42" name="given">
            <a:extLst>
              <a:ext uri="{FF2B5EF4-FFF2-40B4-BE49-F238E27FC236}">
                <a16:creationId xmlns:a16="http://schemas.microsoft.com/office/drawing/2014/main" id="{CE98A862-AF97-86A0-BE4A-C756613550FC}"/>
              </a:ext>
            </a:extLst>
          </p:cNvPr>
          <p:cNvSpPr/>
          <p:nvPr/>
        </p:nvSpPr>
        <p:spPr>
          <a:xfrm>
            <a:off x="914400" y="8929984"/>
            <a:ext cx="118745" cy="118745"/>
          </a:xfrm>
          <a:prstGeom prst="rect">
            <a:avLst/>
          </a:prstGeom>
          <a:solidFill>
            <a:srgbClr val="0E7C7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given">
            <a:extLst>
              <a:ext uri="{FF2B5EF4-FFF2-40B4-BE49-F238E27FC236}">
                <a16:creationId xmlns:a16="http://schemas.microsoft.com/office/drawing/2014/main" id="{153CA5F8-A2F2-8E4A-568D-EA591E862CBC}"/>
              </a:ext>
            </a:extLst>
          </p:cNvPr>
          <p:cNvSpPr txBox="1"/>
          <p:nvPr/>
        </p:nvSpPr>
        <p:spPr>
          <a:xfrm>
            <a:off x="1130300" y="8854419"/>
            <a:ext cx="5753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D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</a:t>
            </a:r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S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6 k</a:t>
            </a:r>
            <a:r>
              <a:rPr lang="el-GR" sz="1700" b="1">
                <a:solidFill>
                  <a:srgbClr val="0E7C7B"/>
                </a:solidFill>
              </a:rPr>
              <a:t>Ω</a:t>
            </a:r>
            <a:endParaRPr lang="en-US" sz="1700" b="1">
              <a:solidFill>
                <a:srgbClr val="0E7C7B"/>
              </a:solidFill>
              <a:latin typeface="DM Sans" pitchFamily="2" charset="0"/>
            </a:endParaRPr>
          </a:p>
        </p:txBody>
      </p:sp>
      <p:sp>
        <p:nvSpPr>
          <p:cNvPr id="44" name="given">
            <a:extLst>
              <a:ext uri="{FF2B5EF4-FFF2-40B4-BE49-F238E27FC236}">
                <a16:creationId xmlns:a16="http://schemas.microsoft.com/office/drawing/2014/main" id="{07B61BD6-E26E-3501-2D58-1D6BFFD96704}"/>
              </a:ext>
            </a:extLst>
          </p:cNvPr>
          <p:cNvSpPr/>
          <p:nvPr/>
        </p:nvSpPr>
        <p:spPr>
          <a:xfrm>
            <a:off x="914400" y="9216994"/>
            <a:ext cx="118745" cy="118745"/>
          </a:xfrm>
          <a:prstGeom prst="rect">
            <a:avLst/>
          </a:prstGeom>
          <a:solidFill>
            <a:srgbClr val="B018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given">
            <a:extLst>
              <a:ext uri="{FF2B5EF4-FFF2-40B4-BE49-F238E27FC236}">
                <a16:creationId xmlns:a16="http://schemas.microsoft.com/office/drawing/2014/main" id="{35DCA626-604F-A19C-3709-F01D961326AA}"/>
              </a:ext>
            </a:extLst>
          </p:cNvPr>
          <p:cNvSpPr txBox="1"/>
          <p:nvPr/>
        </p:nvSpPr>
        <p:spPr>
          <a:xfrm>
            <a:off x="1130300" y="9141430"/>
            <a:ext cx="5753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pl-PL" sz="1700" b="1" i="1">
                <a:solidFill>
                  <a:srgbClr val="B0186B"/>
                </a:solidFill>
                <a:latin typeface="DM Sans" pitchFamily="2" charset="0"/>
              </a:rPr>
              <a:t>V</a:t>
            </a:r>
            <a:r>
              <a:rPr lang="pl-PL" sz="1700" b="1" i="1" baseline="-25000">
                <a:solidFill>
                  <a:srgbClr val="B0186B"/>
                </a:solidFill>
                <a:latin typeface="DM Sans" pitchFamily="2" charset="0"/>
              </a:rPr>
              <a:t>t</a:t>
            </a:r>
            <a:r>
              <a:rPr lang="pl-PL" sz="1700" b="1">
                <a:solidFill>
                  <a:srgbClr val="B0186B"/>
                </a:solidFill>
                <a:latin typeface="DM Sans" pitchFamily="2" charset="0"/>
              </a:rPr>
              <a:t> = 1 V,   k′</a:t>
            </a:r>
            <a:r>
              <a:rPr lang="pl-PL" sz="1700" b="1" baseline="-25000">
                <a:solidFill>
                  <a:srgbClr val="B0186B"/>
                </a:solidFill>
                <a:latin typeface="DM Sans" pitchFamily="2" charset="0"/>
              </a:rPr>
              <a:t>n</a:t>
            </a:r>
            <a:r>
              <a:rPr lang="pl-PL" sz="1700" b="1">
                <a:solidFill>
                  <a:srgbClr val="B0186B"/>
                </a:solidFill>
                <a:latin typeface="DM Sans" pitchFamily="2" charset="0"/>
              </a:rPr>
              <a:t>(W/L) = 1 mA/V²</a:t>
            </a:r>
            <a:endParaRPr lang="en-US" sz="1700" b="1">
              <a:solidFill>
                <a:srgbClr val="B0186B"/>
              </a:solidFill>
              <a:latin typeface="DM Sans" pitchFamily="2" charset="0"/>
            </a:endParaRPr>
          </a:p>
        </p:txBody>
      </p:sp>
      <p:sp>
        <p:nvSpPr>
          <p:cNvPr id="46" name="question">
            <a:extLst>
              <a:ext uri="{FF2B5EF4-FFF2-40B4-BE49-F238E27FC236}">
                <a16:creationId xmlns:a16="http://schemas.microsoft.com/office/drawing/2014/main" id="{70EADDC6-B3F6-3C4A-4BEB-44920CCD9AE5}"/>
              </a:ext>
            </a:extLst>
          </p:cNvPr>
          <p:cNvSpPr txBox="1"/>
          <p:nvPr/>
        </p:nvSpPr>
        <p:spPr>
          <a:xfrm>
            <a:off x="7366000" y="1904999"/>
            <a:ext cx="10007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 b="1">
                <a:solidFill>
                  <a:srgbClr val="15241D"/>
                </a:solidFill>
                <a:latin typeface="DM Sans" pitchFamily="2" charset="0"/>
              </a:rPr>
              <a:t>Find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the drain voltage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. The MOSFET’s region is not given.</a:t>
            </a:r>
          </a:p>
        </p:txBody>
      </p:sp>
      <p:sp>
        <p:nvSpPr>
          <p:cNvPr id="47" name="badge @1">
            <a:extLst>
              <a:ext uri="{FF2B5EF4-FFF2-40B4-BE49-F238E27FC236}">
                <a16:creationId xmlns:a16="http://schemas.microsoft.com/office/drawing/2014/main" id="{28F54E10-D6AD-6BB5-E69E-2F6A57007E81}"/>
              </a:ext>
            </a:extLst>
          </p:cNvPr>
          <p:cNvSpPr/>
          <p:nvPr/>
        </p:nvSpPr>
        <p:spPr>
          <a:xfrm>
            <a:off x="7366000" y="26162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48" name="step @1">
            <a:extLst>
              <a:ext uri="{FF2B5EF4-FFF2-40B4-BE49-F238E27FC236}">
                <a16:creationId xmlns:a16="http://schemas.microsoft.com/office/drawing/2014/main" id="{80A1739F-C0EB-B215-306E-014BB17C22C8}"/>
              </a:ext>
            </a:extLst>
          </p:cNvPr>
          <p:cNvSpPr txBox="1"/>
          <p:nvPr/>
        </p:nvSpPr>
        <p:spPr>
          <a:xfrm>
            <a:off x="7950200" y="2603500"/>
            <a:ext cx="9423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Find the gate voltage </a:t>
            </a:r>
            <a:r>
              <a:rPr lang="en-US" sz="2000" b="1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000" b="1" i="1" baseline="-25000">
                <a:solidFill>
                  <a:srgbClr val="15241D"/>
                </a:solidFill>
                <a:latin typeface="DM Sans" pitchFamily="2" charset="0"/>
              </a:rPr>
              <a:t>G</a:t>
            </a:r>
          </a:p>
        </p:txBody>
      </p:sp>
      <p:sp>
        <p:nvSpPr>
          <p:cNvPr id="49" name="note @1">
            <a:extLst>
              <a:ext uri="{FF2B5EF4-FFF2-40B4-BE49-F238E27FC236}">
                <a16:creationId xmlns:a16="http://schemas.microsoft.com/office/drawing/2014/main" id="{F8133F9C-9151-D8A5-A5E5-497EDEEB4E59}"/>
              </a:ext>
            </a:extLst>
          </p:cNvPr>
          <p:cNvSpPr txBox="1"/>
          <p:nvPr/>
        </p:nvSpPr>
        <p:spPr>
          <a:xfrm>
            <a:off x="7950200" y="2936677"/>
            <a:ext cx="94234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No current flows into the gate, so R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G1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and R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G2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form an unloaded voltage divider.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eq @1">
                <a:extLst>
                  <a:ext uri="{FF2B5EF4-FFF2-40B4-BE49-F238E27FC236}">
                    <a16:creationId xmlns:a16="http://schemas.microsoft.com/office/drawing/2014/main" id="{84CCAD2B-81BA-7DFE-9428-C67B85B0BA93}"/>
                  </a:ext>
                </a:extLst>
              </p:cNvPr>
              <p:cNvSpPr txBox="1"/>
              <p:nvPr/>
            </p:nvSpPr>
            <p:spPr>
              <a:xfrm>
                <a:off x="7950200" y="3223686"/>
                <a:ext cx="9423400" cy="70104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b="1">
                              <a:solidFill>
                                <a:srgbClr val="1F6FA8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1">
                              <a:solidFill>
                                <a:srgbClr val="1F6FA8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400" b="1">
                              <a:solidFill>
                                <a:srgbClr val="1F6FA8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f>
                        <m:fPr>
                          <m:ctrlPr>
                            <a:rPr lang="en-US" sz="2400" b="0" i="1">
                              <a:solidFill>
                                <a:srgbClr val="1F6FA8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r>
                        <a:rPr lang="en-US" sz="2400" b="1">
                          <a:solidFill>
                            <a:srgbClr val="1F6FA8"/>
                          </a:solidFill>
                          <a:latin typeface="Cambria Math"/>
                          <a:cs typeface="Cambria Math"/>
                        </a:rPr>
                        <m:t>10</m:t>
                      </m:r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·</m:t>
                      </m:r>
                      <m:f>
                        <m:fPr>
                          <m:ctrlPr>
                            <a:rPr lang="en-US" sz="2400" b="1">
                              <a:solidFill>
                                <a:srgbClr val="7A3E9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1">
                              <a:solidFill>
                                <a:srgbClr val="7A3E9D"/>
                              </a:solidFill>
                              <a:latin typeface="Cambria Math"/>
                              <a:cs typeface="Cambria Math"/>
                            </a:rPr>
                            <m:t>10</m:t>
                          </m:r>
                        </m:num>
                        <m:den>
                          <m:r>
                            <a:rPr lang="en-US" sz="2400" b="1">
                              <a:solidFill>
                                <a:srgbClr val="7A3E9D"/>
                              </a:solidFill>
                              <a:latin typeface="Cambria Math"/>
                              <a:cs typeface="Cambria Math"/>
                            </a:rPr>
                            <m:t>10</m:t>
                          </m:r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r>
                            <a:rPr lang="en-US" sz="2400" b="1">
                              <a:solidFill>
                                <a:srgbClr val="7A3E9D"/>
                              </a:solidFill>
                              <a:latin typeface="Cambria Math"/>
                              <a:cs typeface="Cambria Math"/>
                            </a:rPr>
                            <m:t>10</m:t>
                          </m:r>
                        </m:den>
                      </m:f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0" name="eq @1">
                <a:extLst>
                  <a:ext uri="{FF2B5EF4-FFF2-40B4-BE49-F238E27FC236}">
                    <a16:creationId xmlns:a16="http://schemas.microsoft.com/office/drawing/2014/main" id="{84CCAD2B-81BA-7DFE-9428-C67B85B0BA93}"/>
                  </a:ext>
                </a:extLst>
              </p:cNvPr>
              <p:cNvSpPr txBox="1"/>
              <p:nvPr/>
            </p:nvSpPr>
            <p:spPr>
              <a:xfrm>
                <a:off x="7950200" y="3223686"/>
                <a:ext cx="9423400" cy="70104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V_G = \textcolor{#1F6FA8}{V_{DD}}\,\frac{\textcolor{#7A3E9D}{R_{G2}}}{\textcolor{#7A3E9D}{R_{G1}}+\textcolor{#7A3E9D}{R_{G2}}} = \textcolor{#1F6FA8}{10}\cdot\frac{\textcolor{#7A3E9D}{10}}{\textcolor{#7A3E9D}{10}+\textcolor{#7A3E9D}{10}} = 5\ \mathrm{V}</a:t>
                </a:r>
              </a:p>
            </p:txBody>
          </p:sp>
        </mc:Fallback>
      </mc:AlternateContent>
      <p:sp>
        <p:nvSpPr>
          <p:cNvPr id="59" name="chrome page">
            <a:extLst>
              <a:ext uri="{FF2B5EF4-FFF2-40B4-BE49-F238E27FC236}">
                <a16:creationId xmlns:a16="http://schemas.microsoft.com/office/drawing/2014/main" id="{90A1D009-6D35-47B5-0780-D0CA1AE1D715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hrome page">
            <a:extLst>
              <a:ext uri="{FF2B5EF4-FFF2-40B4-BE49-F238E27FC236}">
                <a16:creationId xmlns:a16="http://schemas.microsoft.com/office/drawing/2014/main" id="{5D604775-DCC6-E85F-9929-195A2F4A4234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4039549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 1: find the drain volt s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388CE88-7EC6-9725-7E7B-1C87DB408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Example 1: find the drain voltage (1 of 2)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502D4E38-8381-3B1E-F02B-31A38F9E75CF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486193B3-405E-3629-A5E6-7F91B844830C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80637731-76B8-1CDB-513B-80D98EDCD56A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circuit card">
            <a:extLst>
              <a:ext uri="{FF2B5EF4-FFF2-40B4-BE49-F238E27FC236}">
                <a16:creationId xmlns:a16="http://schemas.microsoft.com/office/drawing/2014/main" id="{FDEAA09A-D229-5742-EB8A-8DC174F45B45}"/>
              </a:ext>
            </a:extLst>
          </p:cNvPr>
          <p:cNvSpPr/>
          <p:nvPr/>
        </p:nvSpPr>
        <p:spPr>
          <a:xfrm>
            <a:off x="914400" y="1905000"/>
            <a:ext cx="5969000" cy="5715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75E3DF4D-A3C8-0209-AF7E-64A8B51A72B9}"/>
              </a:ext>
            </a:extLst>
          </p:cNvPr>
          <p:cNvSpPr/>
          <p:nvPr/>
        </p:nvSpPr>
        <p:spPr>
          <a:xfrm>
            <a:off x="914400" y="1892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kt">
            <a:extLst>
              <a:ext uri="{FF2B5EF4-FFF2-40B4-BE49-F238E27FC236}">
                <a16:creationId xmlns:a16="http://schemas.microsoft.com/office/drawing/2014/main" id="{19C9D1B5-6764-2A33-950D-77042C09C1A6}"/>
              </a:ext>
            </a:extLst>
          </p:cNvPr>
          <p:cNvSpPr/>
          <p:nvPr/>
        </p:nvSpPr>
        <p:spPr>
          <a:xfrm>
            <a:off x="4464050" y="22923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ckt">
            <a:extLst>
              <a:ext uri="{FF2B5EF4-FFF2-40B4-BE49-F238E27FC236}">
                <a16:creationId xmlns:a16="http://schemas.microsoft.com/office/drawing/2014/main" id="{BC1680E3-E964-D5B2-EB9E-6779299F8E85}"/>
              </a:ext>
            </a:extLst>
          </p:cNvPr>
          <p:cNvCxnSpPr/>
          <p:nvPr/>
        </p:nvCxnSpPr>
        <p:spPr>
          <a:xfrm>
            <a:off x="4533900" y="2432050"/>
            <a:ext cx="0" cy="51435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kt label">
            <a:extLst>
              <a:ext uri="{FF2B5EF4-FFF2-40B4-BE49-F238E27FC236}">
                <a16:creationId xmlns:a16="http://schemas.microsoft.com/office/drawing/2014/main" id="{F34192B6-3E37-A38B-53DC-312CA9895B78}"/>
              </a:ext>
            </a:extLst>
          </p:cNvPr>
          <p:cNvSpPr txBox="1"/>
          <p:nvPr/>
        </p:nvSpPr>
        <p:spPr>
          <a:xfrm>
            <a:off x="4711700" y="21653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b="1">
                <a:solidFill>
                  <a:srgbClr val="1F6FA8"/>
                </a:solidFill>
                <a:latin typeface="DM Sans" pitchFamily="2" charset="0"/>
              </a:rPr>
              <a:t>+</a:t>
            </a:r>
            <a:r>
              <a:rPr lang="en-US" b="1" i="1">
                <a:solidFill>
                  <a:srgbClr val="1F6FA8"/>
                </a:solidFill>
                <a:latin typeface="DM Sans" pitchFamily="2" charset="0"/>
              </a:rPr>
              <a:t>V</a:t>
            </a:r>
            <a:r>
              <a:rPr lang="en-US" b="1" i="1" baseline="-25000">
                <a:solidFill>
                  <a:srgbClr val="1F6FA8"/>
                </a:solidFill>
                <a:latin typeface="DM Sans" pitchFamily="2" charset="0"/>
              </a:rPr>
              <a:t>DD</a:t>
            </a:r>
            <a:r>
              <a:rPr lang="en-US" b="1">
                <a:solidFill>
                  <a:srgbClr val="1F6FA8"/>
                </a:solidFill>
                <a:latin typeface="DM Sans" pitchFamily="2" charset="0"/>
              </a:rPr>
              <a:t> = 10 V</a:t>
            </a:r>
          </a:p>
        </p:txBody>
      </p:sp>
      <p:cxnSp>
        <p:nvCxnSpPr>
          <p:cNvPr id="11" name="ckt">
            <a:extLst>
              <a:ext uri="{FF2B5EF4-FFF2-40B4-BE49-F238E27FC236}">
                <a16:creationId xmlns:a16="http://schemas.microsoft.com/office/drawing/2014/main" id="{1297D368-4A70-E28F-E5EC-F9D4AF48D73B}"/>
              </a:ext>
            </a:extLst>
          </p:cNvPr>
          <p:cNvCxnSpPr/>
          <p:nvPr/>
        </p:nvCxnSpPr>
        <p:spPr>
          <a:xfrm>
            <a:off x="3327400" y="2946400"/>
            <a:ext cx="2413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kt">
            <a:extLst>
              <a:ext uri="{FF2B5EF4-FFF2-40B4-BE49-F238E27FC236}">
                <a16:creationId xmlns:a16="http://schemas.microsoft.com/office/drawing/2014/main" id="{68FA446B-AD94-DB68-2CBD-F80BEFCF1E55}"/>
              </a:ext>
            </a:extLst>
          </p:cNvPr>
          <p:cNvSpPr/>
          <p:nvPr/>
        </p:nvSpPr>
        <p:spPr>
          <a:xfrm>
            <a:off x="4476750" y="28892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kt">
            <a:extLst>
              <a:ext uri="{FF2B5EF4-FFF2-40B4-BE49-F238E27FC236}">
                <a16:creationId xmlns:a16="http://schemas.microsoft.com/office/drawing/2014/main" id="{0B6A9AF9-548C-CF87-622D-279A6C1EFB39}"/>
              </a:ext>
            </a:extLst>
          </p:cNvPr>
          <p:cNvCxnSpPr/>
          <p:nvPr/>
        </p:nvCxnSpPr>
        <p:spPr>
          <a:xfrm>
            <a:off x="3327400" y="7010400"/>
            <a:ext cx="2413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kt">
            <a:extLst>
              <a:ext uri="{FF2B5EF4-FFF2-40B4-BE49-F238E27FC236}">
                <a16:creationId xmlns:a16="http://schemas.microsoft.com/office/drawing/2014/main" id="{42F7185F-A5BF-9947-0BEE-476CC4F4652E}"/>
              </a:ext>
            </a:extLst>
          </p:cNvPr>
          <p:cNvSpPr/>
          <p:nvPr/>
        </p:nvSpPr>
        <p:spPr>
          <a:xfrm>
            <a:off x="4476750" y="69532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kt">
            <a:extLst>
              <a:ext uri="{FF2B5EF4-FFF2-40B4-BE49-F238E27FC236}">
                <a16:creationId xmlns:a16="http://schemas.microsoft.com/office/drawing/2014/main" id="{549F113D-0520-27ED-770B-DEDF68671C32}"/>
              </a:ext>
            </a:extLst>
          </p:cNvPr>
          <p:cNvCxnSpPr/>
          <p:nvPr/>
        </p:nvCxnSpPr>
        <p:spPr>
          <a:xfrm>
            <a:off x="4533900" y="70104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CC65533B-3931-E73B-9C27-78FA6803730D}"/>
              </a:ext>
            </a:extLst>
          </p:cNvPr>
          <p:cNvCxnSpPr/>
          <p:nvPr/>
        </p:nvCxnSpPr>
        <p:spPr>
          <a:xfrm>
            <a:off x="4343400" y="71628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9491B2DD-CA49-3D6E-50BD-4A2885B067FE}"/>
              </a:ext>
            </a:extLst>
          </p:cNvPr>
          <p:cNvCxnSpPr/>
          <p:nvPr/>
        </p:nvCxnSpPr>
        <p:spPr>
          <a:xfrm>
            <a:off x="4413250" y="72326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kt">
            <a:extLst>
              <a:ext uri="{FF2B5EF4-FFF2-40B4-BE49-F238E27FC236}">
                <a16:creationId xmlns:a16="http://schemas.microsoft.com/office/drawing/2014/main" id="{9E917E80-BD41-3BC1-E791-944BF5ECC6F7}"/>
              </a:ext>
            </a:extLst>
          </p:cNvPr>
          <p:cNvCxnSpPr/>
          <p:nvPr/>
        </p:nvCxnSpPr>
        <p:spPr>
          <a:xfrm>
            <a:off x="4483100" y="73025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kt">
            <a:extLst>
              <a:ext uri="{FF2B5EF4-FFF2-40B4-BE49-F238E27FC236}">
                <a16:creationId xmlns:a16="http://schemas.microsoft.com/office/drawing/2014/main" id="{E87490E1-D9E0-325B-D31C-E2A0C2C17886}"/>
              </a:ext>
            </a:extLst>
          </p:cNvPr>
          <p:cNvSpPr/>
          <p:nvPr/>
        </p:nvSpPr>
        <p:spPr>
          <a:xfrm>
            <a:off x="3200400" y="2946400"/>
            <a:ext cx="254001" cy="2032001"/>
          </a:xfrm>
          <a:custGeom>
            <a:avLst/>
            <a:gdLst/>
            <a:ahLst/>
            <a:cxnLst/>
            <a:rect l="0" t="0" r="0" b="0"/>
            <a:pathLst>
              <a:path w="254001" h="2032001">
                <a:moveTo>
                  <a:pt x="127000" y="0"/>
                </a:moveTo>
                <a:lnTo>
                  <a:pt x="127000" y="647700"/>
                </a:lnTo>
                <a:lnTo>
                  <a:pt x="0" y="709083"/>
                </a:lnTo>
                <a:lnTo>
                  <a:pt x="254000" y="831850"/>
                </a:lnTo>
                <a:lnTo>
                  <a:pt x="0" y="954617"/>
                </a:lnTo>
                <a:lnTo>
                  <a:pt x="254000" y="1077383"/>
                </a:lnTo>
                <a:lnTo>
                  <a:pt x="0" y="1200150"/>
                </a:lnTo>
                <a:lnTo>
                  <a:pt x="254000" y="1322917"/>
                </a:lnTo>
                <a:lnTo>
                  <a:pt x="127000" y="1384300"/>
                </a:lnTo>
                <a:lnTo>
                  <a:pt x="127000" y="20320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kt">
            <a:extLst>
              <a:ext uri="{FF2B5EF4-FFF2-40B4-BE49-F238E27FC236}">
                <a16:creationId xmlns:a16="http://schemas.microsoft.com/office/drawing/2014/main" id="{6C3CFF8A-D46E-A96B-4F41-5BE2206CE40B}"/>
              </a:ext>
            </a:extLst>
          </p:cNvPr>
          <p:cNvSpPr/>
          <p:nvPr/>
        </p:nvSpPr>
        <p:spPr>
          <a:xfrm>
            <a:off x="3200400" y="4978400"/>
            <a:ext cx="254001" cy="2032001"/>
          </a:xfrm>
          <a:custGeom>
            <a:avLst/>
            <a:gdLst/>
            <a:ahLst/>
            <a:cxnLst/>
            <a:rect l="0" t="0" r="0" b="0"/>
            <a:pathLst>
              <a:path w="254001" h="2032001">
                <a:moveTo>
                  <a:pt x="127000" y="0"/>
                </a:moveTo>
                <a:lnTo>
                  <a:pt x="127000" y="647700"/>
                </a:lnTo>
                <a:lnTo>
                  <a:pt x="0" y="709083"/>
                </a:lnTo>
                <a:lnTo>
                  <a:pt x="254000" y="831850"/>
                </a:lnTo>
                <a:lnTo>
                  <a:pt x="0" y="954617"/>
                </a:lnTo>
                <a:lnTo>
                  <a:pt x="254000" y="1077383"/>
                </a:lnTo>
                <a:lnTo>
                  <a:pt x="0" y="1200150"/>
                </a:lnTo>
                <a:lnTo>
                  <a:pt x="254000" y="1322917"/>
                </a:lnTo>
                <a:lnTo>
                  <a:pt x="127000" y="1384300"/>
                </a:lnTo>
                <a:lnTo>
                  <a:pt x="127000" y="20320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kt">
            <a:extLst>
              <a:ext uri="{FF2B5EF4-FFF2-40B4-BE49-F238E27FC236}">
                <a16:creationId xmlns:a16="http://schemas.microsoft.com/office/drawing/2014/main" id="{C2B84C50-393B-5A21-C62D-B237FE873EBE}"/>
              </a:ext>
            </a:extLst>
          </p:cNvPr>
          <p:cNvSpPr/>
          <p:nvPr/>
        </p:nvSpPr>
        <p:spPr>
          <a:xfrm>
            <a:off x="3270250" y="49212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kt label">
            <a:extLst>
              <a:ext uri="{FF2B5EF4-FFF2-40B4-BE49-F238E27FC236}">
                <a16:creationId xmlns:a16="http://schemas.microsoft.com/office/drawing/2014/main" id="{F76D124F-E56E-9572-06AE-097358E2FACA}"/>
              </a:ext>
            </a:extLst>
          </p:cNvPr>
          <p:cNvSpPr txBox="1"/>
          <p:nvPr/>
        </p:nvSpPr>
        <p:spPr>
          <a:xfrm>
            <a:off x="304800" y="37909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b="1" baseline="-25000">
                <a:solidFill>
                  <a:srgbClr val="7A3E9D"/>
                </a:solidFill>
                <a:latin typeface="DM Sans" pitchFamily="2" charset="0"/>
              </a:rPr>
              <a:t>G1</a:t>
            </a:r>
            <a:r>
              <a:rPr lang="en-US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b="1">
                <a:solidFill>
                  <a:srgbClr val="7A3E9D"/>
                </a:solidFill>
              </a:rPr>
              <a:t>Ω</a:t>
            </a:r>
            <a:endParaRPr lang="en-US" b="1">
              <a:solidFill>
                <a:srgbClr val="7A3E9D"/>
              </a:solidFill>
              <a:latin typeface="DM Sans" pitchFamily="2" charset="0"/>
            </a:endParaRPr>
          </a:p>
        </p:txBody>
      </p:sp>
      <p:sp>
        <p:nvSpPr>
          <p:cNvPr id="23" name="ckt label">
            <a:extLst>
              <a:ext uri="{FF2B5EF4-FFF2-40B4-BE49-F238E27FC236}">
                <a16:creationId xmlns:a16="http://schemas.microsoft.com/office/drawing/2014/main" id="{DC641877-F35C-E817-1EF8-494A0FC8F195}"/>
              </a:ext>
            </a:extLst>
          </p:cNvPr>
          <p:cNvSpPr txBox="1"/>
          <p:nvPr/>
        </p:nvSpPr>
        <p:spPr>
          <a:xfrm>
            <a:off x="304800" y="58229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b="1" baseline="-25000">
                <a:solidFill>
                  <a:srgbClr val="7A3E9D"/>
                </a:solidFill>
                <a:latin typeface="DM Sans" pitchFamily="2" charset="0"/>
              </a:rPr>
              <a:t>G2</a:t>
            </a:r>
            <a:r>
              <a:rPr lang="en-US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b="1">
                <a:solidFill>
                  <a:srgbClr val="7A3E9D"/>
                </a:solidFill>
              </a:rPr>
              <a:t>Ω</a:t>
            </a:r>
            <a:endParaRPr lang="en-US" b="1">
              <a:solidFill>
                <a:srgbClr val="7A3E9D"/>
              </a:solidFill>
              <a:latin typeface="DM Sans" pitchFamily="2" charset="0"/>
            </a:endParaRPr>
          </a:p>
        </p:txBody>
      </p:sp>
      <p:cxnSp>
        <p:nvCxnSpPr>
          <p:cNvPr id="24" name="ckt">
            <a:extLst>
              <a:ext uri="{FF2B5EF4-FFF2-40B4-BE49-F238E27FC236}">
                <a16:creationId xmlns:a16="http://schemas.microsoft.com/office/drawing/2014/main" id="{73C4B403-DE21-271E-60C8-6074E1451826}"/>
              </a:ext>
            </a:extLst>
          </p:cNvPr>
          <p:cNvCxnSpPr/>
          <p:nvPr/>
        </p:nvCxnSpPr>
        <p:spPr>
          <a:xfrm>
            <a:off x="5181600" y="45943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D0264B56-5C1D-5202-EE17-367E1A238319}"/>
              </a:ext>
            </a:extLst>
          </p:cNvPr>
          <p:cNvCxnSpPr/>
          <p:nvPr/>
        </p:nvCxnSpPr>
        <p:spPr>
          <a:xfrm>
            <a:off x="5308600" y="4445000"/>
            <a:ext cx="0" cy="1066800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3F4C545C-99F1-0450-F228-F6A0FDCEDDA9}"/>
              </a:ext>
            </a:extLst>
          </p:cNvPr>
          <p:cNvCxnSpPr/>
          <p:nvPr/>
        </p:nvCxnSpPr>
        <p:spPr>
          <a:xfrm>
            <a:off x="5308600" y="45466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8DE2FE91-3461-20EA-15AB-3AB1B4BD673E}"/>
              </a:ext>
            </a:extLst>
          </p:cNvPr>
          <p:cNvCxnSpPr/>
          <p:nvPr/>
        </p:nvCxnSpPr>
        <p:spPr>
          <a:xfrm>
            <a:off x="5308600" y="54102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BED9EC4C-E8F3-1C12-3A1C-3326492D3549}"/>
              </a:ext>
            </a:extLst>
          </p:cNvPr>
          <p:cNvCxnSpPr/>
          <p:nvPr/>
        </p:nvCxnSpPr>
        <p:spPr>
          <a:xfrm>
            <a:off x="5610860" y="5410200"/>
            <a:ext cx="12954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kt">
            <a:extLst>
              <a:ext uri="{FF2B5EF4-FFF2-40B4-BE49-F238E27FC236}">
                <a16:creationId xmlns:a16="http://schemas.microsoft.com/office/drawing/2014/main" id="{6F12BAF3-A214-7BB4-CE8C-51C172ACAA60}"/>
              </a:ext>
            </a:extLst>
          </p:cNvPr>
          <p:cNvCxnSpPr/>
          <p:nvPr/>
        </p:nvCxnSpPr>
        <p:spPr>
          <a:xfrm>
            <a:off x="3327400" y="4978400"/>
            <a:ext cx="18542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kt">
            <a:extLst>
              <a:ext uri="{FF2B5EF4-FFF2-40B4-BE49-F238E27FC236}">
                <a16:creationId xmlns:a16="http://schemas.microsoft.com/office/drawing/2014/main" id="{02D11C1B-B02E-4DCE-949A-FB2F2BE56A2B}"/>
              </a:ext>
            </a:extLst>
          </p:cNvPr>
          <p:cNvSpPr/>
          <p:nvPr/>
        </p:nvSpPr>
        <p:spPr>
          <a:xfrm>
            <a:off x="5613400" y="2946400"/>
            <a:ext cx="254001" cy="1168401"/>
          </a:xfrm>
          <a:custGeom>
            <a:avLst/>
            <a:gdLst/>
            <a:ahLst/>
            <a:cxnLst/>
            <a:rect l="0" t="0" r="0" b="0"/>
            <a:pathLst>
              <a:path w="254001" h="1168401">
                <a:moveTo>
                  <a:pt x="127000" y="0"/>
                </a:moveTo>
                <a:lnTo>
                  <a:pt x="127000" y="215900"/>
                </a:lnTo>
                <a:lnTo>
                  <a:pt x="0" y="277283"/>
                </a:lnTo>
                <a:lnTo>
                  <a:pt x="254000" y="400050"/>
                </a:lnTo>
                <a:lnTo>
                  <a:pt x="0" y="522817"/>
                </a:lnTo>
                <a:lnTo>
                  <a:pt x="254000" y="645583"/>
                </a:lnTo>
                <a:lnTo>
                  <a:pt x="0" y="768350"/>
                </a:lnTo>
                <a:lnTo>
                  <a:pt x="254000" y="891117"/>
                </a:lnTo>
                <a:lnTo>
                  <a:pt x="127000" y="952500"/>
                </a:lnTo>
                <a:lnTo>
                  <a:pt x="127000" y="11684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ckt">
            <a:extLst>
              <a:ext uri="{FF2B5EF4-FFF2-40B4-BE49-F238E27FC236}">
                <a16:creationId xmlns:a16="http://schemas.microsoft.com/office/drawing/2014/main" id="{73E58604-88AA-0DD8-0BFE-7C2FB7199334}"/>
              </a:ext>
            </a:extLst>
          </p:cNvPr>
          <p:cNvCxnSpPr/>
          <p:nvPr/>
        </p:nvCxnSpPr>
        <p:spPr>
          <a:xfrm>
            <a:off x="5740400" y="4114800"/>
            <a:ext cx="0" cy="431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kt">
            <a:extLst>
              <a:ext uri="{FF2B5EF4-FFF2-40B4-BE49-F238E27FC236}">
                <a16:creationId xmlns:a16="http://schemas.microsoft.com/office/drawing/2014/main" id="{4B26BB23-BFF8-EE1D-6652-4A1F8B5B957B}"/>
              </a:ext>
            </a:extLst>
          </p:cNvPr>
          <p:cNvSpPr/>
          <p:nvPr/>
        </p:nvSpPr>
        <p:spPr>
          <a:xfrm>
            <a:off x="5613400" y="5842000"/>
            <a:ext cx="254001" cy="1168401"/>
          </a:xfrm>
          <a:custGeom>
            <a:avLst/>
            <a:gdLst/>
            <a:ahLst/>
            <a:cxnLst/>
            <a:rect l="0" t="0" r="0" b="0"/>
            <a:pathLst>
              <a:path w="254001" h="1168401">
                <a:moveTo>
                  <a:pt x="127000" y="0"/>
                </a:moveTo>
                <a:lnTo>
                  <a:pt x="127000" y="215900"/>
                </a:lnTo>
                <a:lnTo>
                  <a:pt x="0" y="277283"/>
                </a:lnTo>
                <a:lnTo>
                  <a:pt x="254000" y="400050"/>
                </a:lnTo>
                <a:lnTo>
                  <a:pt x="0" y="522817"/>
                </a:lnTo>
                <a:lnTo>
                  <a:pt x="254000" y="645583"/>
                </a:lnTo>
                <a:lnTo>
                  <a:pt x="0" y="768350"/>
                </a:lnTo>
                <a:lnTo>
                  <a:pt x="254000" y="891117"/>
                </a:lnTo>
                <a:lnTo>
                  <a:pt x="127000" y="952500"/>
                </a:lnTo>
                <a:lnTo>
                  <a:pt x="127000" y="11684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ckt">
            <a:extLst>
              <a:ext uri="{FF2B5EF4-FFF2-40B4-BE49-F238E27FC236}">
                <a16:creationId xmlns:a16="http://schemas.microsoft.com/office/drawing/2014/main" id="{4214C5FE-B612-A59D-8E50-EE4CE4646DC4}"/>
              </a:ext>
            </a:extLst>
          </p:cNvPr>
          <p:cNvCxnSpPr/>
          <p:nvPr/>
        </p:nvCxnSpPr>
        <p:spPr>
          <a:xfrm>
            <a:off x="5740400" y="5410200"/>
            <a:ext cx="0" cy="431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kt label">
            <a:extLst>
              <a:ext uri="{FF2B5EF4-FFF2-40B4-BE49-F238E27FC236}">
                <a16:creationId xmlns:a16="http://schemas.microsoft.com/office/drawing/2014/main" id="{CD21857E-FDC3-5619-AFEB-0674EB803C42}"/>
              </a:ext>
            </a:extLst>
          </p:cNvPr>
          <p:cNvSpPr txBox="1"/>
          <p:nvPr/>
        </p:nvSpPr>
        <p:spPr>
          <a:xfrm>
            <a:off x="5969000" y="33591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b="1" i="1" baseline="-25000">
                <a:solidFill>
                  <a:srgbClr val="0E7C7B"/>
                </a:solidFill>
                <a:latin typeface="DM Sans" pitchFamily="2" charset="0"/>
              </a:rPr>
              <a:t>D</a:t>
            </a:r>
            <a:r>
              <a:rPr lang="en-US" b="1">
                <a:solidFill>
                  <a:srgbClr val="0E7C7B"/>
                </a:solidFill>
                <a:latin typeface="DM Sans" pitchFamily="2" charset="0"/>
              </a:rPr>
              <a:t> = 6 k</a:t>
            </a:r>
            <a:r>
              <a:rPr lang="el-GR" b="1">
                <a:solidFill>
                  <a:srgbClr val="0E7C7B"/>
                </a:solidFill>
              </a:rPr>
              <a:t>Ω</a:t>
            </a:r>
            <a:endParaRPr lang="en-US" b="1">
              <a:solidFill>
                <a:srgbClr val="0E7C7B"/>
              </a:solidFill>
              <a:latin typeface="DM Sans" pitchFamily="2" charset="0"/>
            </a:endParaRPr>
          </a:p>
        </p:txBody>
      </p:sp>
      <p:sp>
        <p:nvSpPr>
          <p:cNvPr id="35" name="ckt label">
            <a:extLst>
              <a:ext uri="{FF2B5EF4-FFF2-40B4-BE49-F238E27FC236}">
                <a16:creationId xmlns:a16="http://schemas.microsoft.com/office/drawing/2014/main" id="{C2A5079B-D273-26F2-4E6E-EDCB09156858}"/>
              </a:ext>
            </a:extLst>
          </p:cNvPr>
          <p:cNvSpPr txBox="1"/>
          <p:nvPr/>
        </p:nvSpPr>
        <p:spPr>
          <a:xfrm>
            <a:off x="5969000" y="62547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b="1" i="1" baseline="-25000">
                <a:solidFill>
                  <a:srgbClr val="0E7C7B"/>
                </a:solidFill>
                <a:latin typeface="DM Sans" pitchFamily="2" charset="0"/>
              </a:rPr>
              <a:t>S</a:t>
            </a:r>
            <a:r>
              <a:rPr lang="en-US" b="1">
                <a:solidFill>
                  <a:srgbClr val="0E7C7B"/>
                </a:solidFill>
                <a:latin typeface="DM Sans" pitchFamily="2" charset="0"/>
              </a:rPr>
              <a:t> = 6 k</a:t>
            </a:r>
            <a:r>
              <a:rPr lang="el-GR" b="1">
                <a:solidFill>
                  <a:srgbClr val="0E7C7B"/>
                </a:solidFill>
              </a:rPr>
              <a:t>Ω</a:t>
            </a:r>
            <a:endParaRPr lang="en-US" b="1">
              <a:solidFill>
                <a:srgbClr val="0E7C7B"/>
              </a:solidFill>
              <a:latin typeface="DM Sans" pitchFamily="2" charset="0"/>
            </a:endParaRPr>
          </a:p>
        </p:txBody>
      </p:sp>
      <p:sp>
        <p:nvSpPr>
          <p:cNvPr id="36" name="node @2">
            <a:extLst>
              <a:ext uri="{FF2B5EF4-FFF2-40B4-BE49-F238E27FC236}">
                <a16:creationId xmlns:a16="http://schemas.microsoft.com/office/drawing/2014/main" id="{400E1030-19DC-7EE9-BB42-BEDC31B73641}"/>
              </a:ext>
            </a:extLst>
          </p:cNvPr>
          <p:cNvSpPr txBox="1"/>
          <p:nvPr/>
        </p:nvSpPr>
        <p:spPr>
          <a:xfrm>
            <a:off x="3505200" y="4597399"/>
            <a:ext cx="1905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 i="1">
                <a:solidFill>
                  <a:srgbClr val="145A43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145A43"/>
                </a:solidFill>
                <a:latin typeface="DM Sans" pitchFamily="2" charset="0"/>
              </a:rPr>
              <a:t>G</a:t>
            </a:r>
            <a:r>
              <a:rPr lang="en-US" sz="1700" b="1">
                <a:solidFill>
                  <a:srgbClr val="145A43"/>
                </a:solidFill>
                <a:latin typeface="DM Sans" pitchFamily="2" charset="0"/>
              </a:rPr>
              <a:t> = 5 V</a:t>
            </a:r>
          </a:p>
        </p:txBody>
      </p:sp>
      <p:sp>
        <p:nvSpPr>
          <p:cNvPr id="37" name="given">
            <a:extLst>
              <a:ext uri="{FF2B5EF4-FFF2-40B4-BE49-F238E27FC236}">
                <a16:creationId xmlns:a16="http://schemas.microsoft.com/office/drawing/2014/main" id="{4787ABFC-74C6-841B-8C9B-F2301D33DAF1}"/>
              </a:ext>
            </a:extLst>
          </p:cNvPr>
          <p:cNvSpPr/>
          <p:nvPr/>
        </p:nvSpPr>
        <p:spPr>
          <a:xfrm>
            <a:off x="914400" y="7772400"/>
            <a:ext cx="105283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GIVEN</a:t>
            </a:r>
          </a:p>
        </p:txBody>
      </p:sp>
      <p:sp>
        <p:nvSpPr>
          <p:cNvPr id="38" name="given">
            <a:extLst>
              <a:ext uri="{FF2B5EF4-FFF2-40B4-BE49-F238E27FC236}">
                <a16:creationId xmlns:a16="http://schemas.microsoft.com/office/drawing/2014/main" id="{D775F1B6-6BA7-B638-3378-89CB9EBDD962}"/>
              </a:ext>
            </a:extLst>
          </p:cNvPr>
          <p:cNvSpPr/>
          <p:nvPr/>
        </p:nvSpPr>
        <p:spPr>
          <a:xfrm>
            <a:off x="914400" y="8355965"/>
            <a:ext cx="118745" cy="118745"/>
          </a:xfrm>
          <a:prstGeom prst="rect">
            <a:avLst/>
          </a:prstGeom>
          <a:solidFill>
            <a:srgbClr val="1F6F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given">
            <a:extLst>
              <a:ext uri="{FF2B5EF4-FFF2-40B4-BE49-F238E27FC236}">
                <a16:creationId xmlns:a16="http://schemas.microsoft.com/office/drawing/2014/main" id="{22D5079B-CB4F-1610-6F97-A52200ED4ECB}"/>
              </a:ext>
            </a:extLst>
          </p:cNvPr>
          <p:cNvSpPr txBox="1"/>
          <p:nvPr/>
        </p:nvSpPr>
        <p:spPr>
          <a:xfrm>
            <a:off x="1130300" y="8280400"/>
            <a:ext cx="5753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1F6FA8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1F6FA8"/>
                </a:solidFill>
                <a:latin typeface="DM Sans" pitchFamily="2" charset="0"/>
              </a:rPr>
              <a:t>DD</a:t>
            </a:r>
            <a:r>
              <a:rPr lang="en-US" sz="1700" b="1">
                <a:solidFill>
                  <a:srgbClr val="1F6FA8"/>
                </a:solidFill>
                <a:latin typeface="DM Sans" pitchFamily="2" charset="0"/>
              </a:rPr>
              <a:t> = 10 V</a:t>
            </a:r>
          </a:p>
        </p:txBody>
      </p:sp>
      <p:sp>
        <p:nvSpPr>
          <p:cNvPr id="40" name="given">
            <a:extLst>
              <a:ext uri="{FF2B5EF4-FFF2-40B4-BE49-F238E27FC236}">
                <a16:creationId xmlns:a16="http://schemas.microsoft.com/office/drawing/2014/main" id="{152AA92D-1D94-BDE1-09C4-0BB44BF0F293}"/>
              </a:ext>
            </a:extLst>
          </p:cNvPr>
          <p:cNvSpPr/>
          <p:nvPr/>
        </p:nvSpPr>
        <p:spPr>
          <a:xfrm>
            <a:off x="914400" y="8642975"/>
            <a:ext cx="118745" cy="118744"/>
          </a:xfrm>
          <a:prstGeom prst="rect">
            <a:avLst/>
          </a:prstGeom>
          <a:solidFill>
            <a:srgbClr val="7A3E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given">
            <a:extLst>
              <a:ext uri="{FF2B5EF4-FFF2-40B4-BE49-F238E27FC236}">
                <a16:creationId xmlns:a16="http://schemas.microsoft.com/office/drawing/2014/main" id="{72A23700-D5F8-6923-08D8-B901156868FE}"/>
              </a:ext>
            </a:extLst>
          </p:cNvPr>
          <p:cNvSpPr txBox="1"/>
          <p:nvPr/>
        </p:nvSpPr>
        <p:spPr>
          <a:xfrm>
            <a:off x="1130300" y="8567410"/>
            <a:ext cx="5753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sz="1700" b="1" baseline="-25000">
                <a:solidFill>
                  <a:srgbClr val="7A3E9D"/>
                </a:solidFill>
                <a:latin typeface="DM Sans" pitchFamily="2" charset="0"/>
              </a:rPr>
              <a:t>G1</a:t>
            </a:r>
            <a:r>
              <a:rPr lang="en-US" sz="1700" b="1">
                <a:solidFill>
                  <a:srgbClr val="7A3E9D"/>
                </a:solidFill>
                <a:latin typeface="DM Sans" pitchFamily="2" charset="0"/>
              </a:rPr>
              <a:t> = </a:t>
            </a:r>
            <a:r>
              <a:rPr lang="en-US" sz="1700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sz="1700" b="1" baseline="-25000">
                <a:solidFill>
                  <a:srgbClr val="7A3E9D"/>
                </a:solidFill>
                <a:latin typeface="DM Sans" pitchFamily="2" charset="0"/>
              </a:rPr>
              <a:t>G2</a:t>
            </a:r>
            <a:r>
              <a:rPr lang="en-US" sz="1700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sz="1700" b="1">
                <a:solidFill>
                  <a:srgbClr val="7A3E9D"/>
                </a:solidFill>
              </a:rPr>
              <a:t>Ω</a:t>
            </a:r>
            <a:endParaRPr lang="en-US" sz="1700" b="1">
              <a:solidFill>
                <a:srgbClr val="7A3E9D"/>
              </a:solidFill>
              <a:latin typeface="DM Sans" pitchFamily="2" charset="0"/>
            </a:endParaRPr>
          </a:p>
        </p:txBody>
      </p:sp>
      <p:sp>
        <p:nvSpPr>
          <p:cNvPr id="42" name="given">
            <a:extLst>
              <a:ext uri="{FF2B5EF4-FFF2-40B4-BE49-F238E27FC236}">
                <a16:creationId xmlns:a16="http://schemas.microsoft.com/office/drawing/2014/main" id="{CE98A862-AF97-86A0-BE4A-C756613550FC}"/>
              </a:ext>
            </a:extLst>
          </p:cNvPr>
          <p:cNvSpPr/>
          <p:nvPr/>
        </p:nvSpPr>
        <p:spPr>
          <a:xfrm>
            <a:off x="914400" y="8929984"/>
            <a:ext cx="118745" cy="118745"/>
          </a:xfrm>
          <a:prstGeom prst="rect">
            <a:avLst/>
          </a:prstGeom>
          <a:solidFill>
            <a:srgbClr val="0E7C7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given">
            <a:extLst>
              <a:ext uri="{FF2B5EF4-FFF2-40B4-BE49-F238E27FC236}">
                <a16:creationId xmlns:a16="http://schemas.microsoft.com/office/drawing/2014/main" id="{153CA5F8-A2F2-8E4A-568D-EA591E862CBC}"/>
              </a:ext>
            </a:extLst>
          </p:cNvPr>
          <p:cNvSpPr txBox="1"/>
          <p:nvPr/>
        </p:nvSpPr>
        <p:spPr>
          <a:xfrm>
            <a:off x="1130300" y="8854419"/>
            <a:ext cx="5753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D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</a:t>
            </a:r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S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6 k</a:t>
            </a:r>
            <a:r>
              <a:rPr lang="el-GR" sz="1700" b="1">
                <a:solidFill>
                  <a:srgbClr val="0E7C7B"/>
                </a:solidFill>
              </a:rPr>
              <a:t>Ω</a:t>
            </a:r>
            <a:endParaRPr lang="en-US" sz="1700" b="1">
              <a:solidFill>
                <a:srgbClr val="0E7C7B"/>
              </a:solidFill>
              <a:latin typeface="DM Sans" pitchFamily="2" charset="0"/>
            </a:endParaRPr>
          </a:p>
        </p:txBody>
      </p:sp>
      <p:sp>
        <p:nvSpPr>
          <p:cNvPr id="44" name="given">
            <a:extLst>
              <a:ext uri="{FF2B5EF4-FFF2-40B4-BE49-F238E27FC236}">
                <a16:creationId xmlns:a16="http://schemas.microsoft.com/office/drawing/2014/main" id="{07B61BD6-E26E-3501-2D58-1D6BFFD96704}"/>
              </a:ext>
            </a:extLst>
          </p:cNvPr>
          <p:cNvSpPr/>
          <p:nvPr/>
        </p:nvSpPr>
        <p:spPr>
          <a:xfrm>
            <a:off x="914400" y="9216994"/>
            <a:ext cx="118745" cy="118745"/>
          </a:xfrm>
          <a:prstGeom prst="rect">
            <a:avLst/>
          </a:prstGeom>
          <a:solidFill>
            <a:srgbClr val="B018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given">
            <a:extLst>
              <a:ext uri="{FF2B5EF4-FFF2-40B4-BE49-F238E27FC236}">
                <a16:creationId xmlns:a16="http://schemas.microsoft.com/office/drawing/2014/main" id="{35DCA626-604F-A19C-3709-F01D961326AA}"/>
              </a:ext>
            </a:extLst>
          </p:cNvPr>
          <p:cNvSpPr txBox="1"/>
          <p:nvPr/>
        </p:nvSpPr>
        <p:spPr>
          <a:xfrm>
            <a:off x="1130300" y="9141430"/>
            <a:ext cx="5753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pl-PL" sz="1700" b="1" i="1">
                <a:solidFill>
                  <a:srgbClr val="B0186B"/>
                </a:solidFill>
                <a:latin typeface="DM Sans" pitchFamily="2" charset="0"/>
              </a:rPr>
              <a:t>V</a:t>
            </a:r>
            <a:r>
              <a:rPr lang="pl-PL" sz="1700" b="1" i="1" baseline="-25000">
                <a:solidFill>
                  <a:srgbClr val="B0186B"/>
                </a:solidFill>
                <a:latin typeface="DM Sans" pitchFamily="2" charset="0"/>
              </a:rPr>
              <a:t>t</a:t>
            </a:r>
            <a:r>
              <a:rPr lang="pl-PL" sz="1700" b="1">
                <a:solidFill>
                  <a:srgbClr val="B0186B"/>
                </a:solidFill>
                <a:latin typeface="DM Sans" pitchFamily="2" charset="0"/>
              </a:rPr>
              <a:t> = 1 V,   k′</a:t>
            </a:r>
            <a:r>
              <a:rPr lang="pl-PL" sz="1700" b="1" baseline="-25000">
                <a:solidFill>
                  <a:srgbClr val="B0186B"/>
                </a:solidFill>
                <a:latin typeface="DM Sans" pitchFamily="2" charset="0"/>
              </a:rPr>
              <a:t>n</a:t>
            </a:r>
            <a:r>
              <a:rPr lang="pl-PL" sz="1700" b="1">
                <a:solidFill>
                  <a:srgbClr val="B0186B"/>
                </a:solidFill>
                <a:latin typeface="DM Sans" pitchFamily="2" charset="0"/>
              </a:rPr>
              <a:t>(W/L) = 1 mA/V²</a:t>
            </a:r>
            <a:endParaRPr lang="en-US" sz="1700" b="1">
              <a:solidFill>
                <a:srgbClr val="B0186B"/>
              </a:solidFill>
              <a:latin typeface="DM Sans" pitchFamily="2" charset="0"/>
            </a:endParaRPr>
          </a:p>
        </p:txBody>
      </p:sp>
      <p:sp>
        <p:nvSpPr>
          <p:cNvPr id="46" name="question">
            <a:extLst>
              <a:ext uri="{FF2B5EF4-FFF2-40B4-BE49-F238E27FC236}">
                <a16:creationId xmlns:a16="http://schemas.microsoft.com/office/drawing/2014/main" id="{70EADDC6-B3F6-3C4A-4BEB-44920CCD9AE5}"/>
              </a:ext>
            </a:extLst>
          </p:cNvPr>
          <p:cNvSpPr txBox="1"/>
          <p:nvPr/>
        </p:nvSpPr>
        <p:spPr>
          <a:xfrm>
            <a:off x="7366000" y="1904999"/>
            <a:ext cx="10007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 b="1">
                <a:solidFill>
                  <a:srgbClr val="15241D"/>
                </a:solidFill>
                <a:latin typeface="DM Sans" pitchFamily="2" charset="0"/>
              </a:rPr>
              <a:t>Find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the drain voltage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. The MOSFET’s region is not given.</a:t>
            </a:r>
          </a:p>
        </p:txBody>
      </p:sp>
      <p:sp>
        <p:nvSpPr>
          <p:cNvPr id="47" name="badge @1">
            <a:extLst>
              <a:ext uri="{FF2B5EF4-FFF2-40B4-BE49-F238E27FC236}">
                <a16:creationId xmlns:a16="http://schemas.microsoft.com/office/drawing/2014/main" id="{28F54E10-D6AD-6BB5-E69E-2F6A57007E81}"/>
              </a:ext>
            </a:extLst>
          </p:cNvPr>
          <p:cNvSpPr/>
          <p:nvPr/>
        </p:nvSpPr>
        <p:spPr>
          <a:xfrm>
            <a:off x="7366000" y="26162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48" name="step @1">
            <a:extLst>
              <a:ext uri="{FF2B5EF4-FFF2-40B4-BE49-F238E27FC236}">
                <a16:creationId xmlns:a16="http://schemas.microsoft.com/office/drawing/2014/main" id="{80A1739F-C0EB-B215-306E-014BB17C22C8}"/>
              </a:ext>
            </a:extLst>
          </p:cNvPr>
          <p:cNvSpPr txBox="1"/>
          <p:nvPr/>
        </p:nvSpPr>
        <p:spPr>
          <a:xfrm>
            <a:off x="7950200" y="2603500"/>
            <a:ext cx="9423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Find the gate voltage </a:t>
            </a:r>
            <a:r>
              <a:rPr lang="en-US" sz="2000" b="1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000" b="1" i="1" baseline="-25000">
                <a:solidFill>
                  <a:srgbClr val="15241D"/>
                </a:solidFill>
                <a:latin typeface="DM Sans" pitchFamily="2" charset="0"/>
              </a:rPr>
              <a:t>G</a:t>
            </a:r>
          </a:p>
        </p:txBody>
      </p:sp>
      <p:sp>
        <p:nvSpPr>
          <p:cNvPr id="49" name="note @1">
            <a:extLst>
              <a:ext uri="{FF2B5EF4-FFF2-40B4-BE49-F238E27FC236}">
                <a16:creationId xmlns:a16="http://schemas.microsoft.com/office/drawing/2014/main" id="{F8133F9C-9151-D8A5-A5E5-497EDEEB4E59}"/>
              </a:ext>
            </a:extLst>
          </p:cNvPr>
          <p:cNvSpPr txBox="1"/>
          <p:nvPr/>
        </p:nvSpPr>
        <p:spPr>
          <a:xfrm>
            <a:off x="7950200" y="2936677"/>
            <a:ext cx="94234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No current flows into the gate, so R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G1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and R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G2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form an unloaded voltage divider.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eq @1">
                <a:extLst>
                  <a:ext uri="{FF2B5EF4-FFF2-40B4-BE49-F238E27FC236}">
                    <a16:creationId xmlns:a16="http://schemas.microsoft.com/office/drawing/2014/main" id="{84CCAD2B-81BA-7DFE-9428-C67B85B0BA93}"/>
                  </a:ext>
                </a:extLst>
              </p:cNvPr>
              <p:cNvSpPr txBox="1"/>
              <p:nvPr/>
            </p:nvSpPr>
            <p:spPr>
              <a:xfrm>
                <a:off x="7950200" y="3223686"/>
                <a:ext cx="9423400" cy="70104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b="1">
                              <a:solidFill>
                                <a:srgbClr val="1F6FA8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1">
                              <a:solidFill>
                                <a:srgbClr val="1F6FA8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400" b="1">
                              <a:solidFill>
                                <a:srgbClr val="1F6FA8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f>
                        <m:fPr>
                          <m:ctrlPr>
                            <a:rPr lang="en-US" sz="2400" b="1" i="1">
                              <a:solidFill>
                                <a:srgbClr val="7A3E9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r>
                        <a:rPr lang="en-US" sz="2400" b="1">
                          <a:solidFill>
                            <a:srgbClr val="1F6FA8"/>
                          </a:solidFill>
                          <a:latin typeface="Cambria Math"/>
                          <a:cs typeface="Cambria Math"/>
                        </a:rPr>
                        <m:t>10</m:t>
                      </m:r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·</m:t>
                      </m:r>
                      <m:f>
                        <m:fPr>
                          <m:ctrlPr>
                            <a:rPr lang="en-US" sz="2400" b="1">
                              <a:solidFill>
                                <a:srgbClr val="7A3E9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1">
                              <a:solidFill>
                                <a:srgbClr val="7A3E9D"/>
                              </a:solidFill>
                              <a:latin typeface="Cambria Math"/>
                              <a:cs typeface="Cambria Math"/>
                            </a:rPr>
                            <m:t>10</m:t>
                          </m:r>
                        </m:num>
                        <m:den>
                          <m:r>
                            <a:rPr lang="en-US" sz="2400" b="1">
                              <a:solidFill>
                                <a:srgbClr val="7A3E9D"/>
                              </a:solidFill>
                              <a:latin typeface="Cambria Math"/>
                              <a:cs typeface="Cambria Math"/>
                            </a:rPr>
                            <m:t>10</m:t>
                          </m:r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r>
                            <a:rPr lang="en-US" sz="2400" b="1">
                              <a:solidFill>
                                <a:srgbClr val="7A3E9D"/>
                              </a:solidFill>
                              <a:latin typeface="Cambria Math"/>
                              <a:cs typeface="Cambria Math"/>
                            </a:rPr>
                            <m:t>10</m:t>
                          </m:r>
                        </m:den>
                      </m:f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0" name="eq @1">
                <a:extLst>
                  <a:ext uri="{FF2B5EF4-FFF2-40B4-BE49-F238E27FC236}">
                    <a16:creationId xmlns:a16="http://schemas.microsoft.com/office/drawing/2014/main" id="{84CCAD2B-81BA-7DFE-9428-C67B85B0B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200" y="3223686"/>
                <a:ext cx="9423400" cy="701040"/>
              </a:xfrm>
              <a:prstGeom prst="rect">
                <a:avLst/>
              </a:prstGeom>
              <a:blipFill>
                <a:blip r:embed="rId2"/>
                <a:stretch>
                  <a:fillRect b="-3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badge @2">
            <a:extLst>
              <a:ext uri="{FF2B5EF4-FFF2-40B4-BE49-F238E27FC236}">
                <a16:creationId xmlns:a16="http://schemas.microsoft.com/office/drawing/2014/main" id="{0B75B9C8-1F3F-0693-FC2C-CB8E37A4ADA9}"/>
              </a:ext>
            </a:extLst>
          </p:cNvPr>
          <p:cNvSpPr/>
          <p:nvPr/>
        </p:nvSpPr>
        <p:spPr>
          <a:xfrm>
            <a:off x="7366000" y="4115227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2</a:t>
            </a:r>
          </a:p>
        </p:txBody>
      </p:sp>
      <p:sp>
        <p:nvSpPr>
          <p:cNvPr id="52" name="step @2">
            <a:extLst>
              <a:ext uri="{FF2B5EF4-FFF2-40B4-BE49-F238E27FC236}">
                <a16:creationId xmlns:a16="http://schemas.microsoft.com/office/drawing/2014/main" id="{B3BBB44A-9127-15FC-DC7F-6828DA3F374D}"/>
              </a:ext>
            </a:extLst>
          </p:cNvPr>
          <p:cNvSpPr txBox="1"/>
          <p:nvPr/>
        </p:nvSpPr>
        <p:spPr>
          <a:xfrm>
            <a:off x="7950200" y="4102527"/>
            <a:ext cx="9423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Assume the MOSFET is in saturation</a:t>
            </a:r>
          </a:p>
        </p:txBody>
      </p:sp>
      <p:sp>
        <p:nvSpPr>
          <p:cNvPr id="53" name="note @2">
            <a:extLst>
              <a:ext uri="{FF2B5EF4-FFF2-40B4-BE49-F238E27FC236}">
                <a16:creationId xmlns:a16="http://schemas.microsoft.com/office/drawing/2014/main" id="{B653BEF3-11A9-C521-EDBF-D501AC3D5581}"/>
              </a:ext>
            </a:extLst>
          </p:cNvPr>
          <p:cNvSpPr txBox="1"/>
          <p:nvPr/>
        </p:nvSpPr>
        <p:spPr>
          <a:xfrm>
            <a:off x="7950200" y="4435704"/>
            <a:ext cx="9423400" cy="5232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The region is unknown. Saturation is the usual bias region; we check this assumption at the end.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eq @2">
                <a:extLst>
                  <a:ext uri="{FF2B5EF4-FFF2-40B4-BE49-F238E27FC236}">
                    <a16:creationId xmlns:a16="http://schemas.microsoft.com/office/drawing/2014/main" id="{C2D4C5A6-DE6D-0718-0C55-83AA2AAC2414}"/>
                  </a:ext>
                </a:extLst>
              </p:cNvPr>
              <p:cNvSpPr txBox="1"/>
              <p:nvPr/>
            </p:nvSpPr>
            <p:spPr>
              <a:xfrm>
                <a:off x="7950200" y="4984323"/>
                <a:ext cx="9423400" cy="70104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4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4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4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4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4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4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4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4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4" name="eq @2">
                <a:extLst>
                  <a:ext uri="{FF2B5EF4-FFF2-40B4-BE49-F238E27FC236}">
                    <a16:creationId xmlns:a16="http://schemas.microsoft.com/office/drawing/2014/main" id="{C2D4C5A6-DE6D-0718-0C55-83AA2AAC2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200" y="4984323"/>
                <a:ext cx="9423400" cy="7010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chrome page">
            <a:extLst>
              <a:ext uri="{FF2B5EF4-FFF2-40B4-BE49-F238E27FC236}">
                <a16:creationId xmlns:a16="http://schemas.microsoft.com/office/drawing/2014/main" id="{8F7CFDA7-B082-1E71-F126-2776611F106B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hrome page">
            <a:extLst>
              <a:ext uri="{FF2B5EF4-FFF2-40B4-BE49-F238E27FC236}">
                <a16:creationId xmlns:a16="http://schemas.microsoft.com/office/drawing/2014/main" id="{BF2BCAB2-3447-7F6B-FCB4-FA0720BD2111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36801118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 1: find the drain volt s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388CE88-7EC6-9725-7E7B-1C87DB408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Example 1: find the drain voltage (1 of 2)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502D4E38-8381-3B1E-F02B-31A38F9E75CF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486193B3-405E-3629-A5E6-7F91B844830C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80637731-76B8-1CDB-513B-80D98EDCD56A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circuit card">
            <a:extLst>
              <a:ext uri="{FF2B5EF4-FFF2-40B4-BE49-F238E27FC236}">
                <a16:creationId xmlns:a16="http://schemas.microsoft.com/office/drawing/2014/main" id="{FDEAA09A-D229-5742-EB8A-8DC174F45B45}"/>
              </a:ext>
            </a:extLst>
          </p:cNvPr>
          <p:cNvSpPr/>
          <p:nvPr/>
        </p:nvSpPr>
        <p:spPr>
          <a:xfrm>
            <a:off x="914400" y="1905000"/>
            <a:ext cx="5969000" cy="5715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75E3DF4D-A3C8-0209-AF7E-64A8B51A72B9}"/>
              </a:ext>
            </a:extLst>
          </p:cNvPr>
          <p:cNvSpPr/>
          <p:nvPr/>
        </p:nvSpPr>
        <p:spPr>
          <a:xfrm>
            <a:off x="914400" y="1892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kt">
            <a:extLst>
              <a:ext uri="{FF2B5EF4-FFF2-40B4-BE49-F238E27FC236}">
                <a16:creationId xmlns:a16="http://schemas.microsoft.com/office/drawing/2014/main" id="{19C9D1B5-6764-2A33-950D-77042C09C1A6}"/>
              </a:ext>
            </a:extLst>
          </p:cNvPr>
          <p:cNvSpPr/>
          <p:nvPr/>
        </p:nvSpPr>
        <p:spPr>
          <a:xfrm>
            <a:off x="4464050" y="22923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ckt">
            <a:extLst>
              <a:ext uri="{FF2B5EF4-FFF2-40B4-BE49-F238E27FC236}">
                <a16:creationId xmlns:a16="http://schemas.microsoft.com/office/drawing/2014/main" id="{BC1680E3-E964-D5B2-EB9E-6779299F8E85}"/>
              </a:ext>
            </a:extLst>
          </p:cNvPr>
          <p:cNvCxnSpPr/>
          <p:nvPr/>
        </p:nvCxnSpPr>
        <p:spPr>
          <a:xfrm>
            <a:off x="4533900" y="2432050"/>
            <a:ext cx="0" cy="51435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kt label">
            <a:extLst>
              <a:ext uri="{FF2B5EF4-FFF2-40B4-BE49-F238E27FC236}">
                <a16:creationId xmlns:a16="http://schemas.microsoft.com/office/drawing/2014/main" id="{F34192B6-3E37-A38B-53DC-312CA9895B78}"/>
              </a:ext>
            </a:extLst>
          </p:cNvPr>
          <p:cNvSpPr txBox="1"/>
          <p:nvPr/>
        </p:nvSpPr>
        <p:spPr>
          <a:xfrm>
            <a:off x="4711700" y="21653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b="1">
                <a:solidFill>
                  <a:srgbClr val="1F6FA8"/>
                </a:solidFill>
                <a:latin typeface="DM Sans" pitchFamily="2" charset="0"/>
              </a:rPr>
              <a:t>+</a:t>
            </a:r>
            <a:r>
              <a:rPr lang="en-US" b="1" i="1">
                <a:solidFill>
                  <a:srgbClr val="1F6FA8"/>
                </a:solidFill>
                <a:latin typeface="DM Sans" pitchFamily="2" charset="0"/>
              </a:rPr>
              <a:t>V</a:t>
            </a:r>
            <a:r>
              <a:rPr lang="en-US" b="1" i="1" baseline="-25000">
                <a:solidFill>
                  <a:srgbClr val="1F6FA8"/>
                </a:solidFill>
                <a:latin typeface="DM Sans" pitchFamily="2" charset="0"/>
              </a:rPr>
              <a:t>DD</a:t>
            </a:r>
            <a:r>
              <a:rPr lang="en-US" b="1">
                <a:solidFill>
                  <a:srgbClr val="1F6FA8"/>
                </a:solidFill>
                <a:latin typeface="DM Sans" pitchFamily="2" charset="0"/>
              </a:rPr>
              <a:t> = 10 V</a:t>
            </a:r>
          </a:p>
        </p:txBody>
      </p:sp>
      <p:cxnSp>
        <p:nvCxnSpPr>
          <p:cNvPr id="11" name="ckt">
            <a:extLst>
              <a:ext uri="{FF2B5EF4-FFF2-40B4-BE49-F238E27FC236}">
                <a16:creationId xmlns:a16="http://schemas.microsoft.com/office/drawing/2014/main" id="{1297D368-4A70-E28F-E5EC-F9D4AF48D73B}"/>
              </a:ext>
            </a:extLst>
          </p:cNvPr>
          <p:cNvCxnSpPr/>
          <p:nvPr/>
        </p:nvCxnSpPr>
        <p:spPr>
          <a:xfrm>
            <a:off x="3327400" y="2946400"/>
            <a:ext cx="2413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kt">
            <a:extLst>
              <a:ext uri="{FF2B5EF4-FFF2-40B4-BE49-F238E27FC236}">
                <a16:creationId xmlns:a16="http://schemas.microsoft.com/office/drawing/2014/main" id="{68FA446B-AD94-DB68-2CBD-F80BEFCF1E55}"/>
              </a:ext>
            </a:extLst>
          </p:cNvPr>
          <p:cNvSpPr/>
          <p:nvPr/>
        </p:nvSpPr>
        <p:spPr>
          <a:xfrm>
            <a:off x="4476750" y="28892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kt">
            <a:extLst>
              <a:ext uri="{FF2B5EF4-FFF2-40B4-BE49-F238E27FC236}">
                <a16:creationId xmlns:a16="http://schemas.microsoft.com/office/drawing/2014/main" id="{0B6A9AF9-548C-CF87-622D-279A6C1EFB39}"/>
              </a:ext>
            </a:extLst>
          </p:cNvPr>
          <p:cNvCxnSpPr/>
          <p:nvPr/>
        </p:nvCxnSpPr>
        <p:spPr>
          <a:xfrm>
            <a:off x="3327400" y="7010400"/>
            <a:ext cx="2413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kt">
            <a:extLst>
              <a:ext uri="{FF2B5EF4-FFF2-40B4-BE49-F238E27FC236}">
                <a16:creationId xmlns:a16="http://schemas.microsoft.com/office/drawing/2014/main" id="{42F7185F-A5BF-9947-0BEE-476CC4F4652E}"/>
              </a:ext>
            </a:extLst>
          </p:cNvPr>
          <p:cNvSpPr/>
          <p:nvPr/>
        </p:nvSpPr>
        <p:spPr>
          <a:xfrm>
            <a:off x="4476750" y="69532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kt">
            <a:extLst>
              <a:ext uri="{FF2B5EF4-FFF2-40B4-BE49-F238E27FC236}">
                <a16:creationId xmlns:a16="http://schemas.microsoft.com/office/drawing/2014/main" id="{549F113D-0520-27ED-770B-DEDF68671C32}"/>
              </a:ext>
            </a:extLst>
          </p:cNvPr>
          <p:cNvCxnSpPr/>
          <p:nvPr/>
        </p:nvCxnSpPr>
        <p:spPr>
          <a:xfrm>
            <a:off x="4533900" y="70104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CC65533B-3931-E73B-9C27-78FA6803730D}"/>
              </a:ext>
            </a:extLst>
          </p:cNvPr>
          <p:cNvCxnSpPr/>
          <p:nvPr/>
        </p:nvCxnSpPr>
        <p:spPr>
          <a:xfrm>
            <a:off x="4343400" y="71628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9491B2DD-CA49-3D6E-50BD-4A2885B067FE}"/>
              </a:ext>
            </a:extLst>
          </p:cNvPr>
          <p:cNvCxnSpPr/>
          <p:nvPr/>
        </p:nvCxnSpPr>
        <p:spPr>
          <a:xfrm>
            <a:off x="4413250" y="72326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kt">
            <a:extLst>
              <a:ext uri="{FF2B5EF4-FFF2-40B4-BE49-F238E27FC236}">
                <a16:creationId xmlns:a16="http://schemas.microsoft.com/office/drawing/2014/main" id="{9E917E80-BD41-3BC1-E791-944BF5ECC6F7}"/>
              </a:ext>
            </a:extLst>
          </p:cNvPr>
          <p:cNvCxnSpPr/>
          <p:nvPr/>
        </p:nvCxnSpPr>
        <p:spPr>
          <a:xfrm>
            <a:off x="4483100" y="73025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kt">
            <a:extLst>
              <a:ext uri="{FF2B5EF4-FFF2-40B4-BE49-F238E27FC236}">
                <a16:creationId xmlns:a16="http://schemas.microsoft.com/office/drawing/2014/main" id="{E87490E1-D9E0-325B-D31C-E2A0C2C17886}"/>
              </a:ext>
            </a:extLst>
          </p:cNvPr>
          <p:cNvSpPr/>
          <p:nvPr/>
        </p:nvSpPr>
        <p:spPr>
          <a:xfrm>
            <a:off x="3200400" y="2946400"/>
            <a:ext cx="254001" cy="2032001"/>
          </a:xfrm>
          <a:custGeom>
            <a:avLst/>
            <a:gdLst/>
            <a:ahLst/>
            <a:cxnLst/>
            <a:rect l="0" t="0" r="0" b="0"/>
            <a:pathLst>
              <a:path w="254001" h="2032001">
                <a:moveTo>
                  <a:pt x="127000" y="0"/>
                </a:moveTo>
                <a:lnTo>
                  <a:pt x="127000" y="647700"/>
                </a:lnTo>
                <a:lnTo>
                  <a:pt x="0" y="709083"/>
                </a:lnTo>
                <a:lnTo>
                  <a:pt x="254000" y="831850"/>
                </a:lnTo>
                <a:lnTo>
                  <a:pt x="0" y="954617"/>
                </a:lnTo>
                <a:lnTo>
                  <a:pt x="254000" y="1077383"/>
                </a:lnTo>
                <a:lnTo>
                  <a:pt x="0" y="1200150"/>
                </a:lnTo>
                <a:lnTo>
                  <a:pt x="254000" y="1322917"/>
                </a:lnTo>
                <a:lnTo>
                  <a:pt x="127000" y="1384300"/>
                </a:lnTo>
                <a:lnTo>
                  <a:pt x="127000" y="20320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kt">
            <a:extLst>
              <a:ext uri="{FF2B5EF4-FFF2-40B4-BE49-F238E27FC236}">
                <a16:creationId xmlns:a16="http://schemas.microsoft.com/office/drawing/2014/main" id="{6C3CFF8A-D46E-A96B-4F41-5BE2206CE40B}"/>
              </a:ext>
            </a:extLst>
          </p:cNvPr>
          <p:cNvSpPr/>
          <p:nvPr/>
        </p:nvSpPr>
        <p:spPr>
          <a:xfrm>
            <a:off x="3200400" y="4978400"/>
            <a:ext cx="254001" cy="2032001"/>
          </a:xfrm>
          <a:custGeom>
            <a:avLst/>
            <a:gdLst/>
            <a:ahLst/>
            <a:cxnLst/>
            <a:rect l="0" t="0" r="0" b="0"/>
            <a:pathLst>
              <a:path w="254001" h="2032001">
                <a:moveTo>
                  <a:pt x="127000" y="0"/>
                </a:moveTo>
                <a:lnTo>
                  <a:pt x="127000" y="647700"/>
                </a:lnTo>
                <a:lnTo>
                  <a:pt x="0" y="709083"/>
                </a:lnTo>
                <a:lnTo>
                  <a:pt x="254000" y="831850"/>
                </a:lnTo>
                <a:lnTo>
                  <a:pt x="0" y="954617"/>
                </a:lnTo>
                <a:lnTo>
                  <a:pt x="254000" y="1077383"/>
                </a:lnTo>
                <a:lnTo>
                  <a:pt x="0" y="1200150"/>
                </a:lnTo>
                <a:lnTo>
                  <a:pt x="254000" y="1322917"/>
                </a:lnTo>
                <a:lnTo>
                  <a:pt x="127000" y="1384300"/>
                </a:lnTo>
                <a:lnTo>
                  <a:pt x="127000" y="20320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kt">
            <a:extLst>
              <a:ext uri="{FF2B5EF4-FFF2-40B4-BE49-F238E27FC236}">
                <a16:creationId xmlns:a16="http://schemas.microsoft.com/office/drawing/2014/main" id="{C2B84C50-393B-5A21-C62D-B237FE873EBE}"/>
              </a:ext>
            </a:extLst>
          </p:cNvPr>
          <p:cNvSpPr/>
          <p:nvPr/>
        </p:nvSpPr>
        <p:spPr>
          <a:xfrm>
            <a:off x="3270250" y="49212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kt label">
            <a:extLst>
              <a:ext uri="{FF2B5EF4-FFF2-40B4-BE49-F238E27FC236}">
                <a16:creationId xmlns:a16="http://schemas.microsoft.com/office/drawing/2014/main" id="{F76D124F-E56E-9572-06AE-097358E2FACA}"/>
              </a:ext>
            </a:extLst>
          </p:cNvPr>
          <p:cNvSpPr txBox="1"/>
          <p:nvPr/>
        </p:nvSpPr>
        <p:spPr>
          <a:xfrm>
            <a:off x="304800" y="37909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b="1" baseline="-25000">
                <a:solidFill>
                  <a:srgbClr val="7A3E9D"/>
                </a:solidFill>
                <a:latin typeface="DM Sans" pitchFamily="2" charset="0"/>
              </a:rPr>
              <a:t>G1</a:t>
            </a:r>
            <a:r>
              <a:rPr lang="en-US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b="1">
                <a:solidFill>
                  <a:srgbClr val="7A3E9D"/>
                </a:solidFill>
              </a:rPr>
              <a:t>Ω</a:t>
            </a:r>
            <a:endParaRPr lang="en-US" b="1">
              <a:solidFill>
                <a:srgbClr val="7A3E9D"/>
              </a:solidFill>
              <a:latin typeface="DM Sans" pitchFamily="2" charset="0"/>
            </a:endParaRPr>
          </a:p>
        </p:txBody>
      </p:sp>
      <p:sp>
        <p:nvSpPr>
          <p:cNvPr id="23" name="ckt label">
            <a:extLst>
              <a:ext uri="{FF2B5EF4-FFF2-40B4-BE49-F238E27FC236}">
                <a16:creationId xmlns:a16="http://schemas.microsoft.com/office/drawing/2014/main" id="{DC641877-F35C-E817-1EF8-494A0FC8F195}"/>
              </a:ext>
            </a:extLst>
          </p:cNvPr>
          <p:cNvSpPr txBox="1"/>
          <p:nvPr/>
        </p:nvSpPr>
        <p:spPr>
          <a:xfrm>
            <a:off x="304800" y="58229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b="1" baseline="-25000">
                <a:solidFill>
                  <a:srgbClr val="7A3E9D"/>
                </a:solidFill>
                <a:latin typeface="DM Sans" pitchFamily="2" charset="0"/>
              </a:rPr>
              <a:t>G2</a:t>
            </a:r>
            <a:r>
              <a:rPr lang="en-US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b="1">
                <a:solidFill>
                  <a:srgbClr val="7A3E9D"/>
                </a:solidFill>
              </a:rPr>
              <a:t>Ω</a:t>
            </a:r>
            <a:endParaRPr lang="en-US" b="1">
              <a:solidFill>
                <a:srgbClr val="7A3E9D"/>
              </a:solidFill>
              <a:latin typeface="DM Sans" pitchFamily="2" charset="0"/>
            </a:endParaRPr>
          </a:p>
        </p:txBody>
      </p:sp>
      <p:cxnSp>
        <p:nvCxnSpPr>
          <p:cNvPr id="24" name="ckt">
            <a:extLst>
              <a:ext uri="{FF2B5EF4-FFF2-40B4-BE49-F238E27FC236}">
                <a16:creationId xmlns:a16="http://schemas.microsoft.com/office/drawing/2014/main" id="{73C4B403-DE21-271E-60C8-6074E1451826}"/>
              </a:ext>
            </a:extLst>
          </p:cNvPr>
          <p:cNvCxnSpPr/>
          <p:nvPr/>
        </p:nvCxnSpPr>
        <p:spPr>
          <a:xfrm>
            <a:off x="5181600" y="45943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D0264B56-5C1D-5202-EE17-367E1A238319}"/>
              </a:ext>
            </a:extLst>
          </p:cNvPr>
          <p:cNvCxnSpPr/>
          <p:nvPr/>
        </p:nvCxnSpPr>
        <p:spPr>
          <a:xfrm>
            <a:off x="5308600" y="4445000"/>
            <a:ext cx="0" cy="1066800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3F4C545C-99F1-0450-F228-F6A0FDCEDDA9}"/>
              </a:ext>
            </a:extLst>
          </p:cNvPr>
          <p:cNvCxnSpPr/>
          <p:nvPr/>
        </p:nvCxnSpPr>
        <p:spPr>
          <a:xfrm>
            <a:off x="5308600" y="45466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8DE2FE91-3461-20EA-15AB-3AB1B4BD673E}"/>
              </a:ext>
            </a:extLst>
          </p:cNvPr>
          <p:cNvCxnSpPr/>
          <p:nvPr/>
        </p:nvCxnSpPr>
        <p:spPr>
          <a:xfrm>
            <a:off x="5308600" y="54102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BED9EC4C-E8F3-1C12-3A1C-3326492D3549}"/>
              </a:ext>
            </a:extLst>
          </p:cNvPr>
          <p:cNvCxnSpPr/>
          <p:nvPr/>
        </p:nvCxnSpPr>
        <p:spPr>
          <a:xfrm>
            <a:off x="5610860" y="5410200"/>
            <a:ext cx="12954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kt">
            <a:extLst>
              <a:ext uri="{FF2B5EF4-FFF2-40B4-BE49-F238E27FC236}">
                <a16:creationId xmlns:a16="http://schemas.microsoft.com/office/drawing/2014/main" id="{6F12BAF3-A214-7BB4-CE8C-51C172ACAA60}"/>
              </a:ext>
            </a:extLst>
          </p:cNvPr>
          <p:cNvCxnSpPr/>
          <p:nvPr/>
        </p:nvCxnSpPr>
        <p:spPr>
          <a:xfrm>
            <a:off x="3327400" y="4978400"/>
            <a:ext cx="18542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kt">
            <a:extLst>
              <a:ext uri="{FF2B5EF4-FFF2-40B4-BE49-F238E27FC236}">
                <a16:creationId xmlns:a16="http://schemas.microsoft.com/office/drawing/2014/main" id="{02D11C1B-B02E-4DCE-949A-FB2F2BE56A2B}"/>
              </a:ext>
            </a:extLst>
          </p:cNvPr>
          <p:cNvSpPr/>
          <p:nvPr/>
        </p:nvSpPr>
        <p:spPr>
          <a:xfrm>
            <a:off x="5613400" y="2946400"/>
            <a:ext cx="254001" cy="1168401"/>
          </a:xfrm>
          <a:custGeom>
            <a:avLst/>
            <a:gdLst/>
            <a:ahLst/>
            <a:cxnLst/>
            <a:rect l="0" t="0" r="0" b="0"/>
            <a:pathLst>
              <a:path w="254001" h="1168401">
                <a:moveTo>
                  <a:pt x="127000" y="0"/>
                </a:moveTo>
                <a:lnTo>
                  <a:pt x="127000" y="215900"/>
                </a:lnTo>
                <a:lnTo>
                  <a:pt x="0" y="277283"/>
                </a:lnTo>
                <a:lnTo>
                  <a:pt x="254000" y="400050"/>
                </a:lnTo>
                <a:lnTo>
                  <a:pt x="0" y="522817"/>
                </a:lnTo>
                <a:lnTo>
                  <a:pt x="254000" y="645583"/>
                </a:lnTo>
                <a:lnTo>
                  <a:pt x="0" y="768350"/>
                </a:lnTo>
                <a:lnTo>
                  <a:pt x="254000" y="891117"/>
                </a:lnTo>
                <a:lnTo>
                  <a:pt x="127000" y="952500"/>
                </a:lnTo>
                <a:lnTo>
                  <a:pt x="127000" y="11684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ckt">
            <a:extLst>
              <a:ext uri="{FF2B5EF4-FFF2-40B4-BE49-F238E27FC236}">
                <a16:creationId xmlns:a16="http://schemas.microsoft.com/office/drawing/2014/main" id="{73E58604-88AA-0DD8-0BFE-7C2FB7199334}"/>
              </a:ext>
            </a:extLst>
          </p:cNvPr>
          <p:cNvCxnSpPr/>
          <p:nvPr/>
        </p:nvCxnSpPr>
        <p:spPr>
          <a:xfrm>
            <a:off x="5740400" y="4114800"/>
            <a:ext cx="0" cy="431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kt">
            <a:extLst>
              <a:ext uri="{FF2B5EF4-FFF2-40B4-BE49-F238E27FC236}">
                <a16:creationId xmlns:a16="http://schemas.microsoft.com/office/drawing/2014/main" id="{4B26BB23-BFF8-EE1D-6652-4A1F8B5B957B}"/>
              </a:ext>
            </a:extLst>
          </p:cNvPr>
          <p:cNvSpPr/>
          <p:nvPr/>
        </p:nvSpPr>
        <p:spPr>
          <a:xfrm>
            <a:off x="5613400" y="5842000"/>
            <a:ext cx="254001" cy="1168401"/>
          </a:xfrm>
          <a:custGeom>
            <a:avLst/>
            <a:gdLst/>
            <a:ahLst/>
            <a:cxnLst/>
            <a:rect l="0" t="0" r="0" b="0"/>
            <a:pathLst>
              <a:path w="254001" h="1168401">
                <a:moveTo>
                  <a:pt x="127000" y="0"/>
                </a:moveTo>
                <a:lnTo>
                  <a:pt x="127000" y="215900"/>
                </a:lnTo>
                <a:lnTo>
                  <a:pt x="0" y="277283"/>
                </a:lnTo>
                <a:lnTo>
                  <a:pt x="254000" y="400050"/>
                </a:lnTo>
                <a:lnTo>
                  <a:pt x="0" y="522817"/>
                </a:lnTo>
                <a:lnTo>
                  <a:pt x="254000" y="645583"/>
                </a:lnTo>
                <a:lnTo>
                  <a:pt x="0" y="768350"/>
                </a:lnTo>
                <a:lnTo>
                  <a:pt x="254000" y="891117"/>
                </a:lnTo>
                <a:lnTo>
                  <a:pt x="127000" y="952500"/>
                </a:lnTo>
                <a:lnTo>
                  <a:pt x="127000" y="11684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ckt">
            <a:extLst>
              <a:ext uri="{FF2B5EF4-FFF2-40B4-BE49-F238E27FC236}">
                <a16:creationId xmlns:a16="http://schemas.microsoft.com/office/drawing/2014/main" id="{4214C5FE-B612-A59D-8E50-EE4CE4646DC4}"/>
              </a:ext>
            </a:extLst>
          </p:cNvPr>
          <p:cNvCxnSpPr/>
          <p:nvPr/>
        </p:nvCxnSpPr>
        <p:spPr>
          <a:xfrm>
            <a:off x="5740400" y="5410200"/>
            <a:ext cx="0" cy="431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kt label">
            <a:extLst>
              <a:ext uri="{FF2B5EF4-FFF2-40B4-BE49-F238E27FC236}">
                <a16:creationId xmlns:a16="http://schemas.microsoft.com/office/drawing/2014/main" id="{CD21857E-FDC3-5619-AFEB-0674EB803C42}"/>
              </a:ext>
            </a:extLst>
          </p:cNvPr>
          <p:cNvSpPr txBox="1"/>
          <p:nvPr/>
        </p:nvSpPr>
        <p:spPr>
          <a:xfrm>
            <a:off x="5969000" y="33591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b="1" i="1" baseline="-25000">
                <a:solidFill>
                  <a:srgbClr val="0E7C7B"/>
                </a:solidFill>
                <a:latin typeface="DM Sans" pitchFamily="2" charset="0"/>
              </a:rPr>
              <a:t>D</a:t>
            </a:r>
            <a:r>
              <a:rPr lang="en-US" b="1">
                <a:solidFill>
                  <a:srgbClr val="0E7C7B"/>
                </a:solidFill>
                <a:latin typeface="DM Sans" pitchFamily="2" charset="0"/>
              </a:rPr>
              <a:t> = 6 k</a:t>
            </a:r>
            <a:r>
              <a:rPr lang="el-GR" b="1">
                <a:solidFill>
                  <a:srgbClr val="0E7C7B"/>
                </a:solidFill>
              </a:rPr>
              <a:t>Ω</a:t>
            </a:r>
            <a:endParaRPr lang="en-US" b="1">
              <a:solidFill>
                <a:srgbClr val="0E7C7B"/>
              </a:solidFill>
              <a:latin typeface="DM Sans" pitchFamily="2" charset="0"/>
            </a:endParaRPr>
          </a:p>
        </p:txBody>
      </p:sp>
      <p:sp>
        <p:nvSpPr>
          <p:cNvPr id="35" name="ckt label">
            <a:extLst>
              <a:ext uri="{FF2B5EF4-FFF2-40B4-BE49-F238E27FC236}">
                <a16:creationId xmlns:a16="http://schemas.microsoft.com/office/drawing/2014/main" id="{C2A5079B-D273-26F2-4E6E-EDCB09156858}"/>
              </a:ext>
            </a:extLst>
          </p:cNvPr>
          <p:cNvSpPr txBox="1"/>
          <p:nvPr/>
        </p:nvSpPr>
        <p:spPr>
          <a:xfrm>
            <a:off x="5969000" y="62547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b="1" i="1" baseline="-25000">
                <a:solidFill>
                  <a:srgbClr val="0E7C7B"/>
                </a:solidFill>
                <a:latin typeface="DM Sans" pitchFamily="2" charset="0"/>
              </a:rPr>
              <a:t>S</a:t>
            </a:r>
            <a:r>
              <a:rPr lang="en-US" b="1">
                <a:solidFill>
                  <a:srgbClr val="0E7C7B"/>
                </a:solidFill>
                <a:latin typeface="DM Sans" pitchFamily="2" charset="0"/>
              </a:rPr>
              <a:t> = 6 k</a:t>
            </a:r>
            <a:r>
              <a:rPr lang="el-GR" b="1">
                <a:solidFill>
                  <a:srgbClr val="0E7C7B"/>
                </a:solidFill>
              </a:rPr>
              <a:t>Ω</a:t>
            </a:r>
            <a:endParaRPr lang="en-US" b="1">
              <a:solidFill>
                <a:srgbClr val="0E7C7B"/>
              </a:solidFill>
              <a:latin typeface="DM Sans" pitchFamily="2" charset="0"/>
            </a:endParaRPr>
          </a:p>
        </p:txBody>
      </p:sp>
      <p:sp>
        <p:nvSpPr>
          <p:cNvPr id="36" name="node @2">
            <a:extLst>
              <a:ext uri="{FF2B5EF4-FFF2-40B4-BE49-F238E27FC236}">
                <a16:creationId xmlns:a16="http://schemas.microsoft.com/office/drawing/2014/main" id="{400E1030-19DC-7EE9-BB42-BEDC31B73641}"/>
              </a:ext>
            </a:extLst>
          </p:cNvPr>
          <p:cNvSpPr txBox="1"/>
          <p:nvPr/>
        </p:nvSpPr>
        <p:spPr>
          <a:xfrm>
            <a:off x="3505200" y="4597399"/>
            <a:ext cx="1905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 i="1">
                <a:solidFill>
                  <a:srgbClr val="145A43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145A43"/>
                </a:solidFill>
                <a:latin typeface="DM Sans" pitchFamily="2" charset="0"/>
              </a:rPr>
              <a:t>G</a:t>
            </a:r>
            <a:r>
              <a:rPr lang="en-US" sz="1700" b="1">
                <a:solidFill>
                  <a:srgbClr val="145A43"/>
                </a:solidFill>
                <a:latin typeface="DM Sans" pitchFamily="2" charset="0"/>
              </a:rPr>
              <a:t> = 5 V</a:t>
            </a:r>
          </a:p>
        </p:txBody>
      </p:sp>
      <p:sp>
        <p:nvSpPr>
          <p:cNvPr id="37" name="given">
            <a:extLst>
              <a:ext uri="{FF2B5EF4-FFF2-40B4-BE49-F238E27FC236}">
                <a16:creationId xmlns:a16="http://schemas.microsoft.com/office/drawing/2014/main" id="{4787ABFC-74C6-841B-8C9B-F2301D33DAF1}"/>
              </a:ext>
            </a:extLst>
          </p:cNvPr>
          <p:cNvSpPr/>
          <p:nvPr/>
        </p:nvSpPr>
        <p:spPr>
          <a:xfrm>
            <a:off x="914400" y="7772400"/>
            <a:ext cx="105283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GIVEN</a:t>
            </a:r>
          </a:p>
        </p:txBody>
      </p:sp>
      <p:sp>
        <p:nvSpPr>
          <p:cNvPr id="38" name="given">
            <a:extLst>
              <a:ext uri="{FF2B5EF4-FFF2-40B4-BE49-F238E27FC236}">
                <a16:creationId xmlns:a16="http://schemas.microsoft.com/office/drawing/2014/main" id="{D775F1B6-6BA7-B638-3378-89CB9EBDD962}"/>
              </a:ext>
            </a:extLst>
          </p:cNvPr>
          <p:cNvSpPr/>
          <p:nvPr/>
        </p:nvSpPr>
        <p:spPr>
          <a:xfrm>
            <a:off x="914400" y="8355965"/>
            <a:ext cx="118745" cy="118745"/>
          </a:xfrm>
          <a:prstGeom prst="rect">
            <a:avLst/>
          </a:prstGeom>
          <a:solidFill>
            <a:srgbClr val="1F6F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given">
            <a:extLst>
              <a:ext uri="{FF2B5EF4-FFF2-40B4-BE49-F238E27FC236}">
                <a16:creationId xmlns:a16="http://schemas.microsoft.com/office/drawing/2014/main" id="{22D5079B-CB4F-1610-6F97-A52200ED4ECB}"/>
              </a:ext>
            </a:extLst>
          </p:cNvPr>
          <p:cNvSpPr txBox="1"/>
          <p:nvPr/>
        </p:nvSpPr>
        <p:spPr>
          <a:xfrm>
            <a:off x="1130300" y="8280400"/>
            <a:ext cx="5753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1F6FA8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1F6FA8"/>
                </a:solidFill>
                <a:latin typeface="DM Sans" pitchFamily="2" charset="0"/>
              </a:rPr>
              <a:t>DD</a:t>
            </a:r>
            <a:r>
              <a:rPr lang="en-US" sz="1700" b="1">
                <a:solidFill>
                  <a:srgbClr val="1F6FA8"/>
                </a:solidFill>
                <a:latin typeface="DM Sans" pitchFamily="2" charset="0"/>
              </a:rPr>
              <a:t> = 10 V</a:t>
            </a:r>
          </a:p>
        </p:txBody>
      </p:sp>
      <p:sp>
        <p:nvSpPr>
          <p:cNvPr id="40" name="given">
            <a:extLst>
              <a:ext uri="{FF2B5EF4-FFF2-40B4-BE49-F238E27FC236}">
                <a16:creationId xmlns:a16="http://schemas.microsoft.com/office/drawing/2014/main" id="{152AA92D-1D94-BDE1-09C4-0BB44BF0F293}"/>
              </a:ext>
            </a:extLst>
          </p:cNvPr>
          <p:cNvSpPr/>
          <p:nvPr/>
        </p:nvSpPr>
        <p:spPr>
          <a:xfrm>
            <a:off x="914400" y="8642975"/>
            <a:ext cx="118745" cy="118744"/>
          </a:xfrm>
          <a:prstGeom prst="rect">
            <a:avLst/>
          </a:prstGeom>
          <a:solidFill>
            <a:srgbClr val="7A3E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given">
            <a:extLst>
              <a:ext uri="{FF2B5EF4-FFF2-40B4-BE49-F238E27FC236}">
                <a16:creationId xmlns:a16="http://schemas.microsoft.com/office/drawing/2014/main" id="{72A23700-D5F8-6923-08D8-B901156868FE}"/>
              </a:ext>
            </a:extLst>
          </p:cNvPr>
          <p:cNvSpPr txBox="1"/>
          <p:nvPr/>
        </p:nvSpPr>
        <p:spPr>
          <a:xfrm>
            <a:off x="1130300" y="8567410"/>
            <a:ext cx="5753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sz="1700" b="1" baseline="-25000">
                <a:solidFill>
                  <a:srgbClr val="7A3E9D"/>
                </a:solidFill>
                <a:latin typeface="DM Sans" pitchFamily="2" charset="0"/>
              </a:rPr>
              <a:t>G1</a:t>
            </a:r>
            <a:r>
              <a:rPr lang="en-US" sz="1700" b="1">
                <a:solidFill>
                  <a:srgbClr val="7A3E9D"/>
                </a:solidFill>
                <a:latin typeface="DM Sans" pitchFamily="2" charset="0"/>
              </a:rPr>
              <a:t> = </a:t>
            </a:r>
            <a:r>
              <a:rPr lang="en-US" sz="1700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sz="1700" b="1" baseline="-25000">
                <a:solidFill>
                  <a:srgbClr val="7A3E9D"/>
                </a:solidFill>
                <a:latin typeface="DM Sans" pitchFamily="2" charset="0"/>
              </a:rPr>
              <a:t>G2</a:t>
            </a:r>
            <a:r>
              <a:rPr lang="en-US" sz="1700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sz="1700" b="1">
                <a:solidFill>
                  <a:srgbClr val="7A3E9D"/>
                </a:solidFill>
              </a:rPr>
              <a:t>Ω</a:t>
            </a:r>
            <a:endParaRPr lang="en-US" sz="1700" b="1">
              <a:solidFill>
                <a:srgbClr val="7A3E9D"/>
              </a:solidFill>
              <a:latin typeface="DM Sans" pitchFamily="2" charset="0"/>
            </a:endParaRPr>
          </a:p>
        </p:txBody>
      </p:sp>
      <p:sp>
        <p:nvSpPr>
          <p:cNvPr id="42" name="given">
            <a:extLst>
              <a:ext uri="{FF2B5EF4-FFF2-40B4-BE49-F238E27FC236}">
                <a16:creationId xmlns:a16="http://schemas.microsoft.com/office/drawing/2014/main" id="{CE98A862-AF97-86A0-BE4A-C756613550FC}"/>
              </a:ext>
            </a:extLst>
          </p:cNvPr>
          <p:cNvSpPr/>
          <p:nvPr/>
        </p:nvSpPr>
        <p:spPr>
          <a:xfrm>
            <a:off x="914400" y="8929984"/>
            <a:ext cx="118745" cy="118745"/>
          </a:xfrm>
          <a:prstGeom prst="rect">
            <a:avLst/>
          </a:prstGeom>
          <a:solidFill>
            <a:srgbClr val="0E7C7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given">
            <a:extLst>
              <a:ext uri="{FF2B5EF4-FFF2-40B4-BE49-F238E27FC236}">
                <a16:creationId xmlns:a16="http://schemas.microsoft.com/office/drawing/2014/main" id="{153CA5F8-A2F2-8E4A-568D-EA591E862CBC}"/>
              </a:ext>
            </a:extLst>
          </p:cNvPr>
          <p:cNvSpPr txBox="1"/>
          <p:nvPr/>
        </p:nvSpPr>
        <p:spPr>
          <a:xfrm>
            <a:off x="1130300" y="8854419"/>
            <a:ext cx="5753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D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</a:t>
            </a:r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S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6 k</a:t>
            </a:r>
            <a:r>
              <a:rPr lang="el-GR" sz="1700" b="1">
                <a:solidFill>
                  <a:srgbClr val="0E7C7B"/>
                </a:solidFill>
              </a:rPr>
              <a:t>Ω</a:t>
            </a:r>
            <a:endParaRPr lang="en-US" sz="1700" b="1">
              <a:solidFill>
                <a:srgbClr val="0E7C7B"/>
              </a:solidFill>
              <a:latin typeface="DM Sans" pitchFamily="2" charset="0"/>
            </a:endParaRPr>
          </a:p>
        </p:txBody>
      </p:sp>
      <p:sp>
        <p:nvSpPr>
          <p:cNvPr id="44" name="given">
            <a:extLst>
              <a:ext uri="{FF2B5EF4-FFF2-40B4-BE49-F238E27FC236}">
                <a16:creationId xmlns:a16="http://schemas.microsoft.com/office/drawing/2014/main" id="{07B61BD6-E26E-3501-2D58-1D6BFFD96704}"/>
              </a:ext>
            </a:extLst>
          </p:cNvPr>
          <p:cNvSpPr/>
          <p:nvPr/>
        </p:nvSpPr>
        <p:spPr>
          <a:xfrm>
            <a:off x="914400" y="9216994"/>
            <a:ext cx="118745" cy="118745"/>
          </a:xfrm>
          <a:prstGeom prst="rect">
            <a:avLst/>
          </a:prstGeom>
          <a:solidFill>
            <a:srgbClr val="B018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given">
            <a:extLst>
              <a:ext uri="{FF2B5EF4-FFF2-40B4-BE49-F238E27FC236}">
                <a16:creationId xmlns:a16="http://schemas.microsoft.com/office/drawing/2014/main" id="{35DCA626-604F-A19C-3709-F01D961326AA}"/>
              </a:ext>
            </a:extLst>
          </p:cNvPr>
          <p:cNvSpPr txBox="1"/>
          <p:nvPr/>
        </p:nvSpPr>
        <p:spPr>
          <a:xfrm>
            <a:off x="1130300" y="9141430"/>
            <a:ext cx="5753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pl-PL" sz="1700" b="1" i="1">
                <a:solidFill>
                  <a:srgbClr val="B0186B"/>
                </a:solidFill>
                <a:latin typeface="DM Sans" pitchFamily="2" charset="0"/>
              </a:rPr>
              <a:t>V</a:t>
            </a:r>
            <a:r>
              <a:rPr lang="pl-PL" sz="1700" b="1" i="1" baseline="-25000">
                <a:solidFill>
                  <a:srgbClr val="B0186B"/>
                </a:solidFill>
                <a:latin typeface="DM Sans" pitchFamily="2" charset="0"/>
              </a:rPr>
              <a:t>t</a:t>
            </a:r>
            <a:r>
              <a:rPr lang="pl-PL" sz="1700" b="1">
                <a:solidFill>
                  <a:srgbClr val="B0186B"/>
                </a:solidFill>
                <a:latin typeface="DM Sans" pitchFamily="2" charset="0"/>
              </a:rPr>
              <a:t> = 1 V,   k′</a:t>
            </a:r>
            <a:r>
              <a:rPr lang="pl-PL" sz="1700" b="1" baseline="-25000">
                <a:solidFill>
                  <a:srgbClr val="B0186B"/>
                </a:solidFill>
                <a:latin typeface="DM Sans" pitchFamily="2" charset="0"/>
              </a:rPr>
              <a:t>n</a:t>
            </a:r>
            <a:r>
              <a:rPr lang="pl-PL" sz="1700" b="1">
                <a:solidFill>
                  <a:srgbClr val="B0186B"/>
                </a:solidFill>
                <a:latin typeface="DM Sans" pitchFamily="2" charset="0"/>
              </a:rPr>
              <a:t>(W/L) = 1 mA/V²</a:t>
            </a:r>
            <a:endParaRPr lang="en-US" sz="1700" b="1">
              <a:solidFill>
                <a:srgbClr val="B0186B"/>
              </a:solidFill>
              <a:latin typeface="DM Sans" pitchFamily="2" charset="0"/>
            </a:endParaRPr>
          </a:p>
        </p:txBody>
      </p:sp>
      <p:sp>
        <p:nvSpPr>
          <p:cNvPr id="46" name="question">
            <a:extLst>
              <a:ext uri="{FF2B5EF4-FFF2-40B4-BE49-F238E27FC236}">
                <a16:creationId xmlns:a16="http://schemas.microsoft.com/office/drawing/2014/main" id="{70EADDC6-B3F6-3C4A-4BEB-44920CCD9AE5}"/>
              </a:ext>
            </a:extLst>
          </p:cNvPr>
          <p:cNvSpPr txBox="1"/>
          <p:nvPr/>
        </p:nvSpPr>
        <p:spPr>
          <a:xfrm>
            <a:off x="7366000" y="1904999"/>
            <a:ext cx="10007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00" b="1">
                <a:solidFill>
                  <a:srgbClr val="15241D"/>
                </a:solidFill>
                <a:latin typeface="DM Sans" pitchFamily="2" charset="0"/>
              </a:rPr>
              <a:t>Find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the drain voltage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. The MOSFET’s region is not given.</a:t>
            </a:r>
          </a:p>
        </p:txBody>
      </p:sp>
      <p:sp>
        <p:nvSpPr>
          <p:cNvPr id="47" name="badge @1">
            <a:extLst>
              <a:ext uri="{FF2B5EF4-FFF2-40B4-BE49-F238E27FC236}">
                <a16:creationId xmlns:a16="http://schemas.microsoft.com/office/drawing/2014/main" id="{28F54E10-D6AD-6BB5-E69E-2F6A57007E81}"/>
              </a:ext>
            </a:extLst>
          </p:cNvPr>
          <p:cNvSpPr/>
          <p:nvPr/>
        </p:nvSpPr>
        <p:spPr>
          <a:xfrm>
            <a:off x="7366000" y="26162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48" name="step @1">
            <a:extLst>
              <a:ext uri="{FF2B5EF4-FFF2-40B4-BE49-F238E27FC236}">
                <a16:creationId xmlns:a16="http://schemas.microsoft.com/office/drawing/2014/main" id="{80A1739F-C0EB-B215-306E-014BB17C22C8}"/>
              </a:ext>
            </a:extLst>
          </p:cNvPr>
          <p:cNvSpPr txBox="1"/>
          <p:nvPr/>
        </p:nvSpPr>
        <p:spPr>
          <a:xfrm>
            <a:off x="7950200" y="2603500"/>
            <a:ext cx="9423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Find the gate voltage </a:t>
            </a:r>
            <a:r>
              <a:rPr lang="en-US" sz="2000" b="1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000" b="1" i="1" baseline="-25000">
                <a:solidFill>
                  <a:srgbClr val="15241D"/>
                </a:solidFill>
                <a:latin typeface="DM Sans" pitchFamily="2" charset="0"/>
              </a:rPr>
              <a:t>G</a:t>
            </a:r>
          </a:p>
        </p:txBody>
      </p:sp>
      <p:sp>
        <p:nvSpPr>
          <p:cNvPr id="49" name="note @1">
            <a:extLst>
              <a:ext uri="{FF2B5EF4-FFF2-40B4-BE49-F238E27FC236}">
                <a16:creationId xmlns:a16="http://schemas.microsoft.com/office/drawing/2014/main" id="{F8133F9C-9151-D8A5-A5E5-497EDEEB4E59}"/>
              </a:ext>
            </a:extLst>
          </p:cNvPr>
          <p:cNvSpPr txBox="1"/>
          <p:nvPr/>
        </p:nvSpPr>
        <p:spPr>
          <a:xfrm>
            <a:off x="7950200" y="2936677"/>
            <a:ext cx="94234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No current flows into the gate, so R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G1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and R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G2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form an unloaded voltage divider.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eq @1">
                <a:extLst>
                  <a:ext uri="{FF2B5EF4-FFF2-40B4-BE49-F238E27FC236}">
                    <a16:creationId xmlns:a16="http://schemas.microsoft.com/office/drawing/2014/main" id="{84CCAD2B-81BA-7DFE-9428-C67B85B0BA93}"/>
                  </a:ext>
                </a:extLst>
              </p:cNvPr>
              <p:cNvSpPr txBox="1"/>
              <p:nvPr/>
            </p:nvSpPr>
            <p:spPr>
              <a:xfrm>
                <a:off x="7950200" y="3223686"/>
                <a:ext cx="9423400" cy="70104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b="1">
                              <a:solidFill>
                                <a:srgbClr val="1F6FA8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1">
                              <a:solidFill>
                                <a:srgbClr val="1F6FA8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400" b="1">
                              <a:solidFill>
                                <a:srgbClr val="1F6FA8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f>
                        <m:fPr>
                          <m:ctrlPr>
                            <a:rPr lang="en-US" sz="2400" b="1" i="1">
                              <a:solidFill>
                                <a:srgbClr val="7A3E9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  <m:r>
                                <a:rPr lang="en-US" sz="24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r>
                        <a:rPr lang="en-US" sz="2400" b="1">
                          <a:solidFill>
                            <a:srgbClr val="1F6FA8"/>
                          </a:solidFill>
                          <a:latin typeface="Cambria Math"/>
                          <a:cs typeface="Cambria Math"/>
                        </a:rPr>
                        <m:t>10</m:t>
                      </m:r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·</m:t>
                      </m:r>
                      <m:f>
                        <m:fPr>
                          <m:ctrlPr>
                            <a:rPr lang="en-US" sz="2400" b="1">
                              <a:solidFill>
                                <a:srgbClr val="7A3E9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1">
                              <a:solidFill>
                                <a:srgbClr val="7A3E9D"/>
                              </a:solidFill>
                              <a:latin typeface="Cambria Math"/>
                              <a:cs typeface="Cambria Math"/>
                            </a:rPr>
                            <m:t>10</m:t>
                          </m:r>
                        </m:num>
                        <m:den>
                          <m:r>
                            <a:rPr lang="en-US" sz="2400" b="1">
                              <a:solidFill>
                                <a:srgbClr val="7A3E9D"/>
                              </a:solidFill>
                              <a:latin typeface="Cambria Math"/>
                              <a:cs typeface="Cambria Math"/>
                            </a:rPr>
                            <m:t>10</m:t>
                          </m:r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+</m:t>
                          </m:r>
                          <m:r>
                            <a:rPr lang="en-US" sz="2400" b="1">
                              <a:solidFill>
                                <a:srgbClr val="7A3E9D"/>
                              </a:solidFill>
                              <a:latin typeface="Cambria Math"/>
                              <a:cs typeface="Cambria Math"/>
                            </a:rPr>
                            <m:t>10</m:t>
                          </m:r>
                        </m:den>
                      </m:f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=5 </m:t>
                      </m:r>
                      <m:r>
                        <m:rPr>
                          <m:sty m:val="p"/>
                        </m:rP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0" name="eq @1">
                <a:extLst>
                  <a:ext uri="{FF2B5EF4-FFF2-40B4-BE49-F238E27FC236}">
                    <a16:creationId xmlns:a16="http://schemas.microsoft.com/office/drawing/2014/main" id="{84CCAD2B-81BA-7DFE-9428-C67B85B0B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200" y="3223686"/>
                <a:ext cx="9423400" cy="701040"/>
              </a:xfrm>
              <a:prstGeom prst="rect">
                <a:avLst/>
              </a:prstGeom>
              <a:blipFill>
                <a:blip r:embed="rId2"/>
                <a:stretch>
                  <a:fillRect b="-3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badge @2">
            <a:extLst>
              <a:ext uri="{FF2B5EF4-FFF2-40B4-BE49-F238E27FC236}">
                <a16:creationId xmlns:a16="http://schemas.microsoft.com/office/drawing/2014/main" id="{0B75B9C8-1F3F-0693-FC2C-CB8E37A4ADA9}"/>
              </a:ext>
            </a:extLst>
          </p:cNvPr>
          <p:cNvSpPr/>
          <p:nvPr/>
        </p:nvSpPr>
        <p:spPr>
          <a:xfrm>
            <a:off x="7366000" y="4115227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2</a:t>
            </a:r>
          </a:p>
        </p:txBody>
      </p:sp>
      <p:sp>
        <p:nvSpPr>
          <p:cNvPr id="52" name="step @2">
            <a:extLst>
              <a:ext uri="{FF2B5EF4-FFF2-40B4-BE49-F238E27FC236}">
                <a16:creationId xmlns:a16="http://schemas.microsoft.com/office/drawing/2014/main" id="{B3BBB44A-9127-15FC-DC7F-6828DA3F374D}"/>
              </a:ext>
            </a:extLst>
          </p:cNvPr>
          <p:cNvSpPr txBox="1"/>
          <p:nvPr/>
        </p:nvSpPr>
        <p:spPr>
          <a:xfrm>
            <a:off x="7950200" y="4102527"/>
            <a:ext cx="9423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Assume the MOSFET is in saturation</a:t>
            </a:r>
          </a:p>
        </p:txBody>
      </p:sp>
      <p:sp>
        <p:nvSpPr>
          <p:cNvPr id="53" name="note @2">
            <a:extLst>
              <a:ext uri="{FF2B5EF4-FFF2-40B4-BE49-F238E27FC236}">
                <a16:creationId xmlns:a16="http://schemas.microsoft.com/office/drawing/2014/main" id="{B653BEF3-11A9-C521-EDBF-D501AC3D5581}"/>
              </a:ext>
            </a:extLst>
          </p:cNvPr>
          <p:cNvSpPr txBox="1"/>
          <p:nvPr/>
        </p:nvSpPr>
        <p:spPr>
          <a:xfrm>
            <a:off x="7950200" y="4435704"/>
            <a:ext cx="9423400" cy="5232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The region is unknown. Saturation is the usual bias region; we check this assumption at the end.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eq @2">
                <a:extLst>
                  <a:ext uri="{FF2B5EF4-FFF2-40B4-BE49-F238E27FC236}">
                    <a16:creationId xmlns:a16="http://schemas.microsoft.com/office/drawing/2014/main" id="{C2D4C5A6-DE6D-0718-0C55-83AA2AAC2414}"/>
                  </a:ext>
                </a:extLst>
              </p:cNvPr>
              <p:cNvSpPr txBox="1"/>
              <p:nvPr/>
            </p:nvSpPr>
            <p:spPr>
              <a:xfrm>
                <a:off x="7950200" y="4984323"/>
                <a:ext cx="9423400" cy="70104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4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4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4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4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4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4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4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4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4" name="eq @2">
                <a:extLst>
                  <a:ext uri="{FF2B5EF4-FFF2-40B4-BE49-F238E27FC236}">
                    <a16:creationId xmlns:a16="http://schemas.microsoft.com/office/drawing/2014/main" id="{C2D4C5A6-DE6D-0718-0C55-83AA2AAC2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200" y="4984323"/>
                <a:ext cx="9423400" cy="7010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badge @3">
            <a:extLst>
              <a:ext uri="{FF2B5EF4-FFF2-40B4-BE49-F238E27FC236}">
                <a16:creationId xmlns:a16="http://schemas.microsoft.com/office/drawing/2014/main" id="{1FFDBC5C-3D4C-87C7-FBF6-7B1DE8F9621D}"/>
              </a:ext>
            </a:extLst>
          </p:cNvPr>
          <p:cNvSpPr/>
          <p:nvPr/>
        </p:nvSpPr>
        <p:spPr>
          <a:xfrm>
            <a:off x="7366000" y="5875864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3</a:t>
            </a:r>
          </a:p>
        </p:txBody>
      </p:sp>
      <p:sp>
        <p:nvSpPr>
          <p:cNvPr id="56" name="step @3">
            <a:extLst>
              <a:ext uri="{FF2B5EF4-FFF2-40B4-BE49-F238E27FC236}">
                <a16:creationId xmlns:a16="http://schemas.microsoft.com/office/drawing/2014/main" id="{598D09E6-3AD0-593D-42A6-5F67F6B49B91}"/>
              </a:ext>
            </a:extLst>
          </p:cNvPr>
          <p:cNvSpPr txBox="1"/>
          <p:nvPr/>
        </p:nvSpPr>
        <p:spPr>
          <a:xfrm>
            <a:off x="7950200" y="5863164"/>
            <a:ext cx="9423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Express </a:t>
            </a:r>
            <a:r>
              <a:rPr lang="en-US" sz="2000" b="1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000" b="1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 through the source resistor</a:t>
            </a:r>
          </a:p>
        </p:txBody>
      </p:sp>
      <p:sp>
        <p:nvSpPr>
          <p:cNvPr id="57" name="note @3">
            <a:extLst>
              <a:ext uri="{FF2B5EF4-FFF2-40B4-BE49-F238E27FC236}">
                <a16:creationId xmlns:a16="http://schemas.microsoft.com/office/drawing/2014/main" id="{A99EBF20-6481-0BFD-FC95-F0371736FB94}"/>
              </a:ext>
            </a:extLst>
          </p:cNvPr>
          <p:cNvSpPr txBox="1"/>
          <p:nvPr/>
        </p:nvSpPr>
        <p:spPr>
          <a:xfrm>
            <a:off x="7950200" y="6196341"/>
            <a:ext cx="9423400" cy="5232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flows through R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S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, lifting the source to 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S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= I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S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. With I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in mA and R in kΩ, the products are in volts.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eq @3">
                <a:extLst>
                  <a:ext uri="{FF2B5EF4-FFF2-40B4-BE49-F238E27FC236}">
                    <a16:creationId xmlns:a16="http://schemas.microsoft.com/office/drawing/2014/main" id="{C1FF47E1-4AB1-A750-D6A7-51AB60DE86FE}"/>
                  </a:ext>
                </a:extLst>
              </p:cNvPr>
              <p:cNvSpPr txBox="1"/>
              <p:nvPr/>
            </p:nvSpPr>
            <p:spPr>
              <a:xfrm>
                <a:off x="7950200" y="6744960"/>
                <a:ext cx="9423400" cy="4572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sSub>
                        <m:sSubPr>
                          <m:ctrlPr>
                            <a:rPr lang="en-US" sz="24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4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  <m:t>𝑆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=5−</m:t>
                      </m:r>
                      <m:r>
                        <a:rPr lang="en-US" sz="2400" b="1">
                          <a:solidFill>
                            <a:srgbClr val="0E7C7B"/>
                          </a:solidFill>
                          <a:latin typeface="Cambria Math"/>
                          <a:cs typeface="Cambria Math"/>
                        </a:rPr>
                        <m:t>6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8" name="eq @3">
                <a:extLst>
                  <a:ext uri="{FF2B5EF4-FFF2-40B4-BE49-F238E27FC236}">
                    <a16:creationId xmlns:a16="http://schemas.microsoft.com/office/drawing/2014/main" id="{C1FF47E1-4AB1-A750-D6A7-51AB60DE8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200" y="6744960"/>
                <a:ext cx="9423400" cy="457200"/>
              </a:xfrm>
              <a:prstGeom prst="rect">
                <a:avLst/>
              </a:prstGeom>
              <a:blipFill>
                <a:blip r:embed="rId4"/>
                <a:stretch>
                  <a:fillRect l="-1100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chrome page">
            <a:extLst>
              <a:ext uri="{FF2B5EF4-FFF2-40B4-BE49-F238E27FC236}">
                <a16:creationId xmlns:a16="http://schemas.microsoft.com/office/drawing/2014/main" id="{5B75D599-879D-1FC4-2792-3828A151DDDD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hrome page">
            <a:extLst>
              <a:ext uri="{FF2B5EF4-FFF2-40B4-BE49-F238E27FC236}">
                <a16:creationId xmlns:a16="http://schemas.microsoft.com/office/drawing/2014/main" id="{550B64FD-8401-2C0C-5C59-EF6D14BD980C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26669973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 1: find the drain volt s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5C04C90-B5C3-4849-BDE6-45F46048A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Example 1: find the drain voltage (2 of 2)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094B22B8-C678-0AD8-5A23-BECA744FBE09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9DE42B12-4EEA-DD9F-0DEA-C4E4A0C418EE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8DCF8B4E-BE10-9087-28DD-9B5AF14E2C38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circuit card">
            <a:extLst>
              <a:ext uri="{FF2B5EF4-FFF2-40B4-BE49-F238E27FC236}">
                <a16:creationId xmlns:a16="http://schemas.microsoft.com/office/drawing/2014/main" id="{1B47CE4F-42F3-584D-E5AE-7C5474FE9C8E}"/>
              </a:ext>
            </a:extLst>
          </p:cNvPr>
          <p:cNvSpPr/>
          <p:nvPr/>
        </p:nvSpPr>
        <p:spPr>
          <a:xfrm>
            <a:off x="914400" y="1905000"/>
            <a:ext cx="5969000" cy="5715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E299DE58-4E90-A091-5875-F15408E8A0E0}"/>
              </a:ext>
            </a:extLst>
          </p:cNvPr>
          <p:cNvSpPr/>
          <p:nvPr/>
        </p:nvSpPr>
        <p:spPr>
          <a:xfrm>
            <a:off x="914400" y="1892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kt">
            <a:extLst>
              <a:ext uri="{FF2B5EF4-FFF2-40B4-BE49-F238E27FC236}">
                <a16:creationId xmlns:a16="http://schemas.microsoft.com/office/drawing/2014/main" id="{115176E3-7F4E-F7C8-3249-69800DC4A27E}"/>
              </a:ext>
            </a:extLst>
          </p:cNvPr>
          <p:cNvSpPr/>
          <p:nvPr/>
        </p:nvSpPr>
        <p:spPr>
          <a:xfrm>
            <a:off x="4464050" y="22923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ckt">
            <a:extLst>
              <a:ext uri="{FF2B5EF4-FFF2-40B4-BE49-F238E27FC236}">
                <a16:creationId xmlns:a16="http://schemas.microsoft.com/office/drawing/2014/main" id="{B63C5A45-37CE-E7C9-61C8-0EB47941B666}"/>
              </a:ext>
            </a:extLst>
          </p:cNvPr>
          <p:cNvCxnSpPr/>
          <p:nvPr/>
        </p:nvCxnSpPr>
        <p:spPr>
          <a:xfrm>
            <a:off x="4533900" y="2432050"/>
            <a:ext cx="0" cy="51435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kt label">
            <a:extLst>
              <a:ext uri="{FF2B5EF4-FFF2-40B4-BE49-F238E27FC236}">
                <a16:creationId xmlns:a16="http://schemas.microsoft.com/office/drawing/2014/main" id="{4E971E43-15C9-7772-471C-343268729C59}"/>
              </a:ext>
            </a:extLst>
          </p:cNvPr>
          <p:cNvSpPr txBox="1"/>
          <p:nvPr/>
        </p:nvSpPr>
        <p:spPr>
          <a:xfrm>
            <a:off x="4711700" y="21653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b="1">
                <a:solidFill>
                  <a:srgbClr val="1F6FA8"/>
                </a:solidFill>
                <a:latin typeface="DM Sans" pitchFamily="2" charset="0"/>
              </a:rPr>
              <a:t>+</a:t>
            </a:r>
            <a:r>
              <a:rPr lang="en-US" b="1" i="1">
                <a:solidFill>
                  <a:srgbClr val="1F6FA8"/>
                </a:solidFill>
                <a:latin typeface="DM Sans" pitchFamily="2" charset="0"/>
              </a:rPr>
              <a:t>V</a:t>
            </a:r>
            <a:r>
              <a:rPr lang="en-US" b="1" i="1" baseline="-25000">
                <a:solidFill>
                  <a:srgbClr val="1F6FA8"/>
                </a:solidFill>
                <a:latin typeface="DM Sans" pitchFamily="2" charset="0"/>
              </a:rPr>
              <a:t>DD</a:t>
            </a:r>
            <a:r>
              <a:rPr lang="en-US" b="1">
                <a:solidFill>
                  <a:srgbClr val="1F6FA8"/>
                </a:solidFill>
                <a:latin typeface="DM Sans" pitchFamily="2" charset="0"/>
              </a:rPr>
              <a:t> = 10 V</a:t>
            </a:r>
          </a:p>
        </p:txBody>
      </p:sp>
      <p:cxnSp>
        <p:nvCxnSpPr>
          <p:cNvPr id="11" name="ckt">
            <a:extLst>
              <a:ext uri="{FF2B5EF4-FFF2-40B4-BE49-F238E27FC236}">
                <a16:creationId xmlns:a16="http://schemas.microsoft.com/office/drawing/2014/main" id="{9AAB5058-CB88-BC30-C657-91723EFFC9FA}"/>
              </a:ext>
            </a:extLst>
          </p:cNvPr>
          <p:cNvCxnSpPr/>
          <p:nvPr/>
        </p:nvCxnSpPr>
        <p:spPr>
          <a:xfrm>
            <a:off x="3327400" y="2946400"/>
            <a:ext cx="2413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kt">
            <a:extLst>
              <a:ext uri="{FF2B5EF4-FFF2-40B4-BE49-F238E27FC236}">
                <a16:creationId xmlns:a16="http://schemas.microsoft.com/office/drawing/2014/main" id="{1FEDE4A0-4531-9D53-D3D6-A8888084ED2E}"/>
              </a:ext>
            </a:extLst>
          </p:cNvPr>
          <p:cNvSpPr/>
          <p:nvPr/>
        </p:nvSpPr>
        <p:spPr>
          <a:xfrm>
            <a:off x="4476750" y="28892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kt">
            <a:extLst>
              <a:ext uri="{FF2B5EF4-FFF2-40B4-BE49-F238E27FC236}">
                <a16:creationId xmlns:a16="http://schemas.microsoft.com/office/drawing/2014/main" id="{D158C7F5-B380-BAF5-4AB6-A269C3219B22}"/>
              </a:ext>
            </a:extLst>
          </p:cNvPr>
          <p:cNvCxnSpPr/>
          <p:nvPr/>
        </p:nvCxnSpPr>
        <p:spPr>
          <a:xfrm>
            <a:off x="3327400" y="7010400"/>
            <a:ext cx="2413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kt">
            <a:extLst>
              <a:ext uri="{FF2B5EF4-FFF2-40B4-BE49-F238E27FC236}">
                <a16:creationId xmlns:a16="http://schemas.microsoft.com/office/drawing/2014/main" id="{EACFED44-085E-6B89-6462-63BF51F26370}"/>
              </a:ext>
            </a:extLst>
          </p:cNvPr>
          <p:cNvSpPr/>
          <p:nvPr/>
        </p:nvSpPr>
        <p:spPr>
          <a:xfrm>
            <a:off x="4476750" y="69532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kt">
            <a:extLst>
              <a:ext uri="{FF2B5EF4-FFF2-40B4-BE49-F238E27FC236}">
                <a16:creationId xmlns:a16="http://schemas.microsoft.com/office/drawing/2014/main" id="{1275CA28-394D-1654-7683-7C2C258DAF86}"/>
              </a:ext>
            </a:extLst>
          </p:cNvPr>
          <p:cNvCxnSpPr/>
          <p:nvPr/>
        </p:nvCxnSpPr>
        <p:spPr>
          <a:xfrm>
            <a:off x="4533900" y="70104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034BD0A8-C6A4-6EFB-7623-2C87DE5C96DE}"/>
              </a:ext>
            </a:extLst>
          </p:cNvPr>
          <p:cNvCxnSpPr/>
          <p:nvPr/>
        </p:nvCxnSpPr>
        <p:spPr>
          <a:xfrm>
            <a:off x="4343400" y="71628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679FB554-07A8-EAC5-685B-F178158F54C9}"/>
              </a:ext>
            </a:extLst>
          </p:cNvPr>
          <p:cNvCxnSpPr/>
          <p:nvPr/>
        </p:nvCxnSpPr>
        <p:spPr>
          <a:xfrm>
            <a:off x="4413250" y="72326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kt">
            <a:extLst>
              <a:ext uri="{FF2B5EF4-FFF2-40B4-BE49-F238E27FC236}">
                <a16:creationId xmlns:a16="http://schemas.microsoft.com/office/drawing/2014/main" id="{8E2F83D1-3010-BB00-69DA-B69C416CDE49}"/>
              </a:ext>
            </a:extLst>
          </p:cNvPr>
          <p:cNvCxnSpPr/>
          <p:nvPr/>
        </p:nvCxnSpPr>
        <p:spPr>
          <a:xfrm>
            <a:off x="4483100" y="73025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kt">
            <a:extLst>
              <a:ext uri="{FF2B5EF4-FFF2-40B4-BE49-F238E27FC236}">
                <a16:creationId xmlns:a16="http://schemas.microsoft.com/office/drawing/2014/main" id="{615CC8C3-B128-DBC2-98E4-369221D9CB77}"/>
              </a:ext>
            </a:extLst>
          </p:cNvPr>
          <p:cNvSpPr/>
          <p:nvPr/>
        </p:nvSpPr>
        <p:spPr>
          <a:xfrm>
            <a:off x="3200400" y="2946400"/>
            <a:ext cx="254001" cy="2032001"/>
          </a:xfrm>
          <a:custGeom>
            <a:avLst/>
            <a:gdLst/>
            <a:ahLst/>
            <a:cxnLst/>
            <a:rect l="0" t="0" r="0" b="0"/>
            <a:pathLst>
              <a:path w="254001" h="2032001">
                <a:moveTo>
                  <a:pt x="127000" y="0"/>
                </a:moveTo>
                <a:lnTo>
                  <a:pt x="127000" y="647700"/>
                </a:lnTo>
                <a:lnTo>
                  <a:pt x="0" y="709083"/>
                </a:lnTo>
                <a:lnTo>
                  <a:pt x="254000" y="831850"/>
                </a:lnTo>
                <a:lnTo>
                  <a:pt x="0" y="954617"/>
                </a:lnTo>
                <a:lnTo>
                  <a:pt x="254000" y="1077383"/>
                </a:lnTo>
                <a:lnTo>
                  <a:pt x="0" y="1200150"/>
                </a:lnTo>
                <a:lnTo>
                  <a:pt x="254000" y="1322917"/>
                </a:lnTo>
                <a:lnTo>
                  <a:pt x="127000" y="1384300"/>
                </a:lnTo>
                <a:lnTo>
                  <a:pt x="127000" y="20320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kt">
            <a:extLst>
              <a:ext uri="{FF2B5EF4-FFF2-40B4-BE49-F238E27FC236}">
                <a16:creationId xmlns:a16="http://schemas.microsoft.com/office/drawing/2014/main" id="{04898858-4DB3-BCE4-2D3E-90325560DB56}"/>
              </a:ext>
            </a:extLst>
          </p:cNvPr>
          <p:cNvSpPr/>
          <p:nvPr/>
        </p:nvSpPr>
        <p:spPr>
          <a:xfrm>
            <a:off x="3200400" y="4978400"/>
            <a:ext cx="254001" cy="2032001"/>
          </a:xfrm>
          <a:custGeom>
            <a:avLst/>
            <a:gdLst/>
            <a:ahLst/>
            <a:cxnLst/>
            <a:rect l="0" t="0" r="0" b="0"/>
            <a:pathLst>
              <a:path w="254001" h="2032001">
                <a:moveTo>
                  <a:pt x="127000" y="0"/>
                </a:moveTo>
                <a:lnTo>
                  <a:pt x="127000" y="647700"/>
                </a:lnTo>
                <a:lnTo>
                  <a:pt x="0" y="709083"/>
                </a:lnTo>
                <a:lnTo>
                  <a:pt x="254000" y="831850"/>
                </a:lnTo>
                <a:lnTo>
                  <a:pt x="0" y="954617"/>
                </a:lnTo>
                <a:lnTo>
                  <a:pt x="254000" y="1077383"/>
                </a:lnTo>
                <a:lnTo>
                  <a:pt x="0" y="1200150"/>
                </a:lnTo>
                <a:lnTo>
                  <a:pt x="254000" y="1322917"/>
                </a:lnTo>
                <a:lnTo>
                  <a:pt x="127000" y="1384300"/>
                </a:lnTo>
                <a:lnTo>
                  <a:pt x="127000" y="20320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kt">
            <a:extLst>
              <a:ext uri="{FF2B5EF4-FFF2-40B4-BE49-F238E27FC236}">
                <a16:creationId xmlns:a16="http://schemas.microsoft.com/office/drawing/2014/main" id="{392D38E6-B3BE-7865-3C43-0E60A982D05D}"/>
              </a:ext>
            </a:extLst>
          </p:cNvPr>
          <p:cNvSpPr/>
          <p:nvPr/>
        </p:nvSpPr>
        <p:spPr>
          <a:xfrm>
            <a:off x="3270250" y="49212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kt label">
            <a:extLst>
              <a:ext uri="{FF2B5EF4-FFF2-40B4-BE49-F238E27FC236}">
                <a16:creationId xmlns:a16="http://schemas.microsoft.com/office/drawing/2014/main" id="{75844792-92D7-338A-53B2-13E26386C7EA}"/>
              </a:ext>
            </a:extLst>
          </p:cNvPr>
          <p:cNvSpPr txBox="1"/>
          <p:nvPr/>
        </p:nvSpPr>
        <p:spPr>
          <a:xfrm>
            <a:off x="304800" y="37909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b="1" baseline="-25000">
                <a:solidFill>
                  <a:srgbClr val="7A3E9D"/>
                </a:solidFill>
                <a:latin typeface="DM Sans" pitchFamily="2" charset="0"/>
              </a:rPr>
              <a:t>G1</a:t>
            </a:r>
            <a:r>
              <a:rPr lang="en-US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b="1">
                <a:solidFill>
                  <a:srgbClr val="7A3E9D"/>
                </a:solidFill>
              </a:rPr>
              <a:t>Ω</a:t>
            </a:r>
            <a:endParaRPr lang="en-US" b="1">
              <a:solidFill>
                <a:srgbClr val="7A3E9D"/>
              </a:solidFill>
              <a:latin typeface="DM Sans" pitchFamily="2" charset="0"/>
            </a:endParaRPr>
          </a:p>
        </p:txBody>
      </p:sp>
      <p:sp>
        <p:nvSpPr>
          <p:cNvPr id="23" name="ckt label">
            <a:extLst>
              <a:ext uri="{FF2B5EF4-FFF2-40B4-BE49-F238E27FC236}">
                <a16:creationId xmlns:a16="http://schemas.microsoft.com/office/drawing/2014/main" id="{3BFC1DDF-6722-E363-FD88-B94CD748DF18}"/>
              </a:ext>
            </a:extLst>
          </p:cNvPr>
          <p:cNvSpPr txBox="1"/>
          <p:nvPr/>
        </p:nvSpPr>
        <p:spPr>
          <a:xfrm>
            <a:off x="304800" y="58229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b="1" baseline="-25000">
                <a:solidFill>
                  <a:srgbClr val="7A3E9D"/>
                </a:solidFill>
                <a:latin typeface="DM Sans" pitchFamily="2" charset="0"/>
              </a:rPr>
              <a:t>G2</a:t>
            </a:r>
            <a:r>
              <a:rPr lang="en-US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b="1">
                <a:solidFill>
                  <a:srgbClr val="7A3E9D"/>
                </a:solidFill>
              </a:rPr>
              <a:t>Ω</a:t>
            </a:r>
            <a:endParaRPr lang="en-US" b="1">
              <a:solidFill>
                <a:srgbClr val="7A3E9D"/>
              </a:solidFill>
              <a:latin typeface="DM Sans" pitchFamily="2" charset="0"/>
            </a:endParaRPr>
          </a:p>
        </p:txBody>
      </p:sp>
      <p:cxnSp>
        <p:nvCxnSpPr>
          <p:cNvPr id="24" name="ckt">
            <a:extLst>
              <a:ext uri="{FF2B5EF4-FFF2-40B4-BE49-F238E27FC236}">
                <a16:creationId xmlns:a16="http://schemas.microsoft.com/office/drawing/2014/main" id="{420F68DF-ED39-9754-D19A-EEFD7099556F}"/>
              </a:ext>
            </a:extLst>
          </p:cNvPr>
          <p:cNvCxnSpPr/>
          <p:nvPr/>
        </p:nvCxnSpPr>
        <p:spPr>
          <a:xfrm>
            <a:off x="5181600" y="45943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3E11F7CB-F845-AC2E-0DCB-4D2D04986861}"/>
              </a:ext>
            </a:extLst>
          </p:cNvPr>
          <p:cNvCxnSpPr/>
          <p:nvPr/>
        </p:nvCxnSpPr>
        <p:spPr>
          <a:xfrm>
            <a:off x="5308600" y="4445000"/>
            <a:ext cx="0" cy="1066800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A2311969-4A2F-9029-3844-C1E65FD29AD8}"/>
              </a:ext>
            </a:extLst>
          </p:cNvPr>
          <p:cNvCxnSpPr/>
          <p:nvPr/>
        </p:nvCxnSpPr>
        <p:spPr>
          <a:xfrm>
            <a:off x="5308600" y="45466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0D8C2D2F-9D7A-7EE0-11BB-01018DEB0C9A}"/>
              </a:ext>
            </a:extLst>
          </p:cNvPr>
          <p:cNvCxnSpPr/>
          <p:nvPr/>
        </p:nvCxnSpPr>
        <p:spPr>
          <a:xfrm>
            <a:off x="5308600" y="54102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8BDEE348-83F9-A043-8395-B6A356FCAD08}"/>
              </a:ext>
            </a:extLst>
          </p:cNvPr>
          <p:cNvCxnSpPr/>
          <p:nvPr/>
        </p:nvCxnSpPr>
        <p:spPr>
          <a:xfrm>
            <a:off x="5610860" y="5410200"/>
            <a:ext cx="12954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kt">
            <a:extLst>
              <a:ext uri="{FF2B5EF4-FFF2-40B4-BE49-F238E27FC236}">
                <a16:creationId xmlns:a16="http://schemas.microsoft.com/office/drawing/2014/main" id="{1BEBB173-5A56-99EE-AD7C-77A7B6287880}"/>
              </a:ext>
            </a:extLst>
          </p:cNvPr>
          <p:cNvCxnSpPr/>
          <p:nvPr/>
        </p:nvCxnSpPr>
        <p:spPr>
          <a:xfrm>
            <a:off x="3327400" y="4978400"/>
            <a:ext cx="18542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kt">
            <a:extLst>
              <a:ext uri="{FF2B5EF4-FFF2-40B4-BE49-F238E27FC236}">
                <a16:creationId xmlns:a16="http://schemas.microsoft.com/office/drawing/2014/main" id="{34F7F3CE-B6A6-708C-9310-FC123D043F88}"/>
              </a:ext>
            </a:extLst>
          </p:cNvPr>
          <p:cNvSpPr/>
          <p:nvPr/>
        </p:nvSpPr>
        <p:spPr>
          <a:xfrm>
            <a:off x="5613400" y="2946400"/>
            <a:ext cx="254001" cy="1168401"/>
          </a:xfrm>
          <a:custGeom>
            <a:avLst/>
            <a:gdLst/>
            <a:ahLst/>
            <a:cxnLst/>
            <a:rect l="0" t="0" r="0" b="0"/>
            <a:pathLst>
              <a:path w="254001" h="1168401">
                <a:moveTo>
                  <a:pt x="127000" y="0"/>
                </a:moveTo>
                <a:lnTo>
                  <a:pt x="127000" y="215900"/>
                </a:lnTo>
                <a:lnTo>
                  <a:pt x="0" y="277283"/>
                </a:lnTo>
                <a:lnTo>
                  <a:pt x="254000" y="400050"/>
                </a:lnTo>
                <a:lnTo>
                  <a:pt x="0" y="522817"/>
                </a:lnTo>
                <a:lnTo>
                  <a:pt x="254000" y="645583"/>
                </a:lnTo>
                <a:lnTo>
                  <a:pt x="0" y="768350"/>
                </a:lnTo>
                <a:lnTo>
                  <a:pt x="254000" y="891117"/>
                </a:lnTo>
                <a:lnTo>
                  <a:pt x="127000" y="952500"/>
                </a:lnTo>
                <a:lnTo>
                  <a:pt x="127000" y="11684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ckt">
            <a:extLst>
              <a:ext uri="{FF2B5EF4-FFF2-40B4-BE49-F238E27FC236}">
                <a16:creationId xmlns:a16="http://schemas.microsoft.com/office/drawing/2014/main" id="{5A76B7E1-8088-EB52-0473-3433A7773FB1}"/>
              </a:ext>
            </a:extLst>
          </p:cNvPr>
          <p:cNvCxnSpPr/>
          <p:nvPr/>
        </p:nvCxnSpPr>
        <p:spPr>
          <a:xfrm>
            <a:off x="5740400" y="4114800"/>
            <a:ext cx="0" cy="431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kt">
            <a:extLst>
              <a:ext uri="{FF2B5EF4-FFF2-40B4-BE49-F238E27FC236}">
                <a16:creationId xmlns:a16="http://schemas.microsoft.com/office/drawing/2014/main" id="{7A0698A8-29C2-DDD1-9523-7E19A906C47F}"/>
              </a:ext>
            </a:extLst>
          </p:cNvPr>
          <p:cNvSpPr/>
          <p:nvPr/>
        </p:nvSpPr>
        <p:spPr>
          <a:xfrm>
            <a:off x="5613400" y="5842000"/>
            <a:ext cx="254001" cy="1168401"/>
          </a:xfrm>
          <a:custGeom>
            <a:avLst/>
            <a:gdLst/>
            <a:ahLst/>
            <a:cxnLst/>
            <a:rect l="0" t="0" r="0" b="0"/>
            <a:pathLst>
              <a:path w="254001" h="1168401">
                <a:moveTo>
                  <a:pt x="127000" y="0"/>
                </a:moveTo>
                <a:lnTo>
                  <a:pt x="127000" y="215900"/>
                </a:lnTo>
                <a:lnTo>
                  <a:pt x="0" y="277283"/>
                </a:lnTo>
                <a:lnTo>
                  <a:pt x="254000" y="400050"/>
                </a:lnTo>
                <a:lnTo>
                  <a:pt x="0" y="522817"/>
                </a:lnTo>
                <a:lnTo>
                  <a:pt x="254000" y="645583"/>
                </a:lnTo>
                <a:lnTo>
                  <a:pt x="0" y="768350"/>
                </a:lnTo>
                <a:lnTo>
                  <a:pt x="254000" y="891117"/>
                </a:lnTo>
                <a:lnTo>
                  <a:pt x="127000" y="952500"/>
                </a:lnTo>
                <a:lnTo>
                  <a:pt x="127000" y="11684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ckt">
            <a:extLst>
              <a:ext uri="{FF2B5EF4-FFF2-40B4-BE49-F238E27FC236}">
                <a16:creationId xmlns:a16="http://schemas.microsoft.com/office/drawing/2014/main" id="{1DD0B490-121C-FC81-4A9F-7631865CB6D5}"/>
              </a:ext>
            </a:extLst>
          </p:cNvPr>
          <p:cNvCxnSpPr/>
          <p:nvPr/>
        </p:nvCxnSpPr>
        <p:spPr>
          <a:xfrm>
            <a:off x="5740400" y="5410200"/>
            <a:ext cx="0" cy="431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kt label">
            <a:extLst>
              <a:ext uri="{FF2B5EF4-FFF2-40B4-BE49-F238E27FC236}">
                <a16:creationId xmlns:a16="http://schemas.microsoft.com/office/drawing/2014/main" id="{C5EAABFA-6D48-9128-12FD-B77D37300150}"/>
              </a:ext>
            </a:extLst>
          </p:cNvPr>
          <p:cNvSpPr txBox="1"/>
          <p:nvPr/>
        </p:nvSpPr>
        <p:spPr>
          <a:xfrm>
            <a:off x="5969000" y="33591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b="1" i="1" baseline="-25000">
                <a:solidFill>
                  <a:srgbClr val="0E7C7B"/>
                </a:solidFill>
                <a:latin typeface="DM Sans" pitchFamily="2" charset="0"/>
              </a:rPr>
              <a:t>D</a:t>
            </a:r>
            <a:r>
              <a:rPr lang="en-US" b="1">
                <a:solidFill>
                  <a:srgbClr val="0E7C7B"/>
                </a:solidFill>
                <a:latin typeface="DM Sans" pitchFamily="2" charset="0"/>
              </a:rPr>
              <a:t> = 6 k</a:t>
            </a:r>
            <a:r>
              <a:rPr lang="el-GR" b="1">
                <a:solidFill>
                  <a:srgbClr val="0E7C7B"/>
                </a:solidFill>
              </a:rPr>
              <a:t>Ω</a:t>
            </a:r>
            <a:endParaRPr lang="en-US" b="1">
              <a:solidFill>
                <a:srgbClr val="0E7C7B"/>
              </a:solidFill>
              <a:latin typeface="DM Sans" pitchFamily="2" charset="0"/>
            </a:endParaRPr>
          </a:p>
        </p:txBody>
      </p:sp>
      <p:sp>
        <p:nvSpPr>
          <p:cNvPr id="35" name="ckt label">
            <a:extLst>
              <a:ext uri="{FF2B5EF4-FFF2-40B4-BE49-F238E27FC236}">
                <a16:creationId xmlns:a16="http://schemas.microsoft.com/office/drawing/2014/main" id="{23B00363-B85E-AF80-0F17-23D7164EB7DA}"/>
              </a:ext>
            </a:extLst>
          </p:cNvPr>
          <p:cNvSpPr txBox="1"/>
          <p:nvPr/>
        </p:nvSpPr>
        <p:spPr>
          <a:xfrm>
            <a:off x="5969000" y="62547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b="1" i="1" baseline="-25000">
                <a:solidFill>
                  <a:srgbClr val="0E7C7B"/>
                </a:solidFill>
                <a:latin typeface="DM Sans" pitchFamily="2" charset="0"/>
              </a:rPr>
              <a:t>S</a:t>
            </a:r>
            <a:r>
              <a:rPr lang="en-US" b="1">
                <a:solidFill>
                  <a:srgbClr val="0E7C7B"/>
                </a:solidFill>
                <a:latin typeface="DM Sans" pitchFamily="2" charset="0"/>
              </a:rPr>
              <a:t> = 6 k</a:t>
            </a:r>
            <a:r>
              <a:rPr lang="el-GR" b="1">
                <a:solidFill>
                  <a:srgbClr val="0E7C7B"/>
                </a:solidFill>
              </a:rPr>
              <a:t>Ω</a:t>
            </a:r>
            <a:endParaRPr lang="en-US" b="1">
              <a:solidFill>
                <a:srgbClr val="0E7C7B"/>
              </a:solidFill>
              <a:latin typeface="DM Sans" pitchFamily="2" charset="0"/>
            </a:endParaRPr>
          </a:p>
        </p:txBody>
      </p:sp>
      <p:sp>
        <p:nvSpPr>
          <p:cNvPr id="36" name="node">
            <a:extLst>
              <a:ext uri="{FF2B5EF4-FFF2-40B4-BE49-F238E27FC236}">
                <a16:creationId xmlns:a16="http://schemas.microsoft.com/office/drawing/2014/main" id="{2C60F22F-F7D3-1FBE-EE2F-7C8E6AED2572}"/>
              </a:ext>
            </a:extLst>
          </p:cNvPr>
          <p:cNvSpPr txBox="1"/>
          <p:nvPr/>
        </p:nvSpPr>
        <p:spPr>
          <a:xfrm>
            <a:off x="3505200" y="4597399"/>
            <a:ext cx="1905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 i="1">
                <a:solidFill>
                  <a:srgbClr val="145A43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145A43"/>
                </a:solidFill>
                <a:latin typeface="DM Sans" pitchFamily="2" charset="0"/>
              </a:rPr>
              <a:t>G</a:t>
            </a:r>
            <a:r>
              <a:rPr lang="en-US" sz="1700" b="1">
                <a:solidFill>
                  <a:srgbClr val="145A43"/>
                </a:solidFill>
                <a:latin typeface="DM Sans" pitchFamily="2" charset="0"/>
              </a:rPr>
              <a:t> = 5 V</a:t>
            </a:r>
          </a:p>
        </p:txBody>
      </p:sp>
      <p:sp>
        <p:nvSpPr>
          <p:cNvPr id="39" name="given">
            <a:extLst>
              <a:ext uri="{FF2B5EF4-FFF2-40B4-BE49-F238E27FC236}">
                <a16:creationId xmlns:a16="http://schemas.microsoft.com/office/drawing/2014/main" id="{94EAB495-A2ED-DB9B-BFDA-0DFBE09638C4}"/>
              </a:ext>
            </a:extLst>
          </p:cNvPr>
          <p:cNvSpPr/>
          <p:nvPr/>
        </p:nvSpPr>
        <p:spPr>
          <a:xfrm>
            <a:off x="914400" y="7772400"/>
            <a:ext cx="105283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GIVEN</a:t>
            </a:r>
          </a:p>
        </p:txBody>
      </p:sp>
      <p:sp>
        <p:nvSpPr>
          <p:cNvPr id="40" name="given">
            <a:extLst>
              <a:ext uri="{FF2B5EF4-FFF2-40B4-BE49-F238E27FC236}">
                <a16:creationId xmlns:a16="http://schemas.microsoft.com/office/drawing/2014/main" id="{07F4BA5A-0F02-4CED-F7DB-20F24B4E6231}"/>
              </a:ext>
            </a:extLst>
          </p:cNvPr>
          <p:cNvSpPr/>
          <p:nvPr/>
        </p:nvSpPr>
        <p:spPr>
          <a:xfrm>
            <a:off x="914400" y="8355965"/>
            <a:ext cx="118745" cy="118745"/>
          </a:xfrm>
          <a:prstGeom prst="rect">
            <a:avLst/>
          </a:prstGeom>
          <a:solidFill>
            <a:srgbClr val="1F6F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given">
            <a:extLst>
              <a:ext uri="{FF2B5EF4-FFF2-40B4-BE49-F238E27FC236}">
                <a16:creationId xmlns:a16="http://schemas.microsoft.com/office/drawing/2014/main" id="{B79205A1-DF23-6C6F-A30D-A59045EF2EDE}"/>
              </a:ext>
            </a:extLst>
          </p:cNvPr>
          <p:cNvSpPr txBox="1"/>
          <p:nvPr/>
        </p:nvSpPr>
        <p:spPr>
          <a:xfrm>
            <a:off x="1130300" y="8280400"/>
            <a:ext cx="5753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1F6FA8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1F6FA8"/>
                </a:solidFill>
                <a:latin typeface="DM Sans" pitchFamily="2" charset="0"/>
              </a:rPr>
              <a:t>DD</a:t>
            </a:r>
            <a:r>
              <a:rPr lang="en-US" sz="1700" b="1">
                <a:solidFill>
                  <a:srgbClr val="1F6FA8"/>
                </a:solidFill>
                <a:latin typeface="DM Sans" pitchFamily="2" charset="0"/>
              </a:rPr>
              <a:t> = 10 V</a:t>
            </a:r>
          </a:p>
        </p:txBody>
      </p:sp>
      <p:sp>
        <p:nvSpPr>
          <p:cNvPr id="42" name="given">
            <a:extLst>
              <a:ext uri="{FF2B5EF4-FFF2-40B4-BE49-F238E27FC236}">
                <a16:creationId xmlns:a16="http://schemas.microsoft.com/office/drawing/2014/main" id="{72913D29-E5D6-4B5F-90A9-804405833EFA}"/>
              </a:ext>
            </a:extLst>
          </p:cNvPr>
          <p:cNvSpPr/>
          <p:nvPr/>
        </p:nvSpPr>
        <p:spPr>
          <a:xfrm>
            <a:off x="914400" y="8642975"/>
            <a:ext cx="118745" cy="118744"/>
          </a:xfrm>
          <a:prstGeom prst="rect">
            <a:avLst/>
          </a:prstGeom>
          <a:solidFill>
            <a:srgbClr val="7A3E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given">
            <a:extLst>
              <a:ext uri="{FF2B5EF4-FFF2-40B4-BE49-F238E27FC236}">
                <a16:creationId xmlns:a16="http://schemas.microsoft.com/office/drawing/2014/main" id="{1810BE42-DE88-0D6E-03F6-2A14419FDB89}"/>
              </a:ext>
            </a:extLst>
          </p:cNvPr>
          <p:cNvSpPr txBox="1"/>
          <p:nvPr/>
        </p:nvSpPr>
        <p:spPr>
          <a:xfrm>
            <a:off x="1130300" y="8567410"/>
            <a:ext cx="5753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sz="1700" b="1" baseline="-25000">
                <a:solidFill>
                  <a:srgbClr val="7A3E9D"/>
                </a:solidFill>
                <a:latin typeface="DM Sans" pitchFamily="2" charset="0"/>
              </a:rPr>
              <a:t>G1</a:t>
            </a:r>
            <a:r>
              <a:rPr lang="en-US" sz="1700" b="1">
                <a:solidFill>
                  <a:srgbClr val="7A3E9D"/>
                </a:solidFill>
                <a:latin typeface="DM Sans" pitchFamily="2" charset="0"/>
              </a:rPr>
              <a:t> = </a:t>
            </a:r>
            <a:r>
              <a:rPr lang="en-US" sz="1700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sz="1700" b="1" baseline="-25000">
                <a:solidFill>
                  <a:srgbClr val="7A3E9D"/>
                </a:solidFill>
                <a:latin typeface="DM Sans" pitchFamily="2" charset="0"/>
              </a:rPr>
              <a:t>G2</a:t>
            </a:r>
            <a:r>
              <a:rPr lang="en-US" sz="1700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sz="1700" b="1">
                <a:solidFill>
                  <a:srgbClr val="7A3E9D"/>
                </a:solidFill>
              </a:rPr>
              <a:t>Ω</a:t>
            </a:r>
            <a:endParaRPr lang="en-US" sz="1700" b="1">
              <a:solidFill>
                <a:srgbClr val="7A3E9D"/>
              </a:solidFill>
              <a:latin typeface="DM Sans" pitchFamily="2" charset="0"/>
            </a:endParaRPr>
          </a:p>
        </p:txBody>
      </p:sp>
      <p:sp>
        <p:nvSpPr>
          <p:cNvPr id="44" name="given">
            <a:extLst>
              <a:ext uri="{FF2B5EF4-FFF2-40B4-BE49-F238E27FC236}">
                <a16:creationId xmlns:a16="http://schemas.microsoft.com/office/drawing/2014/main" id="{0977F9A3-683B-384C-5BE5-1DD49D1AD6FD}"/>
              </a:ext>
            </a:extLst>
          </p:cNvPr>
          <p:cNvSpPr/>
          <p:nvPr/>
        </p:nvSpPr>
        <p:spPr>
          <a:xfrm>
            <a:off x="914400" y="8929984"/>
            <a:ext cx="118745" cy="118745"/>
          </a:xfrm>
          <a:prstGeom prst="rect">
            <a:avLst/>
          </a:prstGeom>
          <a:solidFill>
            <a:srgbClr val="0E7C7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given">
            <a:extLst>
              <a:ext uri="{FF2B5EF4-FFF2-40B4-BE49-F238E27FC236}">
                <a16:creationId xmlns:a16="http://schemas.microsoft.com/office/drawing/2014/main" id="{171104F7-4854-56DF-36FE-FE460722BE26}"/>
              </a:ext>
            </a:extLst>
          </p:cNvPr>
          <p:cNvSpPr txBox="1"/>
          <p:nvPr/>
        </p:nvSpPr>
        <p:spPr>
          <a:xfrm>
            <a:off x="1130300" y="8854419"/>
            <a:ext cx="5753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D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</a:t>
            </a:r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S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6 k</a:t>
            </a:r>
            <a:r>
              <a:rPr lang="el-GR" sz="1700" b="1">
                <a:solidFill>
                  <a:srgbClr val="0E7C7B"/>
                </a:solidFill>
              </a:rPr>
              <a:t>Ω</a:t>
            </a:r>
            <a:endParaRPr lang="en-US" sz="1700" b="1">
              <a:solidFill>
                <a:srgbClr val="0E7C7B"/>
              </a:solidFill>
              <a:latin typeface="DM Sans" pitchFamily="2" charset="0"/>
            </a:endParaRPr>
          </a:p>
        </p:txBody>
      </p:sp>
      <p:sp>
        <p:nvSpPr>
          <p:cNvPr id="46" name="given">
            <a:extLst>
              <a:ext uri="{FF2B5EF4-FFF2-40B4-BE49-F238E27FC236}">
                <a16:creationId xmlns:a16="http://schemas.microsoft.com/office/drawing/2014/main" id="{B60FA6D4-D701-EA8D-365A-73554E6630D4}"/>
              </a:ext>
            </a:extLst>
          </p:cNvPr>
          <p:cNvSpPr/>
          <p:nvPr/>
        </p:nvSpPr>
        <p:spPr>
          <a:xfrm>
            <a:off x="914400" y="9216994"/>
            <a:ext cx="118745" cy="118745"/>
          </a:xfrm>
          <a:prstGeom prst="rect">
            <a:avLst/>
          </a:prstGeom>
          <a:solidFill>
            <a:srgbClr val="B018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given">
            <a:extLst>
              <a:ext uri="{FF2B5EF4-FFF2-40B4-BE49-F238E27FC236}">
                <a16:creationId xmlns:a16="http://schemas.microsoft.com/office/drawing/2014/main" id="{DDC6400A-2EE6-42C3-8599-28B0B82AA23D}"/>
              </a:ext>
            </a:extLst>
          </p:cNvPr>
          <p:cNvSpPr txBox="1"/>
          <p:nvPr/>
        </p:nvSpPr>
        <p:spPr>
          <a:xfrm>
            <a:off x="1130300" y="9141430"/>
            <a:ext cx="5753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pl-PL" sz="1700" b="1" i="1">
                <a:solidFill>
                  <a:srgbClr val="B0186B"/>
                </a:solidFill>
                <a:latin typeface="DM Sans" pitchFamily="2" charset="0"/>
              </a:rPr>
              <a:t>V</a:t>
            </a:r>
            <a:r>
              <a:rPr lang="pl-PL" sz="1700" b="1" i="1" baseline="-25000">
                <a:solidFill>
                  <a:srgbClr val="B0186B"/>
                </a:solidFill>
                <a:latin typeface="DM Sans" pitchFamily="2" charset="0"/>
              </a:rPr>
              <a:t>t</a:t>
            </a:r>
            <a:r>
              <a:rPr lang="pl-PL" sz="1700" b="1">
                <a:solidFill>
                  <a:srgbClr val="B0186B"/>
                </a:solidFill>
                <a:latin typeface="DM Sans" pitchFamily="2" charset="0"/>
              </a:rPr>
              <a:t> = 1 V,   k′</a:t>
            </a:r>
            <a:r>
              <a:rPr lang="pl-PL" sz="1700" b="1" baseline="-25000">
                <a:solidFill>
                  <a:srgbClr val="B0186B"/>
                </a:solidFill>
                <a:latin typeface="DM Sans" pitchFamily="2" charset="0"/>
              </a:rPr>
              <a:t>n</a:t>
            </a:r>
            <a:r>
              <a:rPr lang="pl-PL" sz="1700" b="1">
                <a:solidFill>
                  <a:srgbClr val="B0186B"/>
                </a:solidFill>
                <a:latin typeface="DM Sans" pitchFamily="2" charset="0"/>
              </a:rPr>
              <a:t>(W/L) = 1 mA/V²</a:t>
            </a:r>
            <a:endParaRPr lang="en-US" sz="1700" b="1">
              <a:solidFill>
                <a:srgbClr val="B0186B"/>
              </a:solidFill>
              <a:latin typeface="DM Sans" pitchFamily="2" charset="0"/>
            </a:endParaRPr>
          </a:p>
        </p:txBody>
      </p:sp>
      <p:sp>
        <p:nvSpPr>
          <p:cNvPr id="48" name="badge @1">
            <a:extLst>
              <a:ext uri="{FF2B5EF4-FFF2-40B4-BE49-F238E27FC236}">
                <a16:creationId xmlns:a16="http://schemas.microsoft.com/office/drawing/2014/main" id="{87ADEC64-AC03-6B07-087A-BEF79D87EA3E}"/>
              </a:ext>
            </a:extLst>
          </p:cNvPr>
          <p:cNvSpPr/>
          <p:nvPr/>
        </p:nvSpPr>
        <p:spPr>
          <a:xfrm>
            <a:off x="7366000" y="19177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4</a:t>
            </a:r>
          </a:p>
        </p:txBody>
      </p:sp>
      <p:sp>
        <p:nvSpPr>
          <p:cNvPr id="49" name="step @1">
            <a:extLst>
              <a:ext uri="{FF2B5EF4-FFF2-40B4-BE49-F238E27FC236}">
                <a16:creationId xmlns:a16="http://schemas.microsoft.com/office/drawing/2014/main" id="{D903584B-83D7-D6EA-8A20-56B052A6AC55}"/>
              </a:ext>
            </a:extLst>
          </p:cNvPr>
          <p:cNvSpPr txBox="1"/>
          <p:nvPr/>
        </p:nvSpPr>
        <p:spPr>
          <a:xfrm>
            <a:off x="7950200" y="1905000"/>
            <a:ext cx="9423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Substitute </a:t>
            </a:r>
            <a:r>
              <a:rPr lang="en-US" sz="2000" b="1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000" b="1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 into the saturation equation and solve</a:t>
            </a:r>
          </a:p>
        </p:txBody>
      </p:sp>
      <p:sp>
        <p:nvSpPr>
          <p:cNvPr id="50" name="note @1">
            <a:extLst>
              <a:ext uri="{FF2B5EF4-FFF2-40B4-BE49-F238E27FC236}">
                <a16:creationId xmlns:a16="http://schemas.microsoft.com/office/drawing/2014/main" id="{56854569-41D0-C51A-D02E-9F8C5738BAC8}"/>
              </a:ext>
            </a:extLst>
          </p:cNvPr>
          <p:cNvSpPr txBox="1"/>
          <p:nvPr/>
        </p:nvSpPr>
        <p:spPr>
          <a:xfrm>
            <a:off x="7950200" y="2238177"/>
            <a:ext cx="94234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Units: I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in mA. Expanding gives a quadratic with two roots.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eq @1">
                <a:extLst>
                  <a:ext uri="{FF2B5EF4-FFF2-40B4-BE49-F238E27FC236}">
                    <a16:creationId xmlns:a16="http://schemas.microsoft.com/office/drawing/2014/main" id="{9748A16E-3BC7-2A94-8AE7-EE0BADFA5F15}"/>
                  </a:ext>
                </a:extLst>
              </p:cNvPr>
              <p:cNvSpPr txBox="1"/>
              <p:nvPr/>
            </p:nvSpPr>
            <p:spPr>
              <a:xfrm>
                <a:off x="7950200" y="2525186"/>
                <a:ext cx="9423400" cy="64262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r>
                        <a:rPr lang="en-US" sz="2200" b="1">
                          <a:solidFill>
                            <a:srgbClr val="B0186B"/>
                          </a:solidFill>
                          <a:latin typeface="Cambria Math"/>
                          <a:cs typeface="Cambria Math"/>
                        </a:rPr>
                        <m:t>1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)(5−</m:t>
                      </m:r>
                      <m:r>
                        <a:rPr lang="en-US" sz="2200" b="1">
                          <a:solidFill>
                            <a:srgbClr val="0E7C7B"/>
                          </a:solidFill>
                          <a:latin typeface="Cambria Math"/>
                          <a:cs typeface="Cambria Math"/>
                        </a:rPr>
                        <m:t>6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r>
                        <a:rPr lang="en-US" sz="2200" b="1">
                          <a:solidFill>
                            <a:srgbClr val="B0186B"/>
                          </a:solidFill>
                          <a:latin typeface="Cambria Math"/>
                          <a:cs typeface="Cambria Math"/>
                        </a:rPr>
                        <m:t>1</m:t>
                      </m:r>
                      <m:sSup>
                        <m:sSup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1" name="eq @1">
                <a:extLst>
                  <a:ext uri="{FF2B5EF4-FFF2-40B4-BE49-F238E27FC236}">
                    <a16:creationId xmlns:a16="http://schemas.microsoft.com/office/drawing/2014/main" id="{9748A16E-3BC7-2A94-8AE7-EE0BADFA5F15}"/>
                  </a:ext>
                </a:extLst>
              </p:cNvPr>
              <p:cNvSpPr txBox="1"/>
              <p:nvPr/>
            </p:nvSpPr>
            <p:spPr>
              <a:xfrm>
                <a:off x="7950200" y="2525186"/>
                <a:ext cx="9423400" cy="64262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\frac{1}{2}\,(\textcolor{#B0186B}{1})\,(5 - \textcolor{#0E7C7B}{6}I_D - \textcolor{#B0186B}{1})^2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eq @1">
                <a:extLst>
                  <a:ext uri="{FF2B5EF4-FFF2-40B4-BE49-F238E27FC236}">
                    <a16:creationId xmlns:a16="http://schemas.microsoft.com/office/drawing/2014/main" id="{907BC542-BFE6-626C-7C67-461C0D545F95}"/>
                  </a:ext>
                </a:extLst>
              </p:cNvPr>
              <p:cNvSpPr txBox="1"/>
              <p:nvPr/>
            </p:nvSpPr>
            <p:spPr>
              <a:xfrm>
                <a:off x="7950200" y="3167806"/>
                <a:ext cx="9423400" cy="4191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18</m:t>
                      </m:r>
                      <m:sSubSup>
                        <m:sSubSup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  <m:sup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−25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+8=0 ⇒ 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=0.89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or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 0.5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2" name="eq @1">
                <a:extLst>
                  <a:ext uri="{FF2B5EF4-FFF2-40B4-BE49-F238E27FC236}">
                    <a16:creationId xmlns:a16="http://schemas.microsoft.com/office/drawing/2014/main" id="{907BC542-BFE6-626C-7C67-461C0D545F95}"/>
                  </a:ext>
                </a:extLst>
              </p:cNvPr>
              <p:cNvSpPr txBox="1"/>
              <p:nvPr/>
            </p:nvSpPr>
            <p:spPr>
              <a:xfrm>
                <a:off x="7950200" y="3167806"/>
                <a:ext cx="9423400" cy="4191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18I_D^2-25I_D+8=0\ \Rightarrow\ I_D = 0.89\ \text{or}\ 0.5\ \mathrm{mA}</a:t>
                </a:r>
              </a:p>
            </p:txBody>
          </p:sp>
        </mc:Fallback>
      </mc:AlternateContent>
      <p:sp>
        <p:nvSpPr>
          <p:cNvPr id="69" name="chrome page">
            <a:extLst>
              <a:ext uri="{FF2B5EF4-FFF2-40B4-BE49-F238E27FC236}">
                <a16:creationId xmlns:a16="http://schemas.microsoft.com/office/drawing/2014/main" id="{FA2C6EEE-460D-70AD-E3E2-CA2FD7758739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chrome page">
            <a:extLst>
              <a:ext uri="{FF2B5EF4-FFF2-40B4-BE49-F238E27FC236}">
                <a16:creationId xmlns:a16="http://schemas.microsoft.com/office/drawing/2014/main" id="{33AB85EC-EEF2-864C-677C-3B2997D2A1F1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1740234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 1: find the drain volt s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5C04C90-B5C3-4849-BDE6-45F46048A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Example 1: find the drain voltage (2 of 2)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094B22B8-C678-0AD8-5A23-BECA744FBE09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9DE42B12-4EEA-DD9F-0DEA-C4E4A0C418EE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8DCF8B4E-BE10-9087-28DD-9B5AF14E2C38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circuit card">
            <a:extLst>
              <a:ext uri="{FF2B5EF4-FFF2-40B4-BE49-F238E27FC236}">
                <a16:creationId xmlns:a16="http://schemas.microsoft.com/office/drawing/2014/main" id="{1B47CE4F-42F3-584D-E5AE-7C5474FE9C8E}"/>
              </a:ext>
            </a:extLst>
          </p:cNvPr>
          <p:cNvSpPr/>
          <p:nvPr/>
        </p:nvSpPr>
        <p:spPr>
          <a:xfrm>
            <a:off x="914400" y="1905000"/>
            <a:ext cx="5969000" cy="5715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E299DE58-4E90-A091-5875-F15408E8A0E0}"/>
              </a:ext>
            </a:extLst>
          </p:cNvPr>
          <p:cNvSpPr/>
          <p:nvPr/>
        </p:nvSpPr>
        <p:spPr>
          <a:xfrm>
            <a:off x="914400" y="1892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kt">
            <a:extLst>
              <a:ext uri="{FF2B5EF4-FFF2-40B4-BE49-F238E27FC236}">
                <a16:creationId xmlns:a16="http://schemas.microsoft.com/office/drawing/2014/main" id="{115176E3-7F4E-F7C8-3249-69800DC4A27E}"/>
              </a:ext>
            </a:extLst>
          </p:cNvPr>
          <p:cNvSpPr/>
          <p:nvPr/>
        </p:nvSpPr>
        <p:spPr>
          <a:xfrm>
            <a:off x="4464050" y="22923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ckt">
            <a:extLst>
              <a:ext uri="{FF2B5EF4-FFF2-40B4-BE49-F238E27FC236}">
                <a16:creationId xmlns:a16="http://schemas.microsoft.com/office/drawing/2014/main" id="{B63C5A45-37CE-E7C9-61C8-0EB47941B666}"/>
              </a:ext>
            </a:extLst>
          </p:cNvPr>
          <p:cNvCxnSpPr/>
          <p:nvPr/>
        </p:nvCxnSpPr>
        <p:spPr>
          <a:xfrm>
            <a:off x="4533900" y="2432050"/>
            <a:ext cx="0" cy="51435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kt label">
            <a:extLst>
              <a:ext uri="{FF2B5EF4-FFF2-40B4-BE49-F238E27FC236}">
                <a16:creationId xmlns:a16="http://schemas.microsoft.com/office/drawing/2014/main" id="{4E971E43-15C9-7772-471C-343268729C59}"/>
              </a:ext>
            </a:extLst>
          </p:cNvPr>
          <p:cNvSpPr txBox="1"/>
          <p:nvPr/>
        </p:nvSpPr>
        <p:spPr>
          <a:xfrm>
            <a:off x="4711700" y="21653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b="1">
                <a:solidFill>
                  <a:srgbClr val="1F6FA8"/>
                </a:solidFill>
                <a:latin typeface="DM Sans" pitchFamily="2" charset="0"/>
              </a:rPr>
              <a:t>+</a:t>
            </a:r>
            <a:r>
              <a:rPr lang="en-US" b="1" i="1">
                <a:solidFill>
                  <a:srgbClr val="1F6FA8"/>
                </a:solidFill>
                <a:latin typeface="DM Sans" pitchFamily="2" charset="0"/>
              </a:rPr>
              <a:t>V</a:t>
            </a:r>
            <a:r>
              <a:rPr lang="en-US" b="1" i="1" baseline="-25000">
                <a:solidFill>
                  <a:srgbClr val="1F6FA8"/>
                </a:solidFill>
                <a:latin typeface="DM Sans" pitchFamily="2" charset="0"/>
              </a:rPr>
              <a:t>DD</a:t>
            </a:r>
            <a:r>
              <a:rPr lang="en-US" b="1">
                <a:solidFill>
                  <a:srgbClr val="1F6FA8"/>
                </a:solidFill>
                <a:latin typeface="DM Sans" pitchFamily="2" charset="0"/>
              </a:rPr>
              <a:t> = 10 V</a:t>
            </a:r>
          </a:p>
        </p:txBody>
      </p:sp>
      <p:cxnSp>
        <p:nvCxnSpPr>
          <p:cNvPr id="11" name="ckt">
            <a:extLst>
              <a:ext uri="{FF2B5EF4-FFF2-40B4-BE49-F238E27FC236}">
                <a16:creationId xmlns:a16="http://schemas.microsoft.com/office/drawing/2014/main" id="{9AAB5058-CB88-BC30-C657-91723EFFC9FA}"/>
              </a:ext>
            </a:extLst>
          </p:cNvPr>
          <p:cNvCxnSpPr/>
          <p:nvPr/>
        </p:nvCxnSpPr>
        <p:spPr>
          <a:xfrm>
            <a:off x="3327400" y="2946400"/>
            <a:ext cx="2413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kt">
            <a:extLst>
              <a:ext uri="{FF2B5EF4-FFF2-40B4-BE49-F238E27FC236}">
                <a16:creationId xmlns:a16="http://schemas.microsoft.com/office/drawing/2014/main" id="{1FEDE4A0-4531-9D53-D3D6-A8888084ED2E}"/>
              </a:ext>
            </a:extLst>
          </p:cNvPr>
          <p:cNvSpPr/>
          <p:nvPr/>
        </p:nvSpPr>
        <p:spPr>
          <a:xfrm>
            <a:off x="4476750" y="28892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kt">
            <a:extLst>
              <a:ext uri="{FF2B5EF4-FFF2-40B4-BE49-F238E27FC236}">
                <a16:creationId xmlns:a16="http://schemas.microsoft.com/office/drawing/2014/main" id="{D158C7F5-B380-BAF5-4AB6-A269C3219B22}"/>
              </a:ext>
            </a:extLst>
          </p:cNvPr>
          <p:cNvCxnSpPr/>
          <p:nvPr/>
        </p:nvCxnSpPr>
        <p:spPr>
          <a:xfrm>
            <a:off x="3327400" y="7010400"/>
            <a:ext cx="2413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kt">
            <a:extLst>
              <a:ext uri="{FF2B5EF4-FFF2-40B4-BE49-F238E27FC236}">
                <a16:creationId xmlns:a16="http://schemas.microsoft.com/office/drawing/2014/main" id="{EACFED44-085E-6B89-6462-63BF51F26370}"/>
              </a:ext>
            </a:extLst>
          </p:cNvPr>
          <p:cNvSpPr/>
          <p:nvPr/>
        </p:nvSpPr>
        <p:spPr>
          <a:xfrm>
            <a:off x="4476750" y="69532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kt">
            <a:extLst>
              <a:ext uri="{FF2B5EF4-FFF2-40B4-BE49-F238E27FC236}">
                <a16:creationId xmlns:a16="http://schemas.microsoft.com/office/drawing/2014/main" id="{1275CA28-394D-1654-7683-7C2C258DAF86}"/>
              </a:ext>
            </a:extLst>
          </p:cNvPr>
          <p:cNvCxnSpPr/>
          <p:nvPr/>
        </p:nvCxnSpPr>
        <p:spPr>
          <a:xfrm>
            <a:off x="4533900" y="70104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034BD0A8-C6A4-6EFB-7623-2C87DE5C96DE}"/>
              </a:ext>
            </a:extLst>
          </p:cNvPr>
          <p:cNvCxnSpPr/>
          <p:nvPr/>
        </p:nvCxnSpPr>
        <p:spPr>
          <a:xfrm>
            <a:off x="4343400" y="71628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679FB554-07A8-EAC5-685B-F178158F54C9}"/>
              </a:ext>
            </a:extLst>
          </p:cNvPr>
          <p:cNvCxnSpPr/>
          <p:nvPr/>
        </p:nvCxnSpPr>
        <p:spPr>
          <a:xfrm>
            <a:off x="4413250" y="72326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kt">
            <a:extLst>
              <a:ext uri="{FF2B5EF4-FFF2-40B4-BE49-F238E27FC236}">
                <a16:creationId xmlns:a16="http://schemas.microsoft.com/office/drawing/2014/main" id="{8E2F83D1-3010-BB00-69DA-B69C416CDE49}"/>
              </a:ext>
            </a:extLst>
          </p:cNvPr>
          <p:cNvCxnSpPr/>
          <p:nvPr/>
        </p:nvCxnSpPr>
        <p:spPr>
          <a:xfrm>
            <a:off x="4483100" y="73025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kt">
            <a:extLst>
              <a:ext uri="{FF2B5EF4-FFF2-40B4-BE49-F238E27FC236}">
                <a16:creationId xmlns:a16="http://schemas.microsoft.com/office/drawing/2014/main" id="{615CC8C3-B128-DBC2-98E4-369221D9CB77}"/>
              </a:ext>
            </a:extLst>
          </p:cNvPr>
          <p:cNvSpPr/>
          <p:nvPr/>
        </p:nvSpPr>
        <p:spPr>
          <a:xfrm>
            <a:off x="3200400" y="2946400"/>
            <a:ext cx="254001" cy="2032001"/>
          </a:xfrm>
          <a:custGeom>
            <a:avLst/>
            <a:gdLst/>
            <a:ahLst/>
            <a:cxnLst/>
            <a:rect l="0" t="0" r="0" b="0"/>
            <a:pathLst>
              <a:path w="254001" h="2032001">
                <a:moveTo>
                  <a:pt x="127000" y="0"/>
                </a:moveTo>
                <a:lnTo>
                  <a:pt x="127000" y="647700"/>
                </a:lnTo>
                <a:lnTo>
                  <a:pt x="0" y="709083"/>
                </a:lnTo>
                <a:lnTo>
                  <a:pt x="254000" y="831850"/>
                </a:lnTo>
                <a:lnTo>
                  <a:pt x="0" y="954617"/>
                </a:lnTo>
                <a:lnTo>
                  <a:pt x="254000" y="1077383"/>
                </a:lnTo>
                <a:lnTo>
                  <a:pt x="0" y="1200150"/>
                </a:lnTo>
                <a:lnTo>
                  <a:pt x="254000" y="1322917"/>
                </a:lnTo>
                <a:lnTo>
                  <a:pt x="127000" y="1384300"/>
                </a:lnTo>
                <a:lnTo>
                  <a:pt x="127000" y="20320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kt">
            <a:extLst>
              <a:ext uri="{FF2B5EF4-FFF2-40B4-BE49-F238E27FC236}">
                <a16:creationId xmlns:a16="http://schemas.microsoft.com/office/drawing/2014/main" id="{04898858-4DB3-BCE4-2D3E-90325560DB56}"/>
              </a:ext>
            </a:extLst>
          </p:cNvPr>
          <p:cNvSpPr/>
          <p:nvPr/>
        </p:nvSpPr>
        <p:spPr>
          <a:xfrm>
            <a:off x="3200400" y="4978400"/>
            <a:ext cx="254001" cy="2032001"/>
          </a:xfrm>
          <a:custGeom>
            <a:avLst/>
            <a:gdLst/>
            <a:ahLst/>
            <a:cxnLst/>
            <a:rect l="0" t="0" r="0" b="0"/>
            <a:pathLst>
              <a:path w="254001" h="2032001">
                <a:moveTo>
                  <a:pt x="127000" y="0"/>
                </a:moveTo>
                <a:lnTo>
                  <a:pt x="127000" y="647700"/>
                </a:lnTo>
                <a:lnTo>
                  <a:pt x="0" y="709083"/>
                </a:lnTo>
                <a:lnTo>
                  <a:pt x="254000" y="831850"/>
                </a:lnTo>
                <a:lnTo>
                  <a:pt x="0" y="954617"/>
                </a:lnTo>
                <a:lnTo>
                  <a:pt x="254000" y="1077383"/>
                </a:lnTo>
                <a:lnTo>
                  <a:pt x="0" y="1200150"/>
                </a:lnTo>
                <a:lnTo>
                  <a:pt x="254000" y="1322917"/>
                </a:lnTo>
                <a:lnTo>
                  <a:pt x="127000" y="1384300"/>
                </a:lnTo>
                <a:lnTo>
                  <a:pt x="127000" y="20320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kt">
            <a:extLst>
              <a:ext uri="{FF2B5EF4-FFF2-40B4-BE49-F238E27FC236}">
                <a16:creationId xmlns:a16="http://schemas.microsoft.com/office/drawing/2014/main" id="{392D38E6-B3BE-7865-3C43-0E60A982D05D}"/>
              </a:ext>
            </a:extLst>
          </p:cNvPr>
          <p:cNvSpPr/>
          <p:nvPr/>
        </p:nvSpPr>
        <p:spPr>
          <a:xfrm>
            <a:off x="3270250" y="49212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kt label">
            <a:extLst>
              <a:ext uri="{FF2B5EF4-FFF2-40B4-BE49-F238E27FC236}">
                <a16:creationId xmlns:a16="http://schemas.microsoft.com/office/drawing/2014/main" id="{75844792-92D7-338A-53B2-13E26386C7EA}"/>
              </a:ext>
            </a:extLst>
          </p:cNvPr>
          <p:cNvSpPr txBox="1"/>
          <p:nvPr/>
        </p:nvSpPr>
        <p:spPr>
          <a:xfrm>
            <a:off x="304800" y="37909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b="1" baseline="-25000">
                <a:solidFill>
                  <a:srgbClr val="7A3E9D"/>
                </a:solidFill>
                <a:latin typeface="DM Sans" pitchFamily="2" charset="0"/>
              </a:rPr>
              <a:t>G1</a:t>
            </a:r>
            <a:r>
              <a:rPr lang="en-US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b="1">
                <a:solidFill>
                  <a:srgbClr val="7A3E9D"/>
                </a:solidFill>
              </a:rPr>
              <a:t>Ω</a:t>
            </a:r>
            <a:endParaRPr lang="en-US" b="1">
              <a:solidFill>
                <a:srgbClr val="7A3E9D"/>
              </a:solidFill>
              <a:latin typeface="DM Sans" pitchFamily="2" charset="0"/>
            </a:endParaRPr>
          </a:p>
        </p:txBody>
      </p:sp>
      <p:sp>
        <p:nvSpPr>
          <p:cNvPr id="23" name="ckt label">
            <a:extLst>
              <a:ext uri="{FF2B5EF4-FFF2-40B4-BE49-F238E27FC236}">
                <a16:creationId xmlns:a16="http://schemas.microsoft.com/office/drawing/2014/main" id="{3BFC1DDF-6722-E363-FD88-B94CD748DF18}"/>
              </a:ext>
            </a:extLst>
          </p:cNvPr>
          <p:cNvSpPr txBox="1"/>
          <p:nvPr/>
        </p:nvSpPr>
        <p:spPr>
          <a:xfrm>
            <a:off x="304800" y="58229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b="1" baseline="-25000">
                <a:solidFill>
                  <a:srgbClr val="7A3E9D"/>
                </a:solidFill>
                <a:latin typeface="DM Sans" pitchFamily="2" charset="0"/>
              </a:rPr>
              <a:t>G2</a:t>
            </a:r>
            <a:r>
              <a:rPr lang="en-US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b="1">
                <a:solidFill>
                  <a:srgbClr val="7A3E9D"/>
                </a:solidFill>
              </a:rPr>
              <a:t>Ω</a:t>
            </a:r>
            <a:endParaRPr lang="en-US" b="1">
              <a:solidFill>
                <a:srgbClr val="7A3E9D"/>
              </a:solidFill>
              <a:latin typeface="DM Sans" pitchFamily="2" charset="0"/>
            </a:endParaRPr>
          </a:p>
        </p:txBody>
      </p:sp>
      <p:cxnSp>
        <p:nvCxnSpPr>
          <p:cNvPr id="24" name="ckt">
            <a:extLst>
              <a:ext uri="{FF2B5EF4-FFF2-40B4-BE49-F238E27FC236}">
                <a16:creationId xmlns:a16="http://schemas.microsoft.com/office/drawing/2014/main" id="{420F68DF-ED39-9754-D19A-EEFD7099556F}"/>
              </a:ext>
            </a:extLst>
          </p:cNvPr>
          <p:cNvCxnSpPr/>
          <p:nvPr/>
        </p:nvCxnSpPr>
        <p:spPr>
          <a:xfrm>
            <a:off x="5181600" y="45943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3E11F7CB-F845-AC2E-0DCB-4D2D04986861}"/>
              </a:ext>
            </a:extLst>
          </p:cNvPr>
          <p:cNvCxnSpPr/>
          <p:nvPr/>
        </p:nvCxnSpPr>
        <p:spPr>
          <a:xfrm>
            <a:off x="5308600" y="4445000"/>
            <a:ext cx="0" cy="1066800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A2311969-4A2F-9029-3844-C1E65FD29AD8}"/>
              </a:ext>
            </a:extLst>
          </p:cNvPr>
          <p:cNvCxnSpPr/>
          <p:nvPr/>
        </p:nvCxnSpPr>
        <p:spPr>
          <a:xfrm>
            <a:off x="5308600" y="45466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0D8C2D2F-9D7A-7EE0-11BB-01018DEB0C9A}"/>
              </a:ext>
            </a:extLst>
          </p:cNvPr>
          <p:cNvCxnSpPr/>
          <p:nvPr/>
        </p:nvCxnSpPr>
        <p:spPr>
          <a:xfrm>
            <a:off x="5308600" y="54102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8BDEE348-83F9-A043-8395-B6A356FCAD08}"/>
              </a:ext>
            </a:extLst>
          </p:cNvPr>
          <p:cNvCxnSpPr/>
          <p:nvPr/>
        </p:nvCxnSpPr>
        <p:spPr>
          <a:xfrm>
            <a:off x="5610860" y="5410200"/>
            <a:ext cx="12954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kt">
            <a:extLst>
              <a:ext uri="{FF2B5EF4-FFF2-40B4-BE49-F238E27FC236}">
                <a16:creationId xmlns:a16="http://schemas.microsoft.com/office/drawing/2014/main" id="{1BEBB173-5A56-99EE-AD7C-77A7B6287880}"/>
              </a:ext>
            </a:extLst>
          </p:cNvPr>
          <p:cNvCxnSpPr/>
          <p:nvPr/>
        </p:nvCxnSpPr>
        <p:spPr>
          <a:xfrm>
            <a:off x="3327400" y="4978400"/>
            <a:ext cx="18542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kt">
            <a:extLst>
              <a:ext uri="{FF2B5EF4-FFF2-40B4-BE49-F238E27FC236}">
                <a16:creationId xmlns:a16="http://schemas.microsoft.com/office/drawing/2014/main" id="{34F7F3CE-B6A6-708C-9310-FC123D043F88}"/>
              </a:ext>
            </a:extLst>
          </p:cNvPr>
          <p:cNvSpPr/>
          <p:nvPr/>
        </p:nvSpPr>
        <p:spPr>
          <a:xfrm>
            <a:off x="5613400" y="2946400"/>
            <a:ext cx="254001" cy="1168401"/>
          </a:xfrm>
          <a:custGeom>
            <a:avLst/>
            <a:gdLst/>
            <a:ahLst/>
            <a:cxnLst/>
            <a:rect l="0" t="0" r="0" b="0"/>
            <a:pathLst>
              <a:path w="254001" h="1168401">
                <a:moveTo>
                  <a:pt x="127000" y="0"/>
                </a:moveTo>
                <a:lnTo>
                  <a:pt x="127000" y="215900"/>
                </a:lnTo>
                <a:lnTo>
                  <a:pt x="0" y="277283"/>
                </a:lnTo>
                <a:lnTo>
                  <a:pt x="254000" y="400050"/>
                </a:lnTo>
                <a:lnTo>
                  <a:pt x="0" y="522817"/>
                </a:lnTo>
                <a:lnTo>
                  <a:pt x="254000" y="645583"/>
                </a:lnTo>
                <a:lnTo>
                  <a:pt x="0" y="768350"/>
                </a:lnTo>
                <a:lnTo>
                  <a:pt x="254000" y="891117"/>
                </a:lnTo>
                <a:lnTo>
                  <a:pt x="127000" y="952500"/>
                </a:lnTo>
                <a:lnTo>
                  <a:pt x="127000" y="11684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ckt">
            <a:extLst>
              <a:ext uri="{FF2B5EF4-FFF2-40B4-BE49-F238E27FC236}">
                <a16:creationId xmlns:a16="http://schemas.microsoft.com/office/drawing/2014/main" id="{5A76B7E1-8088-EB52-0473-3433A7773FB1}"/>
              </a:ext>
            </a:extLst>
          </p:cNvPr>
          <p:cNvCxnSpPr/>
          <p:nvPr/>
        </p:nvCxnSpPr>
        <p:spPr>
          <a:xfrm>
            <a:off x="5740400" y="4114800"/>
            <a:ext cx="0" cy="431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kt">
            <a:extLst>
              <a:ext uri="{FF2B5EF4-FFF2-40B4-BE49-F238E27FC236}">
                <a16:creationId xmlns:a16="http://schemas.microsoft.com/office/drawing/2014/main" id="{7A0698A8-29C2-DDD1-9523-7E19A906C47F}"/>
              </a:ext>
            </a:extLst>
          </p:cNvPr>
          <p:cNvSpPr/>
          <p:nvPr/>
        </p:nvSpPr>
        <p:spPr>
          <a:xfrm>
            <a:off x="5613400" y="5842000"/>
            <a:ext cx="254001" cy="1168401"/>
          </a:xfrm>
          <a:custGeom>
            <a:avLst/>
            <a:gdLst/>
            <a:ahLst/>
            <a:cxnLst/>
            <a:rect l="0" t="0" r="0" b="0"/>
            <a:pathLst>
              <a:path w="254001" h="1168401">
                <a:moveTo>
                  <a:pt x="127000" y="0"/>
                </a:moveTo>
                <a:lnTo>
                  <a:pt x="127000" y="215900"/>
                </a:lnTo>
                <a:lnTo>
                  <a:pt x="0" y="277283"/>
                </a:lnTo>
                <a:lnTo>
                  <a:pt x="254000" y="400050"/>
                </a:lnTo>
                <a:lnTo>
                  <a:pt x="0" y="522817"/>
                </a:lnTo>
                <a:lnTo>
                  <a:pt x="254000" y="645583"/>
                </a:lnTo>
                <a:lnTo>
                  <a:pt x="0" y="768350"/>
                </a:lnTo>
                <a:lnTo>
                  <a:pt x="254000" y="891117"/>
                </a:lnTo>
                <a:lnTo>
                  <a:pt x="127000" y="952500"/>
                </a:lnTo>
                <a:lnTo>
                  <a:pt x="127000" y="11684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ckt">
            <a:extLst>
              <a:ext uri="{FF2B5EF4-FFF2-40B4-BE49-F238E27FC236}">
                <a16:creationId xmlns:a16="http://schemas.microsoft.com/office/drawing/2014/main" id="{1DD0B490-121C-FC81-4A9F-7631865CB6D5}"/>
              </a:ext>
            </a:extLst>
          </p:cNvPr>
          <p:cNvCxnSpPr/>
          <p:nvPr/>
        </p:nvCxnSpPr>
        <p:spPr>
          <a:xfrm>
            <a:off x="5740400" y="5410200"/>
            <a:ext cx="0" cy="431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kt label">
            <a:extLst>
              <a:ext uri="{FF2B5EF4-FFF2-40B4-BE49-F238E27FC236}">
                <a16:creationId xmlns:a16="http://schemas.microsoft.com/office/drawing/2014/main" id="{C5EAABFA-6D48-9128-12FD-B77D37300150}"/>
              </a:ext>
            </a:extLst>
          </p:cNvPr>
          <p:cNvSpPr txBox="1"/>
          <p:nvPr/>
        </p:nvSpPr>
        <p:spPr>
          <a:xfrm>
            <a:off x="5969000" y="33591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b="1" i="1" baseline="-25000">
                <a:solidFill>
                  <a:srgbClr val="0E7C7B"/>
                </a:solidFill>
                <a:latin typeface="DM Sans" pitchFamily="2" charset="0"/>
              </a:rPr>
              <a:t>D</a:t>
            </a:r>
            <a:r>
              <a:rPr lang="en-US" b="1">
                <a:solidFill>
                  <a:srgbClr val="0E7C7B"/>
                </a:solidFill>
                <a:latin typeface="DM Sans" pitchFamily="2" charset="0"/>
              </a:rPr>
              <a:t> = 6 k</a:t>
            </a:r>
            <a:r>
              <a:rPr lang="el-GR" b="1">
                <a:solidFill>
                  <a:srgbClr val="0E7C7B"/>
                </a:solidFill>
              </a:rPr>
              <a:t>Ω</a:t>
            </a:r>
            <a:endParaRPr lang="en-US" b="1">
              <a:solidFill>
                <a:srgbClr val="0E7C7B"/>
              </a:solidFill>
              <a:latin typeface="DM Sans" pitchFamily="2" charset="0"/>
            </a:endParaRPr>
          </a:p>
        </p:txBody>
      </p:sp>
      <p:sp>
        <p:nvSpPr>
          <p:cNvPr id="35" name="ckt label">
            <a:extLst>
              <a:ext uri="{FF2B5EF4-FFF2-40B4-BE49-F238E27FC236}">
                <a16:creationId xmlns:a16="http://schemas.microsoft.com/office/drawing/2014/main" id="{23B00363-B85E-AF80-0F17-23D7164EB7DA}"/>
              </a:ext>
            </a:extLst>
          </p:cNvPr>
          <p:cNvSpPr txBox="1"/>
          <p:nvPr/>
        </p:nvSpPr>
        <p:spPr>
          <a:xfrm>
            <a:off x="5969000" y="62547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b="1" i="1" baseline="-25000">
                <a:solidFill>
                  <a:srgbClr val="0E7C7B"/>
                </a:solidFill>
                <a:latin typeface="DM Sans" pitchFamily="2" charset="0"/>
              </a:rPr>
              <a:t>S</a:t>
            </a:r>
            <a:r>
              <a:rPr lang="en-US" b="1">
                <a:solidFill>
                  <a:srgbClr val="0E7C7B"/>
                </a:solidFill>
                <a:latin typeface="DM Sans" pitchFamily="2" charset="0"/>
              </a:rPr>
              <a:t> = 6 k</a:t>
            </a:r>
            <a:r>
              <a:rPr lang="el-GR" b="1">
                <a:solidFill>
                  <a:srgbClr val="0E7C7B"/>
                </a:solidFill>
              </a:rPr>
              <a:t>Ω</a:t>
            </a:r>
            <a:endParaRPr lang="en-US" b="1">
              <a:solidFill>
                <a:srgbClr val="0E7C7B"/>
              </a:solidFill>
              <a:latin typeface="DM Sans" pitchFamily="2" charset="0"/>
            </a:endParaRPr>
          </a:p>
        </p:txBody>
      </p:sp>
      <p:sp>
        <p:nvSpPr>
          <p:cNvPr id="36" name="node">
            <a:extLst>
              <a:ext uri="{FF2B5EF4-FFF2-40B4-BE49-F238E27FC236}">
                <a16:creationId xmlns:a16="http://schemas.microsoft.com/office/drawing/2014/main" id="{2C60F22F-F7D3-1FBE-EE2F-7C8E6AED2572}"/>
              </a:ext>
            </a:extLst>
          </p:cNvPr>
          <p:cNvSpPr txBox="1"/>
          <p:nvPr/>
        </p:nvSpPr>
        <p:spPr>
          <a:xfrm>
            <a:off x="3505200" y="4597399"/>
            <a:ext cx="1905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 i="1">
                <a:solidFill>
                  <a:srgbClr val="145A43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145A43"/>
                </a:solidFill>
                <a:latin typeface="DM Sans" pitchFamily="2" charset="0"/>
              </a:rPr>
              <a:t>G</a:t>
            </a:r>
            <a:r>
              <a:rPr lang="en-US" sz="1700" b="1">
                <a:solidFill>
                  <a:srgbClr val="145A43"/>
                </a:solidFill>
                <a:latin typeface="DM Sans" pitchFamily="2" charset="0"/>
              </a:rPr>
              <a:t> = 5 V</a:t>
            </a:r>
          </a:p>
        </p:txBody>
      </p:sp>
      <p:sp>
        <p:nvSpPr>
          <p:cNvPr id="39" name="given">
            <a:extLst>
              <a:ext uri="{FF2B5EF4-FFF2-40B4-BE49-F238E27FC236}">
                <a16:creationId xmlns:a16="http://schemas.microsoft.com/office/drawing/2014/main" id="{94EAB495-A2ED-DB9B-BFDA-0DFBE09638C4}"/>
              </a:ext>
            </a:extLst>
          </p:cNvPr>
          <p:cNvSpPr/>
          <p:nvPr/>
        </p:nvSpPr>
        <p:spPr>
          <a:xfrm>
            <a:off x="914400" y="7772400"/>
            <a:ext cx="105283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GIVEN</a:t>
            </a:r>
          </a:p>
        </p:txBody>
      </p:sp>
      <p:sp>
        <p:nvSpPr>
          <p:cNvPr id="40" name="given">
            <a:extLst>
              <a:ext uri="{FF2B5EF4-FFF2-40B4-BE49-F238E27FC236}">
                <a16:creationId xmlns:a16="http://schemas.microsoft.com/office/drawing/2014/main" id="{07F4BA5A-0F02-4CED-F7DB-20F24B4E6231}"/>
              </a:ext>
            </a:extLst>
          </p:cNvPr>
          <p:cNvSpPr/>
          <p:nvPr/>
        </p:nvSpPr>
        <p:spPr>
          <a:xfrm>
            <a:off x="914400" y="8355965"/>
            <a:ext cx="118745" cy="118745"/>
          </a:xfrm>
          <a:prstGeom prst="rect">
            <a:avLst/>
          </a:prstGeom>
          <a:solidFill>
            <a:srgbClr val="1F6F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given">
            <a:extLst>
              <a:ext uri="{FF2B5EF4-FFF2-40B4-BE49-F238E27FC236}">
                <a16:creationId xmlns:a16="http://schemas.microsoft.com/office/drawing/2014/main" id="{B79205A1-DF23-6C6F-A30D-A59045EF2EDE}"/>
              </a:ext>
            </a:extLst>
          </p:cNvPr>
          <p:cNvSpPr txBox="1"/>
          <p:nvPr/>
        </p:nvSpPr>
        <p:spPr>
          <a:xfrm>
            <a:off x="1130300" y="8280400"/>
            <a:ext cx="5753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1F6FA8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1F6FA8"/>
                </a:solidFill>
                <a:latin typeface="DM Sans" pitchFamily="2" charset="0"/>
              </a:rPr>
              <a:t>DD</a:t>
            </a:r>
            <a:r>
              <a:rPr lang="en-US" sz="1700" b="1">
                <a:solidFill>
                  <a:srgbClr val="1F6FA8"/>
                </a:solidFill>
                <a:latin typeface="DM Sans" pitchFamily="2" charset="0"/>
              </a:rPr>
              <a:t> = 10 V</a:t>
            </a:r>
          </a:p>
        </p:txBody>
      </p:sp>
      <p:sp>
        <p:nvSpPr>
          <p:cNvPr id="42" name="given">
            <a:extLst>
              <a:ext uri="{FF2B5EF4-FFF2-40B4-BE49-F238E27FC236}">
                <a16:creationId xmlns:a16="http://schemas.microsoft.com/office/drawing/2014/main" id="{72913D29-E5D6-4B5F-90A9-804405833EFA}"/>
              </a:ext>
            </a:extLst>
          </p:cNvPr>
          <p:cNvSpPr/>
          <p:nvPr/>
        </p:nvSpPr>
        <p:spPr>
          <a:xfrm>
            <a:off x="914400" y="8642975"/>
            <a:ext cx="118745" cy="118744"/>
          </a:xfrm>
          <a:prstGeom prst="rect">
            <a:avLst/>
          </a:prstGeom>
          <a:solidFill>
            <a:srgbClr val="7A3E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given">
            <a:extLst>
              <a:ext uri="{FF2B5EF4-FFF2-40B4-BE49-F238E27FC236}">
                <a16:creationId xmlns:a16="http://schemas.microsoft.com/office/drawing/2014/main" id="{1810BE42-DE88-0D6E-03F6-2A14419FDB89}"/>
              </a:ext>
            </a:extLst>
          </p:cNvPr>
          <p:cNvSpPr txBox="1"/>
          <p:nvPr/>
        </p:nvSpPr>
        <p:spPr>
          <a:xfrm>
            <a:off x="1130300" y="8567410"/>
            <a:ext cx="5753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sz="1700" b="1" baseline="-25000">
                <a:solidFill>
                  <a:srgbClr val="7A3E9D"/>
                </a:solidFill>
                <a:latin typeface="DM Sans" pitchFamily="2" charset="0"/>
              </a:rPr>
              <a:t>G1</a:t>
            </a:r>
            <a:r>
              <a:rPr lang="en-US" sz="1700" b="1">
                <a:solidFill>
                  <a:srgbClr val="7A3E9D"/>
                </a:solidFill>
                <a:latin typeface="DM Sans" pitchFamily="2" charset="0"/>
              </a:rPr>
              <a:t> = </a:t>
            </a:r>
            <a:r>
              <a:rPr lang="en-US" sz="1700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sz="1700" b="1" baseline="-25000">
                <a:solidFill>
                  <a:srgbClr val="7A3E9D"/>
                </a:solidFill>
                <a:latin typeface="DM Sans" pitchFamily="2" charset="0"/>
              </a:rPr>
              <a:t>G2</a:t>
            </a:r>
            <a:r>
              <a:rPr lang="en-US" sz="1700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sz="1700" b="1">
                <a:solidFill>
                  <a:srgbClr val="7A3E9D"/>
                </a:solidFill>
              </a:rPr>
              <a:t>Ω</a:t>
            </a:r>
            <a:endParaRPr lang="en-US" sz="1700" b="1">
              <a:solidFill>
                <a:srgbClr val="7A3E9D"/>
              </a:solidFill>
              <a:latin typeface="DM Sans" pitchFamily="2" charset="0"/>
            </a:endParaRPr>
          </a:p>
        </p:txBody>
      </p:sp>
      <p:sp>
        <p:nvSpPr>
          <p:cNvPr id="44" name="given">
            <a:extLst>
              <a:ext uri="{FF2B5EF4-FFF2-40B4-BE49-F238E27FC236}">
                <a16:creationId xmlns:a16="http://schemas.microsoft.com/office/drawing/2014/main" id="{0977F9A3-683B-384C-5BE5-1DD49D1AD6FD}"/>
              </a:ext>
            </a:extLst>
          </p:cNvPr>
          <p:cNvSpPr/>
          <p:nvPr/>
        </p:nvSpPr>
        <p:spPr>
          <a:xfrm>
            <a:off x="914400" y="8929984"/>
            <a:ext cx="118745" cy="118745"/>
          </a:xfrm>
          <a:prstGeom prst="rect">
            <a:avLst/>
          </a:prstGeom>
          <a:solidFill>
            <a:srgbClr val="0E7C7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given">
            <a:extLst>
              <a:ext uri="{FF2B5EF4-FFF2-40B4-BE49-F238E27FC236}">
                <a16:creationId xmlns:a16="http://schemas.microsoft.com/office/drawing/2014/main" id="{171104F7-4854-56DF-36FE-FE460722BE26}"/>
              </a:ext>
            </a:extLst>
          </p:cNvPr>
          <p:cNvSpPr txBox="1"/>
          <p:nvPr/>
        </p:nvSpPr>
        <p:spPr>
          <a:xfrm>
            <a:off x="1130300" y="8854419"/>
            <a:ext cx="5753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D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</a:t>
            </a:r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S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6 k</a:t>
            </a:r>
            <a:r>
              <a:rPr lang="el-GR" sz="1700" b="1">
                <a:solidFill>
                  <a:srgbClr val="0E7C7B"/>
                </a:solidFill>
              </a:rPr>
              <a:t>Ω</a:t>
            </a:r>
            <a:endParaRPr lang="en-US" sz="1700" b="1">
              <a:solidFill>
                <a:srgbClr val="0E7C7B"/>
              </a:solidFill>
              <a:latin typeface="DM Sans" pitchFamily="2" charset="0"/>
            </a:endParaRPr>
          </a:p>
        </p:txBody>
      </p:sp>
      <p:sp>
        <p:nvSpPr>
          <p:cNvPr id="46" name="given">
            <a:extLst>
              <a:ext uri="{FF2B5EF4-FFF2-40B4-BE49-F238E27FC236}">
                <a16:creationId xmlns:a16="http://schemas.microsoft.com/office/drawing/2014/main" id="{B60FA6D4-D701-EA8D-365A-73554E6630D4}"/>
              </a:ext>
            </a:extLst>
          </p:cNvPr>
          <p:cNvSpPr/>
          <p:nvPr/>
        </p:nvSpPr>
        <p:spPr>
          <a:xfrm>
            <a:off x="914400" y="9216994"/>
            <a:ext cx="118745" cy="118745"/>
          </a:xfrm>
          <a:prstGeom prst="rect">
            <a:avLst/>
          </a:prstGeom>
          <a:solidFill>
            <a:srgbClr val="B018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given">
            <a:extLst>
              <a:ext uri="{FF2B5EF4-FFF2-40B4-BE49-F238E27FC236}">
                <a16:creationId xmlns:a16="http://schemas.microsoft.com/office/drawing/2014/main" id="{DDC6400A-2EE6-42C3-8599-28B0B82AA23D}"/>
              </a:ext>
            </a:extLst>
          </p:cNvPr>
          <p:cNvSpPr txBox="1"/>
          <p:nvPr/>
        </p:nvSpPr>
        <p:spPr>
          <a:xfrm>
            <a:off x="1130300" y="9141430"/>
            <a:ext cx="5753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pl-PL" sz="1700" b="1" i="1">
                <a:solidFill>
                  <a:srgbClr val="B0186B"/>
                </a:solidFill>
                <a:latin typeface="DM Sans" pitchFamily="2" charset="0"/>
              </a:rPr>
              <a:t>V</a:t>
            </a:r>
            <a:r>
              <a:rPr lang="pl-PL" sz="1700" b="1" i="1" baseline="-25000">
                <a:solidFill>
                  <a:srgbClr val="B0186B"/>
                </a:solidFill>
                <a:latin typeface="DM Sans" pitchFamily="2" charset="0"/>
              </a:rPr>
              <a:t>t</a:t>
            </a:r>
            <a:r>
              <a:rPr lang="pl-PL" sz="1700" b="1">
                <a:solidFill>
                  <a:srgbClr val="B0186B"/>
                </a:solidFill>
                <a:latin typeface="DM Sans" pitchFamily="2" charset="0"/>
              </a:rPr>
              <a:t> = 1 V,   k′</a:t>
            </a:r>
            <a:r>
              <a:rPr lang="pl-PL" sz="1700" b="1" baseline="-25000">
                <a:solidFill>
                  <a:srgbClr val="B0186B"/>
                </a:solidFill>
                <a:latin typeface="DM Sans" pitchFamily="2" charset="0"/>
              </a:rPr>
              <a:t>n</a:t>
            </a:r>
            <a:r>
              <a:rPr lang="pl-PL" sz="1700" b="1">
                <a:solidFill>
                  <a:srgbClr val="B0186B"/>
                </a:solidFill>
                <a:latin typeface="DM Sans" pitchFamily="2" charset="0"/>
              </a:rPr>
              <a:t>(W/L) = 1 mA/V²</a:t>
            </a:r>
            <a:endParaRPr lang="en-US" sz="1700" b="1">
              <a:solidFill>
                <a:srgbClr val="B0186B"/>
              </a:solidFill>
              <a:latin typeface="DM Sans" pitchFamily="2" charset="0"/>
            </a:endParaRPr>
          </a:p>
        </p:txBody>
      </p:sp>
      <p:sp>
        <p:nvSpPr>
          <p:cNvPr id="48" name="badge @1">
            <a:extLst>
              <a:ext uri="{FF2B5EF4-FFF2-40B4-BE49-F238E27FC236}">
                <a16:creationId xmlns:a16="http://schemas.microsoft.com/office/drawing/2014/main" id="{87ADEC64-AC03-6B07-087A-BEF79D87EA3E}"/>
              </a:ext>
            </a:extLst>
          </p:cNvPr>
          <p:cNvSpPr/>
          <p:nvPr/>
        </p:nvSpPr>
        <p:spPr>
          <a:xfrm>
            <a:off x="7366000" y="19177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4</a:t>
            </a:r>
          </a:p>
        </p:txBody>
      </p:sp>
      <p:sp>
        <p:nvSpPr>
          <p:cNvPr id="49" name="step @1">
            <a:extLst>
              <a:ext uri="{FF2B5EF4-FFF2-40B4-BE49-F238E27FC236}">
                <a16:creationId xmlns:a16="http://schemas.microsoft.com/office/drawing/2014/main" id="{D903584B-83D7-D6EA-8A20-56B052A6AC55}"/>
              </a:ext>
            </a:extLst>
          </p:cNvPr>
          <p:cNvSpPr txBox="1"/>
          <p:nvPr/>
        </p:nvSpPr>
        <p:spPr>
          <a:xfrm>
            <a:off x="7950200" y="1905000"/>
            <a:ext cx="9423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Substitute </a:t>
            </a:r>
            <a:r>
              <a:rPr lang="en-US" sz="2000" b="1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000" b="1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 into the saturation equation and solve</a:t>
            </a:r>
          </a:p>
        </p:txBody>
      </p:sp>
      <p:sp>
        <p:nvSpPr>
          <p:cNvPr id="50" name="note @1">
            <a:extLst>
              <a:ext uri="{FF2B5EF4-FFF2-40B4-BE49-F238E27FC236}">
                <a16:creationId xmlns:a16="http://schemas.microsoft.com/office/drawing/2014/main" id="{56854569-41D0-C51A-D02E-9F8C5738BAC8}"/>
              </a:ext>
            </a:extLst>
          </p:cNvPr>
          <p:cNvSpPr txBox="1"/>
          <p:nvPr/>
        </p:nvSpPr>
        <p:spPr>
          <a:xfrm>
            <a:off x="7950200" y="2238177"/>
            <a:ext cx="94234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Units: I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in mA. Expanding gives a quadratic with two roots.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eq @1">
                <a:extLst>
                  <a:ext uri="{FF2B5EF4-FFF2-40B4-BE49-F238E27FC236}">
                    <a16:creationId xmlns:a16="http://schemas.microsoft.com/office/drawing/2014/main" id="{9748A16E-3BC7-2A94-8AE7-EE0BADFA5F15}"/>
                  </a:ext>
                </a:extLst>
              </p:cNvPr>
              <p:cNvSpPr txBox="1"/>
              <p:nvPr/>
            </p:nvSpPr>
            <p:spPr>
              <a:xfrm>
                <a:off x="7950200" y="2525186"/>
                <a:ext cx="9423400" cy="64262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r>
                        <a:rPr lang="en-US" sz="2200" b="1">
                          <a:solidFill>
                            <a:srgbClr val="B0186B"/>
                          </a:solidFill>
                          <a:latin typeface="Cambria Math"/>
                          <a:cs typeface="Cambria Math"/>
                        </a:rPr>
                        <m:t>1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)(5−</m:t>
                      </m:r>
                      <m:r>
                        <a:rPr lang="en-US" sz="2200" b="1">
                          <a:solidFill>
                            <a:srgbClr val="0E7C7B"/>
                          </a:solidFill>
                          <a:latin typeface="Cambria Math"/>
                          <a:cs typeface="Cambria Math"/>
                        </a:rPr>
                        <m:t>6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r>
                        <a:rPr lang="en-US" sz="2200" b="1">
                          <a:solidFill>
                            <a:srgbClr val="B0186B"/>
                          </a:solidFill>
                          <a:latin typeface="Cambria Math"/>
                          <a:cs typeface="Cambria Math"/>
                        </a:rPr>
                        <m:t>1</m:t>
                      </m:r>
                      <m:sSup>
                        <m:sSup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1" name="eq @1">
                <a:extLst>
                  <a:ext uri="{FF2B5EF4-FFF2-40B4-BE49-F238E27FC236}">
                    <a16:creationId xmlns:a16="http://schemas.microsoft.com/office/drawing/2014/main" id="{9748A16E-3BC7-2A94-8AE7-EE0BADFA5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200" y="2525186"/>
                <a:ext cx="9423400" cy="6426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eq @1">
                <a:extLst>
                  <a:ext uri="{FF2B5EF4-FFF2-40B4-BE49-F238E27FC236}">
                    <a16:creationId xmlns:a16="http://schemas.microsoft.com/office/drawing/2014/main" id="{907BC542-BFE6-626C-7C67-461C0D545F95}"/>
                  </a:ext>
                </a:extLst>
              </p:cNvPr>
              <p:cNvSpPr txBox="1"/>
              <p:nvPr/>
            </p:nvSpPr>
            <p:spPr>
              <a:xfrm>
                <a:off x="7950200" y="3167806"/>
                <a:ext cx="9423400" cy="4191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18</m:t>
                      </m:r>
                      <m:sSubSup>
                        <m:sSubSup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  <m:sup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−25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+8=0 ⇒ 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=0.89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or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 0.5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2" name="eq @1">
                <a:extLst>
                  <a:ext uri="{FF2B5EF4-FFF2-40B4-BE49-F238E27FC236}">
                    <a16:creationId xmlns:a16="http://schemas.microsoft.com/office/drawing/2014/main" id="{907BC542-BFE6-626C-7C67-461C0D545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200" y="3167806"/>
                <a:ext cx="9423400" cy="419100"/>
              </a:xfrm>
              <a:prstGeom prst="rect">
                <a:avLst/>
              </a:prstGeom>
              <a:blipFill>
                <a:blip r:embed="rId3"/>
                <a:stretch>
                  <a:fillRect l="-1035" b="-4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badge @2">
            <a:extLst>
              <a:ext uri="{FF2B5EF4-FFF2-40B4-BE49-F238E27FC236}">
                <a16:creationId xmlns:a16="http://schemas.microsoft.com/office/drawing/2014/main" id="{67E31D90-A09D-E2BF-59AA-893CC88DA860}"/>
              </a:ext>
            </a:extLst>
          </p:cNvPr>
          <p:cNvSpPr/>
          <p:nvPr/>
        </p:nvSpPr>
        <p:spPr>
          <a:xfrm>
            <a:off x="7366000" y="3726607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5</a:t>
            </a:r>
          </a:p>
        </p:txBody>
      </p:sp>
      <p:sp>
        <p:nvSpPr>
          <p:cNvPr id="54" name="step @2">
            <a:extLst>
              <a:ext uri="{FF2B5EF4-FFF2-40B4-BE49-F238E27FC236}">
                <a16:creationId xmlns:a16="http://schemas.microsoft.com/office/drawing/2014/main" id="{BB98C16C-DF24-CF45-4318-6AF64825C17C}"/>
              </a:ext>
            </a:extLst>
          </p:cNvPr>
          <p:cNvSpPr txBox="1"/>
          <p:nvPr/>
        </p:nvSpPr>
        <p:spPr>
          <a:xfrm>
            <a:off x="7950200" y="3713907"/>
            <a:ext cx="9423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Keep the physical root</a:t>
            </a:r>
          </a:p>
        </p:txBody>
      </p:sp>
      <p:sp>
        <p:nvSpPr>
          <p:cNvPr id="55" name="note @2">
            <a:extLst>
              <a:ext uri="{FF2B5EF4-FFF2-40B4-BE49-F238E27FC236}">
                <a16:creationId xmlns:a16="http://schemas.microsoft.com/office/drawing/2014/main" id="{EEAFB664-4B70-B2FE-D68D-3CF234A75874}"/>
              </a:ext>
            </a:extLst>
          </p:cNvPr>
          <p:cNvSpPr txBox="1"/>
          <p:nvPr/>
        </p:nvSpPr>
        <p:spPr>
          <a:xfrm>
            <a:off x="7950200" y="4047084"/>
            <a:ext cx="94234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A valid solution must leave 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&gt; 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; otherwise there is no channel and no current.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eq @2">
                <a:extLst>
                  <a:ext uri="{FF2B5EF4-FFF2-40B4-BE49-F238E27FC236}">
                    <a16:creationId xmlns:a16="http://schemas.microsoft.com/office/drawing/2014/main" id="{0AB9FBBD-9DDD-7176-9682-7B0980ABDDB6}"/>
                  </a:ext>
                </a:extLst>
              </p:cNvPr>
              <p:cNvSpPr txBox="1"/>
              <p:nvPr/>
            </p:nvSpPr>
            <p:spPr>
              <a:xfrm>
                <a:off x="7950200" y="4334093"/>
                <a:ext cx="9423400" cy="4191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=0.89:  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=5−6(0.89)=−0.33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&lt;</m:t>
                      </m:r>
                      <m:sSub>
                        <m:sSubPr>
                          <m:ctrlP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  (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reject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6" name="eq @2">
                <a:extLst>
                  <a:ext uri="{FF2B5EF4-FFF2-40B4-BE49-F238E27FC236}">
                    <a16:creationId xmlns:a16="http://schemas.microsoft.com/office/drawing/2014/main" id="{0AB9FBBD-9DDD-7176-9682-7B0980ABDD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200" y="4334093"/>
                <a:ext cx="9423400" cy="419100"/>
              </a:xfrm>
              <a:prstGeom prst="rect">
                <a:avLst/>
              </a:prstGeom>
              <a:blipFill>
                <a:blip r:embed="rId4"/>
                <a:stretch>
                  <a:fillRect l="-1035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eq @2">
                <a:extLst>
                  <a:ext uri="{FF2B5EF4-FFF2-40B4-BE49-F238E27FC236}">
                    <a16:creationId xmlns:a16="http://schemas.microsoft.com/office/drawing/2014/main" id="{E1BA8CDD-1106-2F28-2972-010492ED951E}"/>
                  </a:ext>
                </a:extLst>
              </p:cNvPr>
              <p:cNvSpPr txBox="1"/>
              <p:nvPr/>
            </p:nvSpPr>
            <p:spPr>
              <a:xfrm>
                <a:off x="7950200" y="4753193"/>
                <a:ext cx="9423400" cy="4191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=0.5:  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=5−6(0.5)=2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&gt;</m:t>
                      </m:r>
                      <m:sSub>
                        <m:sSubPr>
                          <m:ctrlP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  (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keep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7" name="eq @2">
                <a:extLst>
                  <a:ext uri="{FF2B5EF4-FFF2-40B4-BE49-F238E27FC236}">
                    <a16:creationId xmlns:a16="http://schemas.microsoft.com/office/drawing/2014/main" id="{E1BA8CDD-1106-2F28-2972-010492ED9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200" y="4753193"/>
                <a:ext cx="9423400" cy="419100"/>
              </a:xfrm>
              <a:prstGeom prst="rect">
                <a:avLst/>
              </a:prstGeom>
              <a:blipFill>
                <a:blip r:embed="rId5"/>
                <a:stretch>
                  <a:fillRect l="-1035" b="-19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chrome page">
            <a:extLst>
              <a:ext uri="{FF2B5EF4-FFF2-40B4-BE49-F238E27FC236}">
                <a16:creationId xmlns:a16="http://schemas.microsoft.com/office/drawing/2014/main" id="{3FC68B66-53FE-36AE-190F-AC5815C66662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chrome page">
            <a:extLst>
              <a:ext uri="{FF2B5EF4-FFF2-40B4-BE49-F238E27FC236}">
                <a16:creationId xmlns:a16="http://schemas.microsoft.com/office/drawing/2014/main" id="{6AD3C586-04D3-D0DE-A2C4-29838DC60A1E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35148694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 1: find the drain volt s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5C04C90-B5C3-4849-BDE6-45F46048A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Example 1: find the drain voltage (2 of 2)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094B22B8-C678-0AD8-5A23-BECA744FBE09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9DE42B12-4EEA-DD9F-0DEA-C4E4A0C418EE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8DCF8B4E-BE10-9087-28DD-9B5AF14E2C38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circuit card">
            <a:extLst>
              <a:ext uri="{FF2B5EF4-FFF2-40B4-BE49-F238E27FC236}">
                <a16:creationId xmlns:a16="http://schemas.microsoft.com/office/drawing/2014/main" id="{1B47CE4F-42F3-584D-E5AE-7C5474FE9C8E}"/>
              </a:ext>
            </a:extLst>
          </p:cNvPr>
          <p:cNvSpPr/>
          <p:nvPr/>
        </p:nvSpPr>
        <p:spPr>
          <a:xfrm>
            <a:off x="914400" y="1905000"/>
            <a:ext cx="5969000" cy="5715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E299DE58-4E90-A091-5875-F15408E8A0E0}"/>
              </a:ext>
            </a:extLst>
          </p:cNvPr>
          <p:cNvSpPr/>
          <p:nvPr/>
        </p:nvSpPr>
        <p:spPr>
          <a:xfrm>
            <a:off x="914400" y="1892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kt">
            <a:extLst>
              <a:ext uri="{FF2B5EF4-FFF2-40B4-BE49-F238E27FC236}">
                <a16:creationId xmlns:a16="http://schemas.microsoft.com/office/drawing/2014/main" id="{115176E3-7F4E-F7C8-3249-69800DC4A27E}"/>
              </a:ext>
            </a:extLst>
          </p:cNvPr>
          <p:cNvSpPr/>
          <p:nvPr/>
        </p:nvSpPr>
        <p:spPr>
          <a:xfrm>
            <a:off x="4464050" y="22923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ckt">
            <a:extLst>
              <a:ext uri="{FF2B5EF4-FFF2-40B4-BE49-F238E27FC236}">
                <a16:creationId xmlns:a16="http://schemas.microsoft.com/office/drawing/2014/main" id="{B63C5A45-37CE-E7C9-61C8-0EB47941B666}"/>
              </a:ext>
            </a:extLst>
          </p:cNvPr>
          <p:cNvCxnSpPr/>
          <p:nvPr/>
        </p:nvCxnSpPr>
        <p:spPr>
          <a:xfrm>
            <a:off x="4533900" y="2432050"/>
            <a:ext cx="0" cy="51435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kt label">
            <a:extLst>
              <a:ext uri="{FF2B5EF4-FFF2-40B4-BE49-F238E27FC236}">
                <a16:creationId xmlns:a16="http://schemas.microsoft.com/office/drawing/2014/main" id="{4E971E43-15C9-7772-471C-343268729C59}"/>
              </a:ext>
            </a:extLst>
          </p:cNvPr>
          <p:cNvSpPr txBox="1"/>
          <p:nvPr/>
        </p:nvSpPr>
        <p:spPr>
          <a:xfrm>
            <a:off x="4711700" y="21653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b="1">
                <a:solidFill>
                  <a:srgbClr val="1F6FA8"/>
                </a:solidFill>
                <a:latin typeface="DM Sans" pitchFamily="2" charset="0"/>
              </a:rPr>
              <a:t>+</a:t>
            </a:r>
            <a:r>
              <a:rPr lang="en-US" b="1" i="1">
                <a:solidFill>
                  <a:srgbClr val="1F6FA8"/>
                </a:solidFill>
                <a:latin typeface="DM Sans" pitchFamily="2" charset="0"/>
              </a:rPr>
              <a:t>V</a:t>
            </a:r>
            <a:r>
              <a:rPr lang="en-US" b="1" i="1" baseline="-25000">
                <a:solidFill>
                  <a:srgbClr val="1F6FA8"/>
                </a:solidFill>
                <a:latin typeface="DM Sans" pitchFamily="2" charset="0"/>
              </a:rPr>
              <a:t>DD</a:t>
            </a:r>
            <a:r>
              <a:rPr lang="en-US" b="1">
                <a:solidFill>
                  <a:srgbClr val="1F6FA8"/>
                </a:solidFill>
                <a:latin typeface="DM Sans" pitchFamily="2" charset="0"/>
              </a:rPr>
              <a:t> = 10 V</a:t>
            </a:r>
          </a:p>
        </p:txBody>
      </p:sp>
      <p:cxnSp>
        <p:nvCxnSpPr>
          <p:cNvPr id="11" name="ckt">
            <a:extLst>
              <a:ext uri="{FF2B5EF4-FFF2-40B4-BE49-F238E27FC236}">
                <a16:creationId xmlns:a16="http://schemas.microsoft.com/office/drawing/2014/main" id="{9AAB5058-CB88-BC30-C657-91723EFFC9FA}"/>
              </a:ext>
            </a:extLst>
          </p:cNvPr>
          <p:cNvCxnSpPr/>
          <p:nvPr/>
        </p:nvCxnSpPr>
        <p:spPr>
          <a:xfrm>
            <a:off x="3327400" y="2946400"/>
            <a:ext cx="2413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kt">
            <a:extLst>
              <a:ext uri="{FF2B5EF4-FFF2-40B4-BE49-F238E27FC236}">
                <a16:creationId xmlns:a16="http://schemas.microsoft.com/office/drawing/2014/main" id="{1FEDE4A0-4531-9D53-D3D6-A8888084ED2E}"/>
              </a:ext>
            </a:extLst>
          </p:cNvPr>
          <p:cNvSpPr/>
          <p:nvPr/>
        </p:nvSpPr>
        <p:spPr>
          <a:xfrm>
            <a:off x="4476750" y="28892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kt">
            <a:extLst>
              <a:ext uri="{FF2B5EF4-FFF2-40B4-BE49-F238E27FC236}">
                <a16:creationId xmlns:a16="http://schemas.microsoft.com/office/drawing/2014/main" id="{D158C7F5-B380-BAF5-4AB6-A269C3219B22}"/>
              </a:ext>
            </a:extLst>
          </p:cNvPr>
          <p:cNvCxnSpPr/>
          <p:nvPr/>
        </p:nvCxnSpPr>
        <p:spPr>
          <a:xfrm>
            <a:off x="3327400" y="7010400"/>
            <a:ext cx="2413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kt">
            <a:extLst>
              <a:ext uri="{FF2B5EF4-FFF2-40B4-BE49-F238E27FC236}">
                <a16:creationId xmlns:a16="http://schemas.microsoft.com/office/drawing/2014/main" id="{EACFED44-085E-6B89-6462-63BF51F26370}"/>
              </a:ext>
            </a:extLst>
          </p:cNvPr>
          <p:cNvSpPr/>
          <p:nvPr/>
        </p:nvSpPr>
        <p:spPr>
          <a:xfrm>
            <a:off x="4476750" y="69532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kt">
            <a:extLst>
              <a:ext uri="{FF2B5EF4-FFF2-40B4-BE49-F238E27FC236}">
                <a16:creationId xmlns:a16="http://schemas.microsoft.com/office/drawing/2014/main" id="{1275CA28-394D-1654-7683-7C2C258DAF86}"/>
              </a:ext>
            </a:extLst>
          </p:cNvPr>
          <p:cNvCxnSpPr/>
          <p:nvPr/>
        </p:nvCxnSpPr>
        <p:spPr>
          <a:xfrm>
            <a:off x="4533900" y="70104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034BD0A8-C6A4-6EFB-7623-2C87DE5C96DE}"/>
              </a:ext>
            </a:extLst>
          </p:cNvPr>
          <p:cNvCxnSpPr/>
          <p:nvPr/>
        </p:nvCxnSpPr>
        <p:spPr>
          <a:xfrm>
            <a:off x="4343400" y="71628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679FB554-07A8-EAC5-685B-F178158F54C9}"/>
              </a:ext>
            </a:extLst>
          </p:cNvPr>
          <p:cNvCxnSpPr/>
          <p:nvPr/>
        </p:nvCxnSpPr>
        <p:spPr>
          <a:xfrm>
            <a:off x="4413250" y="72326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kt">
            <a:extLst>
              <a:ext uri="{FF2B5EF4-FFF2-40B4-BE49-F238E27FC236}">
                <a16:creationId xmlns:a16="http://schemas.microsoft.com/office/drawing/2014/main" id="{8E2F83D1-3010-BB00-69DA-B69C416CDE49}"/>
              </a:ext>
            </a:extLst>
          </p:cNvPr>
          <p:cNvCxnSpPr/>
          <p:nvPr/>
        </p:nvCxnSpPr>
        <p:spPr>
          <a:xfrm>
            <a:off x="4483100" y="73025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kt">
            <a:extLst>
              <a:ext uri="{FF2B5EF4-FFF2-40B4-BE49-F238E27FC236}">
                <a16:creationId xmlns:a16="http://schemas.microsoft.com/office/drawing/2014/main" id="{615CC8C3-B128-DBC2-98E4-369221D9CB77}"/>
              </a:ext>
            </a:extLst>
          </p:cNvPr>
          <p:cNvSpPr/>
          <p:nvPr/>
        </p:nvSpPr>
        <p:spPr>
          <a:xfrm>
            <a:off x="3200400" y="2946400"/>
            <a:ext cx="254001" cy="2032001"/>
          </a:xfrm>
          <a:custGeom>
            <a:avLst/>
            <a:gdLst/>
            <a:ahLst/>
            <a:cxnLst/>
            <a:rect l="0" t="0" r="0" b="0"/>
            <a:pathLst>
              <a:path w="254001" h="2032001">
                <a:moveTo>
                  <a:pt x="127000" y="0"/>
                </a:moveTo>
                <a:lnTo>
                  <a:pt x="127000" y="647700"/>
                </a:lnTo>
                <a:lnTo>
                  <a:pt x="0" y="709083"/>
                </a:lnTo>
                <a:lnTo>
                  <a:pt x="254000" y="831850"/>
                </a:lnTo>
                <a:lnTo>
                  <a:pt x="0" y="954617"/>
                </a:lnTo>
                <a:lnTo>
                  <a:pt x="254000" y="1077383"/>
                </a:lnTo>
                <a:lnTo>
                  <a:pt x="0" y="1200150"/>
                </a:lnTo>
                <a:lnTo>
                  <a:pt x="254000" y="1322917"/>
                </a:lnTo>
                <a:lnTo>
                  <a:pt x="127000" y="1384300"/>
                </a:lnTo>
                <a:lnTo>
                  <a:pt x="127000" y="20320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kt">
            <a:extLst>
              <a:ext uri="{FF2B5EF4-FFF2-40B4-BE49-F238E27FC236}">
                <a16:creationId xmlns:a16="http://schemas.microsoft.com/office/drawing/2014/main" id="{04898858-4DB3-BCE4-2D3E-90325560DB56}"/>
              </a:ext>
            </a:extLst>
          </p:cNvPr>
          <p:cNvSpPr/>
          <p:nvPr/>
        </p:nvSpPr>
        <p:spPr>
          <a:xfrm>
            <a:off x="3200400" y="4978400"/>
            <a:ext cx="254001" cy="2032001"/>
          </a:xfrm>
          <a:custGeom>
            <a:avLst/>
            <a:gdLst/>
            <a:ahLst/>
            <a:cxnLst/>
            <a:rect l="0" t="0" r="0" b="0"/>
            <a:pathLst>
              <a:path w="254001" h="2032001">
                <a:moveTo>
                  <a:pt x="127000" y="0"/>
                </a:moveTo>
                <a:lnTo>
                  <a:pt x="127000" y="647700"/>
                </a:lnTo>
                <a:lnTo>
                  <a:pt x="0" y="709083"/>
                </a:lnTo>
                <a:lnTo>
                  <a:pt x="254000" y="831850"/>
                </a:lnTo>
                <a:lnTo>
                  <a:pt x="0" y="954617"/>
                </a:lnTo>
                <a:lnTo>
                  <a:pt x="254000" y="1077383"/>
                </a:lnTo>
                <a:lnTo>
                  <a:pt x="0" y="1200150"/>
                </a:lnTo>
                <a:lnTo>
                  <a:pt x="254000" y="1322917"/>
                </a:lnTo>
                <a:lnTo>
                  <a:pt x="127000" y="1384300"/>
                </a:lnTo>
                <a:lnTo>
                  <a:pt x="127000" y="20320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kt">
            <a:extLst>
              <a:ext uri="{FF2B5EF4-FFF2-40B4-BE49-F238E27FC236}">
                <a16:creationId xmlns:a16="http://schemas.microsoft.com/office/drawing/2014/main" id="{392D38E6-B3BE-7865-3C43-0E60A982D05D}"/>
              </a:ext>
            </a:extLst>
          </p:cNvPr>
          <p:cNvSpPr/>
          <p:nvPr/>
        </p:nvSpPr>
        <p:spPr>
          <a:xfrm>
            <a:off x="3270250" y="49212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kt label">
            <a:extLst>
              <a:ext uri="{FF2B5EF4-FFF2-40B4-BE49-F238E27FC236}">
                <a16:creationId xmlns:a16="http://schemas.microsoft.com/office/drawing/2014/main" id="{75844792-92D7-338A-53B2-13E26386C7EA}"/>
              </a:ext>
            </a:extLst>
          </p:cNvPr>
          <p:cNvSpPr txBox="1"/>
          <p:nvPr/>
        </p:nvSpPr>
        <p:spPr>
          <a:xfrm>
            <a:off x="304800" y="37909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b="1" baseline="-25000">
                <a:solidFill>
                  <a:srgbClr val="7A3E9D"/>
                </a:solidFill>
                <a:latin typeface="DM Sans" pitchFamily="2" charset="0"/>
              </a:rPr>
              <a:t>G1</a:t>
            </a:r>
            <a:r>
              <a:rPr lang="en-US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b="1">
                <a:solidFill>
                  <a:srgbClr val="7A3E9D"/>
                </a:solidFill>
              </a:rPr>
              <a:t>Ω</a:t>
            </a:r>
            <a:endParaRPr lang="en-US" b="1">
              <a:solidFill>
                <a:srgbClr val="7A3E9D"/>
              </a:solidFill>
              <a:latin typeface="DM Sans" pitchFamily="2" charset="0"/>
            </a:endParaRPr>
          </a:p>
        </p:txBody>
      </p:sp>
      <p:sp>
        <p:nvSpPr>
          <p:cNvPr id="23" name="ckt label">
            <a:extLst>
              <a:ext uri="{FF2B5EF4-FFF2-40B4-BE49-F238E27FC236}">
                <a16:creationId xmlns:a16="http://schemas.microsoft.com/office/drawing/2014/main" id="{3BFC1DDF-6722-E363-FD88-B94CD748DF18}"/>
              </a:ext>
            </a:extLst>
          </p:cNvPr>
          <p:cNvSpPr txBox="1"/>
          <p:nvPr/>
        </p:nvSpPr>
        <p:spPr>
          <a:xfrm>
            <a:off x="304800" y="58229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b="1" baseline="-25000">
                <a:solidFill>
                  <a:srgbClr val="7A3E9D"/>
                </a:solidFill>
                <a:latin typeface="DM Sans" pitchFamily="2" charset="0"/>
              </a:rPr>
              <a:t>G2</a:t>
            </a:r>
            <a:r>
              <a:rPr lang="en-US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b="1">
                <a:solidFill>
                  <a:srgbClr val="7A3E9D"/>
                </a:solidFill>
              </a:rPr>
              <a:t>Ω</a:t>
            </a:r>
            <a:endParaRPr lang="en-US" b="1">
              <a:solidFill>
                <a:srgbClr val="7A3E9D"/>
              </a:solidFill>
              <a:latin typeface="DM Sans" pitchFamily="2" charset="0"/>
            </a:endParaRPr>
          </a:p>
        </p:txBody>
      </p:sp>
      <p:cxnSp>
        <p:nvCxnSpPr>
          <p:cNvPr id="24" name="ckt">
            <a:extLst>
              <a:ext uri="{FF2B5EF4-FFF2-40B4-BE49-F238E27FC236}">
                <a16:creationId xmlns:a16="http://schemas.microsoft.com/office/drawing/2014/main" id="{420F68DF-ED39-9754-D19A-EEFD7099556F}"/>
              </a:ext>
            </a:extLst>
          </p:cNvPr>
          <p:cNvCxnSpPr/>
          <p:nvPr/>
        </p:nvCxnSpPr>
        <p:spPr>
          <a:xfrm>
            <a:off x="5181600" y="45943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3E11F7CB-F845-AC2E-0DCB-4D2D04986861}"/>
              </a:ext>
            </a:extLst>
          </p:cNvPr>
          <p:cNvCxnSpPr/>
          <p:nvPr/>
        </p:nvCxnSpPr>
        <p:spPr>
          <a:xfrm>
            <a:off x="5308600" y="4445000"/>
            <a:ext cx="0" cy="1066800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A2311969-4A2F-9029-3844-C1E65FD29AD8}"/>
              </a:ext>
            </a:extLst>
          </p:cNvPr>
          <p:cNvCxnSpPr/>
          <p:nvPr/>
        </p:nvCxnSpPr>
        <p:spPr>
          <a:xfrm>
            <a:off x="5308600" y="45466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0D8C2D2F-9D7A-7EE0-11BB-01018DEB0C9A}"/>
              </a:ext>
            </a:extLst>
          </p:cNvPr>
          <p:cNvCxnSpPr/>
          <p:nvPr/>
        </p:nvCxnSpPr>
        <p:spPr>
          <a:xfrm>
            <a:off x="5308600" y="54102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8BDEE348-83F9-A043-8395-B6A356FCAD08}"/>
              </a:ext>
            </a:extLst>
          </p:cNvPr>
          <p:cNvCxnSpPr/>
          <p:nvPr/>
        </p:nvCxnSpPr>
        <p:spPr>
          <a:xfrm>
            <a:off x="5610860" y="5410200"/>
            <a:ext cx="12954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kt">
            <a:extLst>
              <a:ext uri="{FF2B5EF4-FFF2-40B4-BE49-F238E27FC236}">
                <a16:creationId xmlns:a16="http://schemas.microsoft.com/office/drawing/2014/main" id="{1BEBB173-5A56-99EE-AD7C-77A7B6287880}"/>
              </a:ext>
            </a:extLst>
          </p:cNvPr>
          <p:cNvCxnSpPr/>
          <p:nvPr/>
        </p:nvCxnSpPr>
        <p:spPr>
          <a:xfrm>
            <a:off x="3327400" y="4978400"/>
            <a:ext cx="18542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kt">
            <a:extLst>
              <a:ext uri="{FF2B5EF4-FFF2-40B4-BE49-F238E27FC236}">
                <a16:creationId xmlns:a16="http://schemas.microsoft.com/office/drawing/2014/main" id="{34F7F3CE-B6A6-708C-9310-FC123D043F88}"/>
              </a:ext>
            </a:extLst>
          </p:cNvPr>
          <p:cNvSpPr/>
          <p:nvPr/>
        </p:nvSpPr>
        <p:spPr>
          <a:xfrm>
            <a:off x="5613400" y="2946400"/>
            <a:ext cx="254001" cy="1168401"/>
          </a:xfrm>
          <a:custGeom>
            <a:avLst/>
            <a:gdLst/>
            <a:ahLst/>
            <a:cxnLst/>
            <a:rect l="0" t="0" r="0" b="0"/>
            <a:pathLst>
              <a:path w="254001" h="1168401">
                <a:moveTo>
                  <a:pt x="127000" y="0"/>
                </a:moveTo>
                <a:lnTo>
                  <a:pt x="127000" y="215900"/>
                </a:lnTo>
                <a:lnTo>
                  <a:pt x="0" y="277283"/>
                </a:lnTo>
                <a:lnTo>
                  <a:pt x="254000" y="400050"/>
                </a:lnTo>
                <a:lnTo>
                  <a:pt x="0" y="522817"/>
                </a:lnTo>
                <a:lnTo>
                  <a:pt x="254000" y="645583"/>
                </a:lnTo>
                <a:lnTo>
                  <a:pt x="0" y="768350"/>
                </a:lnTo>
                <a:lnTo>
                  <a:pt x="254000" y="891117"/>
                </a:lnTo>
                <a:lnTo>
                  <a:pt x="127000" y="952500"/>
                </a:lnTo>
                <a:lnTo>
                  <a:pt x="127000" y="11684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ckt">
            <a:extLst>
              <a:ext uri="{FF2B5EF4-FFF2-40B4-BE49-F238E27FC236}">
                <a16:creationId xmlns:a16="http://schemas.microsoft.com/office/drawing/2014/main" id="{5A76B7E1-8088-EB52-0473-3433A7773FB1}"/>
              </a:ext>
            </a:extLst>
          </p:cNvPr>
          <p:cNvCxnSpPr/>
          <p:nvPr/>
        </p:nvCxnSpPr>
        <p:spPr>
          <a:xfrm>
            <a:off x="5740400" y="4114800"/>
            <a:ext cx="0" cy="431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kt">
            <a:extLst>
              <a:ext uri="{FF2B5EF4-FFF2-40B4-BE49-F238E27FC236}">
                <a16:creationId xmlns:a16="http://schemas.microsoft.com/office/drawing/2014/main" id="{7A0698A8-29C2-DDD1-9523-7E19A906C47F}"/>
              </a:ext>
            </a:extLst>
          </p:cNvPr>
          <p:cNvSpPr/>
          <p:nvPr/>
        </p:nvSpPr>
        <p:spPr>
          <a:xfrm>
            <a:off x="5613400" y="5842000"/>
            <a:ext cx="254001" cy="1168401"/>
          </a:xfrm>
          <a:custGeom>
            <a:avLst/>
            <a:gdLst/>
            <a:ahLst/>
            <a:cxnLst/>
            <a:rect l="0" t="0" r="0" b="0"/>
            <a:pathLst>
              <a:path w="254001" h="1168401">
                <a:moveTo>
                  <a:pt x="127000" y="0"/>
                </a:moveTo>
                <a:lnTo>
                  <a:pt x="127000" y="215900"/>
                </a:lnTo>
                <a:lnTo>
                  <a:pt x="0" y="277283"/>
                </a:lnTo>
                <a:lnTo>
                  <a:pt x="254000" y="400050"/>
                </a:lnTo>
                <a:lnTo>
                  <a:pt x="0" y="522817"/>
                </a:lnTo>
                <a:lnTo>
                  <a:pt x="254000" y="645583"/>
                </a:lnTo>
                <a:lnTo>
                  <a:pt x="0" y="768350"/>
                </a:lnTo>
                <a:lnTo>
                  <a:pt x="254000" y="891117"/>
                </a:lnTo>
                <a:lnTo>
                  <a:pt x="127000" y="952500"/>
                </a:lnTo>
                <a:lnTo>
                  <a:pt x="127000" y="11684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ckt">
            <a:extLst>
              <a:ext uri="{FF2B5EF4-FFF2-40B4-BE49-F238E27FC236}">
                <a16:creationId xmlns:a16="http://schemas.microsoft.com/office/drawing/2014/main" id="{1DD0B490-121C-FC81-4A9F-7631865CB6D5}"/>
              </a:ext>
            </a:extLst>
          </p:cNvPr>
          <p:cNvCxnSpPr/>
          <p:nvPr/>
        </p:nvCxnSpPr>
        <p:spPr>
          <a:xfrm>
            <a:off x="5740400" y="5410200"/>
            <a:ext cx="0" cy="431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kt label">
            <a:extLst>
              <a:ext uri="{FF2B5EF4-FFF2-40B4-BE49-F238E27FC236}">
                <a16:creationId xmlns:a16="http://schemas.microsoft.com/office/drawing/2014/main" id="{C5EAABFA-6D48-9128-12FD-B77D37300150}"/>
              </a:ext>
            </a:extLst>
          </p:cNvPr>
          <p:cNvSpPr txBox="1"/>
          <p:nvPr/>
        </p:nvSpPr>
        <p:spPr>
          <a:xfrm>
            <a:off x="5969000" y="33591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b="1" i="1" baseline="-25000">
                <a:solidFill>
                  <a:srgbClr val="0E7C7B"/>
                </a:solidFill>
                <a:latin typeface="DM Sans" pitchFamily="2" charset="0"/>
              </a:rPr>
              <a:t>D</a:t>
            </a:r>
            <a:r>
              <a:rPr lang="en-US" b="1">
                <a:solidFill>
                  <a:srgbClr val="0E7C7B"/>
                </a:solidFill>
                <a:latin typeface="DM Sans" pitchFamily="2" charset="0"/>
              </a:rPr>
              <a:t> = 6 k</a:t>
            </a:r>
            <a:r>
              <a:rPr lang="el-GR" b="1">
                <a:solidFill>
                  <a:srgbClr val="0E7C7B"/>
                </a:solidFill>
              </a:rPr>
              <a:t>Ω</a:t>
            </a:r>
            <a:endParaRPr lang="en-US" b="1">
              <a:solidFill>
                <a:srgbClr val="0E7C7B"/>
              </a:solidFill>
              <a:latin typeface="DM Sans" pitchFamily="2" charset="0"/>
            </a:endParaRPr>
          </a:p>
        </p:txBody>
      </p:sp>
      <p:sp>
        <p:nvSpPr>
          <p:cNvPr id="35" name="ckt label">
            <a:extLst>
              <a:ext uri="{FF2B5EF4-FFF2-40B4-BE49-F238E27FC236}">
                <a16:creationId xmlns:a16="http://schemas.microsoft.com/office/drawing/2014/main" id="{23B00363-B85E-AF80-0F17-23D7164EB7DA}"/>
              </a:ext>
            </a:extLst>
          </p:cNvPr>
          <p:cNvSpPr txBox="1"/>
          <p:nvPr/>
        </p:nvSpPr>
        <p:spPr>
          <a:xfrm>
            <a:off x="5969000" y="62547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b="1" i="1" baseline="-25000">
                <a:solidFill>
                  <a:srgbClr val="0E7C7B"/>
                </a:solidFill>
                <a:latin typeface="DM Sans" pitchFamily="2" charset="0"/>
              </a:rPr>
              <a:t>S</a:t>
            </a:r>
            <a:r>
              <a:rPr lang="en-US" b="1">
                <a:solidFill>
                  <a:srgbClr val="0E7C7B"/>
                </a:solidFill>
                <a:latin typeface="DM Sans" pitchFamily="2" charset="0"/>
              </a:rPr>
              <a:t> = 6 k</a:t>
            </a:r>
            <a:r>
              <a:rPr lang="el-GR" b="1">
                <a:solidFill>
                  <a:srgbClr val="0E7C7B"/>
                </a:solidFill>
              </a:rPr>
              <a:t>Ω</a:t>
            </a:r>
            <a:endParaRPr lang="en-US" b="1">
              <a:solidFill>
                <a:srgbClr val="0E7C7B"/>
              </a:solidFill>
              <a:latin typeface="DM Sans" pitchFamily="2" charset="0"/>
            </a:endParaRPr>
          </a:p>
        </p:txBody>
      </p:sp>
      <p:sp>
        <p:nvSpPr>
          <p:cNvPr id="36" name="node">
            <a:extLst>
              <a:ext uri="{FF2B5EF4-FFF2-40B4-BE49-F238E27FC236}">
                <a16:creationId xmlns:a16="http://schemas.microsoft.com/office/drawing/2014/main" id="{2C60F22F-F7D3-1FBE-EE2F-7C8E6AED2572}"/>
              </a:ext>
            </a:extLst>
          </p:cNvPr>
          <p:cNvSpPr txBox="1"/>
          <p:nvPr/>
        </p:nvSpPr>
        <p:spPr>
          <a:xfrm>
            <a:off x="3505200" y="4597399"/>
            <a:ext cx="1905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 i="1">
                <a:solidFill>
                  <a:srgbClr val="145A43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145A43"/>
                </a:solidFill>
                <a:latin typeface="DM Sans" pitchFamily="2" charset="0"/>
              </a:rPr>
              <a:t>G</a:t>
            </a:r>
            <a:r>
              <a:rPr lang="en-US" sz="1700" b="1">
                <a:solidFill>
                  <a:srgbClr val="145A43"/>
                </a:solidFill>
                <a:latin typeface="DM Sans" pitchFamily="2" charset="0"/>
              </a:rPr>
              <a:t> = 5 V</a:t>
            </a:r>
          </a:p>
        </p:txBody>
      </p:sp>
      <p:sp>
        <p:nvSpPr>
          <p:cNvPr id="37" name="node @3">
            <a:extLst>
              <a:ext uri="{FF2B5EF4-FFF2-40B4-BE49-F238E27FC236}">
                <a16:creationId xmlns:a16="http://schemas.microsoft.com/office/drawing/2014/main" id="{B8484D2D-333F-45CB-170D-5415A8838CDE}"/>
              </a:ext>
            </a:extLst>
          </p:cNvPr>
          <p:cNvSpPr txBox="1"/>
          <p:nvPr/>
        </p:nvSpPr>
        <p:spPr>
          <a:xfrm>
            <a:off x="5918200" y="5206999"/>
            <a:ext cx="1905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 i="1">
                <a:solidFill>
                  <a:srgbClr val="145A43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145A43"/>
                </a:solidFill>
                <a:latin typeface="DM Sans" pitchFamily="2" charset="0"/>
              </a:rPr>
              <a:t>S</a:t>
            </a:r>
            <a:r>
              <a:rPr lang="en-US" sz="1700" b="1">
                <a:solidFill>
                  <a:srgbClr val="145A43"/>
                </a:solidFill>
                <a:latin typeface="DM Sans" pitchFamily="2" charset="0"/>
              </a:rPr>
              <a:t> = 3 V</a:t>
            </a:r>
          </a:p>
        </p:txBody>
      </p:sp>
      <p:sp>
        <p:nvSpPr>
          <p:cNvPr id="38" name="node @3">
            <a:extLst>
              <a:ext uri="{FF2B5EF4-FFF2-40B4-BE49-F238E27FC236}">
                <a16:creationId xmlns:a16="http://schemas.microsoft.com/office/drawing/2014/main" id="{706DFE83-503B-893D-E71B-4DC6F081AA30}"/>
              </a:ext>
            </a:extLst>
          </p:cNvPr>
          <p:cNvSpPr txBox="1"/>
          <p:nvPr/>
        </p:nvSpPr>
        <p:spPr>
          <a:xfrm>
            <a:off x="5918200" y="4013199"/>
            <a:ext cx="1905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 i="1">
                <a:solidFill>
                  <a:srgbClr val="B8581A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B8581A"/>
                </a:solidFill>
                <a:latin typeface="DM Sans" pitchFamily="2" charset="0"/>
              </a:rPr>
              <a:t>D</a:t>
            </a:r>
            <a:r>
              <a:rPr lang="en-US" sz="1700" b="1">
                <a:solidFill>
                  <a:srgbClr val="B8581A"/>
                </a:solidFill>
                <a:latin typeface="DM Sans" pitchFamily="2" charset="0"/>
              </a:rPr>
              <a:t> = 7 V</a:t>
            </a:r>
          </a:p>
        </p:txBody>
      </p:sp>
      <p:sp>
        <p:nvSpPr>
          <p:cNvPr id="39" name="given">
            <a:extLst>
              <a:ext uri="{FF2B5EF4-FFF2-40B4-BE49-F238E27FC236}">
                <a16:creationId xmlns:a16="http://schemas.microsoft.com/office/drawing/2014/main" id="{94EAB495-A2ED-DB9B-BFDA-0DFBE09638C4}"/>
              </a:ext>
            </a:extLst>
          </p:cNvPr>
          <p:cNvSpPr/>
          <p:nvPr/>
        </p:nvSpPr>
        <p:spPr>
          <a:xfrm>
            <a:off x="914400" y="7772400"/>
            <a:ext cx="105283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GIVEN</a:t>
            </a:r>
          </a:p>
        </p:txBody>
      </p:sp>
      <p:sp>
        <p:nvSpPr>
          <p:cNvPr id="40" name="given">
            <a:extLst>
              <a:ext uri="{FF2B5EF4-FFF2-40B4-BE49-F238E27FC236}">
                <a16:creationId xmlns:a16="http://schemas.microsoft.com/office/drawing/2014/main" id="{07F4BA5A-0F02-4CED-F7DB-20F24B4E6231}"/>
              </a:ext>
            </a:extLst>
          </p:cNvPr>
          <p:cNvSpPr/>
          <p:nvPr/>
        </p:nvSpPr>
        <p:spPr>
          <a:xfrm>
            <a:off x="914400" y="8355965"/>
            <a:ext cx="118745" cy="118745"/>
          </a:xfrm>
          <a:prstGeom prst="rect">
            <a:avLst/>
          </a:prstGeom>
          <a:solidFill>
            <a:srgbClr val="1F6F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given">
            <a:extLst>
              <a:ext uri="{FF2B5EF4-FFF2-40B4-BE49-F238E27FC236}">
                <a16:creationId xmlns:a16="http://schemas.microsoft.com/office/drawing/2014/main" id="{B79205A1-DF23-6C6F-A30D-A59045EF2EDE}"/>
              </a:ext>
            </a:extLst>
          </p:cNvPr>
          <p:cNvSpPr txBox="1"/>
          <p:nvPr/>
        </p:nvSpPr>
        <p:spPr>
          <a:xfrm>
            <a:off x="1130300" y="8280400"/>
            <a:ext cx="5753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1F6FA8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1F6FA8"/>
                </a:solidFill>
                <a:latin typeface="DM Sans" pitchFamily="2" charset="0"/>
              </a:rPr>
              <a:t>DD</a:t>
            </a:r>
            <a:r>
              <a:rPr lang="en-US" sz="1700" b="1">
                <a:solidFill>
                  <a:srgbClr val="1F6FA8"/>
                </a:solidFill>
                <a:latin typeface="DM Sans" pitchFamily="2" charset="0"/>
              </a:rPr>
              <a:t> = 10 V</a:t>
            </a:r>
          </a:p>
        </p:txBody>
      </p:sp>
      <p:sp>
        <p:nvSpPr>
          <p:cNvPr id="42" name="given">
            <a:extLst>
              <a:ext uri="{FF2B5EF4-FFF2-40B4-BE49-F238E27FC236}">
                <a16:creationId xmlns:a16="http://schemas.microsoft.com/office/drawing/2014/main" id="{72913D29-E5D6-4B5F-90A9-804405833EFA}"/>
              </a:ext>
            </a:extLst>
          </p:cNvPr>
          <p:cNvSpPr/>
          <p:nvPr/>
        </p:nvSpPr>
        <p:spPr>
          <a:xfrm>
            <a:off x="914400" y="8642975"/>
            <a:ext cx="118745" cy="118744"/>
          </a:xfrm>
          <a:prstGeom prst="rect">
            <a:avLst/>
          </a:prstGeom>
          <a:solidFill>
            <a:srgbClr val="7A3E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given">
            <a:extLst>
              <a:ext uri="{FF2B5EF4-FFF2-40B4-BE49-F238E27FC236}">
                <a16:creationId xmlns:a16="http://schemas.microsoft.com/office/drawing/2014/main" id="{1810BE42-DE88-0D6E-03F6-2A14419FDB89}"/>
              </a:ext>
            </a:extLst>
          </p:cNvPr>
          <p:cNvSpPr txBox="1"/>
          <p:nvPr/>
        </p:nvSpPr>
        <p:spPr>
          <a:xfrm>
            <a:off x="1130300" y="8567410"/>
            <a:ext cx="5753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sz="1700" b="1" baseline="-25000">
                <a:solidFill>
                  <a:srgbClr val="7A3E9D"/>
                </a:solidFill>
                <a:latin typeface="DM Sans" pitchFamily="2" charset="0"/>
              </a:rPr>
              <a:t>G1</a:t>
            </a:r>
            <a:r>
              <a:rPr lang="en-US" sz="1700" b="1">
                <a:solidFill>
                  <a:srgbClr val="7A3E9D"/>
                </a:solidFill>
                <a:latin typeface="DM Sans" pitchFamily="2" charset="0"/>
              </a:rPr>
              <a:t> = </a:t>
            </a:r>
            <a:r>
              <a:rPr lang="en-US" sz="1700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sz="1700" b="1" baseline="-25000">
                <a:solidFill>
                  <a:srgbClr val="7A3E9D"/>
                </a:solidFill>
                <a:latin typeface="DM Sans" pitchFamily="2" charset="0"/>
              </a:rPr>
              <a:t>G2</a:t>
            </a:r>
            <a:r>
              <a:rPr lang="en-US" sz="1700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sz="1700" b="1">
                <a:solidFill>
                  <a:srgbClr val="7A3E9D"/>
                </a:solidFill>
              </a:rPr>
              <a:t>Ω</a:t>
            </a:r>
            <a:endParaRPr lang="en-US" sz="1700" b="1">
              <a:solidFill>
                <a:srgbClr val="7A3E9D"/>
              </a:solidFill>
              <a:latin typeface="DM Sans" pitchFamily="2" charset="0"/>
            </a:endParaRPr>
          </a:p>
        </p:txBody>
      </p:sp>
      <p:sp>
        <p:nvSpPr>
          <p:cNvPr id="44" name="given">
            <a:extLst>
              <a:ext uri="{FF2B5EF4-FFF2-40B4-BE49-F238E27FC236}">
                <a16:creationId xmlns:a16="http://schemas.microsoft.com/office/drawing/2014/main" id="{0977F9A3-683B-384C-5BE5-1DD49D1AD6FD}"/>
              </a:ext>
            </a:extLst>
          </p:cNvPr>
          <p:cNvSpPr/>
          <p:nvPr/>
        </p:nvSpPr>
        <p:spPr>
          <a:xfrm>
            <a:off x="914400" y="8929984"/>
            <a:ext cx="118745" cy="118745"/>
          </a:xfrm>
          <a:prstGeom prst="rect">
            <a:avLst/>
          </a:prstGeom>
          <a:solidFill>
            <a:srgbClr val="0E7C7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given">
            <a:extLst>
              <a:ext uri="{FF2B5EF4-FFF2-40B4-BE49-F238E27FC236}">
                <a16:creationId xmlns:a16="http://schemas.microsoft.com/office/drawing/2014/main" id="{171104F7-4854-56DF-36FE-FE460722BE26}"/>
              </a:ext>
            </a:extLst>
          </p:cNvPr>
          <p:cNvSpPr txBox="1"/>
          <p:nvPr/>
        </p:nvSpPr>
        <p:spPr>
          <a:xfrm>
            <a:off x="1130300" y="8854419"/>
            <a:ext cx="5753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D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</a:t>
            </a:r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S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6 k</a:t>
            </a:r>
            <a:r>
              <a:rPr lang="el-GR" sz="1700" b="1">
                <a:solidFill>
                  <a:srgbClr val="0E7C7B"/>
                </a:solidFill>
              </a:rPr>
              <a:t>Ω</a:t>
            </a:r>
            <a:endParaRPr lang="en-US" sz="1700" b="1">
              <a:solidFill>
                <a:srgbClr val="0E7C7B"/>
              </a:solidFill>
              <a:latin typeface="DM Sans" pitchFamily="2" charset="0"/>
            </a:endParaRPr>
          </a:p>
        </p:txBody>
      </p:sp>
      <p:sp>
        <p:nvSpPr>
          <p:cNvPr id="46" name="given">
            <a:extLst>
              <a:ext uri="{FF2B5EF4-FFF2-40B4-BE49-F238E27FC236}">
                <a16:creationId xmlns:a16="http://schemas.microsoft.com/office/drawing/2014/main" id="{B60FA6D4-D701-EA8D-365A-73554E6630D4}"/>
              </a:ext>
            </a:extLst>
          </p:cNvPr>
          <p:cNvSpPr/>
          <p:nvPr/>
        </p:nvSpPr>
        <p:spPr>
          <a:xfrm>
            <a:off x="914400" y="9216994"/>
            <a:ext cx="118745" cy="118745"/>
          </a:xfrm>
          <a:prstGeom prst="rect">
            <a:avLst/>
          </a:prstGeom>
          <a:solidFill>
            <a:srgbClr val="B018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given">
            <a:extLst>
              <a:ext uri="{FF2B5EF4-FFF2-40B4-BE49-F238E27FC236}">
                <a16:creationId xmlns:a16="http://schemas.microsoft.com/office/drawing/2014/main" id="{DDC6400A-2EE6-42C3-8599-28B0B82AA23D}"/>
              </a:ext>
            </a:extLst>
          </p:cNvPr>
          <p:cNvSpPr txBox="1"/>
          <p:nvPr/>
        </p:nvSpPr>
        <p:spPr>
          <a:xfrm>
            <a:off x="1130300" y="9141430"/>
            <a:ext cx="5753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pl-PL" sz="1700" b="1" i="1">
                <a:solidFill>
                  <a:srgbClr val="B0186B"/>
                </a:solidFill>
                <a:latin typeface="DM Sans" pitchFamily="2" charset="0"/>
              </a:rPr>
              <a:t>V</a:t>
            </a:r>
            <a:r>
              <a:rPr lang="pl-PL" sz="1700" b="1" i="1" baseline="-25000">
                <a:solidFill>
                  <a:srgbClr val="B0186B"/>
                </a:solidFill>
                <a:latin typeface="DM Sans" pitchFamily="2" charset="0"/>
              </a:rPr>
              <a:t>t</a:t>
            </a:r>
            <a:r>
              <a:rPr lang="pl-PL" sz="1700" b="1">
                <a:solidFill>
                  <a:srgbClr val="B0186B"/>
                </a:solidFill>
                <a:latin typeface="DM Sans" pitchFamily="2" charset="0"/>
              </a:rPr>
              <a:t> = 1 V,   k′</a:t>
            </a:r>
            <a:r>
              <a:rPr lang="pl-PL" sz="1700" b="1" baseline="-25000">
                <a:solidFill>
                  <a:srgbClr val="B0186B"/>
                </a:solidFill>
                <a:latin typeface="DM Sans" pitchFamily="2" charset="0"/>
              </a:rPr>
              <a:t>n</a:t>
            </a:r>
            <a:r>
              <a:rPr lang="pl-PL" sz="1700" b="1">
                <a:solidFill>
                  <a:srgbClr val="B0186B"/>
                </a:solidFill>
                <a:latin typeface="DM Sans" pitchFamily="2" charset="0"/>
              </a:rPr>
              <a:t>(W/L) = 1 mA/V²</a:t>
            </a:r>
            <a:endParaRPr lang="en-US" sz="1700" b="1">
              <a:solidFill>
                <a:srgbClr val="B0186B"/>
              </a:solidFill>
              <a:latin typeface="DM Sans" pitchFamily="2" charset="0"/>
            </a:endParaRPr>
          </a:p>
        </p:txBody>
      </p:sp>
      <p:sp>
        <p:nvSpPr>
          <p:cNvPr id="48" name="badge @1">
            <a:extLst>
              <a:ext uri="{FF2B5EF4-FFF2-40B4-BE49-F238E27FC236}">
                <a16:creationId xmlns:a16="http://schemas.microsoft.com/office/drawing/2014/main" id="{87ADEC64-AC03-6B07-087A-BEF79D87EA3E}"/>
              </a:ext>
            </a:extLst>
          </p:cNvPr>
          <p:cNvSpPr/>
          <p:nvPr/>
        </p:nvSpPr>
        <p:spPr>
          <a:xfrm>
            <a:off x="7366000" y="19177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4</a:t>
            </a:r>
          </a:p>
        </p:txBody>
      </p:sp>
      <p:sp>
        <p:nvSpPr>
          <p:cNvPr id="49" name="step @1">
            <a:extLst>
              <a:ext uri="{FF2B5EF4-FFF2-40B4-BE49-F238E27FC236}">
                <a16:creationId xmlns:a16="http://schemas.microsoft.com/office/drawing/2014/main" id="{D903584B-83D7-D6EA-8A20-56B052A6AC55}"/>
              </a:ext>
            </a:extLst>
          </p:cNvPr>
          <p:cNvSpPr txBox="1"/>
          <p:nvPr/>
        </p:nvSpPr>
        <p:spPr>
          <a:xfrm>
            <a:off x="7950200" y="1905000"/>
            <a:ext cx="9423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Substitute </a:t>
            </a:r>
            <a:r>
              <a:rPr lang="en-US" sz="2000" b="1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000" b="1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 into the saturation equation and solve</a:t>
            </a:r>
          </a:p>
        </p:txBody>
      </p:sp>
      <p:sp>
        <p:nvSpPr>
          <p:cNvPr id="50" name="note @1">
            <a:extLst>
              <a:ext uri="{FF2B5EF4-FFF2-40B4-BE49-F238E27FC236}">
                <a16:creationId xmlns:a16="http://schemas.microsoft.com/office/drawing/2014/main" id="{56854569-41D0-C51A-D02E-9F8C5738BAC8}"/>
              </a:ext>
            </a:extLst>
          </p:cNvPr>
          <p:cNvSpPr txBox="1"/>
          <p:nvPr/>
        </p:nvSpPr>
        <p:spPr>
          <a:xfrm>
            <a:off x="7950200" y="2238177"/>
            <a:ext cx="94234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Units: I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in mA. Expanding gives a quadratic with two roots.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eq @1">
                <a:extLst>
                  <a:ext uri="{FF2B5EF4-FFF2-40B4-BE49-F238E27FC236}">
                    <a16:creationId xmlns:a16="http://schemas.microsoft.com/office/drawing/2014/main" id="{9748A16E-3BC7-2A94-8AE7-EE0BADFA5F15}"/>
                  </a:ext>
                </a:extLst>
              </p:cNvPr>
              <p:cNvSpPr txBox="1"/>
              <p:nvPr/>
            </p:nvSpPr>
            <p:spPr>
              <a:xfrm>
                <a:off x="7950200" y="2525186"/>
                <a:ext cx="9423400" cy="64262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r>
                        <a:rPr lang="en-US" sz="2200" b="1">
                          <a:solidFill>
                            <a:srgbClr val="B0186B"/>
                          </a:solidFill>
                          <a:latin typeface="Cambria Math"/>
                          <a:cs typeface="Cambria Math"/>
                        </a:rPr>
                        <m:t>1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)(5−</m:t>
                      </m:r>
                      <m:r>
                        <a:rPr lang="en-US" sz="2200" b="1">
                          <a:solidFill>
                            <a:srgbClr val="0E7C7B"/>
                          </a:solidFill>
                          <a:latin typeface="Cambria Math"/>
                          <a:cs typeface="Cambria Math"/>
                        </a:rPr>
                        <m:t>6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r>
                        <a:rPr lang="en-US" sz="2200" b="1">
                          <a:solidFill>
                            <a:srgbClr val="B0186B"/>
                          </a:solidFill>
                          <a:latin typeface="Cambria Math"/>
                          <a:cs typeface="Cambria Math"/>
                        </a:rPr>
                        <m:t>1</m:t>
                      </m:r>
                      <m:sSup>
                        <m:sSup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1" name="eq @1">
                <a:extLst>
                  <a:ext uri="{FF2B5EF4-FFF2-40B4-BE49-F238E27FC236}">
                    <a16:creationId xmlns:a16="http://schemas.microsoft.com/office/drawing/2014/main" id="{9748A16E-3BC7-2A94-8AE7-EE0BADFA5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200" y="2525186"/>
                <a:ext cx="9423400" cy="6426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eq @1">
                <a:extLst>
                  <a:ext uri="{FF2B5EF4-FFF2-40B4-BE49-F238E27FC236}">
                    <a16:creationId xmlns:a16="http://schemas.microsoft.com/office/drawing/2014/main" id="{907BC542-BFE6-626C-7C67-461C0D545F95}"/>
                  </a:ext>
                </a:extLst>
              </p:cNvPr>
              <p:cNvSpPr txBox="1"/>
              <p:nvPr/>
            </p:nvSpPr>
            <p:spPr>
              <a:xfrm>
                <a:off x="7950200" y="3167806"/>
                <a:ext cx="9423400" cy="4191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18</m:t>
                      </m:r>
                      <m:sSubSup>
                        <m:sSubSup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  <m:sup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−25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+8=0 ⇒ 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=0.89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or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 0.5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2" name="eq @1">
                <a:extLst>
                  <a:ext uri="{FF2B5EF4-FFF2-40B4-BE49-F238E27FC236}">
                    <a16:creationId xmlns:a16="http://schemas.microsoft.com/office/drawing/2014/main" id="{907BC542-BFE6-626C-7C67-461C0D545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200" y="3167806"/>
                <a:ext cx="9423400" cy="419100"/>
              </a:xfrm>
              <a:prstGeom prst="rect">
                <a:avLst/>
              </a:prstGeom>
              <a:blipFill>
                <a:blip r:embed="rId3"/>
                <a:stretch>
                  <a:fillRect l="-1035" b="-4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badge @2">
            <a:extLst>
              <a:ext uri="{FF2B5EF4-FFF2-40B4-BE49-F238E27FC236}">
                <a16:creationId xmlns:a16="http://schemas.microsoft.com/office/drawing/2014/main" id="{67E31D90-A09D-E2BF-59AA-893CC88DA860}"/>
              </a:ext>
            </a:extLst>
          </p:cNvPr>
          <p:cNvSpPr/>
          <p:nvPr/>
        </p:nvSpPr>
        <p:spPr>
          <a:xfrm>
            <a:off x="7366000" y="3726607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5</a:t>
            </a:r>
          </a:p>
        </p:txBody>
      </p:sp>
      <p:sp>
        <p:nvSpPr>
          <p:cNvPr id="54" name="step @2">
            <a:extLst>
              <a:ext uri="{FF2B5EF4-FFF2-40B4-BE49-F238E27FC236}">
                <a16:creationId xmlns:a16="http://schemas.microsoft.com/office/drawing/2014/main" id="{BB98C16C-DF24-CF45-4318-6AF64825C17C}"/>
              </a:ext>
            </a:extLst>
          </p:cNvPr>
          <p:cNvSpPr txBox="1"/>
          <p:nvPr/>
        </p:nvSpPr>
        <p:spPr>
          <a:xfrm>
            <a:off x="7950200" y="3713907"/>
            <a:ext cx="9423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Keep the physical root</a:t>
            </a:r>
          </a:p>
        </p:txBody>
      </p:sp>
      <p:sp>
        <p:nvSpPr>
          <p:cNvPr id="55" name="note @2">
            <a:extLst>
              <a:ext uri="{FF2B5EF4-FFF2-40B4-BE49-F238E27FC236}">
                <a16:creationId xmlns:a16="http://schemas.microsoft.com/office/drawing/2014/main" id="{EEAFB664-4B70-B2FE-D68D-3CF234A75874}"/>
              </a:ext>
            </a:extLst>
          </p:cNvPr>
          <p:cNvSpPr txBox="1"/>
          <p:nvPr/>
        </p:nvSpPr>
        <p:spPr>
          <a:xfrm>
            <a:off x="7950200" y="4047084"/>
            <a:ext cx="94234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A valid solution must leave 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&gt; 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; otherwise there is no channel and no current.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eq @2">
                <a:extLst>
                  <a:ext uri="{FF2B5EF4-FFF2-40B4-BE49-F238E27FC236}">
                    <a16:creationId xmlns:a16="http://schemas.microsoft.com/office/drawing/2014/main" id="{0AB9FBBD-9DDD-7176-9682-7B0980ABDDB6}"/>
                  </a:ext>
                </a:extLst>
              </p:cNvPr>
              <p:cNvSpPr txBox="1"/>
              <p:nvPr/>
            </p:nvSpPr>
            <p:spPr>
              <a:xfrm>
                <a:off x="7950200" y="4334093"/>
                <a:ext cx="9423400" cy="4191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=0.89:  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=5−6(0.89)=−0.33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&lt;</m:t>
                      </m:r>
                      <m:sSub>
                        <m:sSubPr>
                          <m:ctrlP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  (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reject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6" name="eq @2">
                <a:extLst>
                  <a:ext uri="{FF2B5EF4-FFF2-40B4-BE49-F238E27FC236}">
                    <a16:creationId xmlns:a16="http://schemas.microsoft.com/office/drawing/2014/main" id="{0AB9FBBD-9DDD-7176-9682-7B0980ABDD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200" y="4334093"/>
                <a:ext cx="9423400" cy="419100"/>
              </a:xfrm>
              <a:prstGeom prst="rect">
                <a:avLst/>
              </a:prstGeom>
              <a:blipFill>
                <a:blip r:embed="rId4"/>
                <a:stretch>
                  <a:fillRect l="-1035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eq @2">
                <a:extLst>
                  <a:ext uri="{FF2B5EF4-FFF2-40B4-BE49-F238E27FC236}">
                    <a16:creationId xmlns:a16="http://schemas.microsoft.com/office/drawing/2014/main" id="{E1BA8CDD-1106-2F28-2972-010492ED951E}"/>
                  </a:ext>
                </a:extLst>
              </p:cNvPr>
              <p:cNvSpPr txBox="1"/>
              <p:nvPr/>
            </p:nvSpPr>
            <p:spPr>
              <a:xfrm>
                <a:off x="7950200" y="4753193"/>
                <a:ext cx="9423400" cy="4191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=0.5:  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=5−6(0.5)=2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&gt;</m:t>
                      </m:r>
                      <m:sSub>
                        <m:sSubPr>
                          <m:ctrlP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  (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keep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7" name="eq @2">
                <a:extLst>
                  <a:ext uri="{FF2B5EF4-FFF2-40B4-BE49-F238E27FC236}">
                    <a16:creationId xmlns:a16="http://schemas.microsoft.com/office/drawing/2014/main" id="{E1BA8CDD-1106-2F28-2972-010492ED9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200" y="4753193"/>
                <a:ext cx="9423400" cy="419100"/>
              </a:xfrm>
              <a:prstGeom prst="rect">
                <a:avLst/>
              </a:prstGeom>
              <a:blipFill>
                <a:blip r:embed="rId5"/>
                <a:stretch>
                  <a:fillRect l="-1035" b="-19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badge @3">
            <a:extLst>
              <a:ext uri="{FF2B5EF4-FFF2-40B4-BE49-F238E27FC236}">
                <a16:creationId xmlns:a16="http://schemas.microsoft.com/office/drawing/2014/main" id="{DB47073F-B735-4B2D-203B-E77F7A2E4275}"/>
              </a:ext>
            </a:extLst>
          </p:cNvPr>
          <p:cNvSpPr/>
          <p:nvPr/>
        </p:nvSpPr>
        <p:spPr>
          <a:xfrm>
            <a:off x="7366000" y="5311994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6</a:t>
            </a:r>
          </a:p>
        </p:txBody>
      </p:sp>
      <p:sp>
        <p:nvSpPr>
          <p:cNvPr id="59" name="step @3">
            <a:extLst>
              <a:ext uri="{FF2B5EF4-FFF2-40B4-BE49-F238E27FC236}">
                <a16:creationId xmlns:a16="http://schemas.microsoft.com/office/drawing/2014/main" id="{502FC7C8-7D84-E449-2FD5-D8245C7D407E}"/>
              </a:ext>
            </a:extLst>
          </p:cNvPr>
          <p:cNvSpPr txBox="1"/>
          <p:nvPr/>
        </p:nvSpPr>
        <p:spPr>
          <a:xfrm>
            <a:off x="7950200" y="5299294"/>
            <a:ext cx="9423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Find the drain (and source) voltage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eq @3">
                <a:extLst>
                  <a:ext uri="{FF2B5EF4-FFF2-40B4-BE49-F238E27FC236}">
                    <a16:creationId xmlns:a16="http://schemas.microsoft.com/office/drawing/2014/main" id="{BD785B7D-BC5F-C11B-68DE-C3BD31649124}"/>
                  </a:ext>
                </a:extLst>
              </p:cNvPr>
              <p:cNvSpPr txBox="1"/>
              <p:nvPr/>
            </p:nvSpPr>
            <p:spPr>
              <a:xfrm>
                <a:off x="7950200" y="5632470"/>
                <a:ext cx="9423400" cy="4191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200" b="1">
                              <a:solidFill>
                                <a:srgbClr val="1F6FA8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1">
                              <a:solidFill>
                                <a:srgbClr val="1F6FA8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1">
                              <a:solidFill>
                                <a:srgbClr val="1F6FA8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sSub>
                        <m:sSubPr>
                          <m:ctrlPr>
                            <a:rPr lang="en-US" sz="22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2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r>
                        <a:rPr lang="en-US" sz="2200" b="1">
                          <a:solidFill>
                            <a:srgbClr val="1F6FA8"/>
                          </a:solidFill>
                          <a:latin typeface="Cambria Math"/>
                          <a:cs typeface="Cambria Math"/>
                        </a:rPr>
                        <m:t>10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−0.5(</m:t>
                      </m:r>
                      <m:r>
                        <a:rPr lang="en-US" sz="2200" b="1">
                          <a:solidFill>
                            <a:srgbClr val="0E7C7B"/>
                          </a:solidFill>
                          <a:latin typeface="Cambria Math"/>
                          <a:cs typeface="Cambria Math"/>
                        </a:rPr>
                        <m:t>6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)=7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,    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𝑆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sSub>
                        <m:sSubPr>
                          <m:ctrlPr>
                            <a:rPr lang="en-US" sz="22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2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  <m:t>𝑆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=3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0" name="eq @3">
                <a:extLst>
                  <a:ext uri="{FF2B5EF4-FFF2-40B4-BE49-F238E27FC236}">
                    <a16:creationId xmlns:a16="http://schemas.microsoft.com/office/drawing/2014/main" id="{BD785B7D-BC5F-C11B-68DE-C3BD31649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200" y="5632470"/>
                <a:ext cx="9423400" cy="419100"/>
              </a:xfrm>
              <a:prstGeom prst="rect">
                <a:avLst/>
              </a:prstGeom>
              <a:blipFill>
                <a:blip r:embed="rId6"/>
                <a:stretch>
                  <a:fillRect l="-1035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chrome page">
            <a:extLst>
              <a:ext uri="{FF2B5EF4-FFF2-40B4-BE49-F238E27FC236}">
                <a16:creationId xmlns:a16="http://schemas.microsoft.com/office/drawing/2014/main" id="{F349037A-3219-D414-25F1-6A0D343F7BF9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chrome page">
            <a:extLst>
              <a:ext uri="{FF2B5EF4-FFF2-40B4-BE49-F238E27FC236}">
                <a16:creationId xmlns:a16="http://schemas.microsoft.com/office/drawing/2014/main" id="{510EFCDA-4E3F-7738-6752-E322357F1193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7301719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 1: find the drain volt s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5C04C90-B5C3-4849-BDE6-45F46048A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Example 1: find the drain voltage (2 of 2)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094B22B8-C678-0AD8-5A23-BECA744FBE09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9DE42B12-4EEA-DD9F-0DEA-C4E4A0C418EE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8DCF8B4E-BE10-9087-28DD-9B5AF14E2C38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circuit card">
            <a:extLst>
              <a:ext uri="{FF2B5EF4-FFF2-40B4-BE49-F238E27FC236}">
                <a16:creationId xmlns:a16="http://schemas.microsoft.com/office/drawing/2014/main" id="{1B47CE4F-42F3-584D-E5AE-7C5474FE9C8E}"/>
              </a:ext>
            </a:extLst>
          </p:cNvPr>
          <p:cNvSpPr/>
          <p:nvPr/>
        </p:nvSpPr>
        <p:spPr>
          <a:xfrm>
            <a:off x="914400" y="1905000"/>
            <a:ext cx="5969000" cy="5715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E299DE58-4E90-A091-5875-F15408E8A0E0}"/>
              </a:ext>
            </a:extLst>
          </p:cNvPr>
          <p:cNvSpPr/>
          <p:nvPr/>
        </p:nvSpPr>
        <p:spPr>
          <a:xfrm>
            <a:off x="914400" y="1892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kt">
            <a:extLst>
              <a:ext uri="{FF2B5EF4-FFF2-40B4-BE49-F238E27FC236}">
                <a16:creationId xmlns:a16="http://schemas.microsoft.com/office/drawing/2014/main" id="{115176E3-7F4E-F7C8-3249-69800DC4A27E}"/>
              </a:ext>
            </a:extLst>
          </p:cNvPr>
          <p:cNvSpPr/>
          <p:nvPr/>
        </p:nvSpPr>
        <p:spPr>
          <a:xfrm>
            <a:off x="4464050" y="22923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ckt">
            <a:extLst>
              <a:ext uri="{FF2B5EF4-FFF2-40B4-BE49-F238E27FC236}">
                <a16:creationId xmlns:a16="http://schemas.microsoft.com/office/drawing/2014/main" id="{B63C5A45-37CE-E7C9-61C8-0EB47941B666}"/>
              </a:ext>
            </a:extLst>
          </p:cNvPr>
          <p:cNvCxnSpPr/>
          <p:nvPr/>
        </p:nvCxnSpPr>
        <p:spPr>
          <a:xfrm>
            <a:off x="4533900" y="2432050"/>
            <a:ext cx="0" cy="51435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kt label">
            <a:extLst>
              <a:ext uri="{FF2B5EF4-FFF2-40B4-BE49-F238E27FC236}">
                <a16:creationId xmlns:a16="http://schemas.microsoft.com/office/drawing/2014/main" id="{4E971E43-15C9-7772-471C-343268729C59}"/>
              </a:ext>
            </a:extLst>
          </p:cNvPr>
          <p:cNvSpPr txBox="1"/>
          <p:nvPr/>
        </p:nvSpPr>
        <p:spPr>
          <a:xfrm>
            <a:off x="4711700" y="21653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b="1">
                <a:solidFill>
                  <a:srgbClr val="1F6FA8"/>
                </a:solidFill>
                <a:latin typeface="DM Sans" pitchFamily="2" charset="0"/>
              </a:rPr>
              <a:t>+</a:t>
            </a:r>
            <a:r>
              <a:rPr lang="en-US" b="1" i="1">
                <a:solidFill>
                  <a:srgbClr val="1F6FA8"/>
                </a:solidFill>
                <a:latin typeface="DM Sans" pitchFamily="2" charset="0"/>
              </a:rPr>
              <a:t>V</a:t>
            </a:r>
            <a:r>
              <a:rPr lang="en-US" b="1" i="1" baseline="-25000">
                <a:solidFill>
                  <a:srgbClr val="1F6FA8"/>
                </a:solidFill>
                <a:latin typeface="DM Sans" pitchFamily="2" charset="0"/>
              </a:rPr>
              <a:t>DD</a:t>
            </a:r>
            <a:r>
              <a:rPr lang="en-US" b="1">
                <a:solidFill>
                  <a:srgbClr val="1F6FA8"/>
                </a:solidFill>
                <a:latin typeface="DM Sans" pitchFamily="2" charset="0"/>
              </a:rPr>
              <a:t> = 10 V</a:t>
            </a:r>
          </a:p>
        </p:txBody>
      </p:sp>
      <p:cxnSp>
        <p:nvCxnSpPr>
          <p:cNvPr id="11" name="ckt">
            <a:extLst>
              <a:ext uri="{FF2B5EF4-FFF2-40B4-BE49-F238E27FC236}">
                <a16:creationId xmlns:a16="http://schemas.microsoft.com/office/drawing/2014/main" id="{9AAB5058-CB88-BC30-C657-91723EFFC9FA}"/>
              </a:ext>
            </a:extLst>
          </p:cNvPr>
          <p:cNvCxnSpPr/>
          <p:nvPr/>
        </p:nvCxnSpPr>
        <p:spPr>
          <a:xfrm>
            <a:off x="3327400" y="2946400"/>
            <a:ext cx="2413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kt">
            <a:extLst>
              <a:ext uri="{FF2B5EF4-FFF2-40B4-BE49-F238E27FC236}">
                <a16:creationId xmlns:a16="http://schemas.microsoft.com/office/drawing/2014/main" id="{1FEDE4A0-4531-9D53-D3D6-A8888084ED2E}"/>
              </a:ext>
            </a:extLst>
          </p:cNvPr>
          <p:cNvSpPr/>
          <p:nvPr/>
        </p:nvSpPr>
        <p:spPr>
          <a:xfrm>
            <a:off x="4476750" y="28892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kt">
            <a:extLst>
              <a:ext uri="{FF2B5EF4-FFF2-40B4-BE49-F238E27FC236}">
                <a16:creationId xmlns:a16="http://schemas.microsoft.com/office/drawing/2014/main" id="{D158C7F5-B380-BAF5-4AB6-A269C3219B22}"/>
              </a:ext>
            </a:extLst>
          </p:cNvPr>
          <p:cNvCxnSpPr/>
          <p:nvPr/>
        </p:nvCxnSpPr>
        <p:spPr>
          <a:xfrm>
            <a:off x="3327400" y="7010400"/>
            <a:ext cx="2413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kt">
            <a:extLst>
              <a:ext uri="{FF2B5EF4-FFF2-40B4-BE49-F238E27FC236}">
                <a16:creationId xmlns:a16="http://schemas.microsoft.com/office/drawing/2014/main" id="{EACFED44-085E-6B89-6462-63BF51F26370}"/>
              </a:ext>
            </a:extLst>
          </p:cNvPr>
          <p:cNvSpPr/>
          <p:nvPr/>
        </p:nvSpPr>
        <p:spPr>
          <a:xfrm>
            <a:off x="4476750" y="69532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kt">
            <a:extLst>
              <a:ext uri="{FF2B5EF4-FFF2-40B4-BE49-F238E27FC236}">
                <a16:creationId xmlns:a16="http://schemas.microsoft.com/office/drawing/2014/main" id="{1275CA28-394D-1654-7683-7C2C258DAF86}"/>
              </a:ext>
            </a:extLst>
          </p:cNvPr>
          <p:cNvCxnSpPr/>
          <p:nvPr/>
        </p:nvCxnSpPr>
        <p:spPr>
          <a:xfrm>
            <a:off x="4533900" y="70104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034BD0A8-C6A4-6EFB-7623-2C87DE5C96DE}"/>
              </a:ext>
            </a:extLst>
          </p:cNvPr>
          <p:cNvCxnSpPr/>
          <p:nvPr/>
        </p:nvCxnSpPr>
        <p:spPr>
          <a:xfrm>
            <a:off x="4343400" y="71628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679FB554-07A8-EAC5-685B-F178158F54C9}"/>
              </a:ext>
            </a:extLst>
          </p:cNvPr>
          <p:cNvCxnSpPr/>
          <p:nvPr/>
        </p:nvCxnSpPr>
        <p:spPr>
          <a:xfrm>
            <a:off x="4413250" y="72326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kt">
            <a:extLst>
              <a:ext uri="{FF2B5EF4-FFF2-40B4-BE49-F238E27FC236}">
                <a16:creationId xmlns:a16="http://schemas.microsoft.com/office/drawing/2014/main" id="{8E2F83D1-3010-BB00-69DA-B69C416CDE49}"/>
              </a:ext>
            </a:extLst>
          </p:cNvPr>
          <p:cNvCxnSpPr/>
          <p:nvPr/>
        </p:nvCxnSpPr>
        <p:spPr>
          <a:xfrm>
            <a:off x="4483100" y="73025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kt">
            <a:extLst>
              <a:ext uri="{FF2B5EF4-FFF2-40B4-BE49-F238E27FC236}">
                <a16:creationId xmlns:a16="http://schemas.microsoft.com/office/drawing/2014/main" id="{615CC8C3-B128-DBC2-98E4-369221D9CB77}"/>
              </a:ext>
            </a:extLst>
          </p:cNvPr>
          <p:cNvSpPr/>
          <p:nvPr/>
        </p:nvSpPr>
        <p:spPr>
          <a:xfrm>
            <a:off x="3200400" y="2946400"/>
            <a:ext cx="254001" cy="2032001"/>
          </a:xfrm>
          <a:custGeom>
            <a:avLst/>
            <a:gdLst/>
            <a:ahLst/>
            <a:cxnLst/>
            <a:rect l="0" t="0" r="0" b="0"/>
            <a:pathLst>
              <a:path w="254001" h="2032001">
                <a:moveTo>
                  <a:pt x="127000" y="0"/>
                </a:moveTo>
                <a:lnTo>
                  <a:pt x="127000" y="647700"/>
                </a:lnTo>
                <a:lnTo>
                  <a:pt x="0" y="709083"/>
                </a:lnTo>
                <a:lnTo>
                  <a:pt x="254000" y="831850"/>
                </a:lnTo>
                <a:lnTo>
                  <a:pt x="0" y="954617"/>
                </a:lnTo>
                <a:lnTo>
                  <a:pt x="254000" y="1077383"/>
                </a:lnTo>
                <a:lnTo>
                  <a:pt x="0" y="1200150"/>
                </a:lnTo>
                <a:lnTo>
                  <a:pt x="254000" y="1322917"/>
                </a:lnTo>
                <a:lnTo>
                  <a:pt x="127000" y="1384300"/>
                </a:lnTo>
                <a:lnTo>
                  <a:pt x="127000" y="20320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kt">
            <a:extLst>
              <a:ext uri="{FF2B5EF4-FFF2-40B4-BE49-F238E27FC236}">
                <a16:creationId xmlns:a16="http://schemas.microsoft.com/office/drawing/2014/main" id="{04898858-4DB3-BCE4-2D3E-90325560DB56}"/>
              </a:ext>
            </a:extLst>
          </p:cNvPr>
          <p:cNvSpPr/>
          <p:nvPr/>
        </p:nvSpPr>
        <p:spPr>
          <a:xfrm>
            <a:off x="3200400" y="4978400"/>
            <a:ext cx="254001" cy="2032001"/>
          </a:xfrm>
          <a:custGeom>
            <a:avLst/>
            <a:gdLst/>
            <a:ahLst/>
            <a:cxnLst/>
            <a:rect l="0" t="0" r="0" b="0"/>
            <a:pathLst>
              <a:path w="254001" h="2032001">
                <a:moveTo>
                  <a:pt x="127000" y="0"/>
                </a:moveTo>
                <a:lnTo>
                  <a:pt x="127000" y="647700"/>
                </a:lnTo>
                <a:lnTo>
                  <a:pt x="0" y="709083"/>
                </a:lnTo>
                <a:lnTo>
                  <a:pt x="254000" y="831850"/>
                </a:lnTo>
                <a:lnTo>
                  <a:pt x="0" y="954617"/>
                </a:lnTo>
                <a:lnTo>
                  <a:pt x="254000" y="1077383"/>
                </a:lnTo>
                <a:lnTo>
                  <a:pt x="0" y="1200150"/>
                </a:lnTo>
                <a:lnTo>
                  <a:pt x="254000" y="1322917"/>
                </a:lnTo>
                <a:lnTo>
                  <a:pt x="127000" y="1384300"/>
                </a:lnTo>
                <a:lnTo>
                  <a:pt x="127000" y="20320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kt">
            <a:extLst>
              <a:ext uri="{FF2B5EF4-FFF2-40B4-BE49-F238E27FC236}">
                <a16:creationId xmlns:a16="http://schemas.microsoft.com/office/drawing/2014/main" id="{392D38E6-B3BE-7865-3C43-0E60A982D05D}"/>
              </a:ext>
            </a:extLst>
          </p:cNvPr>
          <p:cNvSpPr/>
          <p:nvPr/>
        </p:nvSpPr>
        <p:spPr>
          <a:xfrm>
            <a:off x="3270250" y="49212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kt label">
            <a:extLst>
              <a:ext uri="{FF2B5EF4-FFF2-40B4-BE49-F238E27FC236}">
                <a16:creationId xmlns:a16="http://schemas.microsoft.com/office/drawing/2014/main" id="{75844792-92D7-338A-53B2-13E26386C7EA}"/>
              </a:ext>
            </a:extLst>
          </p:cNvPr>
          <p:cNvSpPr txBox="1"/>
          <p:nvPr/>
        </p:nvSpPr>
        <p:spPr>
          <a:xfrm>
            <a:off x="304800" y="37909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b="1" baseline="-25000">
                <a:solidFill>
                  <a:srgbClr val="7A3E9D"/>
                </a:solidFill>
                <a:latin typeface="DM Sans" pitchFamily="2" charset="0"/>
              </a:rPr>
              <a:t>G1</a:t>
            </a:r>
            <a:r>
              <a:rPr lang="en-US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b="1">
                <a:solidFill>
                  <a:srgbClr val="7A3E9D"/>
                </a:solidFill>
              </a:rPr>
              <a:t>Ω</a:t>
            </a:r>
            <a:endParaRPr lang="en-US" b="1">
              <a:solidFill>
                <a:srgbClr val="7A3E9D"/>
              </a:solidFill>
              <a:latin typeface="DM Sans" pitchFamily="2" charset="0"/>
            </a:endParaRPr>
          </a:p>
        </p:txBody>
      </p:sp>
      <p:sp>
        <p:nvSpPr>
          <p:cNvPr id="23" name="ckt label">
            <a:extLst>
              <a:ext uri="{FF2B5EF4-FFF2-40B4-BE49-F238E27FC236}">
                <a16:creationId xmlns:a16="http://schemas.microsoft.com/office/drawing/2014/main" id="{3BFC1DDF-6722-E363-FD88-B94CD748DF18}"/>
              </a:ext>
            </a:extLst>
          </p:cNvPr>
          <p:cNvSpPr txBox="1"/>
          <p:nvPr/>
        </p:nvSpPr>
        <p:spPr>
          <a:xfrm>
            <a:off x="304800" y="58229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b="1" baseline="-25000">
                <a:solidFill>
                  <a:srgbClr val="7A3E9D"/>
                </a:solidFill>
                <a:latin typeface="DM Sans" pitchFamily="2" charset="0"/>
              </a:rPr>
              <a:t>G2</a:t>
            </a:r>
            <a:r>
              <a:rPr lang="en-US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b="1">
                <a:solidFill>
                  <a:srgbClr val="7A3E9D"/>
                </a:solidFill>
              </a:rPr>
              <a:t>Ω</a:t>
            </a:r>
            <a:endParaRPr lang="en-US" b="1">
              <a:solidFill>
                <a:srgbClr val="7A3E9D"/>
              </a:solidFill>
              <a:latin typeface="DM Sans" pitchFamily="2" charset="0"/>
            </a:endParaRPr>
          </a:p>
        </p:txBody>
      </p:sp>
      <p:cxnSp>
        <p:nvCxnSpPr>
          <p:cNvPr id="24" name="ckt">
            <a:extLst>
              <a:ext uri="{FF2B5EF4-FFF2-40B4-BE49-F238E27FC236}">
                <a16:creationId xmlns:a16="http://schemas.microsoft.com/office/drawing/2014/main" id="{420F68DF-ED39-9754-D19A-EEFD7099556F}"/>
              </a:ext>
            </a:extLst>
          </p:cNvPr>
          <p:cNvCxnSpPr/>
          <p:nvPr/>
        </p:nvCxnSpPr>
        <p:spPr>
          <a:xfrm>
            <a:off x="5181600" y="45943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3E11F7CB-F845-AC2E-0DCB-4D2D04986861}"/>
              </a:ext>
            </a:extLst>
          </p:cNvPr>
          <p:cNvCxnSpPr/>
          <p:nvPr/>
        </p:nvCxnSpPr>
        <p:spPr>
          <a:xfrm>
            <a:off x="5308600" y="4445000"/>
            <a:ext cx="0" cy="1066800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A2311969-4A2F-9029-3844-C1E65FD29AD8}"/>
              </a:ext>
            </a:extLst>
          </p:cNvPr>
          <p:cNvCxnSpPr/>
          <p:nvPr/>
        </p:nvCxnSpPr>
        <p:spPr>
          <a:xfrm>
            <a:off x="5308600" y="45466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0D8C2D2F-9D7A-7EE0-11BB-01018DEB0C9A}"/>
              </a:ext>
            </a:extLst>
          </p:cNvPr>
          <p:cNvCxnSpPr/>
          <p:nvPr/>
        </p:nvCxnSpPr>
        <p:spPr>
          <a:xfrm>
            <a:off x="5308600" y="54102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8BDEE348-83F9-A043-8395-B6A356FCAD08}"/>
              </a:ext>
            </a:extLst>
          </p:cNvPr>
          <p:cNvCxnSpPr/>
          <p:nvPr/>
        </p:nvCxnSpPr>
        <p:spPr>
          <a:xfrm>
            <a:off x="5610860" y="5410200"/>
            <a:ext cx="12954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kt">
            <a:extLst>
              <a:ext uri="{FF2B5EF4-FFF2-40B4-BE49-F238E27FC236}">
                <a16:creationId xmlns:a16="http://schemas.microsoft.com/office/drawing/2014/main" id="{1BEBB173-5A56-99EE-AD7C-77A7B6287880}"/>
              </a:ext>
            </a:extLst>
          </p:cNvPr>
          <p:cNvCxnSpPr/>
          <p:nvPr/>
        </p:nvCxnSpPr>
        <p:spPr>
          <a:xfrm>
            <a:off x="3327400" y="4978400"/>
            <a:ext cx="18542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kt">
            <a:extLst>
              <a:ext uri="{FF2B5EF4-FFF2-40B4-BE49-F238E27FC236}">
                <a16:creationId xmlns:a16="http://schemas.microsoft.com/office/drawing/2014/main" id="{34F7F3CE-B6A6-708C-9310-FC123D043F88}"/>
              </a:ext>
            </a:extLst>
          </p:cNvPr>
          <p:cNvSpPr/>
          <p:nvPr/>
        </p:nvSpPr>
        <p:spPr>
          <a:xfrm>
            <a:off x="5613400" y="2946400"/>
            <a:ext cx="254001" cy="1168401"/>
          </a:xfrm>
          <a:custGeom>
            <a:avLst/>
            <a:gdLst/>
            <a:ahLst/>
            <a:cxnLst/>
            <a:rect l="0" t="0" r="0" b="0"/>
            <a:pathLst>
              <a:path w="254001" h="1168401">
                <a:moveTo>
                  <a:pt x="127000" y="0"/>
                </a:moveTo>
                <a:lnTo>
                  <a:pt x="127000" y="215900"/>
                </a:lnTo>
                <a:lnTo>
                  <a:pt x="0" y="277283"/>
                </a:lnTo>
                <a:lnTo>
                  <a:pt x="254000" y="400050"/>
                </a:lnTo>
                <a:lnTo>
                  <a:pt x="0" y="522817"/>
                </a:lnTo>
                <a:lnTo>
                  <a:pt x="254000" y="645583"/>
                </a:lnTo>
                <a:lnTo>
                  <a:pt x="0" y="768350"/>
                </a:lnTo>
                <a:lnTo>
                  <a:pt x="254000" y="891117"/>
                </a:lnTo>
                <a:lnTo>
                  <a:pt x="127000" y="952500"/>
                </a:lnTo>
                <a:lnTo>
                  <a:pt x="127000" y="11684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ckt">
            <a:extLst>
              <a:ext uri="{FF2B5EF4-FFF2-40B4-BE49-F238E27FC236}">
                <a16:creationId xmlns:a16="http://schemas.microsoft.com/office/drawing/2014/main" id="{5A76B7E1-8088-EB52-0473-3433A7773FB1}"/>
              </a:ext>
            </a:extLst>
          </p:cNvPr>
          <p:cNvCxnSpPr/>
          <p:nvPr/>
        </p:nvCxnSpPr>
        <p:spPr>
          <a:xfrm>
            <a:off x="5740400" y="4114800"/>
            <a:ext cx="0" cy="431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kt">
            <a:extLst>
              <a:ext uri="{FF2B5EF4-FFF2-40B4-BE49-F238E27FC236}">
                <a16:creationId xmlns:a16="http://schemas.microsoft.com/office/drawing/2014/main" id="{7A0698A8-29C2-DDD1-9523-7E19A906C47F}"/>
              </a:ext>
            </a:extLst>
          </p:cNvPr>
          <p:cNvSpPr/>
          <p:nvPr/>
        </p:nvSpPr>
        <p:spPr>
          <a:xfrm>
            <a:off x="5613400" y="5842000"/>
            <a:ext cx="254001" cy="1168401"/>
          </a:xfrm>
          <a:custGeom>
            <a:avLst/>
            <a:gdLst/>
            <a:ahLst/>
            <a:cxnLst/>
            <a:rect l="0" t="0" r="0" b="0"/>
            <a:pathLst>
              <a:path w="254001" h="1168401">
                <a:moveTo>
                  <a:pt x="127000" y="0"/>
                </a:moveTo>
                <a:lnTo>
                  <a:pt x="127000" y="215900"/>
                </a:lnTo>
                <a:lnTo>
                  <a:pt x="0" y="277283"/>
                </a:lnTo>
                <a:lnTo>
                  <a:pt x="254000" y="400050"/>
                </a:lnTo>
                <a:lnTo>
                  <a:pt x="0" y="522817"/>
                </a:lnTo>
                <a:lnTo>
                  <a:pt x="254000" y="645583"/>
                </a:lnTo>
                <a:lnTo>
                  <a:pt x="0" y="768350"/>
                </a:lnTo>
                <a:lnTo>
                  <a:pt x="254000" y="891117"/>
                </a:lnTo>
                <a:lnTo>
                  <a:pt x="127000" y="952500"/>
                </a:lnTo>
                <a:lnTo>
                  <a:pt x="127000" y="11684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ckt">
            <a:extLst>
              <a:ext uri="{FF2B5EF4-FFF2-40B4-BE49-F238E27FC236}">
                <a16:creationId xmlns:a16="http://schemas.microsoft.com/office/drawing/2014/main" id="{1DD0B490-121C-FC81-4A9F-7631865CB6D5}"/>
              </a:ext>
            </a:extLst>
          </p:cNvPr>
          <p:cNvCxnSpPr/>
          <p:nvPr/>
        </p:nvCxnSpPr>
        <p:spPr>
          <a:xfrm>
            <a:off x="5740400" y="5410200"/>
            <a:ext cx="0" cy="431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kt label">
            <a:extLst>
              <a:ext uri="{FF2B5EF4-FFF2-40B4-BE49-F238E27FC236}">
                <a16:creationId xmlns:a16="http://schemas.microsoft.com/office/drawing/2014/main" id="{C5EAABFA-6D48-9128-12FD-B77D37300150}"/>
              </a:ext>
            </a:extLst>
          </p:cNvPr>
          <p:cNvSpPr txBox="1"/>
          <p:nvPr/>
        </p:nvSpPr>
        <p:spPr>
          <a:xfrm>
            <a:off x="5969000" y="33591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b="1" i="1" baseline="-25000">
                <a:solidFill>
                  <a:srgbClr val="0E7C7B"/>
                </a:solidFill>
                <a:latin typeface="DM Sans" pitchFamily="2" charset="0"/>
              </a:rPr>
              <a:t>D</a:t>
            </a:r>
            <a:r>
              <a:rPr lang="en-US" b="1">
                <a:solidFill>
                  <a:srgbClr val="0E7C7B"/>
                </a:solidFill>
                <a:latin typeface="DM Sans" pitchFamily="2" charset="0"/>
              </a:rPr>
              <a:t> = 6 k</a:t>
            </a:r>
            <a:r>
              <a:rPr lang="el-GR" b="1">
                <a:solidFill>
                  <a:srgbClr val="0E7C7B"/>
                </a:solidFill>
              </a:rPr>
              <a:t>Ω</a:t>
            </a:r>
            <a:endParaRPr lang="en-US" b="1">
              <a:solidFill>
                <a:srgbClr val="0E7C7B"/>
              </a:solidFill>
              <a:latin typeface="DM Sans" pitchFamily="2" charset="0"/>
            </a:endParaRPr>
          </a:p>
        </p:txBody>
      </p:sp>
      <p:sp>
        <p:nvSpPr>
          <p:cNvPr id="35" name="ckt label">
            <a:extLst>
              <a:ext uri="{FF2B5EF4-FFF2-40B4-BE49-F238E27FC236}">
                <a16:creationId xmlns:a16="http://schemas.microsoft.com/office/drawing/2014/main" id="{23B00363-B85E-AF80-0F17-23D7164EB7DA}"/>
              </a:ext>
            </a:extLst>
          </p:cNvPr>
          <p:cNvSpPr txBox="1"/>
          <p:nvPr/>
        </p:nvSpPr>
        <p:spPr>
          <a:xfrm>
            <a:off x="5969000" y="625474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b="1" i="1" baseline="-25000">
                <a:solidFill>
                  <a:srgbClr val="0E7C7B"/>
                </a:solidFill>
                <a:latin typeface="DM Sans" pitchFamily="2" charset="0"/>
              </a:rPr>
              <a:t>S</a:t>
            </a:r>
            <a:r>
              <a:rPr lang="en-US" b="1">
                <a:solidFill>
                  <a:srgbClr val="0E7C7B"/>
                </a:solidFill>
                <a:latin typeface="DM Sans" pitchFamily="2" charset="0"/>
              </a:rPr>
              <a:t> = 6 k</a:t>
            </a:r>
            <a:r>
              <a:rPr lang="el-GR" b="1">
                <a:solidFill>
                  <a:srgbClr val="0E7C7B"/>
                </a:solidFill>
              </a:rPr>
              <a:t>Ω</a:t>
            </a:r>
            <a:endParaRPr lang="en-US" b="1">
              <a:solidFill>
                <a:srgbClr val="0E7C7B"/>
              </a:solidFill>
              <a:latin typeface="DM Sans" pitchFamily="2" charset="0"/>
            </a:endParaRPr>
          </a:p>
        </p:txBody>
      </p:sp>
      <p:sp>
        <p:nvSpPr>
          <p:cNvPr id="36" name="node">
            <a:extLst>
              <a:ext uri="{FF2B5EF4-FFF2-40B4-BE49-F238E27FC236}">
                <a16:creationId xmlns:a16="http://schemas.microsoft.com/office/drawing/2014/main" id="{2C60F22F-F7D3-1FBE-EE2F-7C8E6AED2572}"/>
              </a:ext>
            </a:extLst>
          </p:cNvPr>
          <p:cNvSpPr txBox="1"/>
          <p:nvPr/>
        </p:nvSpPr>
        <p:spPr>
          <a:xfrm>
            <a:off x="3505200" y="4597399"/>
            <a:ext cx="1905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 i="1">
                <a:solidFill>
                  <a:srgbClr val="145A43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145A43"/>
                </a:solidFill>
                <a:latin typeface="DM Sans" pitchFamily="2" charset="0"/>
              </a:rPr>
              <a:t>G</a:t>
            </a:r>
            <a:r>
              <a:rPr lang="en-US" sz="1700" b="1">
                <a:solidFill>
                  <a:srgbClr val="145A43"/>
                </a:solidFill>
                <a:latin typeface="DM Sans" pitchFamily="2" charset="0"/>
              </a:rPr>
              <a:t> = 5 V</a:t>
            </a:r>
          </a:p>
        </p:txBody>
      </p:sp>
      <p:sp>
        <p:nvSpPr>
          <p:cNvPr id="37" name="node @3">
            <a:extLst>
              <a:ext uri="{FF2B5EF4-FFF2-40B4-BE49-F238E27FC236}">
                <a16:creationId xmlns:a16="http://schemas.microsoft.com/office/drawing/2014/main" id="{B8484D2D-333F-45CB-170D-5415A8838CDE}"/>
              </a:ext>
            </a:extLst>
          </p:cNvPr>
          <p:cNvSpPr txBox="1"/>
          <p:nvPr/>
        </p:nvSpPr>
        <p:spPr>
          <a:xfrm>
            <a:off x="5918200" y="5206999"/>
            <a:ext cx="1905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 i="1">
                <a:solidFill>
                  <a:srgbClr val="145A43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145A43"/>
                </a:solidFill>
                <a:latin typeface="DM Sans" pitchFamily="2" charset="0"/>
              </a:rPr>
              <a:t>S</a:t>
            </a:r>
            <a:r>
              <a:rPr lang="en-US" sz="1700" b="1">
                <a:solidFill>
                  <a:srgbClr val="145A43"/>
                </a:solidFill>
                <a:latin typeface="DM Sans" pitchFamily="2" charset="0"/>
              </a:rPr>
              <a:t> = 3 V</a:t>
            </a:r>
          </a:p>
        </p:txBody>
      </p:sp>
      <p:sp>
        <p:nvSpPr>
          <p:cNvPr id="38" name="node @3">
            <a:extLst>
              <a:ext uri="{FF2B5EF4-FFF2-40B4-BE49-F238E27FC236}">
                <a16:creationId xmlns:a16="http://schemas.microsoft.com/office/drawing/2014/main" id="{706DFE83-503B-893D-E71B-4DC6F081AA30}"/>
              </a:ext>
            </a:extLst>
          </p:cNvPr>
          <p:cNvSpPr txBox="1"/>
          <p:nvPr/>
        </p:nvSpPr>
        <p:spPr>
          <a:xfrm>
            <a:off x="5918200" y="4013199"/>
            <a:ext cx="1905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00" b="1" i="1">
                <a:solidFill>
                  <a:srgbClr val="B8581A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B8581A"/>
                </a:solidFill>
                <a:latin typeface="DM Sans" pitchFamily="2" charset="0"/>
              </a:rPr>
              <a:t>D</a:t>
            </a:r>
            <a:r>
              <a:rPr lang="en-US" sz="1700" b="1">
                <a:solidFill>
                  <a:srgbClr val="B8581A"/>
                </a:solidFill>
                <a:latin typeface="DM Sans" pitchFamily="2" charset="0"/>
              </a:rPr>
              <a:t> = 7 V</a:t>
            </a:r>
          </a:p>
        </p:txBody>
      </p:sp>
      <p:sp>
        <p:nvSpPr>
          <p:cNvPr id="39" name="given">
            <a:extLst>
              <a:ext uri="{FF2B5EF4-FFF2-40B4-BE49-F238E27FC236}">
                <a16:creationId xmlns:a16="http://schemas.microsoft.com/office/drawing/2014/main" id="{94EAB495-A2ED-DB9B-BFDA-0DFBE09638C4}"/>
              </a:ext>
            </a:extLst>
          </p:cNvPr>
          <p:cNvSpPr/>
          <p:nvPr/>
        </p:nvSpPr>
        <p:spPr>
          <a:xfrm>
            <a:off x="914400" y="7772400"/>
            <a:ext cx="105283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GIVEN</a:t>
            </a:r>
          </a:p>
        </p:txBody>
      </p:sp>
      <p:sp>
        <p:nvSpPr>
          <p:cNvPr id="40" name="given">
            <a:extLst>
              <a:ext uri="{FF2B5EF4-FFF2-40B4-BE49-F238E27FC236}">
                <a16:creationId xmlns:a16="http://schemas.microsoft.com/office/drawing/2014/main" id="{07F4BA5A-0F02-4CED-F7DB-20F24B4E6231}"/>
              </a:ext>
            </a:extLst>
          </p:cNvPr>
          <p:cNvSpPr/>
          <p:nvPr/>
        </p:nvSpPr>
        <p:spPr>
          <a:xfrm>
            <a:off x="914400" y="8355965"/>
            <a:ext cx="118745" cy="118745"/>
          </a:xfrm>
          <a:prstGeom prst="rect">
            <a:avLst/>
          </a:prstGeom>
          <a:solidFill>
            <a:srgbClr val="1F6F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given">
            <a:extLst>
              <a:ext uri="{FF2B5EF4-FFF2-40B4-BE49-F238E27FC236}">
                <a16:creationId xmlns:a16="http://schemas.microsoft.com/office/drawing/2014/main" id="{B79205A1-DF23-6C6F-A30D-A59045EF2EDE}"/>
              </a:ext>
            </a:extLst>
          </p:cNvPr>
          <p:cNvSpPr txBox="1"/>
          <p:nvPr/>
        </p:nvSpPr>
        <p:spPr>
          <a:xfrm>
            <a:off x="1130300" y="8280400"/>
            <a:ext cx="5753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1F6FA8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1F6FA8"/>
                </a:solidFill>
                <a:latin typeface="DM Sans" pitchFamily="2" charset="0"/>
              </a:rPr>
              <a:t>DD</a:t>
            </a:r>
            <a:r>
              <a:rPr lang="en-US" sz="1700" b="1">
                <a:solidFill>
                  <a:srgbClr val="1F6FA8"/>
                </a:solidFill>
                <a:latin typeface="DM Sans" pitchFamily="2" charset="0"/>
              </a:rPr>
              <a:t> = 10 V</a:t>
            </a:r>
          </a:p>
        </p:txBody>
      </p:sp>
      <p:sp>
        <p:nvSpPr>
          <p:cNvPr id="42" name="given">
            <a:extLst>
              <a:ext uri="{FF2B5EF4-FFF2-40B4-BE49-F238E27FC236}">
                <a16:creationId xmlns:a16="http://schemas.microsoft.com/office/drawing/2014/main" id="{72913D29-E5D6-4B5F-90A9-804405833EFA}"/>
              </a:ext>
            </a:extLst>
          </p:cNvPr>
          <p:cNvSpPr/>
          <p:nvPr/>
        </p:nvSpPr>
        <p:spPr>
          <a:xfrm>
            <a:off x="914400" y="8642975"/>
            <a:ext cx="118745" cy="118744"/>
          </a:xfrm>
          <a:prstGeom prst="rect">
            <a:avLst/>
          </a:prstGeom>
          <a:solidFill>
            <a:srgbClr val="7A3E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given">
            <a:extLst>
              <a:ext uri="{FF2B5EF4-FFF2-40B4-BE49-F238E27FC236}">
                <a16:creationId xmlns:a16="http://schemas.microsoft.com/office/drawing/2014/main" id="{1810BE42-DE88-0D6E-03F6-2A14419FDB89}"/>
              </a:ext>
            </a:extLst>
          </p:cNvPr>
          <p:cNvSpPr txBox="1"/>
          <p:nvPr/>
        </p:nvSpPr>
        <p:spPr>
          <a:xfrm>
            <a:off x="1130300" y="8567410"/>
            <a:ext cx="5753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sz="1700" b="1" baseline="-25000">
                <a:solidFill>
                  <a:srgbClr val="7A3E9D"/>
                </a:solidFill>
                <a:latin typeface="DM Sans" pitchFamily="2" charset="0"/>
              </a:rPr>
              <a:t>G1</a:t>
            </a:r>
            <a:r>
              <a:rPr lang="en-US" sz="1700" b="1">
                <a:solidFill>
                  <a:srgbClr val="7A3E9D"/>
                </a:solidFill>
                <a:latin typeface="DM Sans" pitchFamily="2" charset="0"/>
              </a:rPr>
              <a:t> = </a:t>
            </a:r>
            <a:r>
              <a:rPr lang="en-US" sz="1700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sz="1700" b="1" baseline="-25000">
                <a:solidFill>
                  <a:srgbClr val="7A3E9D"/>
                </a:solidFill>
                <a:latin typeface="DM Sans" pitchFamily="2" charset="0"/>
              </a:rPr>
              <a:t>G2</a:t>
            </a:r>
            <a:r>
              <a:rPr lang="en-US" sz="1700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sz="1700" b="1">
                <a:solidFill>
                  <a:srgbClr val="7A3E9D"/>
                </a:solidFill>
              </a:rPr>
              <a:t>Ω</a:t>
            </a:r>
            <a:endParaRPr lang="en-US" sz="1700" b="1">
              <a:solidFill>
                <a:srgbClr val="7A3E9D"/>
              </a:solidFill>
              <a:latin typeface="DM Sans" pitchFamily="2" charset="0"/>
            </a:endParaRPr>
          </a:p>
        </p:txBody>
      </p:sp>
      <p:sp>
        <p:nvSpPr>
          <p:cNvPr id="44" name="given">
            <a:extLst>
              <a:ext uri="{FF2B5EF4-FFF2-40B4-BE49-F238E27FC236}">
                <a16:creationId xmlns:a16="http://schemas.microsoft.com/office/drawing/2014/main" id="{0977F9A3-683B-384C-5BE5-1DD49D1AD6FD}"/>
              </a:ext>
            </a:extLst>
          </p:cNvPr>
          <p:cNvSpPr/>
          <p:nvPr/>
        </p:nvSpPr>
        <p:spPr>
          <a:xfrm>
            <a:off x="914400" y="8929984"/>
            <a:ext cx="118745" cy="118745"/>
          </a:xfrm>
          <a:prstGeom prst="rect">
            <a:avLst/>
          </a:prstGeom>
          <a:solidFill>
            <a:srgbClr val="0E7C7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given">
            <a:extLst>
              <a:ext uri="{FF2B5EF4-FFF2-40B4-BE49-F238E27FC236}">
                <a16:creationId xmlns:a16="http://schemas.microsoft.com/office/drawing/2014/main" id="{171104F7-4854-56DF-36FE-FE460722BE26}"/>
              </a:ext>
            </a:extLst>
          </p:cNvPr>
          <p:cNvSpPr txBox="1"/>
          <p:nvPr/>
        </p:nvSpPr>
        <p:spPr>
          <a:xfrm>
            <a:off x="1130300" y="8854419"/>
            <a:ext cx="5753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D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</a:t>
            </a:r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S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6 k</a:t>
            </a:r>
            <a:r>
              <a:rPr lang="el-GR" sz="1700" b="1">
                <a:solidFill>
                  <a:srgbClr val="0E7C7B"/>
                </a:solidFill>
              </a:rPr>
              <a:t>Ω</a:t>
            </a:r>
            <a:endParaRPr lang="en-US" sz="1700" b="1">
              <a:solidFill>
                <a:srgbClr val="0E7C7B"/>
              </a:solidFill>
              <a:latin typeface="DM Sans" pitchFamily="2" charset="0"/>
            </a:endParaRPr>
          </a:p>
        </p:txBody>
      </p:sp>
      <p:sp>
        <p:nvSpPr>
          <p:cNvPr id="46" name="given">
            <a:extLst>
              <a:ext uri="{FF2B5EF4-FFF2-40B4-BE49-F238E27FC236}">
                <a16:creationId xmlns:a16="http://schemas.microsoft.com/office/drawing/2014/main" id="{B60FA6D4-D701-EA8D-365A-73554E6630D4}"/>
              </a:ext>
            </a:extLst>
          </p:cNvPr>
          <p:cNvSpPr/>
          <p:nvPr/>
        </p:nvSpPr>
        <p:spPr>
          <a:xfrm>
            <a:off x="914400" y="9216994"/>
            <a:ext cx="118745" cy="118745"/>
          </a:xfrm>
          <a:prstGeom prst="rect">
            <a:avLst/>
          </a:prstGeom>
          <a:solidFill>
            <a:srgbClr val="B018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given">
            <a:extLst>
              <a:ext uri="{FF2B5EF4-FFF2-40B4-BE49-F238E27FC236}">
                <a16:creationId xmlns:a16="http://schemas.microsoft.com/office/drawing/2014/main" id="{DDC6400A-2EE6-42C3-8599-28B0B82AA23D}"/>
              </a:ext>
            </a:extLst>
          </p:cNvPr>
          <p:cNvSpPr txBox="1"/>
          <p:nvPr/>
        </p:nvSpPr>
        <p:spPr>
          <a:xfrm>
            <a:off x="1130300" y="9141430"/>
            <a:ext cx="5753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pl-PL" sz="1700" b="1" i="1">
                <a:solidFill>
                  <a:srgbClr val="B0186B"/>
                </a:solidFill>
                <a:latin typeface="DM Sans" pitchFamily="2" charset="0"/>
              </a:rPr>
              <a:t>V</a:t>
            </a:r>
            <a:r>
              <a:rPr lang="pl-PL" sz="1700" b="1" i="1" baseline="-25000">
                <a:solidFill>
                  <a:srgbClr val="B0186B"/>
                </a:solidFill>
                <a:latin typeface="DM Sans" pitchFamily="2" charset="0"/>
              </a:rPr>
              <a:t>t</a:t>
            </a:r>
            <a:r>
              <a:rPr lang="pl-PL" sz="1700" b="1">
                <a:solidFill>
                  <a:srgbClr val="B0186B"/>
                </a:solidFill>
                <a:latin typeface="DM Sans" pitchFamily="2" charset="0"/>
              </a:rPr>
              <a:t> = 1 V,   k′</a:t>
            </a:r>
            <a:r>
              <a:rPr lang="pl-PL" sz="1700" b="1" baseline="-25000">
                <a:solidFill>
                  <a:srgbClr val="B0186B"/>
                </a:solidFill>
                <a:latin typeface="DM Sans" pitchFamily="2" charset="0"/>
              </a:rPr>
              <a:t>n</a:t>
            </a:r>
            <a:r>
              <a:rPr lang="pl-PL" sz="1700" b="1">
                <a:solidFill>
                  <a:srgbClr val="B0186B"/>
                </a:solidFill>
                <a:latin typeface="DM Sans" pitchFamily="2" charset="0"/>
              </a:rPr>
              <a:t>(W/L) = 1 mA/V²</a:t>
            </a:r>
            <a:endParaRPr lang="en-US" sz="1700" b="1">
              <a:solidFill>
                <a:srgbClr val="B0186B"/>
              </a:solidFill>
              <a:latin typeface="DM Sans" pitchFamily="2" charset="0"/>
            </a:endParaRPr>
          </a:p>
        </p:txBody>
      </p:sp>
      <p:sp>
        <p:nvSpPr>
          <p:cNvPr id="48" name="badge @1">
            <a:extLst>
              <a:ext uri="{FF2B5EF4-FFF2-40B4-BE49-F238E27FC236}">
                <a16:creationId xmlns:a16="http://schemas.microsoft.com/office/drawing/2014/main" id="{87ADEC64-AC03-6B07-087A-BEF79D87EA3E}"/>
              </a:ext>
            </a:extLst>
          </p:cNvPr>
          <p:cNvSpPr/>
          <p:nvPr/>
        </p:nvSpPr>
        <p:spPr>
          <a:xfrm>
            <a:off x="7366000" y="19177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4</a:t>
            </a:r>
          </a:p>
        </p:txBody>
      </p:sp>
      <p:sp>
        <p:nvSpPr>
          <p:cNvPr id="49" name="step @1">
            <a:extLst>
              <a:ext uri="{FF2B5EF4-FFF2-40B4-BE49-F238E27FC236}">
                <a16:creationId xmlns:a16="http://schemas.microsoft.com/office/drawing/2014/main" id="{D903584B-83D7-D6EA-8A20-56B052A6AC55}"/>
              </a:ext>
            </a:extLst>
          </p:cNvPr>
          <p:cNvSpPr txBox="1"/>
          <p:nvPr/>
        </p:nvSpPr>
        <p:spPr>
          <a:xfrm>
            <a:off x="7950200" y="1905000"/>
            <a:ext cx="9423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Substitute </a:t>
            </a:r>
            <a:r>
              <a:rPr lang="en-US" sz="2000" b="1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000" b="1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 into the saturation equation and solve</a:t>
            </a:r>
          </a:p>
        </p:txBody>
      </p:sp>
      <p:sp>
        <p:nvSpPr>
          <p:cNvPr id="50" name="note @1">
            <a:extLst>
              <a:ext uri="{FF2B5EF4-FFF2-40B4-BE49-F238E27FC236}">
                <a16:creationId xmlns:a16="http://schemas.microsoft.com/office/drawing/2014/main" id="{56854569-41D0-C51A-D02E-9F8C5738BAC8}"/>
              </a:ext>
            </a:extLst>
          </p:cNvPr>
          <p:cNvSpPr txBox="1"/>
          <p:nvPr/>
        </p:nvSpPr>
        <p:spPr>
          <a:xfrm>
            <a:off x="7950200" y="2238177"/>
            <a:ext cx="94234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Units: I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in mA. Expanding gives a quadratic with two roots.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eq @1">
                <a:extLst>
                  <a:ext uri="{FF2B5EF4-FFF2-40B4-BE49-F238E27FC236}">
                    <a16:creationId xmlns:a16="http://schemas.microsoft.com/office/drawing/2014/main" id="{9748A16E-3BC7-2A94-8AE7-EE0BADFA5F15}"/>
                  </a:ext>
                </a:extLst>
              </p:cNvPr>
              <p:cNvSpPr txBox="1"/>
              <p:nvPr/>
            </p:nvSpPr>
            <p:spPr>
              <a:xfrm>
                <a:off x="7950200" y="2525186"/>
                <a:ext cx="9423400" cy="64262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r>
                        <a:rPr lang="en-US" sz="2200" b="1">
                          <a:solidFill>
                            <a:srgbClr val="B0186B"/>
                          </a:solidFill>
                          <a:latin typeface="Cambria Math"/>
                          <a:cs typeface="Cambria Math"/>
                        </a:rPr>
                        <m:t>1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)(5−</m:t>
                      </m:r>
                      <m:r>
                        <a:rPr lang="en-US" sz="2200" b="1">
                          <a:solidFill>
                            <a:srgbClr val="0E7C7B"/>
                          </a:solidFill>
                          <a:latin typeface="Cambria Math"/>
                          <a:cs typeface="Cambria Math"/>
                        </a:rPr>
                        <m:t>6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r>
                        <a:rPr lang="en-US" sz="2200" b="1">
                          <a:solidFill>
                            <a:srgbClr val="B0186B"/>
                          </a:solidFill>
                          <a:latin typeface="Cambria Math"/>
                          <a:cs typeface="Cambria Math"/>
                        </a:rPr>
                        <m:t>1</m:t>
                      </m:r>
                      <m:sSup>
                        <m:sSup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1" name="eq @1">
                <a:extLst>
                  <a:ext uri="{FF2B5EF4-FFF2-40B4-BE49-F238E27FC236}">
                    <a16:creationId xmlns:a16="http://schemas.microsoft.com/office/drawing/2014/main" id="{9748A16E-3BC7-2A94-8AE7-EE0BADFA5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200" y="2525186"/>
                <a:ext cx="9423400" cy="6426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eq @1">
                <a:extLst>
                  <a:ext uri="{FF2B5EF4-FFF2-40B4-BE49-F238E27FC236}">
                    <a16:creationId xmlns:a16="http://schemas.microsoft.com/office/drawing/2014/main" id="{907BC542-BFE6-626C-7C67-461C0D545F95}"/>
                  </a:ext>
                </a:extLst>
              </p:cNvPr>
              <p:cNvSpPr txBox="1"/>
              <p:nvPr/>
            </p:nvSpPr>
            <p:spPr>
              <a:xfrm>
                <a:off x="7950200" y="3167806"/>
                <a:ext cx="9423400" cy="4191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18</m:t>
                      </m:r>
                      <m:sSubSup>
                        <m:sSubSup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  <m:sup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−25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+8=0 ⇒ 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=0.89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or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 0.5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2" name="eq @1">
                <a:extLst>
                  <a:ext uri="{FF2B5EF4-FFF2-40B4-BE49-F238E27FC236}">
                    <a16:creationId xmlns:a16="http://schemas.microsoft.com/office/drawing/2014/main" id="{907BC542-BFE6-626C-7C67-461C0D545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200" y="3167806"/>
                <a:ext cx="9423400" cy="419100"/>
              </a:xfrm>
              <a:prstGeom prst="rect">
                <a:avLst/>
              </a:prstGeom>
              <a:blipFill>
                <a:blip r:embed="rId3"/>
                <a:stretch>
                  <a:fillRect l="-1035" b="-4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badge @2">
            <a:extLst>
              <a:ext uri="{FF2B5EF4-FFF2-40B4-BE49-F238E27FC236}">
                <a16:creationId xmlns:a16="http://schemas.microsoft.com/office/drawing/2014/main" id="{67E31D90-A09D-E2BF-59AA-893CC88DA860}"/>
              </a:ext>
            </a:extLst>
          </p:cNvPr>
          <p:cNvSpPr/>
          <p:nvPr/>
        </p:nvSpPr>
        <p:spPr>
          <a:xfrm>
            <a:off x="7366000" y="3726607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5</a:t>
            </a:r>
          </a:p>
        </p:txBody>
      </p:sp>
      <p:sp>
        <p:nvSpPr>
          <p:cNvPr id="54" name="step @2">
            <a:extLst>
              <a:ext uri="{FF2B5EF4-FFF2-40B4-BE49-F238E27FC236}">
                <a16:creationId xmlns:a16="http://schemas.microsoft.com/office/drawing/2014/main" id="{BB98C16C-DF24-CF45-4318-6AF64825C17C}"/>
              </a:ext>
            </a:extLst>
          </p:cNvPr>
          <p:cNvSpPr txBox="1"/>
          <p:nvPr/>
        </p:nvSpPr>
        <p:spPr>
          <a:xfrm>
            <a:off x="7950200" y="3713907"/>
            <a:ext cx="9423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Keep the physical root</a:t>
            </a:r>
          </a:p>
        </p:txBody>
      </p:sp>
      <p:sp>
        <p:nvSpPr>
          <p:cNvPr id="55" name="note @2">
            <a:extLst>
              <a:ext uri="{FF2B5EF4-FFF2-40B4-BE49-F238E27FC236}">
                <a16:creationId xmlns:a16="http://schemas.microsoft.com/office/drawing/2014/main" id="{EEAFB664-4B70-B2FE-D68D-3CF234A75874}"/>
              </a:ext>
            </a:extLst>
          </p:cNvPr>
          <p:cNvSpPr txBox="1"/>
          <p:nvPr/>
        </p:nvSpPr>
        <p:spPr>
          <a:xfrm>
            <a:off x="7950200" y="4047084"/>
            <a:ext cx="94234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A valid solution must leave 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&gt; 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; otherwise there is no channel and no current.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eq @2">
                <a:extLst>
                  <a:ext uri="{FF2B5EF4-FFF2-40B4-BE49-F238E27FC236}">
                    <a16:creationId xmlns:a16="http://schemas.microsoft.com/office/drawing/2014/main" id="{0AB9FBBD-9DDD-7176-9682-7B0980ABDDB6}"/>
                  </a:ext>
                </a:extLst>
              </p:cNvPr>
              <p:cNvSpPr txBox="1"/>
              <p:nvPr/>
            </p:nvSpPr>
            <p:spPr>
              <a:xfrm>
                <a:off x="7950200" y="4334093"/>
                <a:ext cx="9423400" cy="4191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=0.89:  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=5−6(0.89)=−0.33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&lt;</m:t>
                      </m:r>
                      <m:sSub>
                        <m:sSubPr>
                          <m:ctrlP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  (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reject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6" name="eq @2">
                <a:extLst>
                  <a:ext uri="{FF2B5EF4-FFF2-40B4-BE49-F238E27FC236}">
                    <a16:creationId xmlns:a16="http://schemas.microsoft.com/office/drawing/2014/main" id="{0AB9FBBD-9DDD-7176-9682-7B0980ABDD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200" y="4334093"/>
                <a:ext cx="9423400" cy="419100"/>
              </a:xfrm>
              <a:prstGeom prst="rect">
                <a:avLst/>
              </a:prstGeom>
              <a:blipFill>
                <a:blip r:embed="rId4"/>
                <a:stretch>
                  <a:fillRect l="-1035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eq @2">
                <a:extLst>
                  <a:ext uri="{FF2B5EF4-FFF2-40B4-BE49-F238E27FC236}">
                    <a16:creationId xmlns:a16="http://schemas.microsoft.com/office/drawing/2014/main" id="{E1BA8CDD-1106-2F28-2972-010492ED951E}"/>
                  </a:ext>
                </a:extLst>
              </p:cNvPr>
              <p:cNvSpPr txBox="1"/>
              <p:nvPr/>
            </p:nvSpPr>
            <p:spPr>
              <a:xfrm>
                <a:off x="7950200" y="4753193"/>
                <a:ext cx="9423400" cy="4191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=0.5:  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=5−6(0.5)=2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&gt;</m:t>
                      </m:r>
                      <m:sSub>
                        <m:sSubPr>
                          <m:ctrlP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  (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keep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7" name="eq @2">
                <a:extLst>
                  <a:ext uri="{FF2B5EF4-FFF2-40B4-BE49-F238E27FC236}">
                    <a16:creationId xmlns:a16="http://schemas.microsoft.com/office/drawing/2014/main" id="{E1BA8CDD-1106-2F28-2972-010492ED9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200" y="4753193"/>
                <a:ext cx="9423400" cy="419100"/>
              </a:xfrm>
              <a:prstGeom prst="rect">
                <a:avLst/>
              </a:prstGeom>
              <a:blipFill>
                <a:blip r:embed="rId5"/>
                <a:stretch>
                  <a:fillRect l="-1035" b="-19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badge @3">
            <a:extLst>
              <a:ext uri="{FF2B5EF4-FFF2-40B4-BE49-F238E27FC236}">
                <a16:creationId xmlns:a16="http://schemas.microsoft.com/office/drawing/2014/main" id="{DB47073F-B735-4B2D-203B-E77F7A2E4275}"/>
              </a:ext>
            </a:extLst>
          </p:cNvPr>
          <p:cNvSpPr/>
          <p:nvPr/>
        </p:nvSpPr>
        <p:spPr>
          <a:xfrm>
            <a:off x="7366000" y="5311994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6</a:t>
            </a:r>
          </a:p>
        </p:txBody>
      </p:sp>
      <p:sp>
        <p:nvSpPr>
          <p:cNvPr id="59" name="step @3">
            <a:extLst>
              <a:ext uri="{FF2B5EF4-FFF2-40B4-BE49-F238E27FC236}">
                <a16:creationId xmlns:a16="http://schemas.microsoft.com/office/drawing/2014/main" id="{502FC7C8-7D84-E449-2FD5-D8245C7D407E}"/>
              </a:ext>
            </a:extLst>
          </p:cNvPr>
          <p:cNvSpPr txBox="1"/>
          <p:nvPr/>
        </p:nvSpPr>
        <p:spPr>
          <a:xfrm>
            <a:off x="7950200" y="5299294"/>
            <a:ext cx="9423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Find the drain (and source) voltage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eq @3">
                <a:extLst>
                  <a:ext uri="{FF2B5EF4-FFF2-40B4-BE49-F238E27FC236}">
                    <a16:creationId xmlns:a16="http://schemas.microsoft.com/office/drawing/2014/main" id="{BD785B7D-BC5F-C11B-68DE-C3BD31649124}"/>
                  </a:ext>
                </a:extLst>
              </p:cNvPr>
              <p:cNvSpPr txBox="1"/>
              <p:nvPr/>
            </p:nvSpPr>
            <p:spPr>
              <a:xfrm>
                <a:off x="7950200" y="5632470"/>
                <a:ext cx="9423400" cy="4191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200" b="1">
                              <a:solidFill>
                                <a:srgbClr val="1F6FA8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1">
                              <a:solidFill>
                                <a:srgbClr val="1F6FA8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1">
                              <a:solidFill>
                                <a:srgbClr val="1F6FA8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sSub>
                        <m:sSubPr>
                          <m:ctrlPr>
                            <a:rPr lang="en-US" sz="22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2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r>
                        <a:rPr lang="en-US" sz="2200" b="1">
                          <a:solidFill>
                            <a:srgbClr val="1F6FA8"/>
                          </a:solidFill>
                          <a:latin typeface="Cambria Math"/>
                          <a:cs typeface="Cambria Math"/>
                        </a:rPr>
                        <m:t>10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−0.5(</m:t>
                      </m:r>
                      <m:r>
                        <a:rPr lang="en-US" sz="2200" b="1">
                          <a:solidFill>
                            <a:srgbClr val="0E7C7B"/>
                          </a:solidFill>
                          <a:latin typeface="Cambria Math"/>
                          <a:cs typeface="Cambria Math"/>
                        </a:rPr>
                        <m:t>6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)=7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,    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𝑆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sSub>
                        <m:sSubPr>
                          <m:ctrlPr>
                            <a:rPr lang="en-US" sz="22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2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  <m:t>𝑆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=3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0" name="eq @3">
                <a:extLst>
                  <a:ext uri="{FF2B5EF4-FFF2-40B4-BE49-F238E27FC236}">
                    <a16:creationId xmlns:a16="http://schemas.microsoft.com/office/drawing/2014/main" id="{BD785B7D-BC5F-C11B-68DE-C3BD31649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200" y="5632470"/>
                <a:ext cx="9423400" cy="419100"/>
              </a:xfrm>
              <a:prstGeom prst="rect">
                <a:avLst/>
              </a:prstGeom>
              <a:blipFill>
                <a:blip r:embed="rId6"/>
                <a:stretch>
                  <a:fillRect l="-1035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badge @4">
            <a:extLst>
              <a:ext uri="{FF2B5EF4-FFF2-40B4-BE49-F238E27FC236}">
                <a16:creationId xmlns:a16="http://schemas.microsoft.com/office/drawing/2014/main" id="{42B1B803-0342-E2AB-BF6C-12BF64F9BE50}"/>
              </a:ext>
            </a:extLst>
          </p:cNvPr>
          <p:cNvSpPr/>
          <p:nvPr/>
        </p:nvSpPr>
        <p:spPr>
          <a:xfrm>
            <a:off x="7366000" y="6191271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7</a:t>
            </a:r>
          </a:p>
        </p:txBody>
      </p:sp>
      <p:sp>
        <p:nvSpPr>
          <p:cNvPr id="62" name="step @4">
            <a:extLst>
              <a:ext uri="{FF2B5EF4-FFF2-40B4-BE49-F238E27FC236}">
                <a16:creationId xmlns:a16="http://schemas.microsoft.com/office/drawing/2014/main" id="{FDAF8C47-ADA9-7E4E-80C5-2D54FF6890DF}"/>
              </a:ext>
            </a:extLst>
          </p:cNvPr>
          <p:cNvSpPr txBox="1"/>
          <p:nvPr/>
        </p:nvSpPr>
        <p:spPr>
          <a:xfrm>
            <a:off x="7950200" y="6178571"/>
            <a:ext cx="94234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Check the saturation assumption</a:t>
            </a:r>
          </a:p>
        </p:txBody>
      </p:sp>
      <p:sp>
        <p:nvSpPr>
          <p:cNvPr id="63" name="note @4">
            <a:extLst>
              <a:ext uri="{FF2B5EF4-FFF2-40B4-BE49-F238E27FC236}">
                <a16:creationId xmlns:a16="http://schemas.microsoft.com/office/drawing/2014/main" id="{5066E73B-4AC5-D710-0EEA-D001C8A68968}"/>
              </a:ext>
            </a:extLst>
          </p:cNvPr>
          <p:cNvSpPr txBox="1"/>
          <p:nvPr/>
        </p:nvSpPr>
        <p:spPr>
          <a:xfrm>
            <a:off x="7950200" y="6511748"/>
            <a:ext cx="94234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Saturation needs 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DS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≥ 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− 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eq @4">
                <a:extLst>
                  <a:ext uri="{FF2B5EF4-FFF2-40B4-BE49-F238E27FC236}">
                    <a16:creationId xmlns:a16="http://schemas.microsoft.com/office/drawing/2014/main" id="{4C7C6101-379F-03C7-5A73-1E30FC6D96D4}"/>
                  </a:ext>
                </a:extLst>
              </p:cNvPr>
              <p:cNvSpPr txBox="1"/>
              <p:nvPr/>
            </p:nvSpPr>
            <p:spPr>
              <a:xfrm>
                <a:off x="7950200" y="6798758"/>
                <a:ext cx="9423400" cy="4191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𝐷𝑆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=7−3=4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 ≥ 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=1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4" name="eq @4">
                <a:extLst>
                  <a:ext uri="{FF2B5EF4-FFF2-40B4-BE49-F238E27FC236}">
                    <a16:creationId xmlns:a16="http://schemas.microsoft.com/office/drawing/2014/main" id="{4C7C6101-379F-03C7-5A73-1E30FC6D9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200" y="6798758"/>
                <a:ext cx="9423400" cy="419100"/>
              </a:xfrm>
              <a:prstGeom prst="rect">
                <a:avLst/>
              </a:prstGeom>
              <a:blipFill>
                <a:blip r:embed="rId7"/>
                <a:stretch>
                  <a:fillRect l="-1035"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hen @4">
            <a:extLst>
              <a:ext uri="{FF2B5EF4-FFF2-40B4-BE49-F238E27FC236}">
                <a16:creationId xmlns:a16="http://schemas.microsoft.com/office/drawing/2014/main" id="{5F8E6ED6-6950-3473-38E9-2D7C48321772}"/>
              </a:ext>
            </a:extLst>
          </p:cNvPr>
          <p:cNvSpPr txBox="1"/>
          <p:nvPr/>
        </p:nvSpPr>
        <p:spPr>
          <a:xfrm>
            <a:off x="7950200" y="7217859"/>
            <a:ext cx="94234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✓ The assumption holds.</a:t>
            </a:r>
          </a:p>
        </p:txBody>
      </p:sp>
      <p:sp>
        <p:nvSpPr>
          <p:cNvPr id="66" name="answer @4">
            <a:extLst>
              <a:ext uri="{FF2B5EF4-FFF2-40B4-BE49-F238E27FC236}">
                <a16:creationId xmlns:a16="http://schemas.microsoft.com/office/drawing/2014/main" id="{6C29418F-4FAC-3E18-6F26-28A7AB2E528F}"/>
              </a:ext>
            </a:extLst>
          </p:cNvPr>
          <p:cNvSpPr/>
          <p:nvPr/>
        </p:nvSpPr>
        <p:spPr>
          <a:xfrm>
            <a:off x="7950200" y="7637247"/>
            <a:ext cx="2052320" cy="530860"/>
          </a:xfrm>
          <a:prstGeom prst="parallelogram">
            <a:avLst>
              <a:gd name="adj" fmla="val 30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answer @4">
            <a:extLst>
              <a:ext uri="{FF2B5EF4-FFF2-40B4-BE49-F238E27FC236}">
                <a16:creationId xmlns:a16="http://schemas.microsoft.com/office/drawing/2014/main" id="{F72FE88F-B000-6095-77F9-DF5ECCD9B18B}"/>
              </a:ext>
            </a:extLst>
          </p:cNvPr>
          <p:cNvSpPr txBox="1"/>
          <p:nvPr/>
        </p:nvSpPr>
        <p:spPr>
          <a:xfrm>
            <a:off x="7950200" y="7637246"/>
            <a:ext cx="2052320" cy="53086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200" b="1" i="1">
                <a:solidFill>
                  <a:srgbClr val="FFFFFF"/>
                </a:solidFill>
                <a:latin typeface="DM Sans" pitchFamily="2" charset="0"/>
              </a:rPr>
              <a:t>V</a:t>
            </a:r>
            <a:r>
              <a:rPr lang="en-US" sz="2200" b="1" i="1" baseline="-25000">
                <a:solidFill>
                  <a:srgbClr val="FFFFFF"/>
                </a:solidFill>
                <a:latin typeface="DM Sans" pitchFamily="2" charset="0"/>
              </a:rPr>
              <a:t>D</a:t>
            </a:r>
            <a:r>
              <a:rPr lang="en-US" sz="2200" b="1">
                <a:solidFill>
                  <a:srgbClr val="FFFFFF"/>
                </a:solidFill>
                <a:latin typeface="DM Sans" pitchFamily="2" charset="0"/>
              </a:rPr>
              <a:t> = 7 V</a:t>
            </a:r>
          </a:p>
        </p:txBody>
      </p:sp>
      <p:sp>
        <p:nvSpPr>
          <p:cNvPr id="68" name="answer @4">
            <a:extLst>
              <a:ext uri="{FF2B5EF4-FFF2-40B4-BE49-F238E27FC236}">
                <a16:creationId xmlns:a16="http://schemas.microsoft.com/office/drawing/2014/main" id="{EC377870-5ADC-577B-0BCC-E8641CDA51E5}"/>
              </a:ext>
            </a:extLst>
          </p:cNvPr>
          <p:cNvSpPr txBox="1"/>
          <p:nvPr/>
        </p:nvSpPr>
        <p:spPr>
          <a:xfrm>
            <a:off x="10256520" y="7637246"/>
            <a:ext cx="7066280" cy="50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4D5B54"/>
                </a:solidFill>
                <a:latin typeface="DM Sans" pitchFamily="2" charset="0"/>
              </a:rPr>
              <a:t>with </a:t>
            </a:r>
            <a:r>
              <a:rPr lang="en-US" sz="1900" i="1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19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1900">
                <a:solidFill>
                  <a:srgbClr val="4D5B54"/>
                </a:solidFill>
                <a:latin typeface="DM Sans" pitchFamily="2" charset="0"/>
              </a:rPr>
              <a:t> = 0.5 mA, </a:t>
            </a:r>
            <a:r>
              <a:rPr lang="en-US" sz="19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1900">
                <a:solidFill>
                  <a:srgbClr val="4D5B54"/>
                </a:solidFill>
                <a:latin typeface="DM Sans" pitchFamily="2" charset="0"/>
              </a:rPr>
              <a:t> = 2 V</a:t>
            </a:r>
          </a:p>
        </p:txBody>
      </p:sp>
      <p:sp>
        <p:nvSpPr>
          <p:cNvPr id="69" name="chrome page">
            <a:extLst>
              <a:ext uri="{FF2B5EF4-FFF2-40B4-BE49-F238E27FC236}">
                <a16:creationId xmlns:a16="http://schemas.microsoft.com/office/drawing/2014/main" id="{5E33B78C-9592-A75C-490F-FC5C2368C8B7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chrome page">
            <a:extLst>
              <a:ext uri="{FF2B5EF4-FFF2-40B4-BE49-F238E27FC236}">
                <a16:creationId xmlns:a16="http://schemas.microsoft.com/office/drawing/2014/main" id="{EB6E95D2-BE18-787C-7999-203AF1F73303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16771365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current mirror s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523E491-DF63-37FD-205C-3EF15F595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The current mirror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BF874433-7F0D-A815-588C-895001115AA2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A0885783-F049-69A6-CBB0-68F22E9D393B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0F167E9B-15D5-F32E-BFE0-E2B994BE594C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drawing card">
            <a:extLst>
              <a:ext uri="{FF2B5EF4-FFF2-40B4-BE49-F238E27FC236}">
                <a16:creationId xmlns:a16="http://schemas.microsoft.com/office/drawing/2014/main" id="{ECF2881D-A6D1-8016-1FB6-EB2BCC8EC213}"/>
              </a:ext>
            </a:extLst>
          </p:cNvPr>
          <p:cNvSpPr/>
          <p:nvPr/>
        </p:nvSpPr>
        <p:spPr>
          <a:xfrm>
            <a:off x="10160000" y="2095500"/>
            <a:ext cx="7213600" cy="6858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rawing card">
            <a:extLst>
              <a:ext uri="{FF2B5EF4-FFF2-40B4-BE49-F238E27FC236}">
                <a16:creationId xmlns:a16="http://schemas.microsoft.com/office/drawing/2014/main" id="{21794B33-145A-4B26-B89E-D3B42FBA276D}"/>
              </a:ext>
            </a:extLst>
          </p:cNvPr>
          <p:cNvSpPr/>
          <p:nvPr/>
        </p:nvSpPr>
        <p:spPr>
          <a:xfrm>
            <a:off x="10160000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kt">
            <a:extLst>
              <a:ext uri="{FF2B5EF4-FFF2-40B4-BE49-F238E27FC236}">
                <a16:creationId xmlns:a16="http://schemas.microsoft.com/office/drawing/2014/main" id="{ADD01AE9-7D5F-6C70-69BA-D43D3E1787A6}"/>
              </a:ext>
            </a:extLst>
          </p:cNvPr>
          <p:cNvCxnSpPr/>
          <p:nvPr/>
        </p:nvCxnSpPr>
        <p:spPr>
          <a:xfrm>
            <a:off x="13716000" y="58389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kt">
            <a:extLst>
              <a:ext uri="{FF2B5EF4-FFF2-40B4-BE49-F238E27FC236}">
                <a16:creationId xmlns:a16="http://schemas.microsoft.com/office/drawing/2014/main" id="{5695F140-93B8-8135-0E35-31287D48C540}"/>
              </a:ext>
            </a:extLst>
          </p:cNvPr>
          <p:cNvCxnSpPr/>
          <p:nvPr/>
        </p:nvCxnSpPr>
        <p:spPr>
          <a:xfrm>
            <a:off x="13589000" y="5689600"/>
            <a:ext cx="0" cy="1066800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kt">
            <a:extLst>
              <a:ext uri="{FF2B5EF4-FFF2-40B4-BE49-F238E27FC236}">
                <a16:creationId xmlns:a16="http://schemas.microsoft.com/office/drawing/2014/main" id="{902A0F64-54ED-7EB1-B41E-C4F49F4E29E6}"/>
              </a:ext>
            </a:extLst>
          </p:cNvPr>
          <p:cNvCxnSpPr/>
          <p:nvPr/>
        </p:nvCxnSpPr>
        <p:spPr>
          <a:xfrm flipH="1">
            <a:off x="13157200" y="57912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kt">
            <a:extLst>
              <a:ext uri="{FF2B5EF4-FFF2-40B4-BE49-F238E27FC236}">
                <a16:creationId xmlns:a16="http://schemas.microsoft.com/office/drawing/2014/main" id="{674FD196-0AB5-D309-BBF6-4511A8904015}"/>
              </a:ext>
            </a:extLst>
          </p:cNvPr>
          <p:cNvCxnSpPr/>
          <p:nvPr/>
        </p:nvCxnSpPr>
        <p:spPr>
          <a:xfrm flipH="1">
            <a:off x="13278104" y="66548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kt">
            <a:extLst>
              <a:ext uri="{FF2B5EF4-FFF2-40B4-BE49-F238E27FC236}">
                <a16:creationId xmlns:a16="http://schemas.microsoft.com/office/drawing/2014/main" id="{60D56C1A-2688-2355-7589-B1988D6C8A3F}"/>
              </a:ext>
            </a:extLst>
          </p:cNvPr>
          <p:cNvCxnSpPr/>
          <p:nvPr/>
        </p:nvCxnSpPr>
        <p:spPr>
          <a:xfrm flipH="1">
            <a:off x="13157200" y="6654800"/>
            <a:ext cx="129539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kt">
            <a:extLst>
              <a:ext uri="{FF2B5EF4-FFF2-40B4-BE49-F238E27FC236}">
                <a16:creationId xmlns:a16="http://schemas.microsoft.com/office/drawing/2014/main" id="{682F193D-CFB4-EF98-8BA1-A984825F9C08}"/>
              </a:ext>
            </a:extLst>
          </p:cNvPr>
          <p:cNvCxnSpPr/>
          <p:nvPr/>
        </p:nvCxnSpPr>
        <p:spPr>
          <a:xfrm>
            <a:off x="14986000" y="58389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kt">
            <a:extLst>
              <a:ext uri="{FF2B5EF4-FFF2-40B4-BE49-F238E27FC236}">
                <a16:creationId xmlns:a16="http://schemas.microsoft.com/office/drawing/2014/main" id="{8C4476C3-174B-BA2C-5107-F83E459F3BE7}"/>
              </a:ext>
            </a:extLst>
          </p:cNvPr>
          <p:cNvCxnSpPr/>
          <p:nvPr/>
        </p:nvCxnSpPr>
        <p:spPr>
          <a:xfrm>
            <a:off x="15113000" y="5689600"/>
            <a:ext cx="0" cy="1066800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kt">
            <a:extLst>
              <a:ext uri="{FF2B5EF4-FFF2-40B4-BE49-F238E27FC236}">
                <a16:creationId xmlns:a16="http://schemas.microsoft.com/office/drawing/2014/main" id="{C89B4CDC-C258-20F6-9103-F7616E5FC866}"/>
              </a:ext>
            </a:extLst>
          </p:cNvPr>
          <p:cNvCxnSpPr/>
          <p:nvPr/>
        </p:nvCxnSpPr>
        <p:spPr>
          <a:xfrm>
            <a:off x="15113000" y="57912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B6E4A8F5-3541-3A0B-666C-43C1A69E0108}"/>
              </a:ext>
            </a:extLst>
          </p:cNvPr>
          <p:cNvCxnSpPr/>
          <p:nvPr/>
        </p:nvCxnSpPr>
        <p:spPr>
          <a:xfrm>
            <a:off x="15113000" y="66548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914AD5A7-B257-8ED0-7BFE-44A092B689DA}"/>
              </a:ext>
            </a:extLst>
          </p:cNvPr>
          <p:cNvCxnSpPr/>
          <p:nvPr/>
        </p:nvCxnSpPr>
        <p:spPr>
          <a:xfrm>
            <a:off x="15415261" y="6654800"/>
            <a:ext cx="129539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kt">
            <a:extLst>
              <a:ext uri="{FF2B5EF4-FFF2-40B4-BE49-F238E27FC236}">
                <a16:creationId xmlns:a16="http://schemas.microsoft.com/office/drawing/2014/main" id="{36DBEE8A-A547-FC04-F8A1-608702570C82}"/>
              </a:ext>
            </a:extLst>
          </p:cNvPr>
          <p:cNvCxnSpPr/>
          <p:nvPr/>
        </p:nvCxnSpPr>
        <p:spPr>
          <a:xfrm>
            <a:off x="13716000" y="6223000"/>
            <a:ext cx="1270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kt">
            <a:extLst>
              <a:ext uri="{FF2B5EF4-FFF2-40B4-BE49-F238E27FC236}">
                <a16:creationId xmlns:a16="http://schemas.microsoft.com/office/drawing/2014/main" id="{B5B2A82D-DF13-C569-A7AA-5988D5FB3E72}"/>
              </a:ext>
            </a:extLst>
          </p:cNvPr>
          <p:cNvSpPr/>
          <p:nvPr/>
        </p:nvSpPr>
        <p:spPr>
          <a:xfrm>
            <a:off x="14293850" y="6165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ckt">
            <a:extLst>
              <a:ext uri="{FF2B5EF4-FFF2-40B4-BE49-F238E27FC236}">
                <a16:creationId xmlns:a16="http://schemas.microsoft.com/office/drawing/2014/main" id="{DDD289CB-9435-067E-2021-7991E4F8CB9B}"/>
              </a:ext>
            </a:extLst>
          </p:cNvPr>
          <p:cNvCxnSpPr/>
          <p:nvPr/>
        </p:nvCxnSpPr>
        <p:spPr>
          <a:xfrm flipV="1">
            <a:off x="13157200" y="4826000"/>
            <a:ext cx="0" cy="9652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kt">
            <a:extLst>
              <a:ext uri="{FF2B5EF4-FFF2-40B4-BE49-F238E27FC236}">
                <a16:creationId xmlns:a16="http://schemas.microsoft.com/office/drawing/2014/main" id="{1F86C61E-B8BD-A0D0-FD78-92203FC10300}"/>
              </a:ext>
            </a:extLst>
          </p:cNvPr>
          <p:cNvSpPr/>
          <p:nvPr/>
        </p:nvSpPr>
        <p:spPr>
          <a:xfrm>
            <a:off x="13100050" y="4768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kt">
            <a:extLst>
              <a:ext uri="{FF2B5EF4-FFF2-40B4-BE49-F238E27FC236}">
                <a16:creationId xmlns:a16="http://schemas.microsoft.com/office/drawing/2014/main" id="{6A42F341-5E95-8E4F-A3A0-7A98F5543877}"/>
              </a:ext>
            </a:extLst>
          </p:cNvPr>
          <p:cNvSpPr/>
          <p:nvPr/>
        </p:nvSpPr>
        <p:spPr>
          <a:xfrm>
            <a:off x="13157200" y="4826000"/>
            <a:ext cx="1193801" cy="1397001"/>
          </a:xfrm>
          <a:custGeom>
            <a:avLst/>
            <a:gdLst/>
            <a:ahLst/>
            <a:cxnLst/>
            <a:rect l="0" t="0" r="0" b="0"/>
            <a:pathLst>
              <a:path w="1193801" h="1397001">
                <a:moveTo>
                  <a:pt x="0" y="0"/>
                </a:moveTo>
                <a:lnTo>
                  <a:pt x="1193800" y="0"/>
                </a:lnTo>
                <a:lnTo>
                  <a:pt x="1193800" y="13970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kt">
            <a:extLst>
              <a:ext uri="{FF2B5EF4-FFF2-40B4-BE49-F238E27FC236}">
                <a16:creationId xmlns:a16="http://schemas.microsoft.com/office/drawing/2014/main" id="{4D3A1E2A-D650-AC9C-6D50-D8C9CBF92380}"/>
              </a:ext>
            </a:extLst>
          </p:cNvPr>
          <p:cNvSpPr/>
          <p:nvPr/>
        </p:nvSpPr>
        <p:spPr>
          <a:xfrm>
            <a:off x="13030200" y="3117850"/>
            <a:ext cx="254001" cy="1708151"/>
          </a:xfrm>
          <a:custGeom>
            <a:avLst/>
            <a:gdLst/>
            <a:ahLst/>
            <a:cxnLst/>
            <a:rect l="0" t="0" r="0" b="0"/>
            <a:pathLst>
              <a:path w="254001" h="1708151">
                <a:moveTo>
                  <a:pt x="127000" y="0"/>
                </a:moveTo>
                <a:lnTo>
                  <a:pt x="127000" y="485775"/>
                </a:lnTo>
                <a:lnTo>
                  <a:pt x="0" y="547158"/>
                </a:lnTo>
                <a:lnTo>
                  <a:pt x="254000" y="669925"/>
                </a:lnTo>
                <a:lnTo>
                  <a:pt x="0" y="792692"/>
                </a:lnTo>
                <a:lnTo>
                  <a:pt x="254000" y="915458"/>
                </a:lnTo>
                <a:lnTo>
                  <a:pt x="0" y="1038225"/>
                </a:lnTo>
                <a:lnTo>
                  <a:pt x="254000" y="1160992"/>
                </a:lnTo>
                <a:lnTo>
                  <a:pt x="127000" y="1222375"/>
                </a:lnTo>
                <a:lnTo>
                  <a:pt x="127000" y="170815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kt">
            <a:extLst>
              <a:ext uri="{FF2B5EF4-FFF2-40B4-BE49-F238E27FC236}">
                <a16:creationId xmlns:a16="http://schemas.microsoft.com/office/drawing/2014/main" id="{8FEB5428-9E55-7093-FA46-F2374FD8AFD2}"/>
              </a:ext>
            </a:extLst>
          </p:cNvPr>
          <p:cNvSpPr/>
          <p:nvPr/>
        </p:nvSpPr>
        <p:spPr>
          <a:xfrm>
            <a:off x="13087350" y="2978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kt label">
            <a:extLst>
              <a:ext uri="{FF2B5EF4-FFF2-40B4-BE49-F238E27FC236}">
                <a16:creationId xmlns:a16="http://schemas.microsoft.com/office/drawing/2014/main" id="{E57A8589-DED9-BF81-5207-67028E6DAF9F}"/>
              </a:ext>
            </a:extLst>
          </p:cNvPr>
          <p:cNvSpPr txBox="1"/>
          <p:nvPr/>
        </p:nvSpPr>
        <p:spPr>
          <a:xfrm>
            <a:off x="13335000" y="2867024"/>
            <a:ext cx="2794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DD</a:t>
            </a:r>
          </a:p>
        </p:txBody>
      </p:sp>
      <p:sp>
        <p:nvSpPr>
          <p:cNvPr id="26" name="ckt label">
            <a:extLst>
              <a:ext uri="{FF2B5EF4-FFF2-40B4-BE49-F238E27FC236}">
                <a16:creationId xmlns:a16="http://schemas.microsoft.com/office/drawing/2014/main" id="{DF93A28A-0726-C5D0-E1A8-30EDBE73D7FB}"/>
              </a:ext>
            </a:extLst>
          </p:cNvPr>
          <p:cNvSpPr txBox="1"/>
          <p:nvPr/>
        </p:nvSpPr>
        <p:spPr>
          <a:xfrm>
            <a:off x="11785600" y="3756024"/>
            <a:ext cx="1143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SET</a:t>
            </a:r>
          </a:p>
        </p:txBody>
      </p:sp>
      <p:cxnSp>
        <p:nvCxnSpPr>
          <p:cNvPr id="27" name="ckt">
            <a:extLst>
              <a:ext uri="{FF2B5EF4-FFF2-40B4-BE49-F238E27FC236}">
                <a16:creationId xmlns:a16="http://schemas.microsoft.com/office/drawing/2014/main" id="{AE39F6D5-D3D2-E847-EA80-30E07C45BBFB}"/>
              </a:ext>
            </a:extLst>
          </p:cNvPr>
          <p:cNvCxnSpPr/>
          <p:nvPr/>
        </p:nvCxnSpPr>
        <p:spPr>
          <a:xfrm>
            <a:off x="13411200" y="3937000"/>
            <a:ext cx="0" cy="571500"/>
          </a:xfrm>
          <a:prstGeom prst="line">
            <a:avLst/>
          </a:prstGeom>
          <a:ln w="22225">
            <a:solidFill>
              <a:srgbClr val="1F6F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kt label">
            <a:extLst>
              <a:ext uri="{FF2B5EF4-FFF2-40B4-BE49-F238E27FC236}">
                <a16:creationId xmlns:a16="http://schemas.microsoft.com/office/drawing/2014/main" id="{A8359DB1-2C0D-DFA6-16FE-FD81FB48410F}"/>
              </a:ext>
            </a:extLst>
          </p:cNvPr>
          <p:cNvSpPr txBox="1"/>
          <p:nvPr/>
        </p:nvSpPr>
        <p:spPr>
          <a:xfrm>
            <a:off x="13512800" y="4054474"/>
            <a:ext cx="1143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b="1" i="1">
                <a:solidFill>
                  <a:srgbClr val="1F6FA8"/>
                </a:solidFill>
                <a:latin typeface="DM Sans" pitchFamily="2" charset="0"/>
              </a:rPr>
              <a:t>I</a:t>
            </a:r>
            <a:r>
              <a:rPr lang="en-US" sz="1700" b="1" i="1" baseline="-25000">
                <a:solidFill>
                  <a:srgbClr val="1F6FA8"/>
                </a:solidFill>
                <a:latin typeface="DM Sans" pitchFamily="2" charset="0"/>
              </a:rPr>
              <a:t>REF</a:t>
            </a:r>
          </a:p>
        </p:txBody>
      </p:sp>
      <p:cxnSp>
        <p:nvCxnSpPr>
          <p:cNvPr id="29" name="ckt">
            <a:extLst>
              <a:ext uri="{FF2B5EF4-FFF2-40B4-BE49-F238E27FC236}">
                <a16:creationId xmlns:a16="http://schemas.microsoft.com/office/drawing/2014/main" id="{BADB4A2C-88BD-47C2-006C-2BA8570512B4}"/>
              </a:ext>
            </a:extLst>
          </p:cNvPr>
          <p:cNvCxnSpPr/>
          <p:nvPr/>
        </p:nvCxnSpPr>
        <p:spPr>
          <a:xfrm flipV="1">
            <a:off x="15544800" y="3810000"/>
            <a:ext cx="0" cy="19812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kt">
            <a:extLst>
              <a:ext uri="{FF2B5EF4-FFF2-40B4-BE49-F238E27FC236}">
                <a16:creationId xmlns:a16="http://schemas.microsoft.com/office/drawing/2014/main" id="{8C7F16DC-D720-E472-7145-C2D8C3456928}"/>
              </a:ext>
            </a:extLst>
          </p:cNvPr>
          <p:cNvSpPr/>
          <p:nvPr/>
        </p:nvSpPr>
        <p:spPr>
          <a:xfrm>
            <a:off x="15474950" y="36639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ckt">
            <a:extLst>
              <a:ext uri="{FF2B5EF4-FFF2-40B4-BE49-F238E27FC236}">
                <a16:creationId xmlns:a16="http://schemas.microsoft.com/office/drawing/2014/main" id="{AF7748A7-F9C0-0207-D5A3-2C84088B478C}"/>
              </a:ext>
            </a:extLst>
          </p:cNvPr>
          <p:cNvCxnSpPr/>
          <p:nvPr/>
        </p:nvCxnSpPr>
        <p:spPr>
          <a:xfrm>
            <a:off x="15824200" y="4064000"/>
            <a:ext cx="0" cy="635000"/>
          </a:xfrm>
          <a:prstGeom prst="line">
            <a:avLst/>
          </a:prstGeom>
          <a:ln w="22225">
            <a:solidFill>
              <a:srgbClr val="7A3E9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kt label">
            <a:extLst>
              <a:ext uri="{FF2B5EF4-FFF2-40B4-BE49-F238E27FC236}">
                <a16:creationId xmlns:a16="http://schemas.microsoft.com/office/drawing/2014/main" id="{A3C9644F-4E48-3FD1-BEFA-18937CF1CB02}"/>
              </a:ext>
            </a:extLst>
          </p:cNvPr>
          <p:cNvSpPr txBox="1"/>
          <p:nvPr/>
        </p:nvSpPr>
        <p:spPr>
          <a:xfrm>
            <a:off x="15925800" y="4219574"/>
            <a:ext cx="762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b="1" i="1">
                <a:solidFill>
                  <a:srgbClr val="7A3E9D"/>
                </a:solidFill>
                <a:latin typeface="DM Sans" pitchFamily="2" charset="0"/>
              </a:rPr>
              <a:t>I</a:t>
            </a:r>
            <a:r>
              <a:rPr lang="en-US" sz="1700" b="1" i="1" baseline="-25000">
                <a:solidFill>
                  <a:srgbClr val="7A3E9D"/>
                </a:solidFill>
                <a:latin typeface="DM Sans" pitchFamily="2" charset="0"/>
              </a:rPr>
              <a:t>O</a:t>
            </a:r>
          </a:p>
        </p:txBody>
      </p:sp>
      <p:cxnSp>
        <p:nvCxnSpPr>
          <p:cNvPr id="33" name="ckt">
            <a:extLst>
              <a:ext uri="{FF2B5EF4-FFF2-40B4-BE49-F238E27FC236}">
                <a16:creationId xmlns:a16="http://schemas.microsoft.com/office/drawing/2014/main" id="{56C271DB-FC9B-FA86-211B-87D009192D25}"/>
              </a:ext>
            </a:extLst>
          </p:cNvPr>
          <p:cNvCxnSpPr/>
          <p:nvPr/>
        </p:nvCxnSpPr>
        <p:spPr>
          <a:xfrm>
            <a:off x="13157200" y="6654800"/>
            <a:ext cx="0" cy="13462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kt">
            <a:extLst>
              <a:ext uri="{FF2B5EF4-FFF2-40B4-BE49-F238E27FC236}">
                <a16:creationId xmlns:a16="http://schemas.microsoft.com/office/drawing/2014/main" id="{36501D6E-0C79-59F8-3BB4-328EDC63417C}"/>
              </a:ext>
            </a:extLst>
          </p:cNvPr>
          <p:cNvCxnSpPr/>
          <p:nvPr/>
        </p:nvCxnSpPr>
        <p:spPr>
          <a:xfrm>
            <a:off x="15544800" y="6654800"/>
            <a:ext cx="0" cy="13462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kt">
            <a:extLst>
              <a:ext uri="{FF2B5EF4-FFF2-40B4-BE49-F238E27FC236}">
                <a16:creationId xmlns:a16="http://schemas.microsoft.com/office/drawing/2014/main" id="{559E77F4-5418-014A-4218-B4FFDA85624C}"/>
              </a:ext>
            </a:extLst>
          </p:cNvPr>
          <p:cNvCxnSpPr/>
          <p:nvPr/>
        </p:nvCxnSpPr>
        <p:spPr>
          <a:xfrm>
            <a:off x="13157200" y="8001000"/>
            <a:ext cx="2387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kt">
            <a:extLst>
              <a:ext uri="{FF2B5EF4-FFF2-40B4-BE49-F238E27FC236}">
                <a16:creationId xmlns:a16="http://schemas.microsoft.com/office/drawing/2014/main" id="{36040D98-FEFB-4D9A-FE3C-69220164A054}"/>
              </a:ext>
            </a:extLst>
          </p:cNvPr>
          <p:cNvCxnSpPr/>
          <p:nvPr/>
        </p:nvCxnSpPr>
        <p:spPr>
          <a:xfrm>
            <a:off x="14351000" y="80010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kt">
            <a:extLst>
              <a:ext uri="{FF2B5EF4-FFF2-40B4-BE49-F238E27FC236}">
                <a16:creationId xmlns:a16="http://schemas.microsoft.com/office/drawing/2014/main" id="{4525F5DA-2884-9711-2908-8089A9CAB1E4}"/>
              </a:ext>
            </a:extLst>
          </p:cNvPr>
          <p:cNvCxnSpPr/>
          <p:nvPr/>
        </p:nvCxnSpPr>
        <p:spPr>
          <a:xfrm>
            <a:off x="14160500" y="81534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kt">
            <a:extLst>
              <a:ext uri="{FF2B5EF4-FFF2-40B4-BE49-F238E27FC236}">
                <a16:creationId xmlns:a16="http://schemas.microsoft.com/office/drawing/2014/main" id="{BAF996A0-7377-1F30-076E-54F5037DA8A3}"/>
              </a:ext>
            </a:extLst>
          </p:cNvPr>
          <p:cNvCxnSpPr/>
          <p:nvPr/>
        </p:nvCxnSpPr>
        <p:spPr>
          <a:xfrm>
            <a:off x="14230350" y="82232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kt">
            <a:extLst>
              <a:ext uri="{FF2B5EF4-FFF2-40B4-BE49-F238E27FC236}">
                <a16:creationId xmlns:a16="http://schemas.microsoft.com/office/drawing/2014/main" id="{79B2F9A2-2C89-1132-DE60-2FD47CEFD320}"/>
              </a:ext>
            </a:extLst>
          </p:cNvPr>
          <p:cNvCxnSpPr/>
          <p:nvPr/>
        </p:nvCxnSpPr>
        <p:spPr>
          <a:xfrm>
            <a:off x="14300200" y="82931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kt">
            <a:extLst>
              <a:ext uri="{FF2B5EF4-FFF2-40B4-BE49-F238E27FC236}">
                <a16:creationId xmlns:a16="http://schemas.microsoft.com/office/drawing/2014/main" id="{5694D321-925C-59D8-F38E-4743BF6572A1}"/>
              </a:ext>
            </a:extLst>
          </p:cNvPr>
          <p:cNvSpPr/>
          <p:nvPr/>
        </p:nvSpPr>
        <p:spPr>
          <a:xfrm>
            <a:off x="14293850" y="7943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kt label">
            <a:extLst>
              <a:ext uri="{FF2B5EF4-FFF2-40B4-BE49-F238E27FC236}">
                <a16:creationId xmlns:a16="http://schemas.microsoft.com/office/drawing/2014/main" id="{667C7081-9D7F-5B1E-C4B1-9403D9B9FCF0}"/>
              </a:ext>
            </a:extLst>
          </p:cNvPr>
          <p:cNvSpPr txBox="1"/>
          <p:nvPr/>
        </p:nvSpPr>
        <p:spPr>
          <a:xfrm>
            <a:off x="11760200" y="6042024"/>
            <a:ext cx="762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Q</a:t>
            </a:r>
            <a:r>
              <a:rPr lang="en-US" sz="1900" baseline="-25000">
                <a:solidFill>
                  <a:srgbClr val="15241D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42" name="ckt label">
            <a:extLst>
              <a:ext uri="{FF2B5EF4-FFF2-40B4-BE49-F238E27FC236}">
                <a16:creationId xmlns:a16="http://schemas.microsoft.com/office/drawing/2014/main" id="{827897B2-030C-232F-E663-D5946DD00BE4}"/>
              </a:ext>
            </a:extLst>
          </p:cNvPr>
          <p:cNvSpPr txBox="1"/>
          <p:nvPr/>
        </p:nvSpPr>
        <p:spPr>
          <a:xfrm>
            <a:off x="16179800" y="6042024"/>
            <a:ext cx="762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Q</a:t>
            </a:r>
            <a:r>
              <a:rPr lang="en-US" sz="1900" baseline="-25000">
                <a:solidFill>
                  <a:srgbClr val="15241D"/>
                </a:solidFill>
                <a:latin typeface="DM Sans" pitchFamily="2" charset="0"/>
              </a:rPr>
              <a:t>2</a:t>
            </a:r>
          </a:p>
        </p:txBody>
      </p:sp>
      <p:sp>
        <p:nvSpPr>
          <p:cNvPr id="43" name="point @1">
            <a:extLst>
              <a:ext uri="{FF2B5EF4-FFF2-40B4-BE49-F238E27FC236}">
                <a16:creationId xmlns:a16="http://schemas.microsoft.com/office/drawing/2014/main" id="{8DA410D0-B93B-6D08-5015-E384D441CB88}"/>
              </a:ext>
            </a:extLst>
          </p:cNvPr>
          <p:cNvSpPr txBox="1"/>
          <p:nvPr/>
        </p:nvSpPr>
        <p:spPr>
          <a:xfrm>
            <a:off x="914400" y="2349500"/>
            <a:ext cx="8128000" cy="734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Q</a:t>
            </a:r>
            <a:r>
              <a:rPr lang="en-US" sz="2300" baseline="-25000">
                <a:solidFill>
                  <a:srgbClr val="15241D"/>
                </a:solidFill>
                <a:latin typeface="DM Sans" pitchFamily="2" charset="0"/>
              </a:rPr>
              <a:t>1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is diode-connected (gate tied to drain), so it is in saturation.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SET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sets its current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REF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, and with it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47" name="chrome page">
            <a:extLst>
              <a:ext uri="{FF2B5EF4-FFF2-40B4-BE49-F238E27FC236}">
                <a16:creationId xmlns:a16="http://schemas.microsoft.com/office/drawing/2014/main" id="{4A6CEB57-1F88-C906-27AB-6127835B0628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hrome page">
            <a:extLst>
              <a:ext uri="{FF2B5EF4-FFF2-40B4-BE49-F238E27FC236}">
                <a16:creationId xmlns:a16="http://schemas.microsoft.com/office/drawing/2014/main" id="{5CD0AE1D-1DA8-1A9E-8BF1-17DB1229046E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7440755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current mirror s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523E491-DF63-37FD-205C-3EF15F595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The current mirror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BF874433-7F0D-A815-588C-895001115AA2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A0885783-F049-69A6-CBB0-68F22E9D393B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0F167E9B-15D5-F32E-BFE0-E2B994BE594C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drawing card">
            <a:extLst>
              <a:ext uri="{FF2B5EF4-FFF2-40B4-BE49-F238E27FC236}">
                <a16:creationId xmlns:a16="http://schemas.microsoft.com/office/drawing/2014/main" id="{ECF2881D-A6D1-8016-1FB6-EB2BCC8EC213}"/>
              </a:ext>
            </a:extLst>
          </p:cNvPr>
          <p:cNvSpPr/>
          <p:nvPr/>
        </p:nvSpPr>
        <p:spPr>
          <a:xfrm>
            <a:off x="10160000" y="2095500"/>
            <a:ext cx="7213600" cy="6858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rawing card">
            <a:extLst>
              <a:ext uri="{FF2B5EF4-FFF2-40B4-BE49-F238E27FC236}">
                <a16:creationId xmlns:a16="http://schemas.microsoft.com/office/drawing/2014/main" id="{21794B33-145A-4B26-B89E-D3B42FBA276D}"/>
              </a:ext>
            </a:extLst>
          </p:cNvPr>
          <p:cNvSpPr/>
          <p:nvPr/>
        </p:nvSpPr>
        <p:spPr>
          <a:xfrm>
            <a:off x="10160000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kt">
            <a:extLst>
              <a:ext uri="{FF2B5EF4-FFF2-40B4-BE49-F238E27FC236}">
                <a16:creationId xmlns:a16="http://schemas.microsoft.com/office/drawing/2014/main" id="{ADD01AE9-7D5F-6C70-69BA-D43D3E1787A6}"/>
              </a:ext>
            </a:extLst>
          </p:cNvPr>
          <p:cNvCxnSpPr/>
          <p:nvPr/>
        </p:nvCxnSpPr>
        <p:spPr>
          <a:xfrm>
            <a:off x="13716000" y="58389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kt">
            <a:extLst>
              <a:ext uri="{FF2B5EF4-FFF2-40B4-BE49-F238E27FC236}">
                <a16:creationId xmlns:a16="http://schemas.microsoft.com/office/drawing/2014/main" id="{5695F140-93B8-8135-0E35-31287D48C540}"/>
              </a:ext>
            </a:extLst>
          </p:cNvPr>
          <p:cNvCxnSpPr/>
          <p:nvPr/>
        </p:nvCxnSpPr>
        <p:spPr>
          <a:xfrm>
            <a:off x="13589000" y="5689600"/>
            <a:ext cx="0" cy="1066800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kt">
            <a:extLst>
              <a:ext uri="{FF2B5EF4-FFF2-40B4-BE49-F238E27FC236}">
                <a16:creationId xmlns:a16="http://schemas.microsoft.com/office/drawing/2014/main" id="{902A0F64-54ED-7EB1-B41E-C4F49F4E29E6}"/>
              </a:ext>
            </a:extLst>
          </p:cNvPr>
          <p:cNvCxnSpPr/>
          <p:nvPr/>
        </p:nvCxnSpPr>
        <p:spPr>
          <a:xfrm flipH="1">
            <a:off x="13157200" y="57912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kt">
            <a:extLst>
              <a:ext uri="{FF2B5EF4-FFF2-40B4-BE49-F238E27FC236}">
                <a16:creationId xmlns:a16="http://schemas.microsoft.com/office/drawing/2014/main" id="{674FD196-0AB5-D309-BBF6-4511A8904015}"/>
              </a:ext>
            </a:extLst>
          </p:cNvPr>
          <p:cNvCxnSpPr/>
          <p:nvPr/>
        </p:nvCxnSpPr>
        <p:spPr>
          <a:xfrm flipH="1">
            <a:off x="13278104" y="66548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kt">
            <a:extLst>
              <a:ext uri="{FF2B5EF4-FFF2-40B4-BE49-F238E27FC236}">
                <a16:creationId xmlns:a16="http://schemas.microsoft.com/office/drawing/2014/main" id="{60D56C1A-2688-2355-7589-B1988D6C8A3F}"/>
              </a:ext>
            </a:extLst>
          </p:cNvPr>
          <p:cNvCxnSpPr/>
          <p:nvPr/>
        </p:nvCxnSpPr>
        <p:spPr>
          <a:xfrm flipH="1">
            <a:off x="13157200" y="6654800"/>
            <a:ext cx="129539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kt">
            <a:extLst>
              <a:ext uri="{FF2B5EF4-FFF2-40B4-BE49-F238E27FC236}">
                <a16:creationId xmlns:a16="http://schemas.microsoft.com/office/drawing/2014/main" id="{682F193D-CFB4-EF98-8BA1-A984825F9C08}"/>
              </a:ext>
            </a:extLst>
          </p:cNvPr>
          <p:cNvCxnSpPr/>
          <p:nvPr/>
        </p:nvCxnSpPr>
        <p:spPr>
          <a:xfrm>
            <a:off x="14986000" y="58389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kt">
            <a:extLst>
              <a:ext uri="{FF2B5EF4-FFF2-40B4-BE49-F238E27FC236}">
                <a16:creationId xmlns:a16="http://schemas.microsoft.com/office/drawing/2014/main" id="{8C4476C3-174B-BA2C-5107-F83E459F3BE7}"/>
              </a:ext>
            </a:extLst>
          </p:cNvPr>
          <p:cNvCxnSpPr/>
          <p:nvPr/>
        </p:nvCxnSpPr>
        <p:spPr>
          <a:xfrm>
            <a:off x="15113000" y="5689600"/>
            <a:ext cx="0" cy="1066800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kt">
            <a:extLst>
              <a:ext uri="{FF2B5EF4-FFF2-40B4-BE49-F238E27FC236}">
                <a16:creationId xmlns:a16="http://schemas.microsoft.com/office/drawing/2014/main" id="{C89B4CDC-C258-20F6-9103-F7616E5FC866}"/>
              </a:ext>
            </a:extLst>
          </p:cNvPr>
          <p:cNvCxnSpPr/>
          <p:nvPr/>
        </p:nvCxnSpPr>
        <p:spPr>
          <a:xfrm>
            <a:off x="15113000" y="57912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B6E4A8F5-3541-3A0B-666C-43C1A69E0108}"/>
              </a:ext>
            </a:extLst>
          </p:cNvPr>
          <p:cNvCxnSpPr/>
          <p:nvPr/>
        </p:nvCxnSpPr>
        <p:spPr>
          <a:xfrm>
            <a:off x="15113000" y="66548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914AD5A7-B257-8ED0-7BFE-44A092B689DA}"/>
              </a:ext>
            </a:extLst>
          </p:cNvPr>
          <p:cNvCxnSpPr/>
          <p:nvPr/>
        </p:nvCxnSpPr>
        <p:spPr>
          <a:xfrm>
            <a:off x="15415261" y="6654800"/>
            <a:ext cx="129539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kt">
            <a:extLst>
              <a:ext uri="{FF2B5EF4-FFF2-40B4-BE49-F238E27FC236}">
                <a16:creationId xmlns:a16="http://schemas.microsoft.com/office/drawing/2014/main" id="{36DBEE8A-A547-FC04-F8A1-608702570C82}"/>
              </a:ext>
            </a:extLst>
          </p:cNvPr>
          <p:cNvCxnSpPr/>
          <p:nvPr/>
        </p:nvCxnSpPr>
        <p:spPr>
          <a:xfrm>
            <a:off x="13716000" y="6223000"/>
            <a:ext cx="1270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kt">
            <a:extLst>
              <a:ext uri="{FF2B5EF4-FFF2-40B4-BE49-F238E27FC236}">
                <a16:creationId xmlns:a16="http://schemas.microsoft.com/office/drawing/2014/main" id="{B5B2A82D-DF13-C569-A7AA-5988D5FB3E72}"/>
              </a:ext>
            </a:extLst>
          </p:cNvPr>
          <p:cNvSpPr/>
          <p:nvPr/>
        </p:nvSpPr>
        <p:spPr>
          <a:xfrm>
            <a:off x="14293850" y="6165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ckt">
            <a:extLst>
              <a:ext uri="{FF2B5EF4-FFF2-40B4-BE49-F238E27FC236}">
                <a16:creationId xmlns:a16="http://schemas.microsoft.com/office/drawing/2014/main" id="{DDD289CB-9435-067E-2021-7991E4F8CB9B}"/>
              </a:ext>
            </a:extLst>
          </p:cNvPr>
          <p:cNvCxnSpPr/>
          <p:nvPr/>
        </p:nvCxnSpPr>
        <p:spPr>
          <a:xfrm flipV="1">
            <a:off x="13157200" y="4826000"/>
            <a:ext cx="0" cy="9652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kt">
            <a:extLst>
              <a:ext uri="{FF2B5EF4-FFF2-40B4-BE49-F238E27FC236}">
                <a16:creationId xmlns:a16="http://schemas.microsoft.com/office/drawing/2014/main" id="{1F86C61E-B8BD-A0D0-FD78-92203FC10300}"/>
              </a:ext>
            </a:extLst>
          </p:cNvPr>
          <p:cNvSpPr/>
          <p:nvPr/>
        </p:nvSpPr>
        <p:spPr>
          <a:xfrm>
            <a:off x="13100050" y="4768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kt">
            <a:extLst>
              <a:ext uri="{FF2B5EF4-FFF2-40B4-BE49-F238E27FC236}">
                <a16:creationId xmlns:a16="http://schemas.microsoft.com/office/drawing/2014/main" id="{6A42F341-5E95-8E4F-A3A0-7A98F5543877}"/>
              </a:ext>
            </a:extLst>
          </p:cNvPr>
          <p:cNvSpPr/>
          <p:nvPr/>
        </p:nvSpPr>
        <p:spPr>
          <a:xfrm>
            <a:off x="13157200" y="4826000"/>
            <a:ext cx="1193801" cy="1397001"/>
          </a:xfrm>
          <a:custGeom>
            <a:avLst/>
            <a:gdLst/>
            <a:ahLst/>
            <a:cxnLst/>
            <a:rect l="0" t="0" r="0" b="0"/>
            <a:pathLst>
              <a:path w="1193801" h="1397001">
                <a:moveTo>
                  <a:pt x="0" y="0"/>
                </a:moveTo>
                <a:lnTo>
                  <a:pt x="1193800" y="0"/>
                </a:lnTo>
                <a:lnTo>
                  <a:pt x="1193800" y="13970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kt">
            <a:extLst>
              <a:ext uri="{FF2B5EF4-FFF2-40B4-BE49-F238E27FC236}">
                <a16:creationId xmlns:a16="http://schemas.microsoft.com/office/drawing/2014/main" id="{4D3A1E2A-D650-AC9C-6D50-D8C9CBF92380}"/>
              </a:ext>
            </a:extLst>
          </p:cNvPr>
          <p:cNvSpPr/>
          <p:nvPr/>
        </p:nvSpPr>
        <p:spPr>
          <a:xfrm>
            <a:off x="13030200" y="3117850"/>
            <a:ext cx="254001" cy="1708151"/>
          </a:xfrm>
          <a:custGeom>
            <a:avLst/>
            <a:gdLst/>
            <a:ahLst/>
            <a:cxnLst/>
            <a:rect l="0" t="0" r="0" b="0"/>
            <a:pathLst>
              <a:path w="254001" h="1708151">
                <a:moveTo>
                  <a:pt x="127000" y="0"/>
                </a:moveTo>
                <a:lnTo>
                  <a:pt x="127000" y="485775"/>
                </a:lnTo>
                <a:lnTo>
                  <a:pt x="0" y="547158"/>
                </a:lnTo>
                <a:lnTo>
                  <a:pt x="254000" y="669925"/>
                </a:lnTo>
                <a:lnTo>
                  <a:pt x="0" y="792692"/>
                </a:lnTo>
                <a:lnTo>
                  <a:pt x="254000" y="915458"/>
                </a:lnTo>
                <a:lnTo>
                  <a:pt x="0" y="1038225"/>
                </a:lnTo>
                <a:lnTo>
                  <a:pt x="254000" y="1160992"/>
                </a:lnTo>
                <a:lnTo>
                  <a:pt x="127000" y="1222375"/>
                </a:lnTo>
                <a:lnTo>
                  <a:pt x="127000" y="170815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kt">
            <a:extLst>
              <a:ext uri="{FF2B5EF4-FFF2-40B4-BE49-F238E27FC236}">
                <a16:creationId xmlns:a16="http://schemas.microsoft.com/office/drawing/2014/main" id="{8FEB5428-9E55-7093-FA46-F2374FD8AFD2}"/>
              </a:ext>
            </a:extLst>
          </p:cNvPr>
          <p:cNvSpPr/>
          <p:nvPr/>
        </p:nvSpPr>
        <p:spPr>
          <a:xfrm>
            <a:off x="13087350" y="2978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kt label">
            <a:extLst>
              <a:ext uri="{FF2B5EF4-FFF2-40B4-BE49-F238E27FC236}">
                <a16:creationId xmlns:a16="http://schemas.microsoft.com/office/drawing/2014/main" id="{E57A8589-DED9-BF81-5207-67028E6DAF9F}"/>
              </a:ext>
            </a:extLst>
          </p:cNvPr>
          <p:cNvSpPr txBox="1"/>
          <p:nvPr/>
        </p:nvSpPr>
        <p:spPr>
          <a:xfrm>
            <a:off x="13335000" y="2867024"/>
            <a:ext cx="2794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DD</a:t>
            </a:r>
          </a:p>
        </p:txBody>
      </p:sp>
      <p:sp>
        <p:nvSpPr>
          <p:cNvPr id="26" name="ckt label">
            <a:extLst>
              <a:ext uri="{FF2B5EF4-FFF2-40B4-BE49-F238E27FC236}">
                <a16:creationId xmlns:a16="http://schemas.microsoft.com/office/drawing/2014/main" id="{DF93A28A-0726-C5D0-E1A8-30EDBE73D7FB}"/>
              </a:ext>
            </a:extLst>
          </p:cNvPr>
          <p:cNvSpPr txBox="1"/>
          <p:nvPr/>
        </p:nvSpPr>
        <p:spPr>
          <a:xfrm>
            <a:off x="11785600" y="3756024"/>
            <a:ext cx="1143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SET</a:t>
            </a:r>
          </a:p>
        </p:txBody>
      </p:sp>
      <p:cxnSp>
        <p:nvCxnSpPr>
          <p:cNvPr id="27" name="ckt">
            <a:extLst>
              <a:ext uri="{FF2B5EF4-FFF2-40B4-BE49-F238E27FC236}">
                <a16:creationId xmlns:a16="http://schemas.microsoft.com/office/drawing/2014/main" id="{AE39F6D5-D3D2-E847-EA80-30E07C45BBFB}"/>
              </a:ext>
            </a:extLst>
          </p:cNvPr>
          <p:cNvCxnSpPr/>
          <p:nvPr/>
        </p:nvCxnSpPr>
        <p:spPr>
          <a:xfrm>
            <a:off x="13411200" y="3937000"/>
            <a:ext cx="0" cy="571500"/>
          </a:xfrm>
          <a:prstGeom prst="line">
            <a:avLst/>
          </a:prstGeom>
          <a:ln w="22225">
            <a:solidFill>
              <a:srgbClr val="1F6F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kt label">
            <a:extLst>
              <a:ext uri="{FF2B5EF4-FFF2-40B4-BE49-F238E27FC236}">
                <a16:creationId xmlns:a16="http://schemas.microsoft.com/office/drawing/2014/main" id="{A8359DB1-2C0D-DFA6-16FE-FD81FB48410F}"/>
              </a:ext>
            </a:extLst>
          </p:cNvPr>
          <p:cNvSpPr txBox="1"/>
          <p:nvPr/>
        </p:nvSpPr>
        <p:spPr>
          <a:xfrm>
            <a:off x="13512800" y="4054474"/>
            <a:ext cx="1143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b="1" i="1">
                <a:solidFill>
                  <a:srgbClr val="1F6FA8"/>
                </a:solidFill>
                <a:latin typeface="DM Sans" pitchFamily="2" charset="0"/>
              </a:rPr>
              <a:t>I</a:t>
            </a:r>
            <a:r>
              <a:rPr lang="en-US" sz="1700" b="1" i="1" baseline="-25000">
                <a:solidFill>
                  <a:srgbClr val="1F6FA8"/>
                </a:solidFill>
                <a:latin typeface="DM Sans" pitchFamily="2" charset="0"/>
              </a:rPr>
              <a:t>REF</a:t>
            </a:r>
          </a:p>
        </p:txBody>
      </p:sp>
      <p:cxnSp>
        <p:nvCxnSpPr>
          <p:cNvPr id="29" name="ckt">
            <a:extLst>
              <a:ext uri="{FF2B5EF4-FFF2-40B4-BE49-F238E27FC236}">
                <a16:creationId xmlns:a16="http://schemas.microsoft.com/office/drawing/2014/main" id="{BADB4A2C-88BD-47C2-006C-2BA8570512B4}"/>
              </a:ext>
            </a:extLst>
          </p:cNvPr>
          <p:cNvCxnSpPr/>
          <p:nvPr/>
        </p:nvCxnSpPr>
        <p:spPr>
          <a:xfrm flipV="1">
            <a:off x="15544800" y="3810000"/>
            <a:ext cx="0" cy="19812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kt">
            <a:extLst>
              <a:ext uri="{FF2B5EF4-FFF2-40B4-BE49-F238E27FC236}">
                <a16:creationId xmlns:a16="http://schemas.microsoft.com/office/drawing/2014/main" id="{8C7F16DC-D720-E472-7145-C2D8C3456928}"/>
              </a:ext>
            </a:extLst>
          </p:cNvPr>
          <p:cNvSpPr/>
          <p:nvPr/>
        </p:nvSpPr>
        <p:spPr>
          <a:xfrm>
            <a:off x="15474950" y="36639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ckt">
            <a:extLst>
              <a:ext uri="{FF2B5EF4-FFF2-40B4-BE49-F238E27FC236}">
                <a16:creationId xmlns:a16="http://schemas.microsoft.com/office/drawing/2014/main" id="{AF7748A7-F9C0-0207-D5A3-2C84088B478C}"/>
              </a:ext>
            </a:extLst>
          </p:cNvPr>
          <p:cNvCxnSpPr/>
          <p:nvPr/>
        </p:nvCxnSpPr>
        <p:spPr>
          <a:xfrm>
            <a:off x="15824200" y="4064000"/>
            <a:ext cx="0" cy="635000"/>
          </a:xfrm>
          <a:prstGeom prst="line">
            <a:avLst/>
          </a:prstGeom>
          <a:ln w="22225">
            <a:solidFill>
              <a:srgbClr val="7A3E9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kt label">
            <a:extLst>
              <a:ext uri="{FF2B5EF4-FFF2-40B4-BE49-F238E27FC236}">
                <a16:creationId xmlns:a16="http://schemas.microsoft.com/office/drawing/2014/main" id="{A3C9644F-4E48-3FD1-BEFA-18937CF1CB02}"/>
              </a:ext>
            </a:extLst>
          </p:cNvPr>
          <p:cNvSpPr txBox="1"/>
          <p:nvPr/>
        </p:nvSpPr>
        <p:spPr>
          <a:xfrm>
            <a:off x="15925800" y="4219574"/>
            <a:ext cx="762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b="1" i="1">
                <a:solidFill>
                  <a:srgbClr val="7A3E9D"/>
                </a:solidFill>
                <a:latin typeface="DM Sans" pitchFamily="2" charset="0"/>
              </a:rPr>
              <a:t>I</a:t>
            </a:r>
            <a:r>
              <a:rPr lang="en-US" sz="1700" b="1" i="1" baseline="-25000">
                <a:solidFill>
                  <a:srgbClr val="7A3E9D"/>
                </a:solidFill>
                <a:latin typeface="DM Sans" pitchFamily="2" charset="0"/>
              </a:rPr>
              <a:t>O</a:t>
            </a:r>
          </a:p>
        </p:txBody>
      </p:sp>
      <p:cxnSp>
        <p:nvCxnSpPr>
          <p:cNvPr id="33" name="ckt">
            <a:extLst>
              <a:ext uri="{FF2B5EF4-FFF2-40B4-BE49-F238E27FC236}">
                <a16:creationId xmlns:a16="http://schemas.microsoft.com/office/drawing/2014/main" id="{56C271DB-FC9B-FA86-211B-87D009192D25}"/>
              </a:ext>
            </a:extLst>
          </p:cNvPr>
          <p:cNvCxnSpPr/>
          <p:nvPr/>
        </p:nvCxnSpPr>
        <p:spPr>
          <a:xfrm>
            <a:off x="13157200" y="6654800"/>
            <a:ext cx="0" cy="13462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kt">
            <a:extLst>
              <a:ext uri="{FF2B5EF4-FFF2-40B4-BE49-F238E27FC236}">
                <a16:creationId xmlns:a16="http://schemas.microsoft.com/office/drawing/2014/main" id="{36501D6E-0C79-59F8-3BB4-328EDC63417C}"/>
              </a:ext>
            </a:extLst>
          </p:cNvPr>
          <p:cNvCxnSpPr/>
          <p:nvPr/>
        </p:nvCxnSpPr>
        <p:spPr>
          <a:xfrm>
            <a:off x="15544800" y="6654800"/>
            <a:ext cx="0" cy="13462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kt">
            <a:extLst>
              <a:ext uri="{FF2B5EF4-FFF2-40B4-BE49-F238E27FC236}">
                <a16:creationId xmlns:a16="http://schemas.microsoft.com/office/drawing/2014/main" id="{559E77F4-5418-014A-4218-B4FFDA85624C}"/>
              </a:ext>
            </a:extLst>
          </p:cNvPr>
          <p:cNvCxnSpPr/>
          <p:nvPr/>
        </p:nvCxnSpPr>
        <p:spPr>
          <a:xfrm>
            <a:off x="13157200" y="8001000"/>
            <a:ext cx="2387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kt">
            <a:extLst>
              <a:ext uri="{FF2B5EF4-FFF2-40B4-BE49-F238E27FC236}">
                <a16:creationId xmlns:a16="http://schemas.microsoft.com/office/drawing/2014/main" id="{36040D98-FEFB-4D9A-FE3C-69220164A054}"/>
              </a:ext>
            </a:extLst>
          </p:cNvPr>
          <p:cNvCxnSpPr/>
          <p:nvPr/>
        </p:nvCxnSpPr>
        <p:spPr>
          <a:xfrm>
            <a:off x="14351000" y="80010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kt">
            <a:extLst>
              <a:ext uri="{FF2B5EF4-FFF2-40B4-BE49-F238E27FC236}">
                <a16:creationId xmlns:a16="http://schemas.microsoft.com/office/drawing/2014/main" id="{4525F5DA-2884-9711-2908-8089A9CAB1E4}"/>
              </a:ext>
            </a:extLst>
          </p:cNvPr>
          <p:cNvCxnSpPr/>
          <p:nvPr/>
        </p:nvCxnSpPr>
        <p:spPr>
          <a:xfrm>
            <a:off x="14160500" y="81534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kt">
            <a:extLst>
              <a:ext uri="{FF2B5EF4-FFF2-40B4-BE49-F238E27FC236}">
                <a16:creationId xmlns:a16="http://schemas.microsoft.com/office/drawing/2014/main" id="{BAF996A0-7377-1F30-076E-54F5037DA8A3}"/>
              </a:ext>
            </a:extLst>
          </p:cNvPr>
          <p:cNvCxnSpPr/>
          <p:nvPr/>
        </p:nvCxnSpPr>
        <p:spPr>
          <a:xfrm>
            <a:off x="14230350" y="82232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kt">
            <a:extLst>
              <a:ext uri="{FF2B5EF4-FFF2-40B4-BE49-F238E27FC236}">
                <a16:creationId xmlns:a16="http://schemas.microsoft.com/office/drawing/2014/main" id="{79B2F9A2-2C89-1132-DE60-2FD47CEFD320}"/>
              </a:ext>
            </a:extLst>
          </p:cNvPr>
          <p:cNvCxnSpPr/>
          <p:nvPr/>
        </p:nvCxnSpPr>
        <p:spPr>
          <a:xfrm>
            <a:off x="14300200" y="82931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kt">
            <a:extLst>
              <a:ext uri="{FF2B5EF4-FFF2-40B4-BE49-F238E27FC236}">
                <a16:creationId xmlns:a16="http://schemas.microsoft.com/office/drawing/2014/main" id="{5694D321-925C-59D8-F38E-4743BF6572A1}"/>
              </a:ext>
            </a:extLst>
          </p:cNvPr>
          <p:cNvSpPr/>
          <p:nvPr/>
        </p:nvSpPr>
        <p:spPr>
          <a:xfrm>
            <a:off x="14293850" y="7943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kt label">
            <a:extLst>
              <a:ext uri="{FF2B5EF4-FFF2-40B4-BE49-F238E27FC236}">
                <a16:creationId xmlns:a16="http://schemas.microsoft.com/office/drawing/2014/main" id="{667C7081-9D7F-5B1E-C4B1-9403D9B9FCF0}"/>
              </a:ext>
            </a:extLst>
          </p:cNvPr>
          <p:cNvSpPr txBox="1"/>
          <p:nvPr/>
        </p:nvSpPr>
        <p:spPr>
          <a:xfrm>
            <a:off x="11760200" y="6042024"/>
            <a:ext cx="762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Q</a:t>
            </a:r>
            <a:r>
              <a:rPr lang="en-US" sz="1900" baseline="-25000">
                <a:solidFill>
                  <a:srgbClr val="15241D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42" name="ckt label">
            <a:extLst>
              <a:ext uri="{FF2B5EF4-FFF2-40B4-BE49-F238E27FC236}">
                <a16:creationId xmlns:a16="http://schemas.microsoft.com/office/drawing/2014/main" id="{827897B2-030C-232F-E663-D5946DD00BE4}"/>
              </a:ext>
            </a:extLst>
          </p:cNvPr>
          <p:cNvSpPr txBox="1"/>
          <p:nvPr/>
        </p:nvSpPr>
        <p:spPr>
          <a:xfrm>
            <a:off x="16179800" y="6042024"/>
            <a:ext cx="762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Q</a:t>
            </a:r>
            <a:r>
              <a:rPr lang="en-US" sz="1900" baseline="-25000">
                <a:solidFill>
                  <a:srgbClr val="15241D"/>
                </a:solidFill>
                <a:latin typeface="DM Sans" pitchFamily="2" charset="0"/>
              </a:rPr>
              <a:t>2</a:t>
            </a:r>
          </a:p>
        </p:txBody>
      </p:sp>
      <p:sp>
        <p:nvSpPr>
          <p:cNvPr id="43" name="point @1">
            <a:extLst>
              <a:ext uri="{FF2B5EF4-FFF2-40B4-BE49-F238E27FC236}">
                <a16:creationId xmlns:a16="http://schemas.microsoft.com/office/drawing/2014/main" id="{8DA410D0-B93B-6D08-5015-E384D441CB88}"/>
              </a:ext>
            </a:extLst>
          </p:cNvPr>
          <p:cNvSpPr txBox="1"/>
          <p:nvPr/>
        </p:nvSpPr>
        <p:spPr>
          <a:xfrm>
            <a:off x="914400" y="2349500"/>
            <a:ext cx="8128000" cy="734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Q</a:t>
            </a:r>
            <a:r>
              <a:rPr lang="en-US" sz="2300" baseline="-25000">
                <a:solidFill>
                  <a:srgbClr val="15241D"/>
                </a:solidFill>
                <a:latin typeface="DM Sans" pitchFamily="2" charset="0"/>
              </a:rPr>
              <a:t>1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is diode-connected (gate tied to drain), so it is in saturation.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SET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sets its current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REF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, and with it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44" name="point @2">
            <a:extLst>
              <a:ext uri="{FF2B5EF4-FFF2-40B4-BE49-F238E27FC236}">
                <a16:creationId xmlns:a16="http://schemas.microsoft.com/office/drawing/2014/main" id="{BD8443C5-8868-5A10-4889-DF0D82E2EABD}"/>
              </a:ext>
            </a:extLst>
          </p:cNvPr>
          <p:cNvSpPr txBox="1"/>
          <p:nvPr/>
        </p:nvSpPr>
        <p:spPr>
          <a:xfrm>
            <a:off x="914400" y="3363525"/>
            <a:ext cx="8128000" cy="734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Q</a:t>
            </a:r>
            <a:r>
              <a:rPr lang="en-US" sz="2300" baseline="-25000">
                <a:solidFill>
                  <a:srgbClr val="15241D"/>
                </a:solidFill>
                <a:latin typeface="DM Sans" pitchFamily="2" charset="0"/>
              </a:rPr>
              <a:t>2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has the same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. If it is also in saturation, its current scales with W/L: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eq @2">
                <a:extLst>
                  <a:ext uri="{FF2B5EF4-FFF2-40B4-BE49-F238E27FC236}">
                    <a16:creationId xmlns:a16="http://schemas.microsoft.com/office/drawing/2014/main" id="{78ECBD6E-4AEF-7C01-B2AC-731967C14A84}"/>
                  </a:ext>
                </a:extLst>
              </p:cNvPr>
              <p:cNvSpPr txBox="1"/>
              <p:nvPr/>
            </p:nvSpPr>
            <p:spPr>
              <a:xfrm>
                <a:off x="1244600" y="4377549"/>
                <a:ext cx="8128000" cy="876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US" sz="3000" b="0" i="1">
                              <a:solidFill>
                                <a:srgbClr val="15241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𝑂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𝑅𝐸𝐹</m:t>
                              </m:r>
                            </m:sub>
                          </m:sSub>
                        </m:den>
                      </m:f>
                      <m:r>
                        <a:rPr lang="en-US" sz="30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3000" b="0" i="1">
                              <a:solidFill>
                                <a:srgbClr val="15241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000" b="0" i="1">
                                  <a:solidFill>
                                    <a:srgbClr val="15241D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𝑊</m:t>
                                  </m:r>
                                  <m: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𝐿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000" b="0" i="1">
                                  <a:solidFill>
                                    <a:srgbClr val="15241D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𝑊</m:t>
                                  </m:r>
                                  <m: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𝐿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5" name="eq @2">
                <a:extLst>
                  <a:ext uri="{FF2B5EF4-FFF2-40B4-BE49-F238E27FC236}">
                    <a16:creationId xmlns:a16="http://schemas.microsoft.com/office/drawing/2014/main" id="{78ECBD6E-4AEF-7C01-B2AC-731967C14A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600" y="4377549"/>
                <a:ext cx="8128000" cy="876300"/>
              </a:xfrm>
              <a:prstGeom prst="rect">
                <a:avLst/>
              </a:prstGeom>
              <a:blipFill>
                <a:blip r:embed="rId2"/>
                <a:stretch>
                  <a:fillRect t="-694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chrome page">
            <a:extLst>
              <a:ext uri="{FF2B5EF4-FFF2-40B4-BE49-F238E27FC236}">
                <a16:creationId xmlns:a16="http://schemas.microsoft.com/office/drawing/2014/main" id="{052F3FE9-1430-7092-CB23-F14117CA1B08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hrome page">
            <a:extLst>
              <a:ext uri="{FF2B5EF4-FFF2-40B4-BE49-F238E27FC236}">
                <a16:creationId xmlns:a16="http://schemas.microsoft.com/office/drawing/2014/main" id="{3D8595F8-B1E5-2719-91C5-FF66DCE2B4D4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40355387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current mirror s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523E491-DF63-37FD-205C-3EF15F595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The current mirror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BF874433-7F0D-A815-588C-895001115AA2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3 · MOSFETS IN DC CIRCUITS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A0885783-F049-69A6-CBB0-68F22E9D393B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0F167E9B-15D5-F32E-BFE0-E2B994BE594C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drawing card">
            <a:extLst>
              <a:ext uri="{FF2B5EF4-FFF2-40B4-BE49-F238E27FC236}">
                <a16:creationId xmlns:a16="http://schemas.microsoft.com/office/drawing/2014/main" id="{ECF2881D-A6D1-8016-1FB6-EB2BCC8EC213}"/>
              </a:ext>
            </a:extLst>
          </p:cNvPr>
          <p:cNvSpPr/>
          <p:nvPr/>
        </p:nvSpPr>
        <p:spPr>
          <a:xfrm>
            <a:off x="10160000" y="2095500"/>
            <a:ext cx="7213600" cy="6858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rawing card">
            <a:extLst>
              <a:ext uri="{FF2B5EF4-FFF2-40B4-BE49-F238E27FC236}">
                <a16:creationId xmlns:a16="http://schemas.microsoft.com/office/drawing/2014/main" id="{21794B33-145A-4B26-B89E-D3B42FBA276D}"/>
              </a:ext>
            </a:extLst>
          </p:cNvPr>
          <p:cNvSpPr/>
          <p:nvPr/>
        </p:nvSpPr>
        <p:spPr>
          <a:xfrm>
            <a:off x="10160000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kt">
            <a:extLst>
              <a:ext uri="{FF2B5EF4-FFF2-40B4-BE49-F238E27FC236}">
                <a16:creationId xmlns:a16="http://schemas.microsoft.com/office/drawing/2014/main" id="{ADD01AE9-7D5F-6C70-69BA-D43D3E1787A6}"/>
              </a:ext>
            </a:extLst>
          </p:cNvPr>
          <p:cNvCxnSpPr/>
          <p:nvPr/>
        </p:nvCxnSpPr>
        <p:spPr>
          <a:xfrm>
            <a:off x="13716000" y="58389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kt">
            <a:extLst>
              <a:ext uri="{FF2B5EF4-FFF2-40B4-BE49-F238E27FC236}">
                <a16:creationId xmlns:a16="http://schemas.microsoft.com/office/drawing/2014/main" id="{5695F140-93B8-8135-0E35-31287D48C540}"/>
              </a:ext>
            </a:extLst>
          </p:cNvPr>
          <p:cNvCxnSpPr/>
          <p:nvPr/>
        </p:nvCxnSpPr>
        <p:spPr>
          <a:xfrm>
            <a:off x="13589000" y="5689600"/>
            <a:ext cx="0" cy="1066800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kt">
            <a:extLst>
              <a:ext uri="{FF2B5EF4-FFF2-40B4-BE49-F238E27FC236}">
                <a16:creationId xmlns:a16="http://schemas.microsoft.com/office/drawing/2014/main" id="{902A0F64-54ED-7EB1-B41E-C4F49F4E29E6}"/>
              </a:ext>
            </a:extLst>
          </p:cNvPr>
          <p:cNvCxnSpPr/>
          <p:nvPr/>
        </p:nvCxnSpPr>
        <p:spPr>
          <a:xfrm flipH="1">
            <a:off x="13157200" y="57912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kt">
            <a:extLst>
              <a:ext uri="{FF2B5EF4-FFF2-40B4-BE49-F238E27FC236}">
                <a16:creationId xmlns:a16="http://schemas.microsoft.com/office/drawing/2014/main" id="{674FD196-0AB5-D309-BBF6-4511A8904015}"/>
              </a:ext>
            </a:extLst>
          </p:cNvPr>
          <p:cNvCxnSpPr/>
          <p:nvPr/>
        </p:nvCxnSpPr>
        <p:spPr>
          <a:xfrm flipH="1">
            <a:off x="13278104" y="66548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kt">
            <a:extLst>
              <a:ext uri="{FF2B5EF4-FFF2-40B4-BE49-F238E27FC236}">
                <a16:creationId xmlns:a16="http://schemas.microsoft.com/office/drawing/2014/main" id="{60D56C1A-2688-2355-7589-B1988D6C8A3F}"/>
              </a:ext>
            </a:extLst>
          </p:cNvPr>
          <p:cNvCxnSpPr/>
          <p:nvPr/>
        </p:nvCxnSpPr>
        <p:spPr>
          <a:xfrm flipH="1">
            <a:off x="13157200" y="6654800"/>
            <a:ext cx="129539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kt">
            <a:extLst>
              <a:ext uri="{FF2B5EF4-FFF2-40B4-BE49-F238E27FC236}">
                <a16:creationId xmlns:a16="http://schemas.microsoft.com/office/drawing/2014/main" id="{682F193D-CFB4-EF98-8BA1-A984825F9C08}"/>
              </a:ext>
            </a:extLst>
          </p:cNvPr>
          <p:cNvCxnSpPr/>
          <p:nvPr/>
        </p:nvCxnSpPr>
        <p:spPr>
          <a:xfrm>
            <a:off x="14986000" y="58389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kt">
            <a:extLst>
              <a:ext uri="{FF2B5EF4-FFF2-40B4-BE49-F238E27FC236}">
                <a16:creationId xmlns:a16="http://schemas.microsoft.com/office/drawing/2014/main" id="{8C4476C3-174B-BA2C-5107-F83E459F3BE7}"/>
              </a:ext>
            </a:extLst>
          </p:cNvPr>
          <p:cNvCxnSpPr/>
          <p:nvPr/>
        </p:nvCxnSpPr>
        <p:spPr>
          <a:xfrm>
            <a:off x="15113000" y="5689600"/>
            <a:ext cx="0" cy="1066800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kt">
            <a:extLst>
              <a:ext uri="{FF2B5EF4-FFF2-40B4-BE49-F238E27FC236}">
                <a16:creationId xmlns:a16="http://schemas.microsoft.com/office/drawing/2014/main" id="{C89B4CDC-C258-20F6-9103-F7616E5FC866}"/>
              </a:ext>
            </a:extLst>
          </p:cNvPr>
          <p:cNvCxnSpPr/>
          <p:nvPr/>
        </p:nvCxnSpPr>
        <p:spPr>
          <a:xfrm>
            <a:off x="15113000" y="57912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kt">
            <a:extLst>
              <a:ext uri="{FF2B5EF4-FFF2-40B4-BE49-F238E27FC236}">
                <a16:creationId xmlns:a16="http://schemas.microsoft.com/office/drawing/2014/main" id="{B6E4A8F5-3541-3A0B-666C-43C1A69E0108}"/>
              </a:ext>
            </a:extLst>
          </p:cNvPr>
          <p:cNvCxnSpPr/>
          <p:nvPr/>
        </p:nvCxnSpPr>
        <p:spPr>
          <a:xfrm>
            <a:off x="15113000" y="66548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kt">
            <a:extLst>
              <a:ext uri="{FF2B5EF4-FFF2-40B4-BE49-F238E27FC236}">
                <a16:creationId xmlns:a16="http://schemas.microsoft.com/office/drawing/2014/main" id="{914AD5A7-B257-8ED0-7BFE-44A092B689DA}"/>
              </a:ext>
            </a:extLst>
          </p:cNvPr>
          <p:cNvCxnSpPr/>
          <p:nvPr/>
        </p:nvCxnSpPr>
        <p:spPr>
          <a:xfrm>
            <a:off x="15415261" y="6654800"/>
            <a:ext cx="129539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kt">
            <a:extLst>
              <a:ext uri="{FF2B5EF4-FFF2-40B4-BE49-F238E27FC236}">
                <a16:creationId xmlns:a16="http://schemas.microsoft.com/office/drawing/2014/main" id="{36DBEE8A-A547-FC04-F8A1-608702570C82}"/>
              </a:ext>
            </a:extLst>
          </p:cNvPr>
          <p:cNvCxnSpPr/>
          <p:nvPr/>
        </p:nvCxnSpPr>
        <p:spPr>
          <a:xfrm>
            <a:off x="13716000" y="6223000"/>
            <a:ext cx="1270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kt">
            <a:extLst>
              <a:ext uri="{FF2B5EF4-FFF2-40B4-BE49-F238E27FC236}">
                <a16:creationId xmlns:a16="http://schemas.microsoft.com/office/drawing/2014/main" id="{B5B2A82D-DF13-C569-A7AA-5988D5FB3E72}"/>
              </a:ext>
            </a:extLst>
          </p:cNvPr>
          <p:cNvSpPr/>
          <p:nvPr/>
        </p:nvSpPr>
        <p:spPr>
          <a:xfrm>
            <a:off x="14293850" y="6165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ckt">
            <a:extLst>
              <a:ext uri="{FF2B5EF4-FFF2-40B4-BE49-F238E27FC236}">
                <a16:creationId xmlns:a16="http://schemas.microsoft.com/office/drawing/2014/main" id="{DDD289CB-9435-067E-2021-7991E4F8CB9B}"/>
              </a:ext>
            </a:extLst>
          </p:cNvPr>
          <p:cNvCxnSpPr/>
          <p:nvPr/>
        </p:nvCxnSpPr>
        <p:spPr>
          <a:xfrm flipV="1">
            <a:off x="13157200" y="4826000"/>
            <a:ext cx="0" cy="9652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kt">
            <a:extLst>
              <a:ext uri="{FF2B5EF4-FFF2-40B4-BE49-F238E27FC236}">
                <a16:creationId xmlns:a16="http://schemas.microsoft.com/office/drawing/2014/main" id="{1F86C61E-B8BD-A0D0-FD78-92203FC10300}"/>
              </a:ext>
            </a:extLst>
          </p:cNvPr>
          <p:cNvSpPr/>
          <p:nvPr/>
        </p:nvSpPr>
        <p:spPr>
          <a:xfrm>
            <a:off x="13100050" y="4768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kt">
            <a:extLst>
              <a:ext uri="{FF2B5EF4-FFF2-40B4-BE49-F238E27FC236}">
                <a16:creationId xmlns:a16="http://schemas.microsoft.com/office/drawing/2014/main" id="{6A42F341-5E95-8E4F-A3A0-7A98F5543877}"/>
              </a:ext>
            </a:extLst>
          </p:cNvPr>
          <p:cNvSpPr/>
          <p:nvPr/>
        </p:nvSpPr>
        <p:spPr>
          <a:xfrm>
            <a:off x="13157200" y="4826000"/>
            <a:ext cx="1193801" cy="1397001"/>
          </a:xfrm>
          <a:custGeom>
            <a:avLst/>
            <a:gdLst/>
            <a:ahLst/>
            <a:cxnLst/>
            <a:rect l="0" t="0" r="0" b="0"/>
            <a:pathLst>
              <a:path w="1193801" h="1397001">
                <a:moveTo>
                  <a:pt x="0" y="0"/>
                </a:moveTo>
                <a:lnTo>
                  <a:pt x="1193800" y="0"/>
                </a:lnTo>
                <a:lnTo>
                  <a:pt x="1193800" y="13970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kt">
            <a:extLst>
              <a:ext uri="{FF2B5EF4-FFF2-40B4-BE49-F238E27FC236}">
                <a16:creationId xmlns:a16="http://schemas.microsoft.com/office/drawing/2014/main" id="{4D3A1E2A-D650-AC9C-6D50-D8C9CBF92380}"/>
              </a:ext>
            </a:extLst>
          </p:cNvPr>
          <p:cNvSpPr/>
          <p:nvPr/>
        </p:nvSpPr>
        <p:spPr>
          <a:xfrm>
            <a:off x="13030200" y="3117850"/>
            <a:ext cx="254001" cy="1708151"/>
          </a:xfrm>
          <a:custGeom>
            <a:avLst/>
            <a:gdLst/>
            <a:ahLst/>
            <a:cxnLst/>
            <a:rect l="0" t="0" r="0" b="0"/>
            <a:pathLst>
              <a:path w="254001" h="1708151">
                <a:moveTo>
                  <a:pt x="127000" y="0"/>
                </a:moveTo>
                <a:lnTo>
                  <a:pt x="127000" y="485775"/>
                </a:lnTo>
                <a:lnTo>
                  <a:pt x="0" y="547158"/>
                </a:lnTo>
                <a:lnTo>
                  <a:pt x="254000" y="669925"/>
                </a:lnTo>
                <a:lnTo>
                  <a:pt x="0" y="792692"/>
                </a:lnTo>
                <a:lnTo>
                  <a:pt x="254000" y="915458"/>
                </a:lnTo>
                <a:lnTo>
                  <a:pt x="0" y="1038225"/>
                </a:lnTo>
                <a:lnTo>
                  <a:pt x="254000" y="1160992"/>
                </a:lnTo>
                <a:lnTo>
                  <a:pt x="127000" y="1222375"/>
                </a:lnTo>
                <a:lnTo>
                  <a:pt x="127000" y="170815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kt">
            <a:extLst>
              <a:ext uri="{FF2B5EF4-FFF2-40B4-BE49-F238E27FC236}">
                <a16:creationId xmlns:a16="http://schemas.microsoft.com/office/drawing/2014/main" id="{8FEB5428-9E55-7093-FA46-F2374FD8AFD2}"/>
              </a:ext>
            </a:extLst>
          </p:cNvPr>
          <p:cNvSpPr/>
          <p:nvPr/>
        </p:nvSpPr>
        <p:spPr>
          <a:xfrm>
            <a:off x="13087350" y="2978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kt label">
            <a:extLst>
              <a:ext uri="{FF2B5EF4-FFF2-40B4-BE49-F238E27FC236}">
                <a16:creationId xmlns:a16="http://schemas.microsoft.com/office/drawing/2014/main" id="{E57A8589-DED9-BF81-5207-67028E6DAF9F}"/>
              </a:ext>
            </a:extLst>
          </p:cNvPr>
          <p:cNvSpPr txBox="1"/>
          <p:nvPr/>
        </p:nvSpPr>
        <p:spPr>
          <a:xfrm>
            <a:off x="13335000" y="2867024"/>
            <a:ext cx="2794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DD</a:t>
            </a:r>
          </a:p>
        </p:txBody>
      </p:sp>
      <p:sp>
        <p:nvSpPr>
          <p:cNvPr id="26" name="ckt label">
            <a:extLst>
              <a:ext uri="{FF2B5EF4-FFF2-40B4-BE49-F238E27FC236}">
                <a16:creationId xmlns:a16="http://schemas.microsoft.com/office/drawing/2014/main" id="{DF93A28A-0726-C5D0-E1A8-30EDBE73D7FB}"/>
              </a:ext>
            </a:extLst>
          </p:cNvPr>
          <p:cNvSpPr txBox="1"/>
          <p:nvPr/>
        </p:nvSpPr>
        <p:spPr>
          <a:xfrm>
            <a:off x="11785600" y="3756024"/>
            <a:ext cx="1143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SET</a:t>
            </a:r>
          </a:p>
        </p:txBody>
      </p:sp>
      <p:cxnSp>
        <p:nvCxnSpPr>
          <p:cNvPr id="27" name="ckt">
            <a:extLst>
              <a:ext uri="{FF2B5EF4-FFF2-40B4-BE49-F238E27FC236}">
                <a16:creationId xmlns:a16="http://schemas.microsoft.com/office/drawing/2014/main" id="{AE39F6D5-D3D2-E847-EA80-30E07C45BBFB}"/>
              </a:ext>
            </a:extLst>
          </p:cNvPr>
          <p:cNvCxnSpPr/>
          <p:nvPr/>
        </p:nvCxnSpPr>
        <p:spPr>
          <a:xfrm>
            <a:off x="13411200" y="3937000"/>
            <a:ext cx="0" cy="571500"/>
          </a:xfrm>
          <a:prstGeom prst="line">
            <a:avLst/>
          </a:prstGeom>
          <a:ln w="22225">
            <a:solidFill>
              <a:srgbClr val="1F6FA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kt label">
            <a:extLst>
              <a:ext uri="{FF2B5EF4-FFF2-40B4-BE49-F238E27FC236}">
                <a16:creationId xmlns:a16="http://schemas.microsoft.com/office/drawing/2014/main" id="{A8359DB1-2C0D-DFA6-16FE-FD81FB48410F}"/>
              </a:ext>
            </a:extLst>
          </p:cNvPr>
          <p:cNvSpPr txBox="1"/>
          <p:nvPr/>
        </p:nvSpPr>
        <p:spPr>
          <a:xfrm>
            <a:off x="13512800" y="4054474"/>
            <a:ext cx="1143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b="1" i="1">
                <a:solidFill>
                  <a:srgbClr val="1F6FA8"/>
                </a:solidFill>
                <a:latin typeface="DM Sans" pitchFamily="2" charset="0"/>
              </a:rPr>
              <a:t>I</a:t>
            </a:r>
            <a:r>
              <a:rPr lang="en-US" sz="1700" b="1" i="1" baseline="-25000">
                <a:solidFill>
                  <a:srgbClr val="1F6FA8"/>
                </a:solidFill>
                <a:latin typeface="DM Sans" pitchFamily="2" charset="0"/>
              </a:rPr>
              <a:t>REF</a:t>
            </a:r>
          </a:p>
        </p:txBody>
      </p:sp>
      <p:cxnSp>
        <p:nvCxnSpPr>
          <p:cNvPr id="29" name="ckt">
            <a:extLst>
              <a:ext uri="{FF2B5EF4-FFF2-40B4-BE49-F238E27FC236}">
                <a16:creationId xmlns:a16="http://schemas.microsoft.com/office/drawing/2014/main" id="{BADB4A2C-88BD-47C2-006C-2BA8570512B4}"/>
              </a:ext>
            </a:extLst>
          </p:cNvPr>
          <p:cNvCxnSpPr/>
          <p:nvPr/>
        </p:nvCxnSpPr>
        <p:spPr>
          <a:xfrm flipV="1">
            <a:off x="15544800" y="3810000"/>
            <a:ext cx="0" cy="19812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kt">
            <a:extLst>
              <a:ext uri="{FF2B5EF4-FFF2-40B4-BE49-F238E27FC236}">
                <a16:creationId xmlns:a16="http://schemas.microsoft.com/office/drawing/2014/main" id="{8C7F16DC-D720-E472-7145-C2D8C3456928}"/>
              </a:ext>
            </a:extLst>
          </p:cNvPr>
          <p:cNvSpPr/>
          <p:nvPr/>
        </p:nvSpPr>
        <p:spPr>
          <a:xfrm>
            <a:off x="15474950" y="36639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ckt">
            <a:extLst>
              <a:ext uri="{FF2B5EF4-FFF2-40B4-BE49-F238E27FC236}">
                <a16:creationId xmlns:a16="http://schemas.microsoft.com/office/drawing/2014/main" id="{AF7748A7-F9C0-0207-D5A3-2C84088B478C}"/>
              </a:ext>
            </a:extLst>
          </p:cNvPr>
          <p:cNvCxnSpPr/>
          <p:nvPr/>
        </p:nvCxnSpPr>
        <p:spPr>
          <a:xfrm>
            <a:off x="15824200" y="4064000"/>
            <a:ext cx="0" cy="635000"/>
          </a:xfrm>
          <a:prstGeom prst="line">
            <a:avLst/>
          </a:prstGeom>
          <a:ln w="22225">
            <a:solidFill>
              <a:srgbClr val="7A3E9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kt label">
            <a:extLst>
              <a:ext uri="{FF2B5EF4-FFF2-40B4-BE49-F238E27FC236}">
                <a16:creationId xmlns:a16="http://schemas.microsoft.com/office/drawing/2014/main" id="{A3C9644F-4E48-3FD1-BEFA-18937CF1CB02}"/>
              </a:ext>
            </a:extLst>
          </p:cNvPr>
          <p:cNvSpPr txBox="1"/>
          <p:nvPr/>
        </p:nvSpPr>
        <p:spPr>
          <a:xfrm>
            <a:off x="15925800" y="4219574"/>
            <a:ext cx="762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b="1" i="1">
                <a:solidFill>
                  <a:srgbClr val="7A3E9D"/>
                </a:solidFill>
                <a:latin typeface="DM Sans" pitchFamily="2" charset="0"/>
              </a:rPr>
              <a:t>I</a:t>
            </a:r>
            <a:r>
              <a:rPr lang="en-US" sz="1700" b="1" i="1" baseline="-25000">
                <a:solidFill>
                  <a:srgbClr val="7A3E9D"/>
                </a:solidFill>
                <a:latin typeface="DM Sans" pitchFamily="2" charset="0"/>
              </a:rPr>
              <a:t>O</a:t>
            </a:r>
          </a:p>
        </p:txBody>
      </p:sp>
      <p:cxnSp>
        <p:nvCxnSpPr>
          <p:cNvPr id="33" name="ckt">
            <a:extLst>
              <a:ext uri="{FF2B5EF4-FFF2-40B4-BE49-F238E27FC236}">
                <a16:creationId xmlns:a16="http://schemas.microsoft.com/office/drawing/2014/main" id="{56C271DB-FC9B-FA86-211B-87D009192D25}"/>
              </a:ext>
            </a:extLst>
          </p:cNvPr>
          <p:cNvCxnSpPr/>
          <p:nvPr/>
        </p:nvCxnSpPr>
        <p:spPr>
          <a:xfrm>
            <a:off x="13157200" y="6654800"/>
            <a:ext cx="0" cy="13462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kt">
            <a:extLst>
              <a:ext uri="{FF2B5EF4-FFF2-40B4-BE49-F238E27FC236}">
                <a16:creationId xmlns:a16="http://schemas.microsoft.com/office/drawing/2014/main" id="{36501D6E-0C79-59F8-3BB4-328EDC63417C}"/>
              </a:ext>
            </a:extLst>
          </p:cNvPr>
          <p:cNvCxnSpPr/>
          <p:nvPr/>
        </p:nvCxnSpPr>
        <p:spPr>
          <a:xfrm>
            <a:off x="15544800" y="6654800"/>
            <a:ext cx="0" cy="13462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kt">
            <a:extLst>
              <a:ext uri="{FF2B5EF4-FFF2-40B4-BE49-F238E27FC236}">
                <a16:creationId xmlns:a16="http://schemas.microsoft.com/office/drawing/2014/main" id="{559E77F4-5418-014A-4218-B4FFDA85624C}"/>
              </a:ext>
            </a:extLst>
          </p:cNvPr>
          <p:cNvCxnSpPr/>
          <p:nvPr/>
        </p:nvCxnSpPr>
        <p:spPr>
          <a:xfrm>
            <a:off x="13157200" y="8001000"/>
            <a:ext cx="2387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kt">
            <a:extLst>
              <a:ext uri="{FF2B5EF4-FFF2-40B4-BE49-F238E27FC236}">
                <a16:creationId xmlns:a16="http://schemas.microsoft.com/office/drawing/2014/main" id="{36040D98-FEFB-4D9A-FE3C-69220164A054}"/>
              </a:ext>
            </a:extLst>
          </p:cNvPr>
          <p:cNvCxnSpPr/>
          <p:nvPr/>
        </p:nvCxnSpPr>
        <p:spPr>
          <a:xfrm>
            <a:off x="14351000" y="80010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kt">
            <a:extLst>
              <a:ext uri="{FF2B5EF4-FFF2-40B4-BE49-F238E27FC236}">
                <a16:creationId xmlns:a16="http://schemas.microsoft.com/office/drawing/2014/main" id="{4525F5DA-2884-9711-2908-8089A9CAB1E4}"/>
              </a:ext>
            </a:extLst>
          </p:cNvPr>
          <p:cNvCxnSpPr/>
          <p:nvPr/>
        </p:nvCxnSpPr>
        <p:spPr>
          <a:xfrm>
            <a:off x="14160500" y="81534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kt">
            <a:extLst>
              <a:ext uri="{FF2B5EF4-FFF2-40B4-BE49-F238E27FC236}">
                <a16:creationId xmlns:a16="http://schemas.microsoft.com/office/drawing/2014/main" id="{BAF996A0-7377-1F30-076E-54F5037DA8A3}"/>
              </a:ext>
            </a:extLst>
          </p:cNvPr>
          <p:cNvCxnSpPr/>
          <p:nvPr/>
        </p:nvCxnSpPr>
        <p:spPr>
          <a:xfrm>
            <a:off x="14230350" y="82232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kt">
            <a:extLst>
              <a:ext uri="{FF2B5EF4-FFF2-40B4-BE49-F238E27FC236}">
                <a16:creationId xmlns:a16="http://schemas.microsoft.com/office/drawing/2014/main" id="{79B2F9A2-2C89-1132-DE60-2FD47CEFD320}"/>
              </a:ext>
            </a:extLst>
          </p:cNvPr>
          <p:cNvCxnSpPr/>
          <p:nvPr/>
        </p:nvCxnSpPr>
        <p:spPr>
          <a:xfrm>
            <a:off x="14300200" y="82931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kt">
            <a:extLst>
              <a:ext uri="{FF2B5EF4-FFF2-40B4-BE49-F238E27FC236}">
                <a16:creationId xmlns:a16="http://schemas.microsoft.com/office/drawing/2014/main" id="{5694D321-925C-59D8-F38E-4743BF6572A1}"/>
              </a:ext>
            </a:extLst>
          </p:cNvPr>
          <p:cNvSpPr/>
          <p:nvPr/>
        </p:nvSpPr>
        <p:spPr>
          <a:xfrm>
            <a:off x="14293850" y="7943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kt label">
            <a:extLst>
              <a:ext uri="{FF2B5EF4-FFF2-40B4-BE49-F238E27FC236}">
                <a16:creationId xmlns:a16="http://schemas.microsoft.com/office/drawing/2014/main" id="{667C7081-9D7F-5B1E-C4B1-9403D9B9FCF0}"/>
              </a:ext>
            </a:extLst>
          </p:cNvPr>
          <p:cNvSpPr txBox="1"/>
          <p:nvPr/>
        </p:nvSpPr>
        <p:spPr>
          <a:xfrm>
            <a:off x="11760200" y="6042024"/>
            <a:ext cx="762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Q</a:t>
            </a:r>
            <a:r>
              <a:rPr lang="en-US" sz="1900" baseline="-25000">
                <a:solidFill>
                  <a:srgbClr val="15241D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42" name="ckt label">
            <a:extLst>
              <a:ext uri="{FF2B5EF4-FFF2-40B4-BE49-F238E27FC236}">
                <a16:creationId xmlns:a16="http://schemas.microsoft.com/office/drawing/2014/main" id="{827897B2-030C-232F-E663-D5946DD00BE4}"/>
              </a:ext>
            </a:extLst>
          </p:cNvPr>
          <p:cNvSpPr txBox="1"/>
          <p:nvPr/>
        </p:nvSpPr>
        <p:spPr>
          <a:xfrm>
            <a:off x="16179800" y="6042024"/>
            <a:ext cx="762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Q</a:t>
            </a:r>
            <a:r>
              <a:rPr lang="en-US" sz="1900" baseline="-25000">
                <a:solidFill>
                  <a:srgbClr val="15241D"/>
                </a:solidFill>
                <a:latin typeface="DM Sans" pitchFamily="2" charset="0"/>
              </a:rPr>
              <a:t>2</a:t>
            </a:r>
          </a:p>
        </p:txBody>
      </p:sp>
      <p:sp>
        <p:nvSpPr>
          <p:cNvPr id="43" name="point @1">
            <a:extLst>
              <a:ext uri="{FF2B5EF4-FFF2-40B4-BE49-F238E27FC236}">
                <a16:creationId xmlns:a16="http://schemas.microsoft.com/office/drawing/2014/main" id="{8DA410D0-B93B-6D08-5015-E384D441CB88}"/>
              </a:ext>
            </a:extLst>
          </p:cNvPr>
          <p:cNvSpPr txBox="1"/>
          <p:nvPr/>
        </p:nvSpPr>
        <p:spPr>
          <a:xfrm>
            <a:off x="914400" y="2349500"/>
            <a:ext cx="8128000" cy="734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Q</a:t>
            </a:r>
            <a:r>
              <a:rPr lang="en-US" sz="2300" baseline="-25000">
                <a:solidFill>
                  <a:srgbClr val="15241D"/>
                </a:solidFill>
                <a:latin typeface="DM Sans" pitchFamily="2" charset="0"/>
              </a:rPr>
              <a:t>1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is diode-connected (gate tied to drain), so it is in saturation.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SET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sets its current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REF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, and with it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44" name="point @2">
            <a:extLst>
              <a:ext uri="{FF2B5EF4-FFF2-40B4-BE49-F238E27FC236}">
                <a16:creationId xmlns:a16="http://schemas.microsoft.com/office/drawing/2014/main" id="{BD8443C5-8868-5A10-4889-DF0D82E2EABD}"/>
              </a:ext>
            </a:extLst>
          </p:cNvPr>
          <p:cNvSpPr txBox="1"/>
          <p:nvPr/>
        </p:nvSpPr>
        <p:spPr>
          <a:xfrm>
            <a:off x="914400" y="3363525"/>
            <a:ext cx="8128000" cy="73462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Q</a:t>
            </a:r>
            <a:r>
              <a:rPr lang="en-US" sz="2300" baseline="-25000">
                <a:solidFill>
                  <a:srgbClr val="15241D"/>
                </a:solidFill>
                <a:latin typeface="DM Sans" pitchFamily="2" charset="0"/>
              </a:rPr>
              <a:t>2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has the same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. If it is also in saturation, its current scales with W/L: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eq @2">
                <a:extLst>
                  <a:ext uri="{FF2B5EF4-FFF2-40B4-BE49-F238E27FC236}">
                    <a16:creationId xmlns:a16="http://schemas.microsoft.com/office/drawing/2014/main" id="{78ECBD6E-4AEF-7C01-B2AC-731967C14A84}"/>
                  </a:ext>
                </a:extLst>
              </p:cNvPr>
              <p:cNvSpPr txBox="1"/>
              <p:nvPr/>
            </p:nvSpPr>
            <p:spPr>
              <a:xfrm>
                <a:off x="1244600" y="4377549"/>
                <a:ext cx="8128000" cy="876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>
                        <m:fPr>
                          <m:ctrlPr>
                            <a:rPr lang="en-US" sz="3000" b="0" i="1">
                              <a:solidFill>
                                <a:srgbClr val="15241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𝑂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𝑅𝐸𝐹</m:t>
                              </m:r>
                            </m:sub>
                          </m:sSub>
                        </m:den>
                      </m:f>
                      <m:r>
                        <a:rPr lang="en-US" sz="30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3000" b="0" i="1">
                              <a:solidFill>
                                <a:srgbClr val="15241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000" b="0" i="1">
                                  <a:solidFill>
                                    <a:srgbClr val="15241D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𝑊</m:t>
                                  </m:r>
                                  <m: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𝐿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000" b="0" i="1">
                                  <a:solidFill>
                                    <a:srgbClr val="15241D"/>
                                  </a:solidFill>
                                  <a:latin typeface="Cambria Math" panose="02040503050406030204" pitchFamily="18" charset="0"/>
                                  <a:cs typeface="Cambria Math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𝑊</m:t>
                                  </m:r>
                                  <m: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en-US" sz="3000" b="0">
                                      <a:solidFill>
                                        <a:srgbClr val="15241D"/>
                                      </a:solidFill>
                                      <a:latin typeface="Cambria Math"/>
                                      <a:cs typeface="Cambria Math"/>
                                    </a:rPr>
                                    <m:t>𝐿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sz="30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5" name="eq @2">
                <a:extLst>
                  <a:ext uri="{FF2B5EF4-FFF2-40B4-BE49-F238E27FC236}">
                    <a16:creationId xmlns:a16="http://schemas.microsoft.com/office/drawing/2014/main" id="{78ECBD6E-4AEF-7C01-B2AC-731967C14A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600" y="4377549"/>
                <a:ext cx="8128000" cy="876300"/>
              </a:xfrm>
              <a:prstGeom prst="rect">
                <a:avLst/>
              </a:prstGeom>
              <a:blipFill>
                <a:blip r:embed="rId2"/>
                <a:stretch>
                  <a:fillRect t="-694" b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point @3">
            <a:extLst>
              <a:ext uri="{FF2B5EF4-FFF2-40B4-BE49-F238E27FC236}">
                <a16:creationId xmlns:a16="http://schemas.microsoft.com/office/drawing/2014/main" id="{EC7BDD10-9C9A-781F-2F8E-B6985284D30E}"/>
              </a:ext>
            </a:extLst>
          </p:cNvPr>
          <p:cNvSpPr txBox="1"/>
          <p:nvPr/>
        </p:nvSpPr>
        <p:spPr>
          <a:xfrm>
            <a:off x="914400" y="5647550"/>
            <a:ext cx="8128000" cy="36298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Identical transistors copy the current: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O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 = </a:t>
            </a:r>
            <a:r>
              <a:rPr lang="en-US" sz="23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300" i="1" baseline="-25000">
                <a:solidFill>
                  <a:srgbClr val="15241D"/>
                </a:solidFill>
                <a:latin typeface="DM Sans" pitchFamily="2" charset="0"/>
              </a:rPr>
              <a:t>REF</a:t>
            </a:r>
            <a:r>
              <a:rPr lang="en-US" sz="23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47" name="chrome page">
            <a:extLst>
              <a:ext uri="{FF2B5EF4-FFF2-40B4-BE49-F238E27FC236}">
                <a16:creationId xmlns:a16="http://schemas.microsoft.com/office/drawing/2014/main" id="{A2490741-D8E4-9440-CBD8-D20341EA1393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hrome page">
            <a:extLst>
              <a:ext uri="{FF2B5EF4-FFF2-40B4-BE49-F238E27FC236}">
                <a16:creationId xmlns:a16="http://schemas.microsoft.com/office/drawing/2014/main" id="{C32B87E6-75A7-F7E7-3646-F8D8FF0E43A9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6389636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 s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DB0C566-C492-DB59-4511-1CFDC41F4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4191000"/>
            <a:ext cx="10414000" cy="1397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6700">
                <a:solidFill>
                  <a:srgbClr val="15241D"/>
                </a:solidFill>
                <a:latin typeface="Bebas Neue" panose="020B0606020202050201" pitchFamily="34" charset="0"/>
              </a:rPr>
              <a:t>The MOSFET as an amplifier</a:t>
            </a:r>
          </a:p>
        </p:txBody>
      </p:sp>
      <p:sp>
        <p:nvSpPr>
          <p:cNvPr id="3" name="geo">
            <a:extLst>
              <a:ext uri="{FF2B5EF4-FFF2-40B4-BE49-F238E27FC236}">
                <a16:creationId xmlns:a16="http://schemas.microsoft.com/office/drawing/2014/main" id="{CC3B3BF8-CB16-F696-908B-8DC14EA9565C}"/>
              </a:ext>
            </a:extLst>
          </p:cNvPr>
          <p:cNvSpPr/>
          <p:nvPr/>
        </p:nvSpPr>
        <p:spPr>
          <a:xfrm>
            <a:off x="-635000" y="0"/>
            <a:ext cx="3810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eo">
            <a:extLst>
              <a:ext uri="{FF2B5EF4-FFF2-40B4-BE49-F238E27FC236}">
                <a16:creationId xmlns:a16="http://schemas.microsoft.com/office/drawing/2014/main" id="{F1B48990-83F7-EFEC-1286-7A95D8A50A61}"/>
              </a:ext>
            </a:extLst>
          </p:cNvPr>
          <p:cNvSpPr/>
          <p:nvPr/>
        </p:nvSpPr>
        <p:spPr>
          <a:xfrm>
            <a:off x="2946400" y="0"/>
            <a:ext cx="889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eo">
            <a:extLst>
              <a:ext uri="{FF2B5EF4-FFF2-40B4-BE49-F238E27FC236}">
                <a16:creationId xmlns:a16="http://schemas.microsoft.com/office/drawing/2014/main" id="{B1C7D9E1-2F25-8C0D-9E17-53EB72F70042}"/>
              </a:ext>
            </a:extLst>
          </p:cNvPr>
          <p:cNvSpPr/>
          <p:nvPr/>
        </p:nvSpPr>
        <p:spPr>
          <a:xfrm>
            <a:off x="3810000" y="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eo">
            <a:extLst>
              <a:ext uri="{FF2B5EF4-FFF2-40B4-BE49-F238E27FC236}">
                <a16:creationId xmlns:a16="http://schemas.microsoft.com/office/drawing/2014/main" id="{C7ED4853-7F42-14A9-4922-BAECD912D597}"/>
              </a:ext>
            </a:extLst>
          </p:cNvPr>
          <p:cNvSpPr/>
          <p:nvPr/>
        </p:nvSpPr>
        <p:spPr>
          <a:xfrm>
            <a:off x="15875000" y="0"/>
            <a:ext cx="3175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eo">
            <a:extLst>
              <a:ext uri="{FF2B5EF4-FFF2-40B4-BE49-F238E27FC236}">
                <a16:creationId xmlns:a16="http://schemas.microsoft.com/office/drawing/2014/main" id="{8CBB9B0B-4482-69BD-5E8F-461A6FD56081}"/>
              </a:ext>
            </a:extLst>
          </p:cNvPr>
          <p:cNvSpPr/>
          <p:nvPr/>
        </p:nvSpPr>
        <p:spPr>
          <a:xfrm>
            <a:off x="-635000" y="9575800"/>
            <a:ext cx="2540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geo">
            <a:extLst>
              <a:ext uri="{FF2B5EF4-FFF2-40B4-BE49-F238E27FC236}">
                <a16:creationId xmlns:a16="http://schemas.microsoft.com/office/drawing/2014/main" id="{7B3DB127-8383-B327-CCBC-9EA78B052B9C}"/>
              </a:ext>
            </a:extLst>
          </p:cNvPr>
          <p:cNvSpPr/>
          <p:nvPr/>
        </p:nvSpPr>
        <p:spPr>
          <a:xfrm>
            <a:off x="1905000" y="1010920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eo">
            <a:extLst>
              <a:ext uri="{FF2B5EF4-FFF2-40B4-BE49-F238E27FC236}">
                <a16:creationId xmlns:a16="http://schemas.microsoft.com/office/drawing/2014/main" id="{C9F7F1D9-6FB2-D7D2-C79E-1796735D5E68}"/>
              </a:ext>
            </a:extLst>
          </p:cNvPr>
          <p:cNvSpPr/>
          <p:nvPr/>
        </p:nvSpPr>
        <p:spPr>
          <a:xfrm>
            <a:off x="14986000" y="9575800"/>
            <a:ext cx="4064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eo">
            <a:extLst>
              <a:ext uri="{FF2B5EF4-FFF2-40B4-BE49-F238E27FC236}">
                <a16:creationId xmlns:a16="http://schemas.microsoft.com/office/drawing/2014/main" id="{C7AA3198-ACBC-231D-6FFC-FD5422346E27}"/>
              </a:ext>
            </a:extLst>
          </p:cNvPr>
          <p:cNvSpPr/>
          <p:nvPr/>
        </p:nvSpPr>
        <p:spPr>
          <a:xfrm>
            <a:off x="14097000" y="9575800"/>
            <a:ext cx="8128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numeral">
            <a:extLst>
              <a:ext uri="{FF2B5EF4-FFF2-40B4-BE49-F238E27FC236}">
                <a16:creationId xmlns:a16="http://schemas.microsoft.com/office/drawing/2014/main" id="{1CE509F6-67B3-A1E0-CAB8-8AA430F3C77C}"/>
              </a:ext>
            </a:extLst>
          </p:cNvPr>
          <p:cNvSpPr txBox="1"/>
          <p:nvPr/>
        </p:nvSpPr>
        <p:spPr>
          <a:xfrm>
            <a:off x="965200" y="1777999"/>
            <a:ext cx="5080000" cy="25400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 sz="20000">
                <a:solidFill>
                  <a:srgbClr val="145A43"/>
                </a:solidFill>
                <a:latin typeface="Bebas Neue" panose="020B0606020202050201" pitchFamily="34" charset="0"/>
              </a:rPr>
              <a:t>04</a:t>
            </a:r>
          </a:p>
        </p:txBody>
      </p:sp>
      <p:sp>
        <p:nvSpPr>
          <p:cNvPr id="12" name="item">
            <a:extLst>
              <a:ext uri="{FF2B5EF4-FFF2-40B4-BE49-F238E27FC236}">
                <a16:creationId xmlns:a16="http://schemas.microsoft.com/office/drawing/2014/main" id="{4824A0B4-CF79-0D96-DF27-969FD654062C}"/>
              </a:ext>
            </a:extLst>
          </p:cNvPr>
          <p:cNvSpPr txBox="1"/>
          <p:nvPr/>
        </p:nvSpPr>
        <p:spPr>
          <a:xfrm>
            <a:off x="1016000" y="58419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The load line</a:t>
            </a:r>
          </a:p>
        </p:txBody>
      </p:sp>
      <p:sp>
        <p:nvSpPr>
          <p:cNvPr id="13" name="item">
            <a:extLst>
              <a:ext uri="{FF2B5EF4-FFF2-40B4-BE49-F238E27FC236}">
                <a16:creationId xmlns:a16="http://schemas.microsoft.com/office/drawing/2014/main" id="{59ADF8E1-CDB9-6626-1480-0F403A3093F8}"/>
              </a:ext>
            </a:extLst>
          </p:cNvPr>
          <p:cNvSpPr txBox="1"/>
          <p:nvPr/>
        </p:nvSpPr>
        <p:spPr>
          <a:xfrm>
            <a:off x="1016000" y="63753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Transconductance </a:t>
            </a:r>
            <a:r>
              <a:rPr lang="en-US" sz="2300" i="1">
                <a:solidFill>
                  <a:srgbClr val="4D5B54"/>
                </a:solidFill>
                <a:latin typeface="DM Sans" pitchFamily="2" charset="0"/>
              </a:rPr>
              <a:t>g</a:t>
            </a:r>
            <a:r>
              <a:rPr lang="en-US" sz="2300" i="1" baseline="-25000">
                <a:solidFill>
                  <a:srgbClr val="4D5B54"/>
                </a:solidFill>
                <a:latin typeface="DM Sans" pitchFamily="2" charset="0"/>
              </a:rPr>
              <a:t>m</a:t>
            </a:r>
          </a:p>
        </p:txBody>
      </p:sp>
      <p:sp>
        <p:nvSpPr>
          <p:cNvPr id="14" name="item">
            <a:extLst>
              <a:ext uri="{FF2B5EF4-FFF2-40B4-BE49-F238E27FC236}">
                <a16:creationId xmlns:a16="http://schemas.microsoft.com/office/drawing/2014/main" id="{FD88E472-4187-D09A-913E-9863C3D2D2EC}"/>
              </a:ext>
            </a:extLst>
          </p:cNvPr>
          <p:cNvSpPr txBox="1"/>
          <p:nvPr/>
        </p:nvSpPr>
        <p:spPr>
          <a:xfrm>
            <a:off x="1016000" y="69087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Small-signal models</a:t>
            </a:r>
          </a:p>
        </p:txBody>
      </p:sp>
      <p:sp>
        <p:nvSpPr>
          <p:cNvPr id="15" name="item">
            <a:extLst>
              <a:ext uri="{FF2B5EF4-FFF2-40B4-BE49-F238E27FC236}">
                <a16:creationId xmlns:a16="http://schemas.microsoft.com/office/drawing/2014/main" id="{B4FE0ADE-84FE-C925-7209-ECE18046EC46}"/>
              </a:ext>
            </a:extLst>
          </p:cNvPr>
          <p:cNvSpPr txBox="1"/>
          <p:nvPr/>
        </p:nvSpPr>
        <p:spPr>
          <a:xfrm>
            <a:off x="1016000" y="74421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Example: gain and input resistance</a:t>
            </a:r>
          </a:p>
        </p:txBody>
      </p:sp>
      <p:sp>
        <p:nvSpPr>
          <p:cNvPr id="16" name="map">
            <a:extLst>
              <a:ext uri="{FF2B5EF4-FFF2-40B4-BE49-F238E27FC236}">
                <a16:creationId xmlns:a16="http://schemas.microsoft.com/office/drawing/2014/main" id="{67B5EF52-05A2-6E71-A00F-B3C3D61F757B}"/>
              </a:ext>
            </a:extLst>
          </p:cNvPr>
          <p:cNvSpPr/>
          <p:nvPr/>
        </p:nvSpPr>
        <p:spPr>
          <a:xfrm>
            <a:off x="12192000" y="24130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1</a:t>
            </a:r>
          </a:p>
        </p:txBody>
      </p:sp>
      <p:sp>
        <p:nvSpPr>
          <p:cNvPr id="17" name="map">
            <a:extLst>
              <a:ext uri="{FF2B5EF4-FFF2-40B4-BE49-F238E27FC236}">
                <a16:creationId xmlns:a16="http://schemas.microsoft.com/office/drawing/2014/main" id="{B842EAD3-A69F-63E8-A52C-05464D57F21A}"/>
              </a:ext>
            </a:extLst>
          </p:cNvPr>
          <p:cNvSpPr txBox="1"/>
          <p:nvPr/>
        </p:nvSpPr>
        <p:spPr>
          <a:xfrm>
            <a:off x="12827000" y="24129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Structure and operation</a:t>
            </a:r>
          </a:p>
        </p:txBody>
      </p:sp>
      <p:sp>
        <p:nvSpPr>
          <p:cNvPr id="18" name="map">
            <a:extLst>
              <a:ext uri="{FF2B5EF4-FFF2-40B4-BE49-F238E27FC236}">
                <a16:creationId xmlns:a16="http://schemas.microsoft.com/office/drawing/2014/main" id="{A24B8A3D-8DFE-46AA-EAC4-29084526499D}"/>
              </a:ext>
            </a:extLst>
          </p:cNvPr>
          <p:cNvSpPr/>
          <p:nvPr/>
        </p:nvSpPr>
        <p:spPr>
          <a:xfrm>
            <a:off x="12192000" y="32258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2</a:t>
            </a:r>
          </a:p>
        </p:txBody>
      </p:sp>
      <p:sp>
        <p:nvSpPr>
          <p:cNvPr id="19" name="map">
            <a:extLst>
              <a:ext uri="{FF2B5EF4-FFF2-40B4-BE49-F238E27FC236}">
                <a16:creationId xmlns:a16="http://schemas.microsoft.com/office/drawing/2014/main" id="{F499E6CA-EE8E-DF44-7AE9-34AD606FC3E0}"/>
              </a:ext>
            </a:extLst>
          </p:cNvPr>
          <p:cNvSpPr txBox="1"/>
          <p:nvPr/>
        </p:nvSpPr>
        <p:spPr>
          <a:xfrm>
            <a:off x="12827000" y="32257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I–V characteristics</a:t>
            </a:r>
          </a:p>
        </p:txBody>
      </p:sp>
      <p:sp>
        <p:nvSpPr>
          <p:cNvPr id="20" name="map">
            <a:extLst>
              <a:ext uri="{FF2B5EF4-FFF2-40B4-BE49-F238E27FC236}">
                <a16:creationId xmlns:a16="http://schemas.microsoft.com/office/drawing/2014/main" id="{DB35839C-E307-8AFA-B9DC-C0839AEDD3B1}"/>
              </a:ext>
            </a:extLst>
          </p:cNvPr>
          <p:cNvSpPr/>
          <p:nvPr/>
        </p:nvSpPr>
        <p:spPr>
          <a:xfrm>
            <a:off x="12192000" y="40386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3</a:t>
            </a:r>
          </a:p>
        </p:txBody>
      </p:sp>
      <p:sp>
        <p:nvSpPr>
          <p:cNvPr id="21" name="map">
            <a:extLst>
              <a:ext uri="{FF2B5EF4-FFF2-40B4-BE49-F238E27FC236}">
                <a16:creationId xmlns:a16="http://schemas.microsoft.com/office/drawing/2014/main" id="{06F28BA8-8FC3-050D-2C47-3DC24EFCED67}"/>
              </a:ext>
            </a:extLst>
          </p:cNvPr>
          <p:cNvSpPr txBox="1"/>
          <p:nvPr/>
        </p:nvSpPr>
        <p:spPr>
          <a:xfrm>
            <a:off x="12827000" y="40385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MOSFETs in DC circuits</a:t>
            </a:r>
          </a:p>
        </p:txBody>
      </p:sp>
      <p:sp>
        <p:nvSpPr>
          <p:cNvPr id="22" name="map">
            <a:extLst>
              <a:ext uri="{FF2B5EF4-FFF2-40B4-BE49-F238E27FC236}">
                <a16:creationId xmlns:a16="http://schemas.microsoft.com/office/drawing/2014/main" id="{1CF77A0A-7FEA-C2EB-3FCE-C7B80927B44E}"/>
              </a:ext>
            </a:extLst>
          </p:cNvPr>
          <p:cNvSpPr/>
          <p:nvPr/>
        </p:nvSpPr>
        <p:spPr>
          <a:xfrm>
            <a:off x="12192000" y="4851400"/>
            <a:ext cx="431800" cy="431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FFFFFF"/>
                </a:solidFill>
                <a:latin typeface="Bebas Neue" panose="020B0606020202050201" pitchFamily="34" charset="0"/>
              </a:rPr>
              <a:t>4</a:t>
            </a:r>
          </a:p>
        </p:txBody>
      </p:sp>
      <p:sp>
        <p:nvSpPr>
          <p:cNvPr id="23" name="map">
            <a:extLst>
              <a:ext uri="{FF2B5EF4-FFF2-40B4-BE49-F238E27FC236}">
                <a16:creationId xmlns:a16="http://schemas.microsoft.com/office/drawing/2014/main" id="{41BCCC4E-C9A9-C779-311D-7E8E0DF3C3D4}"/>
              </a:ext>
            </a:extLst>
          </p:cNvPr>
          <p:cNvSpPr txBox="1"/>
          <p:nvPr/>
        </p:nvSpPr>
        <p:spPr>
          <a:xfrm>
            <a:off x="12827000" y="48513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b="1">
                <a:solidFill>
                  <a:srgbClr val="15241D"/>
                </a:solidFill>
                <a:latin typeface="DM Sans" pitchFamily="2" charset="0"/>
              </a:rPr>
              <a:t>The MOSFET as an amplifier</a:t>
            </a:r>
          </a:p>
        </p:txBody>
      </p:sp>
      <p:sp>
        <p:nvSpPr>
          <p:cNvPr id="24" name="map">
            <a:extLst>
              <a:ext uri="{FF2B5EF4-FFF2-40B4-BE49-F238E27FC236}">
                <a16:creationId xmlns:a16="http://schemas.microsoft.com/office/drawing/2014/main" id="{FCCF5958-4EB9-395F-D042-E9C15BDBF8B6}"/>
              </a:ext>
            </a:extLst>
          </p:cNvPr>
          <p:cNvSpPr/>
          <p:nvPr/>
        </p:nvSpPr>
        <p:spPr>
          <a:xfrm>
            <a:off x="12192000" y="56642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5</a:t>
            </a:r>
          </a:p>
        </p:txBody>
      </p:sp>
      <p:sp>
        <p:nvSpPr>
          <p:cNvPr id="25" name="map">
            <a:extLst>
              <a:ext uri="{FF2B5EF4-FFF2-40B4-BE49-F238E27FC236}">
                <a16:creationId xmlns:a16="http://schemas.microsoft.com/office/drawing/2014/main" id="{8A7148EF-9BE2-09E7-329D-05C10FAEDDE4}"/>
              </a:ext>
            </a:extLst>
          </p:cNvPr>
          <p:cNvSpPr txBox="1"/>
          <p:nvPr/>
        </p:nvSpPr>
        <p:spPr>
          <a:xfrm>
            <a:off x="12827000" y="56641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36706471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mplifier action: the load lin s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304C083-31E6-C37C-0951-F8480E6F4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Amplifier action: the load line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04F1BDD9-D783-65A3-E5FF-F1AA0ACBFF21}"/>
              </a:ext>
            </a:extLst>
          </p:cNvPr>
          <p:cNvSpPr/>
          <p:nvPr/>
        </p:nvSpPr>
        <p:spPr>
          <a:xfrm>
            <a:off x="914400" y="279400"/>
            <a:ext cx="377698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AD1AB7C9-E807-925A-6E90-859B2F3C1FAD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428F2A18-AEB3-DDD6-65E9-E88A365F945D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drawing card">
            <a:extLst>
              <a:ext uri="{FF2B5EF4-FFF2-40B4-BE49-F238E27FC236}">
                <a16:creationId xmlns:a16="http://schemas.microsoft.com/office/drawing/2014/main" id="{5D2CEA72-1358-CD73-6141-C9F56B87A087}"/>
              </a:ext>
            </a:extLst>
          </p:cNvPr>
          <p:cNvSpPr/>
          <p:nvPr/>
        </p:nvSpPr>
        <p:spPr>
          <a:xfrm>
            <a:off x="914400" y="2095500"/>
            <a:ext cx="4191000" cy="609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rawing card">
            <a:extLst>
              <a:ext uri="{FF2B5EF4-FFF2-40B4-BE49-F238E27FC236}">
                <a16:creationId xmlns:a16="http://schemas.microsoft.com/office/drawing/2014/main" id="{41A73EB7-3F79-EB21-FBD2-7A6682FCCFEA}"/>
              </a:ext>
            </a:extLst>
          </p:cNvPr>
          <p:cNvSpPr/>
          <p:nvPr/>
        </p:nvSpPr>
        <p:spPr>
          <a:xfrm>
            <a:off x="914400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kt">
            <a:extLst>
              <a:ext uri="{FF2B5EF4-FFF2-40B4-BE49-F238E27FC236}">
                <a16:creationId xmlns:a16="http://schemas.microsoft.com/office/drawing/2014/main" id="{041A5796-9B8A-2533-933B-9DBF80834957}"/>
              </a:ext>
            </a:extLst>
          </p:cNvPr>
          <p:cNvCxnSpPr/>
          <p:nvPr/>
        </p:nvCxnSpPr>
        <p:spPr>
          <a:xfrm>
            <a:off x="3073400" y="52674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kt">
            <a:extLst>
              <a:ext uri="{FF2B5EF4-FFF2-40B4-BE49-F238E27FC236}">
                <a16:creationId xmlns:a16="http://schemas.microsoft.com/office/drawing/2014/main" id="{BE72B1E4-145C-C5AC-E081-F3DE68950EC0}"/>
              </a:ext>
            </a:extLst>
          </p:cNvPr>
          <p:cNvCxnSpPr/>
          <p:nvPr/>
        </p:nvCxnSpPr>
        <p:spPr>
          <a:xfrm>
            <a:off x="3200400" y="5118100"/>
            <a:ext cx="0" cy="1066800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kt">
            <a:extLst>
              <a:ext uri="{FF2B5EF4-FFF2-40B4-BE49-F238E27FC236}">
                <a16:creationId xmlns:a16="http://schemas.microsoft.com/office/drawing/2014/main" id="{6CBEC450-B198-5825-80EE-A2F733E224BF}"/>
              </a:ext>
            </a:extLst>
          </p:cNvPr>
          <p:cNvCxnSpPr/>
          <p:nvPr/>
        </p:nvCxnSpPr>
        <p:spPr>
          <a:xfrm>
            <a:off x="3200400" y="52197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kt">
            <a:extLst>
              <a:ext uri="{FF2B5EF4-FFF2-40B4-BE49-F238E27FC236}">
                <a16:creationId xmlns:a16="http://schemas.microsoft.com/office/drawing/2014/main" id="{51BA6037-B5B5-6E0F-C4B3-FD56971852B4}"/>
              </a:ext>
            </a:extLst>
          </p:cNvPr>
          <p:cNvCxnSpPr/>
          <p:nvPr/>
        </p:nvCxnSpPr>
        <p:spPr>
          <a:xfrm>
            <a:off x="3200400" y="60833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kt">
            <a:extLst>
              <a:ext uri="{FF2B5EF4-FFF2-40B4-BE49-F238E27FC236}">
                <a16:creationId xmlns:a16="http://schemas.microsoft.com/office/drawing/2014/main" id="{81BC4941-A26B-DB6B-0DC4-BB825A18A7CE}"/>
              </a:ext>
            </a:extLst>
          </p:cNvPr>
          <p:cNvCxnSpPr/>
          <p:nvPr/>
        </p:nvCxnSpPr>
        <p:spPr>
          <a:xfrm>
            <a:off x="3502660" y="6083300"/>
            <a:ext cx="12954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kt">
            <a:extLst>
              <a:ext uri="{FF2B5EF4-FFF2-40B4-BE49-F238E27FC236}">
                <a16:creationId xmlns:a16="http://schemas.microsoft.com/office/drawing/2014/main" id="{38EF97D5-A617-442C-E0F7-30A057316FA8}"/>
              </a:ext>
            </a:extLst>
          </p:cNvPr>
          <p:cNvSpPr/>
          <p:nvPr/>
        </p:nvSpPr>
        <p:spPr>
          <a:xfrm>
            <a:off x="3562350" y="26606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 label">
            <a:extLst>
              <a:ext uri="{FF2B5EF4-FFF2-40B4-BE49-F238E27FC236}">
                <a16:creationId xmlns:a16="http://schemas.microsoft.com/office/drawing/2014/main" id="{5D7BE1DC-C545-05A1-DDD6-2625453BFF29}"/>
              </a:ext>
            </a:extLst>
          </p:cNvPr>
          <p:cNvSpPr txBox="1"/>
          <p:nvPr/>
        </p:nvSpPr>
        <p:spPr>
          <a:xfrm>
            <a:off x="3810000" y="2549524"/>
            <a:ext cx="2794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DD</a:t>
            </a:r>
          </a:p>
        </p:txBody>
      </p:sp>
      <p:sp>
        <p:nvSpPr>
          <p:cNvPr id="15" name="ckt">
            <a:extLst>
              <a:ext uri="{FF2B5EF4-FFF2-40B4-BE49-F238E27FC236}">
                <a16:creationId xmlns:a16="http://schemas.microsoft.com/office/drawing/2014/main" id="{207F68B6-4F53-3206-1036-5E2C34F175EF}"/>
              </a:ext>
            </a:extLst>
          </p:cNvPr>
          <p:cNvSpPr/>
          <p:nvPr/>
        </p:nvSpPr>
        <p:spPr>
          <a:xfrm>
            <a:off x="3505200" y="2800350"/>
            <a:ext cx="254001" cy="1454151"/>
          </a:xfrm>
          <a:custGeom>
            <a:avLst/>
            <a:gdLst/>
            <a:ahLst/>
            <a:cxnLst/>
            <a:rect l="0" t="0" r="0" b="0"/>
            <a:pathLst>
              <a:path w="254001" h="1454151">
                <a:moveTo>
                  <a:pt x="127000" y="0"/>
                </a:moveTo>
                <a:lnTo>
                  <a:pt x="127000" y="358775"/>
                </a:lnTo>
                <a:lnTo>
                  <a:pt x="0" y="420158"/>
                </a:lnTo>
                <a:lnTo>
                  <a:pt x="254000" y="542925"/>
                </a:lnTo>
                <a:lnTo>
                  <a:pt x="0" y="665692"/>
                </a:lnTo>
                <a:lnTo>
                  <a:pt x="254000" y="788458"/>
                </a:lnTo>
                <a:lnTo>
                  <a:pt x="0" y="911225"/>
                </a:lnTo>
                <a:lnTo>
                  <a:pt x="254000" y="1033992"/>
                </a:lnTo>
                <a:lnTo>
                  <a:pt x="127000" y="1095375"/>
                </a:lnTo>
                <a:lnTo>
                  <a:pt x="127000" y="145415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kt">
            <a:extLst>
              <a:ext uri="{FF2B5EF4-FFF2-40B4-BE49-F238E27FC236}">
                <a16:creationId xmlns:a16="http://schemas.microsoft.com/office/drawing/2014/main" id="{A65C845E-4A1E-846C-A8B8-F855F0BDAE4C}"/>
              </a:ext>
            </a:extLst>
          </p:cNvPr>
          <p:cNvSpPr/>
          <p:nvPr/>
        </p:nvSpPr>
        <p:spPr>
          <a:xfrm>
            <a:off x="3575050" y="41973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kt label">
            <a:extLst>
              <a:ext uri="{FF2B5EF4-FFF2-40B4-BE49-F238E27FC236}">
                <a16:creationId xmlns:a16="http://schemas.microsoft.com/office/drawing/2014/main" id="{453FDE91-0419-59C5-D2DD-5D7EB164F97E}"/>
              </a:ext>
            </a:extLst>
          </p:cNvPr>
          <p:cNvSpPr txBox="1"/>
          <p:nvPr/>
        </p:nvSpPr>
        <p:spPr>
          <a:xfrm>
            <a:off x="3835400" y="3311524"/>
            <a:ext cx="2794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</a:p>
        </p:txBody>
      </p:sp>
      <p:cxnSp>
        <p:nvCxnSpPr>
          <p:cNvPr id="18" name="ckt">
            <a:extLst>
              <a:ext uri="{FF2B5EF4-FFF2-40B4-BE49-F238E27FC236}">
                <a16:creationId xmlns:a16="http://schemas.microsoft.com/office/drawing/2014/main" id="{C95CF6A3-3680-4604-8372-305B0948A192}"/>
              </a:ext>
            </a:extLst>
          </p:cNvPr>
          <p:cNvCxnSpPr/>
          <p:nvPr/>
        </p:nvCxnSpPr>
        <p:spPr>
          <a:xfrm>
            <a:off x="3403600" y="3492500"/>
            <a:ext cx="0" cy="508000"/>
          </a:xfrm>
          <a:prstGeom prst="line">
            <a:avLst/>
          </a:prstGeom>
          <a:ln w="22225">
            <a:solidFill>
              <a:srgbClr val="4D5B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kt label">
            <a:extLst>
              <a:ext uri="{FF2B5EF4-FFF2-40B4-BE49-F238E27FC236}">
                <a16:creationId xmlns:a16="http://schemas.microsoft.com/office/drawing/2014/main" id="{83523822-C1A9-B5B2-1B96-FB8EB9B4CD91}"/>
              </a:ext>
            </a:extLst>
          </p:cNvPr>
          <p:cNvSpPr txBox="1"/>
          <p:nvPr/>
        </p:nvSpPr>
        <p:spPr>
          <a:xfrm>
            <a:off x="2692400" y="3508374"/>
            <a:ext cx="635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</a:p>
        </p:txBody>
      </p:sp>
      <p:cxnSp>
        <p:nvCxnSpPr>
          <p:cNvPr id="20" name="ckt">
            <a:extLst>
              <a:ext uri="{FF2B5EF4-FFF2-40B4-BE49-F238E27FC236}">
                <a16:creationId xmlns:a16="http://schemas.microsoft.com/office/drawing/2014/main" id="{47DACD5A-6738-E8FB-96EC-B9F474EF354C}"/>
              </a:ext>
            </a:extLst>
          </p:cNvPr>
          <p:cNvCxnSpPr/>
          <p:nvPr/>
        </p:nvCxnSpPr>
        <p:spPr>
          <a:xfrm>
            <a:off x="3632200" y="4254500"/>
            <a:ext cx="0" cy="9652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kt">
            <a:extLst>
              <a:ext uri="{FF2B5EF4-FFF2-40B4-BE49-F238E27FC236}">
                <a16:creationId xmlns:a16="http://schemas.microsoft.com/office/drawing/2014/main" id="{D4D82803-044A-6D6F-252D-0DD7D940CE26}"/>
              </a:ext>
            </a:extLst>
          </p:cNvPr>
          <p:cNvCxnSpPr/>
          <p:nvPr/>
        </p:nvCxnSpPr>
        <p:spPr>
          <a:xfrm>
            <a:off x="3632200" y="4254500"/>
            <a:ext cx="762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kt">
            <a:extLst>
              <a:ext uri="{FF2B5EF4-FFF2-40B4-BE49-F238E27FC236}">
                <a16:creationId xmlns:a16="http://schemas.microsoft.com/office/drawing/2014/main" id="{D055DFCF-6A6C-C9E8-BEB6-44AEC6013CD7}"/>
              </a:ext>
            </a:extLst>
          </p:cNvPr>
          <p:cNvSpPr/>
          <p:nvPr/>
        </p:nvSpPr>
        <p:spPr>
          <a:xfrm>
            <a:off x="4400550" y="41846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kt label">
            <a:extLst>
              <a:ext uri="{FF2B5EF4-FFF2-40B4-BE49-F238E27FC236}">
                <a16:creationId xmlns:a16="http://schemas.microsoft.com/office/drawing/2014/main" id="{F058A7A8-4F03-DDBD-D610-15AF28E8662D}"/>
              </a:ext>
            </a:extLst>
          </p:cNvPr>
          <p:cNvSpPr txBox="1"/>
          <p:nvPr/>
        </p:nvSpPr>
        <p:spPr>
          <a:xfrm>
            <a:off x="4622800" y="4073524"/>
            <a:ext cx="1016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</a:p>
        </p:txBody>
      </p:sp>
      <p:cxnSp>
        <p:nvCxnSpPr>
          <p:cNvPr id="24" name="ckt">
            <a:extLst>
              <a:ext uri="{FF2B5EF4-FFF2-40B4-BE49-F238E27FC236}">
                <a16:creationId xmlns:a16="http://schemas.microsoft.com/office/drawing/2014/main" id="{FE9C3505-D04F-4F05-2BB8-357EFF56EF3E}"/>
              </a:ext>
            </a:extLst>
          </p:cNvPr>
          <p:cNvCxnSpPr/>
          <p:nvPr/>
        </p:nvCxnSpPr>
        <p:spPr>
          <a:xfrm>
            <a:off x="3632200" y="6083300"/>
            <a:ext cx="0" cy="14732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95F0D330-58F0-55A1-BB36-4D6F0C2EC217}"/>
              </a:ext>
            </a:extLst>
          </p:cNvPr>
          <p:cNvCxnSpPr/>
          <p:nvPr/>
        </p:nvCxnSpPr>
        <p:spPr>
          <a:xfrm>
            <a:off x="3632200" y="75565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641DEB30-91FE-68DA-B8B4-C8871A83F4E9}"/>
              </a:ext>
            </a:extLst>
          </p:cNvPr>
          <p:cNvCxnSpPr/>
          <p:nvPr/>
        </p:nvCxnSpPr>
        <p:spPr>
          <a:xfrm>
            <a:off x="3441700" y="77089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8A09CD5D-77E5-672F-313D-F4900A6462DA}"/>
              </a:ext>
            </a:extLst>
          </p:cNvPr>
          <p:cNvCxnSpPr/>
          <p:nvPr/>
        </p:nvCxnSpPr>
        <p:spPr>
          <a:xfrm>
            <a:off x="3511550" y="77787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D75339A9-6FF4-DF15-B80A-F1B85759583B}"/>
              </a:ext>
            </a:extLst>
          </p:cNvPr>
          <p:cNvCxnSpPr/>
          <p:nvPr/>
        </p:nvCxnSpPr>
        <p:spPr>
          <a:xfrm>
            <a:off x="3581400" y="78486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kt">
            <a:extLst>
              <a:ext uri="{FF2B5EF4-FFF2-40B4-BE49-F238E27FC236}">
                <a16:creationId xmlns:a16="http://schemas.microsoft.com/office/drawing/2014/main" id="{1E4B3EEE-557D-C991-7399-AAF24B6CCA51}"/>
              </a:ext>
            </a:extLst>
          </p:cNvPr>
          <p:cNvCxnSpPr/>
          <p:nvPr/>
        </p:nvCxnSpPr>
        <p:spPr>
          <a:xfrm>
            <a:off x="1676400" y="5651500"/>
            <a:ext cx="1397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kt">
            <a:extLst>
              <a:ext uri="{FF2B5EF4-FFF2-40B4-BE49-F238E27FC236}">
                <a16:creationId xmlns:a16="http://schemas.microsoft.com/office/drawing/2014/main" id="{54CC86C4-E3B9-2E9C-1B62-EDC671E0CC13}"/>
              </a:ext>
            </a:extLst>
          </p:cNvPr>
          <p:cNvCxnSpPr/>
          <p:nvPr/>
        </p:nvCxnSpPr>
        <p:spPr>
          <a:xfrm>
            <a:off x="1676400" y="5651500"/>
            <a:ext cx="0" cy="6731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kt">
            <a:extLst>
              <a:ext uri="{FF2B5EF4-FFF2-40B4-BE49-F238E27FC236}">
                <a16:creationId xmlns:a16="http://schemas.microsoft.com/office/drawing/2014/main" id="{5FF89D2F-2125-3715-6B5B-0007922BFB5A}"/>
              </a:ext>
            </a:extLst>
          </p:cNvPr>
          <p:cNvCxnSpPr/>
          <p:nvPr/>
        </p:nvCxnSpPr>
        <p:spPr>
          <a:xfrm>
            <a:off x="1676400" y="6883400"/>
            <a:ext cx="0" cy="6731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kt">
            <a:extLst>
              <a:ext uri="{FF2B5EF4-FFF2-40B4-BE49-F238E27FC236}">
                <a16:creationId xmlns:a16="http://schemas.microsoft.com/office/drawing/2014/main" id="{1870B20D-E160-6956-30DA-3DDBFE97ECC9}"/>
              </a:ext>
            </a:extLst>
          </p:cNvPr>
          <p:cNvSpPr/>
          <p:nvPr/>
        </p:nvSpPr>
        <p:spPr>
          <a:xfrm>
            <a:off x="1397000" y="6324600"/>
            <a:ext cx="558800" cy="558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kt">
            <a:extLst>
              <a:ext uri="{FF2B5EF4-FFF2-40B4-BE49-F238E27FC236}">
                <a16:creationId xmlns:a16="http://schemas.microsoft.com/office/drawing/2014/main" id="{01DFA562-29B1-E80D-0E4C-3477A863FE1F}"/>
              </a:ext>
            </a:extLst>
          </p:cNvPr>
          <p:cNvSpPr txBox="1"/>
          <p:nvPr/>
        </p:nvSpPr>
        <p:spPr>
          <a:xfrm>
            <a:off x="1549400" y="6311899"/>
            <a:ext cx="25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>
                <a:solidFill>
                  <a:srgbClr val="15241D"/>
                </a:solidFill>
                <a:latin typeface="DM Sans" pitchFamily="2" charset="0"/>
              </a:rPr>
              <a:t>+</a:t>
            </a:r>
          </a:p>
        </p:txBody>
      </p:sp>
      <p:sp>
        <p:nvSpPr>
          <p:cNvPr id="34" name="ckt">
            <a:extLst>
              <a:ext uri="{FF2B5EF4-FFF2-40B4-BE49-F238E27FC236}">
                <a16:creationId xmlns:a16="http://schemas.microsoft.com/office/drawing/2014/main" id="{A4C0A9DE-715A-958B-B248-D8BF969B1106}"/>
              </a:ext>
            </a:extLst>
          </p:cNvPr>
          <p:cNvSpPr txBox="1"/>
          <p:nvPr/>
        </p:nvSpPr>
        <p:spPr>
          <a:xfrm>
            <a:off x="1549400" y="6591299"/>
            <a:ext cx="25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>
                <a:solidFill>
                  <a:srgbClr val="15241D"/>
                </a:solidFill>
                <a:latin typeface="DM Sans" pitchFamily="2" charset="0"/>
              </a:rPr>
              <a:t>−</a:t>
            </a:r>
          </a:p>
        </p:txBody>
      </p:sp>
      <p:cxnSp>
        <p:nvCxnSpPr>
          <p:cNvPr id="35" name="ckt">
            <a:extLst>
              <a:ext uri="{FF2B5EF4-FFF2-40B4-BE49-F238E27FC236}">
                <a16:creationId xmlns:a16="http://schemas.microsoft.com/office/drawing/2014/main" id="{9F583B6E-C53D-A9C5-062E-EF3DC7B8CF1F}"/>
              </a:ext>
            </a:extLst>
          </p:cNvPr>
          <p:cNvCxnSpPr/>
          <p:nvPr/>
        </p:nvCxnSpPr>
        <p:spPr>
          <a:xfrm>
            <a:off x="1676400" y="75565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kt">
            <a:extLst>
              <a:ext uri="{FF2B5EF4-FFF2-40B4-BE49-F238E27FC236}">
                <a16:creationId xmlns:a16="http://schemas.microsoft.com/office/drawing/2014/main" id="{BA82B9CF-4355-103A-7EEA-867FC9D6A2A6}"/>
              </a:ext>
            </a:extLst>
          </p:cNvPr>
          <p:cNvCxnSpPr/>
          <p:nvPr/>
        </p:nvCxnSpPr>
        <p:spPr>
          <a:xfrm>
            <a:off x="1485900" y="77089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kt">
            <a:extLst>
              <a:ext uri="{FF2B5EF4-FFF2-40B4-BE49-F238E27FC236}">
                <a16:creationId xmlns:a16="http://schemas.microsoft.com/office/drawing/2014/main" id="{8F4202E5-652D-2D76-B3D5-1DA41B60A78B}"/>
              </a:ext>
            </a:extLst>
          </p:cNvPr>
          <p:cNvCxnSpPr/>
          <p:nvPr/>
        </p:nvCxnSpPr>
        <p:spPr>
          <a:xfrm>
            <a:off x="1555750" y="77787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kt">
            <a:extLst>
              <a:ext uri="{FF2B5EF4-FFF2-40B4-BE49-F238E27FC236}">
                <a16:creationId xmlns:a16="http://schemas.microsoft.com/office/drawing/2014/main" id="{E3537D1B-1048-84B8-DDFF-B0FAD42CE298}"/>
              </a:ext>
            </a:extLst>
          </p:cNvPr>
          <p:cNvCxnSpPr/>
          <p:nvPr/>
        </p:nvCxnSpPr>
        <p:spPr>
          <a:xfrm>
            <a:off x="1625600" y="78486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kt label">
            <a:extLst>
              <a:ext uri="{FF2B5EF4-FFF2-40B4-BE49-F238E27FC236}">
                <a16:creationId xmlns:a16="http://schemas.microsoft.com/office/drawing/2014/main" id="{E6504649-1009-173C-AEA7-89FBB61A0F1D}"/>
              </a:ext>
            </a:extLst>
          </p:cNvPr>
          <p:cNvSpPr txBox="1"/>
          <p:nvPr/>
        </p:nvSpPr>
        <p:spPr>
          <a:xfrm>
            <a:off x="2057400" y="6423024"/>
            <a:ext cx="1016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</a:p>
        </p:txBody>
      </p:sp>
      <p:sp>
        <p:nvSpPr>
          <p:cNvPr id="40" name="plot card">
            <a:extLst>
              <a:ext uri="{FF2B5EF4-FFF2-40B4-BE49-F238E27FC236}">
                <a16:creationId xmlns:a16="http://schemas.microsoft.com/office/drawing/2014/main" id="{9F491F5C-880B-15B7-601F-7A093CCAB4A3}"/>
              </a:ext>
            </a:extLst>
          </p:cNvPr>
          <p:cNvSpPr/>
          <p:nvPr/>
        </p:nvSpPr>
        <p:spPr>
          <a:xfrm>
            <a:off x="5461000" y="2095500"/>
            <a:ext cx="7874000" cy="609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plot card">
            <a:extLst>
              <a:ext uri="{FF2B5EF4-FFF2-40B4-BE49-F238E27FC236}">
                <a16:creationId xmlns:a16="http://schemas.microsoft.com/office/drawing/2014/main" id="{4352D0F0-7E21-5ED6-968F-DE994836B2DE}"/>
              </a:ext>
            </a:extLst>
          </p:cNvPr>
          <p:cNvSpPr/>
          <p:nvPr/>
        </p:nvSpPr>
        <p:spPr>
          <a:xfrm>
            <a:off x="5461000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plot">
            <a:extLst>
              <a:ext uri="{FF2B5EF4-FFF2-40B4-BE49-F238E27FC236}">
                <a16:creationId xmlns:a16="http://schemas.microsoft.com/office/drawing/2014/main" id="{6A0C1000-D614-EFDE-6120-85060A78789B}"/>
              </a:ext>
            </a:extLst>
          </p:cNvPr>
          <p:cNvCxnSpPr/>
          <p:nvPr/>
        </p:nvCxnSpPr>
        <p:spPr>
          <a:xfrm>
            <a:off x="6604000" y="7112000"/>
            <a:ext cx="5257800" cy="0"/>
          </a:xfrm>
          <a:prstGeom prst="line">
            <a:avLst/>
          </a:prstGeom>
          <a:ln w="22225">
            <a:solidFill>
              <a:srgbClr val="1524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plot">
            <a:extLst>
              <a:ext uri="{FF2B5EF4-FFF2-40B4-BE49-F238E27FC236}">
                <a16:creationId xmlns:a16="http://schemas.microsoft.com/office/drawing/2014/main" id="{961C4CDD-E4B2-8699-6A0B-03AD29EDEE5E}"/>
              </a:ext>
            </a:extLst>
          </p:cNvPr>
          <p:cNvCxnSpPr/>
          <p:nvPr/>
        </p:nvCxnSpPr>
        <p:spPr>
          <a:xfrm flipV="1">
            <a:off x="6604000" y="2743200"/>
            <a:ext cx="0" cy="4368800"/>
          </a:xfrm>
          <a:prstGeom prst="line">
            <a:avLst/>
          </a:prstGeom>
          <a:ln w="22225">
            <a:solidFill>
              <a:srgbClr val="1524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plot">
            <a:extLst>
              <a:ext uri="{FF2B5EF4-FFF2-40B4-BE49-F238E27FC236}">
                <a16:creationId xmlns:a16="http://schemas.microsoft.com/office/drawing/2014/main" id="{DABAEF4E-E199-C926-5C14-BBBB80EEFB73}"/>
              </a:ext>
            </a:extLst>
          </p:cNvPr>
          <p:cNvSpPr txBox="1"/>
          <p:nvPr/>
        </p:nvSpPr>
        <p:spPr>
          <a:xfrm>
            <a:off x="11963400" y="6921499"/>
            <a:ext cx="1397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0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 (V)</a:t>
            </a:r>
          </a:p>
        </p:txBody>
      </p:sp>
      <p:sp>
        <p:nvSpPr>
          <p:cNvPr id="45" name="plot">
            <a:extLst>
              <a:ext uri="{FF2B5EF4-FFF2-40B4-BE49-F238E27FC236}">
                <a16:creationId xmlns:a16="http://schemas.microsoft.com/office/drawing/2014/main" id="{5F0605BA-3C9F-132A-1E7E-42F6A01BE9BB}"/>
              </a:ext>
            </a:extLst>
          </p:cNvPr>
          <p:cNvSpPr txBox="1"/>
          <p:nvPr/>
        </p:nvSpPr>
        <p:spPr>
          <a:xfrm>
            <a:off x="6527800" y="23621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0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 (mA)</a:t>
            </a:r>
          </a:p>
        </p:txBody>
      </p:sp>
      <p:sp>
        <p:nvSpPr>
          <p:cNvPr id="46" name="plot">
            <a:extLst>
              <a:ext uri="{FF2B5EF4-FFF2-40B4-BE49-F238E27FC236}">
                <a16:creationId xmlns:a16="http://schemas.microsoft.com/office/drawing/2014/main" id="{4FAD7E8B-9E01-C145-C5AC-99D1483E365E}"/>
              </a:ext>
            </a:extLst>
          </p:cNvPr>
          <p:cNvSpPr/>
          <p:nvPr/>
        </p:nvSpPr>
        <p:spPr>
          <a:xfrm>
            <a:off x="6604000" y="6878127"/>
            <a:ext cx="4938890" cy="233874"/>
          </a:xfrm>
          <a:custGeom>
            <a:avLst/>
            <a:gdLst/>
            <a:ahLst/>
            <a:cxnLst/>
            <a:rect l="0" t="0" r="0" b="0"/>
            <a:pathLst>
              <a:path w="4938890" h="233874">
                <a:moveTo>
                  <a:pt x="0" y="233873"/>
                </a:moveTo>
                <a:lnTo>
                  <a:pt x="82315" y="159180"/>
                </a:lnTo>
                <a:lnTo>
                  <a:pt x="164629" y="98811"/>
                </a:lnTo>
                <a:lnTo>
                  <a:pt x="246945" y="52768"/>
                </a:lnTo>
                <a:lnTo>
                  <a:pt x="329259" y="21049"/>
                </a:lnTo>
                <a:lnTo>
                  <a:pt x="411574" y="3654"/>
                </a:lnTo>
                <a:lnTo>
                  <a:pt x="493889" y="0"/>
                </a:lnTo>
                <a:lnTo>
                  <a:pt x="576204" y="0"/>
                </a:lnTo>
                <a:lnTo>
                  <a:pt x="658519" y="0"/>
                </a:lnTo>
                <a:lnTo>
                  <a:pt x="740833" y="0"/>
                </a:lnTo>
                <a:lnTo>
                  <a:pt x="823148" y="0"/>
                </a:lnTo>
                <a:lnTo>
                  <a:pt x="905463" y="0"/>
                </a:lnTo>
                <a:lnTo>
                  <a:pt x="987778" y="0"/>
                </a:lnTo>
                <a:lnTo>
                  <a:pt x="1070093" y="0"/>
                </a:lnTo>
                <a:lnTo>
                  <a:pt x="1152407" y="0"/>
                </a:lnTo>
                <a:lnTo>
                  <a:pt x="1234722" y="0"/>
                </a:lnTo>
                <a:lnTo>
                  <a:pt x="1317037" y="0"/>
                </a:lnTo>
                <a:lnTo>
                  <a:pt x="1399352" y="0"/>
                </a:lnTo>
                <a:lnTo>
                  <a:pt x="1481667" y="0"/>
                </a:lnTo>
                <a:lnTo>
                  <a:pt x="1563981" y="0"/>
                </a:lnTo>
                <a:lnTo>
                  <a:pt x="1646296" y="0"/>
                </a:lnTo>
                <a:lnTo>
                  <a:pt x="1728611" y="0"/>
                </a:lnTo>
                <a:lnTo>
                  <a:pt x="1810926" y="0"/>
                </a:lnTo>
                <a:lnTo>
                  <a:pt x="1893241" y="0"/>
                </a:lnTo>
                <a:lnTo>
                  <a:pt x="1975555" y="0"/>
                </a:lnTo>
                <a:lnTo>
                  <a:pt x="2057871" y="0"/>
                </a:lnTo>
                <a:lnTo>
                  <a:pt x="2140185" y="0"/>
                </a:lnTo>
                <a:lnTo>
                  <a:pt x="2222500" y="0"/>
                </a:lnTo>
                <a:lnTo>
                  <a:pt x="2304815" y="0"/>
                </a:lnTo>
                <a:lnTo>
                  <a:pt x="2387129" y="0"/>
                </a:lnTo>
                <a:lnTo>
                  <a:pt x="2469445" y="0"/>
                </a:lnTo>
                <a:lnTo>
                  <a:pt x="2551759" y="0"/>
                </a:lnTo>
                <a:lnTo>
                  <a:pt x="2634074" y="0"/>
                </a:lnTo>
                <a:lnTo>
                  <a:pt x="2716389" y="0"/>
                </a:lnTo>
                <a:lnTo>
                  <a:pt x="2798704" y="0"/>
                </a:lnTo>
                <a:lnTo>
                  <a:pt x="2881019" y="0"/>
                </a:lnTo>
                <a:lnTo>
                  <a:pt x="2963333" y="0"/>
                </a:lnTo>
                <a:lnTo>
                  <a:pt x="3045648" y="0"/>
                </a:lnTo>
                <a:lnTo>
                  <a:pt x="3127963" y="0"/>
                </a:lnTo>
                <a:lnTo>
                  <a:pt x="3210278" y="0"/>
                </a:lnTo>
                <a:lnTo>
                  <a:pt x="3292593" y="0"/>
                </a:lnTo>
                <a:lnTo>
                  <a:pt x="3374907" y="0"/>
                </a:lnTo>
                <a:lnTo>
                  <a:pt x="3457222" y="0"/>
                </a:lnTo>
                <a:lnTo>
                  <a:pt x="3539537" y="0"/>
                </a:lnTo>
                <a:lnTo>
                  <a:pt x="3621852" y="0"/>
                </a:lnTo>
                <a:lnTo>
                  <a:pt x="3704167" y="0"/>
                </a:lnTo>
                <a:lnTo>
                  <a:pt x="3786481" y="0"/>
                </a:lnTo>
                <a:lnTo>
                  <a:pt x="3868796" y="0"/>
                </a:lnTo>
                <a:lnTo>
                  <a:pt x="3951111" y="0"/>
                </a:lnTo>
                <a:lnTo>
                  <a:pt x="4033426" y="0"/>
                </a:lnTo>
                <a:lnTo>
                  <a:pt x="4115741" y="0"/>
                </a:lnTo>
                <a:lnTo>
                  <a:pt x="4198055" y="0"/>
                </a:lnTo>
                <a:lnTo>
                  <a:pt x="4280371" y="0"/>
                </a:lnTo>
                <a:lnTo>
                  <a:pt x="4362685" y="0"/>
                </a:lnTo>
                <a:lnTo>
                  <a:pt x="4445000" y="0"/>
                </a:lnTo>
                <a:lnTo>
                  <a:pt x="4527315" y="0"/>
                </a:lnTo>
                <a:lnTo>
                  <a:pt x="4609629" y="0"/>
                </a:lnTo>
                <a:lnTo>
                  <a:pt x="4691945" y="0"/>
                </a:lnTo>
                <a:lnTo>
                  <a:pt x="4774259" y="0"/>
                </a:lnTo>
                <a:lnTo>
                  <a:pt x="4856574" y="0"/>
                </a:lnTo>
                <a:lnTo>
                  <a:pt x="4938889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plot">
            <a:extLst>
              <a:ext uri="{FF2B5EF4-FFF2-40B4-BE49-F238E27FC236}">
                <a16:creationId xmlns:a16="http://schemas.microsoft.com/office/drawing/2014/main" id="{D764185C-BCD7-9B59-DEDC-DCC05C12BBC9}"/>
              </a:ext>
            </a:extLst>
          </p:cNvPr>
          <p:cNvSpPr txBox="1"/>
          <p:nvPr/>
        </p:nvSpPr>
        <p:spPr>
          <a:xfrm>
            <a:off x="7191963" y="6547926"/>
            <a:ext cx="2413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5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1500">
                <a:solidFill>
                  <a:srgbClr val="4D5B54"/>
                </a:solidFill>
                <a:latin typeface="DM Sans" pitchFamily="2" charset="0"/>
              </a:rPr>
              <a:t> = </a:t>
            </a:r>
            <a:r>
              <a:rPr lang="en-US" sz="15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5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1500">
                <a:solidFill>
                  <a:srgbClr val="4D5B54"/>
                </a:solidFill>
                <a:latin typeface="DM Sans" pitchFamily="2" charset="0"/>
              </a:rPr>
              <a:t> + 1</a:t>
            </a:r>
          </a:p>
        </p:txBody>
      </p:sp>
      <p:sp>
        <p:nvSpPr>
          <p:cNvPr id="48" name="plot">
            <a:extLst>
              <a:ext uri="{FF2B5EF4-FFF2-40B4-BE49-F238E27FC236}">
                <a16:creationId xmlns:a16="http://schemas.microsoft.com/office/drawing/2014/main" id="{D7AFD0B1-758E-08AF-39B0-375B84A5C929}"/>
              </a:ext>
            </a:extLst>
          </p:cNvPr>
          <p:cNvSpPr/>
          <p:nvPr/>
        </p:nvSpPr>
        <p:spPr>
          <a:xfrm>
            <a:off x="6604000" y="6176509"/>
            <a:ext cx="4938890" cy="935492"/>
          </a:xfrm>
          <a:custGeom>
            <a:avLst/>
            <a:gdLst/>
            <a:ahLst/>
            <a:cxnLst/>
            <a:rect l="0" t="0" r="0" b="0"/>
            <a:pathLst>
              <a:path w="4938890" h="935492">
                <a:moveTo>
                  <a:pt x="0" y="935491"/>
                </a:moveTo>
                <a:lnTo>
                  <a:pt x="82315" y="778942"/>
                </a:lnTo>
                <a:lnTo>
                  <a:pt x="164629" y="636719"/>
                </a:lnTo>
                <a:lnTo>
                  <a:pt x="246945" y="508819"/>
                </a:lnTo>
                <a:lnTo>
                  <a:pt x="329259" y="395245"/>
                </a:lnTo>
                <a:lnTo>
                  <a:pt x="411574" y="295995"/>
                </a:lnTo>
                <a:lnTo>
                  <a:pt x="493889" y="211070"/>
                </a:lnTo>
                <a:lnTo>
                  <a:pt x="576204" y="140470"/>
                </a:lnTo>
                <a:lnTo>
                  <a:pt x="658519" y="84194"/>
                </a:lnTo>
                <a:lnTo>
                  <a:pt x="740833" y="42243"/>
                </a:lnTo>
                <a:lnTo>
                  <a:pt x="823148" y="14617"/>
                </a:lnTo>
                <a:lnTo>
                  <a:pt x="905463" y="1315"/>
                </a:lnTo>
                <a:lnTo>
                  <a:pt x="987778" y="0"/>
                </a:lnTo>
                <a:lnTo>
                  <a:pt x="1070093" y="0"/>
                </a:lnTo>
                <a:lnTo>
                  <a:pt x="1152407" y="0"/>
                </a:lnTo>
                <a:lnTo>
                  <a:pt x="1234722" y="0"/>
                </a:lnTo>
                <a:lnTo>
                  <a:pt x="1317037" y="0"/>
                </a:lnTo>
                <a:lnTo>
                  <a:pt x="1399352" y="0"/>
                </a:lnTo>
                <a:lnTo>
                  <a:pt x="1481667" y="0"/>
                </a:lnTo>
                <a:lnTo>
                  <a:pt x="1563981" y="0"/>
                </a:lnTo>
                <a:lnTo>
                  <a:pt x="1646296" y="0"/>
                </a:lnTo>
                <a:lnTo>
                  <a:pt x="1728611" y="0"/>
                </a:lnTo>
                <a:lnTo>
                  <a:pt x="1810926" y="0"/>
                </a:lnTo>
                <a:lnTo>
                  <a:pt x="1893241" y="0"/>
                </a:lnTo>
                <a:lnTo>
                  <a:pt x="1975555" y="0"/>
                </a:lnTo>
                <a:lnTo>
                  <a:pt x="2057871" y="0"/>
                </a:lnTo>
                <a:lnTo>
                  <a:pt x="2140185" y="0"/>
                </a:lnTo>
                <a:lnTo>
                  <a:pt x="2222500" y="0"/>
                </a:lnTo>
                <a:lnTo>
                  <a:pt x="2304815" y="0"/>
                </a:lnTo>
                <a:lnTo>
                  <a:pt x="2387129" y="0"/>
                </a:lnTo>
                <a:lnTo>
                  <a:pt x="2469445" y="0"/>
                </a:lnTo>
                <a:lnTo>
                  <a:pt x="2551759" y="0"/>
                </a:lnTo>
                <a:lnTo>
                  <a:pt x="2634074" y="0"/>
                </a:lnTo>
                <a:lnTo>
                  <a:pt x="2716389" y="0"/>
                </a:lnTo>
                <a:lnTo>
                  <a:pt x="2798704" y="0"/>
                </a:lnTo>
                <a:lnTo>
                  <a:pt x="2881019" y="0"/>
                </a:lnTo>
                <a:lnTo>
                  <a:pt x="2963333" y="0"/>
                </a:lnTo>
                <a:lnTo>
                  <a:pt x="3045648" y="0"/>
                </a:lnTo>
                <a:lnTo>
                  <a:pt x="3127963" y="0"/>
                </a:lnTo>
                <a:lnTo>
                  <a:pt x="3210278" y="0"/>
                </a:lnTo>
                <a:lnTo>
                  <a:pt x="3292593" y="0"/>
                </a:lnTo>
                <a:lnTo>
                  <a:pt x="3374907" y="0"/>
                </a:lnTo>
                <a:lnTo>
                  <a:pt x="3457222" y="0"/>
                </a:lnTo>
                <a:lnTo>
                  <a:pt x="3539537" y="0"/>
                </a:lnTo>
                <a:lnTo>
                  <a:pt x="3621852" y="0"/>
                </a:lnTo>
                <a:lnTo>
                  <a:pt x="3704167" y="0"/>
                </a:lnTo>
                <a:lnTo>
                  <a:pt x="3786481" y="0"/>
                </a:lnTo>
                <a:lnTo>
                  <a:pt x="3868796" y="0"/>
                </a:lnTo>
                <a:lnTo>
                  <a:pt x="3951111" y="0"/>
                </a:lnTo>
                <a:lnTo>
                  <a:pt x="4033426" y="0"/>
                </a:lnTo>
                <a:lnTo>
                  <a:pt x="4115741" y="0"/>
                </a:lnTo>
                <a:lnTo>
                  <a:pt x="4198055" y="0"/>
                </a:lnTo>
                <a:lnTo>
                  <a:pt x="4280371" y="0"/>
                </a:lnTo>
                <a:lnTo>
                  <a:pt x="4362685" y="0"/>
                </a:lnTo>
                <a:lnTo>
                  <a:pt x="4445000" y="0"/>
                </a:lnTo>
                <a:lnTo>
                  <a:pt x="4527315" y="0"/>
                </a:lnTo>
                <a:lnTo>
                  <a:pt x="4609629" y="0"/>
                </a:lnTo>
                <a:lnTo>
                  <a:pt x="4691945" y="0"/>
                </a:lnTo>
                <a:lnTo>
                  <a:pt x="4774259" y="0"/>
                </a:lnTo>
                <a:lnTo>
                  <a:pt x="4856574" y="0"/>
                </a:lnTo>
                <a:lnTo>
                  <a:pt x="4938889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plot">
            <a:extLst>
              <a:ext uri="{FF2B5EF4-FFF2-40B4-BE49-F238E27FC236}">
                <a16:creationId xmlns:a16="http://schemas.microsoft.com/office/drawing/2014/main" id="{3A84F7F1-8BFB-6CA4-1833-0CF99E207657}"/>
              </a:ext>
            </a:extLst>
          </p:cNvPr>
          <p:cNvSpPr txBox="1"/>
          <p:nvPr/>
        </p:nvSpPr>
        <p:spPr>
          <a:xfrm>
            <a:off x="7662333" y="5846308"/>
            <a:ext cx="2413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5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1500">
                <a:solidFill>
                  <a:srgbClr val="4D5B54"/>
                </a:solidFill>
                <a:latin typeface="DM Sans" pitchFamily="2" charset="0"/>
              </a:rPr>
              <a:t> = </a:t>
            </a:r>
            <a:r>
              <a:rPr lang="en-US" sz="15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5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1500">
                <a:solidFill>
                  <a:srgbClr val="4D5B54"/>
                </a:solidFill>
                <a:latin typeface="DM Sans" pitchFamily="2" charset="0"/>
              </a:rPr>
              <a:t> + 2</a:t>
            </a:r>
          </a:p>
        </p:txBody>
      </p:sp>
      <p:sp>
        <p:nvSpPr>
          <p:cNvPr id="50" name="plot">
            <a:extLst>
              <a:ext uri="{FF2B5EF4-FFF2-40B4-BE49-F238E27FC236}">
                <a16:creationId xmlns:a16="http://schemas.microsoft.com/office/drawing/2014/main" id="{E87FA2B1-7348-FB12-1988-6CF3407CBE40}"/>
              </a:ext>
            </a:extLst>
          </p:cNvPr>
          <p:cNvSpPr/>
          <p:nvPr/>
        </p:nvSpPr>
        <p:spPr>
          <a:xfrm>
            <a:off x="6604000" y="5007145"/>
            <a:ext cx="4938890" cy="2104856"/>
          </a:xfrm>
          <a:custGeom>
            <a:avLst/>
            <a:gdLst/>
            <a:ahLst/>
            <a:cxnLst/>
            <a:rect l="0" t="0" r="0" b="0"/>
            <a:pathLst>
              <a:path w="4938890" h="2104856">
                <a:moveTo>
                  <a:pt x="0" y="2104855"/>
                </a:moveTo>
                <a:lnTo>
                  <a:pt x="82315" y="1866451"/>
                </a:lnTo>
                <a:lnTo>
                  <a:pt x="164629" y="1642372"/>
                </a:lnTo>
                <a:lnTo>
                  <a:pt x="246945" y="1432617"/>
                </a:lnTo>
                <a:lnTo>
                  <a:pt x="329259" y="1237187"/>
                </a:lnTo>
                <a:lnTo>
                  <a:pt x="411574" y="1056082"/>
                </a:lnTo>
                <a:lnTo>
                  <a:pt x="493889" y="889301"/>
                </a:lnTo>
                <a:lnTo>
                  <a:pt x="576204" y="736845"/>
                </a:lnTo>
                <a:lnTo>
                  <a:pt x="658519" y="598714"/>
                </a:lnTo>
                <a:lnTo>
                  <a:pt x="740833" y="474908"/>
                </a:lnTo>
                <a:lnTo>
                  <a:pt x="823148" y="365426"/>
                </a:lnTo>
                <a:lnTo>
                  <a:pt x="905463" y="270269"/>
                </a:lnTo>
                <a:lnTo>
                  <a:pt x="987778" y="189437"/>
                </a:lnTo>
                <a:lnTo>
                  <a:pt x="1070093" y="122929"/>
                </a:lnTo>
                <a:lnTo>
                  <a:pt x="1152407" y="70747"/>
                </a:lnTo>
                <a:lnTo>
                  <a:pt x="1234722" y="32888"/>
                </a:lnTo>
                <a:lnTo>
                  <a:pt x="1317037" y="9355"/>
                </a:lnTo>
                <a:lnTo>
                  <a:pt x="1399352" y="146"/>
                </a:lnTo>
                <a:lnTo>
                  <a:pt x="1481667" y="0"/>
                </a:lnTo>
                <a:lnTo>
                  <a:pt x="1563981" y="0"/>
                </a:lnTo>
                <a:lnTo>
                  <a:pt x="1646296" y="0"/>
                </a:lnTo>
                <a:lnTo>
                  <a:pt x="1728611" y="0"/>
                </a:lnTo>
                <a:lnTo>
                  <a:pt x="1810926" y="0"/>
                </a:lnTo>
                <a:lnTo>
                  <a:pt x="1893241" y="0"/>
                </a:lnTo>
                <a:lnTo>
                  <a:pt x="1975555" y="0"/>
                </a:lnTo>
                <a:lnTo>
                  <a:pt x="2057871" y="0"/>
                </a:lnTo>
                <a:lnTo>
                  <a:pt x="2140185" y="0"/>
                </a:lnTo>
                <a:lnTo>
                  <a:pt x="2222500" y="0"/>
                </a:lnTo>
                <a:lnTo>
                  <a:pt x="2304815" y="0"/>
                </a:lnTo>
                <a:lnTo>
                  <a:pt x="2387129" y="0"/>
                </a:lnTo>
                <a:lnTo>
                  <a:pt x="2469445" y="0"/>
                </a:lnTo>
                <a:lnTo>
                  <a:pt x="2551759" y="0"/>
                </a:lnTo>
                <a:lnTo>
                  <a:pt x="2634074" y="0"/>
                </a:lnTo>
                <a:lnTo>
                  <a:pt x="2716389" y="0"/>
                </a:lnTo>
                <a:lnTo>
                  <a:pt x="2798704" y="0"/>
                </a:lnTo>
                <a:lnTo>
                  <a:pt x="2881019" y="0"/>
                </a:lnTo>
                <a:lnTo>
                  <a:pt x="2963333" y="0"/>
                </a:lnTo>
                <a:lnTo>
                  <a:pt x="3045648" y="0"/>
                </a:lnTo>
                <a:lnTo>
                  <a:pt x="3127963" y="0"/>
                </a:lnTo>
                <a:lnTo>
                  <a:pt x="3210278" y="0"/>
                </a:lnTo>
                <a:lnTo>
                  <a:pt x="3292593" y="0"/>
                </a:lnTo>
                <a:lnTo>
                  <a:pt x="3374907" y="0"/>
                </a:lnTo>
                <a:lnTo>
                  <a:pt x="3457222" y="0"/>
                </a:lnTo>
                <a:lnTo>
                  <a:pt x="3539537" y="0"/>
                </a:lnTo>
                <a:lnTo>
                  <a:pt x="3621852" y="0"/>
                </a:lnTo>
                <a:lnTo>
                  <a:pt x="3704167" y="0"/>
                </a:lnTo>
                <a:lnTo>
                  <a:pt x="3786481" y="0"/>
                </a:lnTo>
                <a:lnTo>
                  <a:pt x="3868796" y="0"/>
                </a:lnTo>
                <a:lnTo>
                  <a:pt x="3951111" y="0"/>
                </a:lnTo>
                <a:lnTo>
                  <a:pt x="4033426" y="0"/>
                </a:lnTo>
                <a:lnTo>
                  <a:pt x="4115741" y="0"/>
                </a:lnTo>
                <a:lnTo>
                  <a:pt x="4198055" y="0"/>
                </a:lnTo>
                <a:lnTo>
                  <a:pt x="4280371" y="0"/>
                </a:lnTo>
                <a:lnTo>
                  <a:pt x="4362685" y="0"/>
                </a:lnTo>
                <a:lnTo>
                  <a:pt x="4445000" y="0"/>
                </a:lnTo>
                <a:lnTo>
                  <a:pt x="4527315" y="0"/>
                </a:lnTo>
                <a:lnTo>
                  <a:pt x="4609629" y="0"/>
                </a:lnTo>
                <a:lnTo>
                  <a:pt x="4691945" y="0"/>
                </a:lnTo>
                <a:lnTo>
                  <a:pt x="4774259" y="0"/>
                </a:lnTo>
                <a:lnTo>
                  <a:pt x="4856574" y="0"/>
                </a:lnTo>
                <a:lnTo>
                  <a:pt x="4938889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plot">
            <a:extLst>
              <a:ext uri="{FF2B5EF4-FFF2-40B4-BE49-F238E27FC236}">
                <a16:creationId xmlns:a16="http://schemas.microsoft.com/office/drawing/2014/main" id="{B8E70CC5-1F27-FF8D-040B-1DAF24552F6C}"/>
              </a:ext>
            </a:extLst>
          </p:cNvPr>
          <p:cNvSpPr txBox="1"/>
          <p:nvPr/>
        </p:nvSpPr>
        <p:spPr>
          <a:xfrm>
            <a:off x="8720667" y="4676944"/>
            <a:ext cx="2413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5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1500">
                <a:solidFill>
                  <a:srgbClr val="4D5B54"/>
                </a:solidFill>
                <a:latin typeface="DM Sans" pitchFamily="2" charset="0"/>
              </a:rPr>
              <a:t> = </a:t>
            </a:r>
            <a:r>
              <a:rPr lang="en-US" sz="15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5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1500">
                <a:solidFill>
                  <a:srgbClr val="4D5B54"/>
                </a:solidFill>
                <a:latin typeface="DM Sans" pitchFamily="2" charset="0"/>
              </a:rPr>
              <a:t> + 3</a:t>
            </a:r>
          </a:p>
        </p:txBody>
      </p:sp>
      <p:sp>
        <p:nvSpPr>
          <p:cNvPr id="52" name="plot">
            <a:extLst>
              <a:ext uri="{FF2B5EF4-FFF2-40B4-BE49-F238E27FC236}">
                <a16:creationId xmlns:a16="http://schemas.microsoft.com/office/drawing/2014/main" id="{FA2DDBCA-0A57-484C-9049-01E55C7AD37F}"/>
              </a:ext>
            </a:extLst>
          </p:cNvPr>
          <p:cNvSpPr/>
          <p:nvPr/>
        </p:nvSpPr>
        <p:spPr>
          <a:xfrm>
            <a:off x="6604000" y="3370036"/>
            <a:ext cx="4938890" cy="3741965"/>
          </a:xfrm>
          <a:custGeom>
            <a:avLst/>
            <a:gdLst/>
            <a:ahLst/>
            <a:cxnLst/>
            <a:rect l="0" t="0" r="0" b="0"/>
            <a:pathLst>
              <a:path w="4938890" h="3741965">
                <a:moveTo>
                  <a:pt x="0" y="3741964"/>
                </a:moveTo>
                <a:lnTo>
                  <a:pt x="82315" y="3421704"/>
                </a:lnTo>
                <a:lnTo>
                  <a:pt x="164629" y="3115770"/>
                </a:lnTo>
                <a:lnTo>
                  <a:pt x="246945" y="2824160"/>
                </a:lnTo>
                <a:lnTo>
                  <a:pt x="329259" y="2546874"/>
                </a:lnTo>
                <a:lnTo>
                  <a:pt x="411574" y="2283913"/>
                </a:lnTo>
                <a:lnTo>
                  <a:pt x="493889" y="2035277"/>
                </a:lnTo>
                <a:lnTo>
                  <a:pt x="576204" y="1800966"/>
                </a:lnTo>
                <a:lnTo>
                  <a:pt x="658519" y="1580980"/>
                </a:lnTo>
                <a:lnTo>
                  <a:pt x="740833" y="1375318"/>
                </a:lnTo>
                <a:lnTo>
                  <a:pt x="823148" y="1183981"/>
                </a:lnTo>
                <a:lnTo>
                  <a:pt x="905463" y="1006968"/>
                </a:lnTo>
                <a:lnTo>
                  <a:pt x="987778" y="844280"/>
                </a:lnTo>
                <a:lnTo>
                  <a:pt x="1070093" y="695917"/>
                </a:lnTo>
                <a:lnTo>
                  <a:pt x="1152407" y="561879"/>
                </a:lnTo>
                <a:lnTo>
                  <a:pt x="1234722" y="442165"/>
                </a:lnTo>
                <a:lnTo>
                  <a:pt x="1317037" y="336777"/>
                </a:lnTo>
                <a:lnTo>
                  <a:pt x="1399352" y="245712"/>
                </a:lnTo>
                <a:lnTo>
                  <a:pt x="1481667" y="168973"/>
                </a:lnTo>
                <a:lnTo>
                  <a:pt x="1563981" y="106558"/>
                </a:lnTo>
                <a:lnTo>
                  <a:pt x="1646296" y="58468"/>
                </a:lnTo>
                <a:lnTo>
                  <a:pt x="1728611" y="24703"/>
                </a:lnTo>
                <a:lnTo>
                  <a:pt x="1810926" y="5262"/>
                </a:lnTo>
                <a:lnTo>
                  <a:pt x="1893241" y="0"/>
                </a:lnTo>
                <a:lnTo>
                  <a:pt x="1975555" y="0"/>
                </a:lnTo>
                <a:lnTo>
                  <a:pt x="2057871" y="0"/>
                </a:lnTo>
                <a:lnTo>
                  <a:pt x="2140185" y="0"/>
                </a:lnTo>
                <a:lnTo>
                  <a:pt x="2222500" y="0"/>
                </a:lnTo>
                <a:lnTo>
                  <a:pt x="2304815" y="0"/>
                </a:lnTo>
                <a:lnTo>
                  <a:pt x="2387129" y="0"/>
                </a:lnTo>
                <a:lnTo>
                  <a:pt x="2469445" y="0"/>
                </a:lnTo>
                <a:lnTo>
                  <a:pt x="2551759" y="0"/>
                </a:lnTo>
                <a:lnTo>
                  <a:pt x="2634074" y="0"/>
                </a:lnTo>
                <a:lnTo>
                  <a:pt x="2716389" y="0"/>
                </a:lnTo>
                <a:lnTo>
                  <a:pt x="2798704" y="0"/>
                </a:lnTo>
                <a:lnTo>
                  <a:pt x="2881019" y="0"/>
                </a:lnTo>
                <a:lnTo>
                  <a:pt x="2963333" y="0"/>
                </a:lnTo>
                <a:lnTo>
                  <a:pt x="3045648" y="0"/>
                </a:lnTo>
                <a:lnTo>
                  <a:pt x="3127963" y="0"/>
                </a:lnTo>
                <a:lnTo>
                  <a:pt x="3210278" y="0"/>
                </a:lnTo>
                <a:lnTo>
                  <a:pt x="3292593" y="0"/>
                </a:lnTo>
                <a:lnTo>
                  <a:pt x="3374907" y="0"/>
                </a:lnTo>
                <a:lnTo>
                  <a:pt x="3457222" y="0"/>
                </a:lnTo>
                <a:lnTo>
                  <a:pt x="3539537" y="0"/>
                </a:lnTo>
                <a:lnTo>
                  <a:pt x="3621852" y="0"/>
                </a:lnTo>
                <a:lnTo>
                  <a:pt x="3704167" y="0"/>
                </a:lnTo>
                <a:lnTo>
                  <a:pt x="3786481" y="0"/>
                </a:lnTo>
                <a:lnTo>
                  <a:pt x="3868796" y="0"/>
                </a:lnTo>
                <a:lnTo>
                  <a:pt x="3951111" y="0"/>
                </a:lnTo>
                <a:lnTo>
                  <a:pt x="4033426" y="0"/>
                </a:lnTo>
                <a:lnTo>
                  <a:pt x="4115741" y="0"/>
                </a:lnTo>
                <a:lnTo>
                  <a:pt x="4198055" y="0"/>
                </a:lnTo>
                <a:lnTo>
                  <a:pt x="4280371" y="0"/>
                </a:lnTo>
                <a:lnTo>
                  <a:pt x="4362685" y="0"/>
                </a:lnTo>
                <a:lnTo>
                  <a:pt x="4445000" y="0"/>
                </a:lnTo>
                <a:lnTo>
                  <a:pt x="4527315" y="0"/>
                </a:lnTo>
                <a:lnTo>
                  <a:pt x="4609629" y="0"/>
                </a:lnTo>
                <a:lnTo>
                  <a:pt x="4691945" y="0"/>
                </a:lnTo>
                <a:lnTo>
                  <a:pt x="4774259" y="0"/>
                </a:lnTo>
                <a:lnTo>
                  <a:pt x="4856574" y="0"/>
                </a:lnTo>
                <a:lnTo>
                  <a:pt x="4938889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plot">
            <a:extLst>
              <a:ext uri="{FF2B5EF4-FFF2-40B4-BE49-F238E27FC236}">
                <a16:creationId xmlns:a16="http://schemas.microsoft.com/office/drawing/2014/main" id="{4EFC77A4-D96A-CA23-8B1B-B3BECF330601}"/>
              </a:ext>
            </a:extLst>
          </p:cNvPr>
          <p:cNvSpPr txBox="1"/>
          <p:nvPr/>
        </p:nvSpPr>
        <p:spPr>
          <a:xfrm>
            <a:off x="8603074" y="3039835"/>
            <a:ext cx="2413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5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1500">
                <a:solidFill>
                  <a:srgbClr val="4D5B54"/>
                </a:solidFill>
                <a:latin typeface="DM Sans" pitchFamily="2" charset="0"/>
              </a:rPr>
              <a:t> = </a:t>
            </a:r>
            <a:r>
              <a:rPr lang="en-US" sz="15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5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1500">
                <a:solidFill>
                  <a:srgbClr val="4D5B54"/>
                </a:solidFill>
                <a:latin typeface="DM Sans" pitchFamily="2" charset="0"/>
              </a:rPr>
              <a:t> + 4</a:t>
            </a:r>
          </a:p>
        </p:txBody>
      </p:sp>
      <p:sp>
        <p:nvSpPr>
          <p:cNvPr id="54" name="plot">
            <a:extLst>
              <a:ext uri="{FF2B5EF4-FFF2-40B4-BE49-F238E27FC236}">
                <a16:creationId xmlns:a16="http://schemas.microsoft.com/office/drawing/2014/main" id="{F08E8D2C-57E4-9757-5B45-D6C04797B364}"/>
              </a:ext>
            </a:extLst>
          </p:cNvPr>
          <p:cNvSpPr/>
          <p:nvPr/>
        </p:nvSpPr>
        <p:spPr>
          <a:xfrm>
            <a:off x="6604000" y="3518217"/>
            <a:ext cx="1843853" cy="3593784"/>
          </a:xfrm>
          <a:custGeom>
            <a:avLst/>
            <a:gdLst/>
            <a:ahLst/>
            <a:cxnLst/>
            <a:rect l="0" t="0" r="0" b="0"/>
            <a:pathLst>
              <a:path w="1843853" h="3593784">
                <a:moveTo>
                  <a:pt x="0" y="3593783"/>
                </a:moveTo>
                <a:lnTo>
                  <a:pt x="30731" y="3592785"/>
                </a:lnTo>
                <a:lnTo>
                  <a:pt x="61461" y="3589790"/>
                </a:lnTo>
                <a:lnTo>
                  <a:pt x="92193" y="3584798"/>
                </a:lnTo>
                <a:lnTo>
                  <a:pt x="122924" y="3577810"/>
                </a:lnTo>
                <a:lnTo>
                  <a:pt x="153654" y="3568826"/>
                </a:lnTo>
                <a:lnTo>
                  <a:pt x="184385" y="3557845"/>
                </a:lnTo>
                <a:lnTo>
                  <a:pt x="215116" y="3544867"/>
                </a:lnTo>
                <a:lnTo>
                  <a:pt x="245847" y="3529894"/>
                </a:lnTo>
                <a:lnTo>
                  <a:pt x="276578" y="3512923"/>
                </a:lnTo>
                <a:lnTo>
                  <a:pt x="307308" y="3493956"/>
                </a:lnTo>
                <a:lnTo>
                  <a:pt x="338040" y="3472992"/>
                </a:lnTo>
                <a:lnTo>
                  <a:pt x="368771" y="3450032"/>
                </a:lnTo>
                <a:lnTo>
                  <a:pt x="399501" y="3425075"/>
                </a:lnTo>
                <a:lnTo>
                  <a:pt x="430232" y="3398121"/>
                </a:lnTo>
                <a:lnTo>
                  <a:pt x="460963" y="3369172"/>
                </a:lnTo>
                <a:lnTo>
                  <a:pt x="491694" y="3338225"/>
                </a:lnTo>
                <a:lnTo>
                  <a:pt x="522425" y="3305282"/>
                </a:lnTo>
                <a:lnTo>
                  <a:pt x="553155" y="3270342"/>
                </a:lnTo>
                <a:lnTo>
                  <a:pt x="583886" y="3233407"/>
                </a:lnTo>
                <a:lnTo>
                  <a:pt x="614618" y="3194474"/>
                </a:lnTo>
                <a:lnTo>
                  <a:pt x="645348" y="3153545"/>
                </a:lnTo>
                <a:lnTo>
                  <a:pt x="676079" y="3110619"/>
                </a:lnTo>
                <a:lnTo>
                  <a:pt x="706810" y="3065697"/>
                </a:lnTo>
                <a:lnTo>
                  <a:pt x="737541" y="3018778"/>
                </a:lnTo>
                <a:lnTo>
                  <a:pt x="768272" y="2969863"/>
                </a:lnTo>
                <a:lnTo>
                  <a:pt x="799002" y="2918951"/>
                </a:lnTo>
                <a:lnTo>
                  <a:pt x="829733" y="2866042"/>
                </a:lnTo>
                <a:lnTo>
                  <a:pt x="860465" y="2811137"/>
                </a:lnTo>
                <a:lnTo>
                  <a:pt x="891195" y="2754235"/>
                </a:lnTo>
                <a:lnTo>
                  <a:pt x="921926" y="2695337"/>
                </a:lnTo>
                <a:lnTo>
                  <a:pt x="952657" y="2634443"/>
                </a:lnTo>
                <a:lnTo>
                  <a:pt x="983388" y="2571552"/>
                </a:lnTo>
                <a:lnTo>
                  <a:pt x="1014119" y="2506664"/>
                </a:lnTo>
                <a:lnTo>
                  <a:pt x="1044849" y="2439779"/>
                </a:lnTo>
                <a:lnTo>
                  <a:pt x="1075580" y="2370899"/>
                </a:lnTo>
                <a:lnTo>
                  <a:pt x="1106311" y="2300021"/>
                </a:lnTo>
                <a:lnTo>
                  <a:pt x="1137042" y="2227147"/>
                </a:lnTo>
                <a:lnTo>
                  <a:pt x="1167773" y="2152277"/>
                </a:lnTo>
                <a:lnTo>
                  <a:pt x="1198504" y="2075410"/>
                </a:lnTo>
                <a:lnTo>
                  <a:pt x="1229234" y="1996546"/>
                </a:lnTo>
                <a:lnTo>
                  <a:pt x="1259966" y="1915686"/>
                </a:lnTo>
                <a:lnTo>
                  <a:pt x="1290696" y="1832830"/>
                </a:lnTo>
                <a:lnTo>
                  <a:pt x="1321427" y="1747976"/>
                </a:lnTo>
                <a:lnTo>
                  <a:pt x="1352158" y="1661127"/>
                </a:lnTo>
                <a:lnTo>
                  <a:pt x="1382889" y="1572280"/>
                </a:lnTo>
                <a:lnTo>
                  <a:pt x="1413620" y="1481438"/>
                </a:lnTo>
                <a:lnTo>
                  <a:pt x="1444351" y="1388598"/>
                </a:lnTo>
                <a:lnTo>
                  <a:pt x="1475081" y="1293762"/>
                </a:lnTo>
                <a:lnTo>
                  <a:pt x="1505812" y="1196930"/>
                </a:lnTo>
                <a:lnTo>
                  <a:pt x="1536543" y="1098101"/>
                </a:lnTo>
                <a:lnTo>
                  <a:pt x="1567274" y="997275"/>
                </a:lnTo>
                <a:lnTo>
                  <a:pt x="1598005" y="894453"/>
                </a:lnTo>
                <a:lnTo>
                  <a:pt x="1628735" y="789634"/>
                </a:lnTo>
                <a:lnTo>
                  <a:pt x="1659467" y="682819"/>
                </a:lnTo>
                <a:lnTo>
                  <a:pt x="1690198" y="574007"/>
                </a:lnTo>
                <a:lnTo>
                  <a:pt x="1720928" y="463199"/>
                </a:lnTo>
                <a:lnTo>
                  <a:pt x="1751659" y="350394"/>
                </a:lnTo>
                <a:lnTo>
                  <a:pt x="1782390" y="235593"/>
                </a:lnTo>
                <a:lnTo>
                  <a:pt x="1813121" y="118795"/>
                </a:lnTo>
                <a:lnTo>
                  <a:pt x="1843852" y="0"/>
                </a:lnTo>
              </a:path>
            </a:pathLst>
          </a:custGeom>
          <a:ln w="19050">
            <a:solidFill>
              <a:srgbClr val="4D5B5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plot">
            <a:extLst>
              <a:ext uri="{FF2B5EF4-FFF2-40B4-BE49-F238E27FC236}">
                <a16:creationId xmlns:a16="http://schemas.microsoft.com/office/drawing/2014/main" id="{F28F6EFD-865E-E668-03EC-89204206A8EB}"/>
              </a:ext>
            </a:extLst>
          </p:cNvPr>
          <p:cNvCxnSpPr/>
          <p:nvPr/>
        </p:nvCxnSpPr>
        <p:spPr>
          <a:xfrm>
            <a:off x="6604000" y="3370036"/>
            <a:ext cx="4703704" cy="3741964"/>
          </a:xfrm>
          <a:prstGeom prst="line">
            <a:avLst/>
          </a:prstGeom>
          <a:ln w="38100">
            <a:solidFill>
              <a:srgbClr val="145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plot">
            <a:extLst>
              <a:ext uri="{FF2B5EF4-FFF2-40B4-BE49-F238E27FC236}">
                <a16:creationId xmlns:a16="http://schemas.microsoft.com/office/drawing/2014/main" id="{4F7D764E-ECED-AA40-9BFA-8BB6683BBFBD}"/>
              </a:ext>
            </a:extLst>
          </p:cNvPr>
          <p:cNvSpPr/>
          <p:nvPr/>
        </p:nvSpPr>
        <p:spPr>
          <a:xfrm>
            <a:off x="8057546" y="4508207"/>
            <a:ext cx="177800" cy="177800"/>
          </a:xfrm>
          <a:prstGeom prst="ellipse">
            <a:avLst/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plot">
            <a:extLst>
              <a:ext uri="{FF2B5EF4-FFF2-40B4-BE49-F238E27FC236}">
                <a16:creationId xmlns:a16="http://schemas.microsoft.com/office/drawing/2014/main" id="{67FDC769-49AF-BD8A-FEDA-0714B58855EE}"/>
              </a:ext>
            </a:extLst>
          </p:cNvPr>
          <p:cNvSpPr txBox="1"/>
          <p:nvPr/>
        </p:nvSpPr>
        <p:spPr>
          <a:xfrm>
            <a:off x="8298846" y="4165306"/>
            <a:ext cx="3302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A</a:t>
            </a:r>
          </a:p>
        </p:txBody>
      </p:sp>
      <p:sp>
        <p:nvSpPr>
          <p:cNvPr id="58" name="plot">
            <a:extLst>
              <a:ext uri="{FF2B5EF4-FFF2-40B4-BE49-F238E27FC236}">
                <a16:creationId xmlns:a16="http://schemas.microsoft.com/office/drawing/2014/main" id="{E85837C2-4367-D34A-2C33-7090B7899BDA}"/>
              </a:ext>
            </a:extLst>
          </p:cNvPr>
          <p:cNvSpPr/>
          <p:nvPr/>
        </p:nvSpPr>
        <p:spPr>
          <a:xfrm>
            <a:off x="11218804" y="7023100"/>
            <a:ext cx="177800" cy="177800"/>
          </a:xfrm>
          <a:prstGeom prst="ellipse">
            <a:avLst/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plot">
            <a:extLst>
              <a:ext uri="{FF2B5EF4-FFF2-40B4-BE49-F238E27FC236}">
                <a16:creationId xmlns:a16="http://schemas.microsoft.com/office/drawing/2014/main" id="{5BB2CD49-8724-B354-C21D-15710B5C199D}"/>
              </a:ext>
            </a:extLst>
          </p:cNvPr>
          <p:cNvSpPr txBox="1"/>
          <p:nvPr/>
        </p:nvSpPr>
        <p:spPr>
          <a:xfrm>
            <a:off x="10875904" y="6629399"/>
            <a:ext cx="3302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B</a:t>
            </a:r>
          </a:p>
        </p:txBody>
      </p:sp>
      <p:sp>
        <p:nvSpPr>
          <p:cNvPr id="60" name="plot">
            <a:extLst>
              <a:ext uri="{FF2B5EF4-FFF2-40B4-BE49-F238E27FC236}">
                <a16:creationId xmlns:a16="http://schemas.microsoft.com/office/drawing/2014/main" id="{7623D0C0-0C63-BBA0-015F-F9A01C574719}"/>
              </a:ext>
            </a:extLst>
          </p:cNvPr>
          <p:cNvSpPr txBox="1"/>
          <p:nvPr/>
        </p:nvSpPr>
        <p:spPr>
          <a:xfrm>
            <a:off x="9394237" y="5326515"/>
            <a:ext cx="431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145A43"/>
                </a:solidFill>
                <a:latin typeface="DM Sans" pitchFamily="2" charset="0"/>
              </a:rPr>
              <a:t>load line: </a:t>
            </a:r>
            <a:r>
              <a:rPr lang="en-US" sz="1600" i="1">
                <a:solidFill>
                  <a:srgbClr val="145A43"/>
                </a:solidFill>
                <a:latin typeface="DM Sans" pitchFamily="2" charset="0"/>
              </a:rPr>
              <a:t>i</a:t>
            </a:r>
            <a:r>
              <a:rPr lang="en-US" sz="1600" i="1" baseline="-25000">
                <a:solidFill>
                  <a:srgbClr val="145A43"/>
                </a:solidFill>
                <a:latin typeface="DM Sans" pitchFamily="2" charset="0"/>
              </a:rPr>
              <a:t>D</a:t>
            </a:r>
            <a:r>
              <a:rPr lang="en-US" sz="1600">
                <a:solidFill>
                  <a:srgbClr val="145A43"/>
                </a:solidFill>
                <a:latin typeface="DM Sans" pitchFamily="2" charset="0"/>
              </a:rPr>
              <a:t> = (</a:t>
            </a:r>
            <a:r>
              <a:rPr lang="en-US" sz="1600" i="1">
                <a:solidFill>
                  <a:srgbClr val="145A43"/>
                </a:solidFill>
                <a:latin typeface="DM Sans" pitchFamily="2" charset="0"/>
              </a:rPr>
              <a:t>V</a:t>
            </a:r>
            <a:r>
              <a:rPr lang="en-US" sz="1600" i="1" baseline="-25000">
                <a:solidFill>
                  <a:srgbClr val="145A43"/>
                </a:solidFill>
                <a:latin typeface="DM Sans" pitchFamily="2" charset="0"/>
              </a:rPr>
              <a:t>DD</a:t>
            </a:r>
            <a:r>
              <a:rPr lang="en-US" sz="1600">
                <a:solidFill>
                  <a:srgbClr val="145A43"/>
                </a:solidFill>
                <a:latin typeface="DM Sans" pitchFamily="2" charset="0"/>
              </a:rPr>
              <a:t> − </a:t>
            </a:r>
            <a:r>
              <a:rPr lang="en-US" sz="1600" i="1">
                <a:solidFill>
                  <a:srgbClr val="145A43"/>
                </a:solidFill>
                <a:latin typeface="DM Sans" pitchFamily="2" charset="0"/>
              </a:rPr>
              <a:t>v</a:t>
            </a:r>
            <a:r>
              <a:rPr lang="en-US" sz="1600" i="1" baseline="-25000">
                <a:solidFill>
                  <a:srgbClr val="145A43"/>
                </a:solidFill>
                <a:latin typeface="DM Sans" pitchFamily="2" charset="0"/>
              </a:rPr>
              <a:t>DS</a:t>
            </a:r>
            <a:r>
              <a:rPr lang="en-US" sz="1600">
                <a:solidFill>
                  <a:srgbClr val="145A43"/>
                </a:solidFill>
                <a:latin typeface="DM Sans" pitchFamily="2" charset="0"/>
              </a:rPr>
              <a:t>)/</a:t>
            </a:r>
            <a:r>
              <a:rPr lang="en-US" sz="1600" i="1">
                <a:solidFill>
                  <a:srgbClr val="145A43"/>
                </a:solidFill>
                <a:latin typeface="DM Sans" pitchFamily="2" charset="0"/>
              </a:rPr>
              <a:t>R</a:t>
            </a:r>
            <a:r>
              <a:rPr lang="en-US" sz="1600" i="1" baseline="-25000">
                <a:solidFill>
                  <a:srgbClr val="145A43"/>
                </a:solidFill>
                <a:latin typeface="DM Sans" pitchFamily="2" charset="0"/>
              </a:rPr>
              <a:t>D</a:t>
            </a:r>
          </a:p>
        </p:txBody>
      </p:sp>
      <p:cxnSp>
        <p:nvCxnSpPr>
          <p:cNvPr id="61" name="plot">
            <a:extLst>
              <a:ext uri="{FF2B5EF4-FFF2-40B4-BE49-F238E27FC236}">
                <a16:creationId xmlns:a16="http://schemas.microsoft.com/office/drawing/2014/main" id="{2AA75D46-D501-4042-7BFF-88BE69D37DCF}"/>
              </a:ext>
            </a:extLst>
          </p:cNvPr>
          <p:cNvCxnSpPr/>
          <p:nvPr/>
        </p:nvCxnSpPr>
        <p:spPr>
          <a:xfrm>
            <a:off x="11307704" y="7112000"/>
            <a:ext cx="0" cy="76200"/>
          </a:xfrm>
          <a:prstGeom prst="line">
            <a:avLst/>
          </a:prstGeom>
          <a:ln w="15875">
            <a:solidFill>
              <a:srgbClr val="4D5B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plot">
            <a:extLst>
              <a:ext uri="{FF2B5EF4-FFF2-40B4-BE49-F238E27FC236}">
                <a16:creationId xmlns:a16="http://schemas.microsoft.com/office/drawing/2014/main" id="{D5A9B997-7A59-033E-F8E1-262BD286D7A9}"/>
              </a:ext>
            </a:extLst>
          </p:cNvPr>
          <p:cNvSpPr txBox="1"/>
          <p:nvPr/>
        </p:nvSpPr>
        <p:spPr>
          <a:xfrm>
            <a:off x="10672704" y="7213599"/>
            <a:ext cx="1270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DD</a:t>
            </a:r>
          </a:p>
        </p:txBody>
      </p:sp>
      <p:cxnSp>
        <p:nvCxnSpPr>
          <p:cNvPr id="63" name="plot">
            <a:extLst>
              <a:ext uri="{FF2B5EF4-FFF2-40B4-BE49-F238E27FC236}">
                <a16:creationId xmlns:a16="http://schemas.microsoft.com/office/drawing/2014/main" id="{91D5E9AB-614B-D61F-CDE0-C5367F4BAEF1}"/>
              </a:ext>
            </a:extLst>
          </p:cNvPr>
          <p:cNvCxnSpPr/>
          <p:nvPr/>
        </p:nvCxnSpPr>
        <p:spPr>
          <a:xfrm>
            <a:off x="6527800" y="3370036"/>
            <a:ext cx="76200" cy="0"/>
          </a:xfrm>
          <a:prstGeom prst="line">
            <a:avLst/>
          </a:prstGeom>
          <a:ln w="15875">
            <a:solidFill>
              <a:srgbClr val="4D5B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plot">
            <a:extLst>
              <a:ext uri="{FF2B5EF4-FFF2-40B4-BE49-F238E27FC236}">
                <a16:creationId xmlns:a16="http://schemas.microsoft.com/office/drawing/2014/main" id="{E2B64156-539F-57E1-3B62-914AA792B46F}"/>
              </a:ext>
            </a:extLst>
          </p:cNvPr>
          <p:cNvSpPr txBox="1"/>
          <p:nvPr/>
        </p:nvSpPr>
        <p:spPr>
          <a:xfrm>
            <a:off x="5207000" y="3204935"/>
            <a:ext cx="1270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DD</a:t>
            </a:r>
            <a:r>
              <a:rPr lang="en-US" sz="1700">
                <a:solidFill>
                  <a:srgbClr val="4D5B54"/>
                </a:solidFill>
                <a:latin typeface="DM Sans" pitchFamily="2" charset="0"/>
              </a:rPr>
              <a:t>/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eq @1">
                <a:extLst>
                  <a:ext uri="{FF2B5EF4-FFF2-40B4-BE49-F238E27FC236}">
                    <a16:creationId xmlns:a16="http://schemas.microsoft.com/office/drawing/2014/main" id="{CDB94209-D657-6332-D298-3736A8B2FD9D}"/>
                  </a:ext>
                </a:extLst>
              </p:cNvPr>
              <p:cNvSpPr txBox="1"/>
              <p:nvPr/>
            </p:nvSpPr>
            <p:spPr>
              <a:xfrm>
                <a:off x="13716000" y="2285999"/>
                <a:ext cx="3657600" cy="4572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𝐷𝑆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5" name="eq @1">
                <a:extLst>
                  <a:ext uri="{FF2B5EF4-FFF2-40B4-BE49-F238E27FC236}">
                    <a16:creationId xmlns:a16="http://schemas.microsoft.com/office/drawing/2014/main" id="{CDB94209-D657-6332-D298-3736A8B2FD9D}"/>
                  </a:ext>
                </a:extLst>
              </p:cNvPr>
              <p:cNvSpPr txBox="1"/>
              <p:nvPr/>
            </p:nvSpPr>
            <p:spPr>
              <a:xfrm>
                <a:off x="13716000" y="2285999"/>
                <a:ext cx="3657600" cy="4572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v_{DS} = V_{DD} - R_D\,i_D</a:t>
                </a:r>
              </a:p>
            </p:txBody>
          </p:sp>
        </mc:Fallback>
      </mc:AlternateContent>
      <p:sp>
        <p:nvSpPr>
          <p:cNvPr id="66" name="point @1">
            <a:extLst>
              <a:ext uri="{FF2B5EF4-FFF2-40B4-BE49-F238E27FC236}">
                <a16:creationId xmlns:a16="http://schemas.microsoft.com/office/drawing/2014/main" id="{EB235635-E27F-4327-2D9F-B8208E1E3897}"/>
              </a:ext>
            </a:extLst>
          </p:cNvPr>
          <p:cNvSpPr txBox="1"/>
          <p:nvPr/>
        </p:nvSpPr>
        <p:spPr>
          <a:xfrm>
            <a:off x="13716000" y="3111500"/>
            <a:ext cx="3657600" cy="9619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KVL at the drain: every operating point lies on this line.</a:t>
            </a:r>
          </a:p>
        </p:txBody>
      </p:sp>
      <p:sp>
        <p:nvSpPr>
          <p:cNvPr id="69" name="credit">
            <a:extLst>
              <a:ext uri="{FF2B5EF4-FFF2-40B4-BE49-F238E27FC236}">
                <a16:creationId xmlns:a16="http://schemas.microsoft.com/office/drawing/2014/main" id="{4D019B28-AD43-0BD4-7286-74452D367FD0}"/>
              </a:ext>
            </a:extLst>
          </p:cNvPr>
          <p:cNvSpPr txBox="1"/>
          <p:nvPr/>
        </p:nvSpPr>
        <p:spPr>
          <a:xfrm>
            <a:off x="5461000" y="8318499"/>
            <a:ext cx="7620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Curves computed for k′</a:t>
            </a:r>
            <a:r>
              <a:rPr lang="en-US" sz="1300" baseline="-25000">
                <a:solidFill>
                  <a:srgbClr val="4D5B54"/>
                </a:solidFill>
                <a:latin typeface="DM Sans" pitchFamily="2" charset="0"/>
              </a:rPr>
              <a:t>n</a:t>
            </a:r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(W/L) = 1 mA/V², </a:t>
            </a:r>
            <a:r>
              <a:rPr lang="en-US" sz="13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300" i="1" baseline="-25000">
                <a:solidFill>
                  <a:srgbClr val="4D5B54"/>
                </a:solidFill>
                <a:latin typeface="DM Sans" pitchFamily="2" charset="0"/>
              </a:rPr>
              <a:t>DD</a:t>
            </a:r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 = 10 V, </a:t>
            </a:r>
            <a:r>
              <a:rPr lang="en-US" sz="1300" i="1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13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 = 1.25 kΩ.</a:t>
            </a:r>
          </a:p>
        </p:txBody>
      </p:sp>
      <p:sp>
        <p:nvSpPr>
          <p:cNvPr id="70" name="chrome page">
            <a:extLst>
              <a:ext uri="{FF2B5EF4-FFF2-40B4-BE49-F238E27FC236}">
                <a16:creationId xmlns:a16="http://schemas.microsoft.com/office/drawing/2014/main" id="{EC5FD21E-AD0D-1E14-D044-E616DCD9BC46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chrome page">
            <a:extLst>
              <a:ext uri="{FF2B5EF4-FFF2-40B4-BE49-F238E27FC236}">
                <a16:creationId xmlns:a16="http://schemas.microsoft.com/office/drawing/2014/main" id="{9F0D27F3-E5FE-78D1-F761-3B7B3783897F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4155221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mplifier action: the load lin s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304C083-31E6-C37C-0951-F8480E6F4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Amplifier action: the load line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04F1BDD9-D783-65A3-E5FF-F1AA0ACBFF21}"/>
              </a:ext>
            </a:extLst>
          </p:cNvPr>
          <p:cNvSpPr/>
          <p:nvPr/>
        </p:nvSpPr>
        <p:spPr>
          <a:xfrm>
            <a:off x="914400" y="279400"/>
            <a:ext cx="377698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AD1AB7C9-E807-925A-6E90-859B2F3C1FAD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428F2A18-AEB3-DDD6-65E9-E88A365F945D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drawing card">
            <a:extLst>
              <a:ext uri="{FF2B5EF4-FFF2-40B4-BE49-F238E27FC236}">
                <a16:creationId xmlns:a16="http://schemas.microsoft.com/office/drawing/2014/main" id="{5D2CEA72-1358-CD73-6141-C9F56B87A087}"/>
              </a:ext>
            </a:extLst>
          </p:cNvPr>
          <p:cNvSpPr/>
          <p:nvPr/>
        </p:nvSpPr>
        <p:spPr>
          <a:xfrm>
            <a:off x="914400" y="2095500"/>
            <a:ext cx="4191000" cy="609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rawing card">
            <a:extLst>
              <a:ext uri="{FF2B5EF4-FFF2-40B4-BE49-F238E27FC236}">
                <a16:creationId xmlns:a16="http://schemas.microsoft.com/office/drawing/2014/main" id="{41A73EB7-3F79-EB21-FBD2-7A6682FCCFEA}"/>
              </a:ext>
            </a:extLst>
          </p:cNvPr>
          <p:cNvSpPr/>
          <p:nvPr/>
        </p:nvSpPr>
        <p:spPr>
          <a:xfrm>
            <a:off x="914400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kt">
            <a:extLst>
              <a:ext uri="{FF2B5EF4-FFF2-40B4-BE49-F238E27FC236}">
                <a16:creationId xmlns:a16="http://schemas.microsoft.com/office/drawing/2014/main" id="{041A5796-9B8A-2533-933B-9DBF80834957}"/>
              </a:ext>
            </a:extLst>
          </p:cNvPr>
          <p:cNvCxnSpPr/>
          <p:nvPr/>
        </p:nvCxnSpPr>
        <p:spPr>
          <a:xfrm>
            <a:off x="3073400" y="52674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kt">
            <a:extLst>
              <a:ext uri="{FF2B5EF4-FFF2-40B4-BE49-F238E27FC236}">
                <a16:creationId xmlns:a16="http://schemas.microsoft.com/office/drawing/2014/main" id="{BE72B1E4-145C-C5AC-E081-F3DE68950EC0}"/>
              </a:ext>
            </a:extLst>
          </p:cNvPr>
          <p:cNvCxnSpPr/>
          <p:nvPr/>
        </p:nvCxnSpPr>
        <p:spPr>
          <a:xfrm>
            <a:off x="3200400" y="5118100"/>
            <a:ext cx="0" cy="1066800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kt">
            <a:extLst>
              <a:ext uri="{FF2B5EF4-FFF2-40B4-BE49-F238E27FC236}">
                <a16:creationId xmlns:a16="http://schemas.microsoft.com/office/drawing/2014/main" id="{6CBEC450-B198-5825-80EE-A2F733E224BF}"/>
              </a:ext>
            </a:extLst>
          </p:cNvPr>
          <p:cNvCxnSpPr/>
          <p:nvPr/>
        </p:nvCxnSpPr>
        <p:spPr>
          <a:xfrm>
            <a:off x="3200400" y="52197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kt">
            <a:extLst>
              <a:ext uri="{FF2B5EF4-FFF2-40B4-BE49-F238E27FC236}">
                <a16:creationId xmlns:a16="http://schemas.microsoft.com/office/drawing/2014/main" id="{51BA6037-B5B5-6E0F-C4B3-FD56971852B4}"/>
              </a:ext>
            </a:extLst>
          </p:cNvPr>
          <p:cNvCxnSpPr/>
          <p:nvPr/>
        </p:nvCxnSpPr>
        <p:spPr>
          <a:xfrm>
            <a:off x="3200400" y="60833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kt">
            <a:extLst>
              <a:ext uri="{FF2B5EF4-FFF2-40B4-BE49-F238E27FC236}">
                <a16:creationId xmlns:a16="http://schemas.microsoft.com/office/drawing/2014/main" id="{81BC4941-A26B-DB6B-0DC4-BB825A18A7CE}"/>
              </a:ext>
            </a:extLst>
          </p:cNvPr>
          <p:cNvCxnSpPr/>
          <p:nvPr/>
        </p:nvCxnSpPr>
        <p:spPr>
          <a:xfrm>
            <a:off x="3502660" y="6083300"/>
            <a:ext cx="12954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kt">
            <a:extLst>
              <a:ext uri="{FF2B5EF4-FFF2-40B4-BE49-F238E27FC236}">
                <a16:creationId xmlns:a16="http://schemas.microsoft.com/office/drawing/2014/main" id="{38EF97D5-A617-442C-E0F7-30A057316FA8}"/>
              </a:ext>
            </a:extLst>
          </p:cNvPr>
          <p:cNvSpPr/>
          <p:nvPr/>
        </p:nvSpPr>
        <p:spPr>
          <a:xfrm>
            <a:off x="3562350" y="26606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 label">
            <a:extLst>
              <a:ext uri="{FF2B5EF4-FFF2-40B4-BE49-F238E27FC236}">
                <a16:creationId xmlns:a16="http://schemas.microsoft.com/office/drawing/2014/main" id="{5D7BE1DC-C545-05A1-DDD6-2625453BFF29}"/>
              </a:ext>
            </a:extLst>
          </p:cNvPr>
          <p:cNvSpPr txBox="1"/>
          <p:nvPr/>
        </p:nvSpPr>
        <p:spPr>
          <a:xfrm>
            <a:off x="3810000" y="2549524"/>
            <a:ext cx="2794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DD</a:t>
            </a:r>
          </a:p>
        </p:txBody>
      </p:sp>
      <p:sp>
        <p:nvSpPr>
          <p:cNvPr id="15" name="ckt">
            <a:extLst>
              <a:ext uri="{FF2B5EF4-FFF2-40B4-BE49-F238E27FC236}">
                <a16:creationId xmlns:a16="http://schemas.microsoft.com/office/drawing/2014/main" id="{207F68B6-4F53-3206-1036-5E2C34F175EF}"/>
              </a:ext>
            </a:extLst>
          </p:cNvPr>
          <p:cNvSpPr/>
          <p:nvPr/>
        </p:nvSpPr>
        <p:spPr>
          <a:xfrm>
            <a:off x="3505200" y="2800350"/>
            <a:ext cx="254001" cy="1454151"/>
          </a:xfrm>
          <a:custGeom>
            <a:avLst/>
            <a:gdLst/>
            <a:ahLst/>
            <a:cxnLst/>
            <a:rect l="0" t="0" r="0" b="0"/>
            <a:pathLst>
              <a:path w="254001" h="1454151">
                <a:moveTo>
                  <a:pt x="127000" y="0"/>
                </a:moveTo>
                <a:lnTo>
                  <a:pt x="127000" y="358775"/>
                </a:lnTo>
                <a:lnTo>
                  <a:pt x="0" y="420158"/>
                </a:lnTo>
                <a:lnTo>
                  <a:pt x="254000" y="542925"/>
                </a:lnTo>
                <a:lnTo>
                  <a:pt x="0" y="665692"/>
                </a:lnTo>
                <a:lnTo>
                  <a:pt x="254000" y="788458"/>
                </a:lnTo>
                <a:lnTo>
                  <a:pt x="0" y="911225"/>
                </a:lnTo>
                <a:lnTo>
                  <a:pt x="254000" y="1033992"/>
                </a:lnTo>
                <a:lnTo>
                  <a:pt x="127000" y="1095375"/>
                </a:lnTo>
                <a:lnTo>
                  <a:pt x="127000" y="145415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kt">
            <a:extLst>
              <a:ext uri="{FF2B5EF4-FFF2-40B4-BE49-F238E27FC236}">
                <a16:creationId xmlns:a16="http://schemas.microsoft.com/office/drawing/2014/main" id="{A65C845E-4A1E-846C-A8B8-F855F0BDAE4C}"/>
              </a:ext>
            </a:extLst>
          </p:cNvPr>
          <p:cNvSpPr/>
          <p:nvPr/>
        </p:nvSpPr>
        <p:spPr>
          <a:xfrm>
            <a:off x="3575050" y="41973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kt label">
            <a:extLst>
              <a:ext uri="{FF2B5EF4-FFF2-40B4-BE49-F238E27FC236}">
                <a16:creationId xmlns:a16="http://schemas.microsoft.com/office/drawing/2014/main" id="{453FDE91-0419-59C5-D2DD-5D7EB164F97E}"/>
              </a:ext>
            </a:extLst>
          </p:cNvPr>
          <p:cNvSpPr txBox="1"/>
          <p:nvPr/>
        </p:nvSpPr>
        <p:spPr>
          <a:xfrm>
            <a:off x="3835400" y="3311524"/>
            <a:ext cx="2794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</a:p>
        </p:txBody>
      </p:sp>
      <p:cxnSp>
        <p:nvCxnSpPr>
          <p:cNvPr id="18" name="ckt">
            <a:extLst>
              <a:ext uri="{FF2B5EF4-FFF2-40B4-BE49-F238E27FC236}">
                <a16:creationId xmlns:a16="http://schemas.microsoft.com/office/drawing/2014/main" id="{C95CF6A3-3680-4604-8372-305B0948A192}"/>
              </a:ext>
            </a:extLst>
          </p:cNvPr>
          <p:cNvCxnSpPr/>
          <p:nvPr/>
        </p:nvCxnSpPr>
        <p:spPr>
          <a:xfrm>
            <a:off x="3403600" y="3492500"/>
            <a:ext cx="0" cy="508000"/>
          </a:xfrm>
          <a:prstGeom prst="line">
            <a:avLst/>
          </a:prstGeom>
          <a:ln w="22225">
            <a:solidFill>
              <a:srgbClr val="4D5B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kt label">
            <a:extLst>
              <a:ext uri="{FF2B5EF4-FFF2-40B4-BE49-F238E27FC236}">
                <a16:creationId xmlns:a16="http://schemas.microsoft.com/office/drawing/2014/main" id="{83523822-C1A9-B5B2-1B96-FB8EB9B4CD91}"/>
              </a:ext>
            </a:extLst>
          </p:cNvPr>
          <p:cNvSpPr txBox="1"/>
          <p:nvPr/>
        </p:nvSpPr>
        <p:spPr>
          <a:xfrm>
            <a:off x="2692400" y="3508374"/>
            <a:ext cx="635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</a:p>
        </p:txBody>
      </p:sp>
      <p:cxnSp>
        <p:nvCxnSpPr>
          <p:cNvPr id="20" name="ckt">
            <a:extLst>
              <a:ext uri="{FF2B5EF4-FFF2-40B4-BE49-F238E27FC236}">
                <a16:creationId xmlns:a16="http://schemas.microsoft.com/office/drawing/2014/main" id="{47DACD5A-6738-E8FB-96EC-B9F474EF354C}"/>
              </a:ext>
            </a:extLst>
          </p:cNvPr>
          <p:cNvCxnSpPr/>
          <p:nvPr/>
        </p:nvCxnSpPr>
        <p:spPr>
          <a:xfrm>
            <a:off x="3632200" y="4254500"/>
            <a:ext cx="0" cy="9652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kt">
            <a:extLst>
              <a:ext uri="{FF2B5EF4-FFF2-40B4-BE49-F238E27FC236}">
                <a16:creationId xmlns:a16="http://schemas.microsoft.com/office/drawing/2014/main" id="{D4D82803-044A-6D6F-252D-0DD7D940CE26}"/>
              </a:ext>
            </a:extLst>
          </p:cNvPr>
          <p:cNvCxnSpPr/>
          <p:nvPr/>
        </p:nvCxnSpPr>
        <p:spPr>
          <a:xfrm>
            <a:off x="3632200" y="4254500"/>
            <a:ext cx="762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kt">
            <a:extLst>
              <a:ext uri="{FF2B5EF4-FFF2-40B4-BE49-F238E27FC236}">
                <a16:creationId xmlns:a16="http://schemas.microsoft.com/office/drawing/2014/main" id="{D055DFCF-6A6C-C9E8-BEB6-44AEC6013CD7}"/>
              </a:ext>
            </a:extLst>
          </p:cNvPr>
          <p:cNvSpPr/>
          <p:nvPr/>
        </p:nvSpPr>
        <p:spPr>
          <a:xfrm>
            <a:off x="4400550" y="41846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kt label">
            <a:extLst>
              <a:ext uri="{FF2B5EF4-FFF2-40B4-BE49-F238E27FC236}">
                <a16:creationId xmlns:a16="http://schemas.microsoft.com/office/drawing/2014/main" id="{F058A7A8-4F03-DDBD-D610-15AF28E8662D}"/>
              </a:ext>
            </a:extLst>
          </p:cNvPr>
          <p:cNvSpPr txBox="1"/>
          <p:nvPr/>
        </p:nvSpPr>
        <p:spPr>
          <a:xfrm>
            <a:off x="4622800" y="4073524"/>
            <a:ext cx="1016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</a:p>
        </p:txBody>
      </p:sp>
      <p:cxnSp>
        <p:nvCxnSpPr>
          <p:cNvPr id="24" name="ckt">
            <a:extLst>
              <a:ext uri="{FF2B5EF4-FFF2-40B4-BE49-F238E27FC236}">
                <a16:creationId xmlns:a16="http://schemas.microsoft.com/office/drawing/2014/main" id="{FE9C3505-D04F-4F05-2BB8-357EFF56EF3E}"/>
              </a:ext>
            </a:extLst>
          </p:cNvPr>
          <p:cNvCxnSpPr/>
          <p:nvPr/>
        </p:nvCxnSpPr>
        <p:spPr>
          <a:xfrm>
            <a:off x="3632200" y="6083300"/>
            <a:ext cx="0" cy="14732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95F0D330-58F0-55A1-BB36-4D6F0C2EC217}"/>
              </a:ext>
            </a:extLst>
          </p:cNvPr>
          <p:cNvCxnSpPr/>
          <p:nvPr/>
        </p:nvCxnSpPr>
        <p:spPr>
          <a:xfrm>
            <a:off x="3632200" y="75565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641DEB30-91FE-68DA-B8B4-C8871A83F4E9}"/>
              </a:ext>
            </a:extLst>
          </p:cNvPr>
          <p:cNvCxnSpPr/>
          <p:nvPr/>
        </p:nvCxnSpPr>
        <p:spPr>
          <a:xfrm>
            <a:off x="3441700" y="77089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8A09CD5D-77E5-672F-313D-F4900A6462DA}"/>
              </a:ext>
            </a:extLst>
          </p:cNvPr>
          <p:cNvCxnSpPr/>
          <p:nvPr/>
        </p:nvCxnSpPr>
        <p:spPr>
          <a:xfrm>
            <a:off x="3511550" y="77787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D75339A9-6FF4-DF15-B80A-F1B85759583B}"/>
              </a:ext>
            </a:extLst>
          </p:cNvPr>
          <p:cNvCxnSpPr/>
          <p:nvPr/>
        </p:nvCxnSpPr>
        <p:spPr>
          <a:xfrm>
            <a:off x="3581400" y="78486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kt">
            <a:extLst>
              <a:ext uri="{FF2B5EF4-FFF2-40B4-BE49-F238E27FC236}">
                <a16:creationId xmlns:a16="http://schemas.microsoft.com/office/drawing/2014/main" id="{1E4B3EEE-557D-C991-7399-AAF24B6CCA51}"/>
              </a:ext>
            </a:extLst>
          </p:cNvPr>
          <p:cNvCxnSpPr/>
          <p:nvPr/>
        </p:nvCxnSpPr>
        <p:spPr>
          <a:xfrm>
            <a:off x="1676400" y="5651500"/>
            <a:ext cx="1397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kt">
            <a:extLst>
              <a:ext uri="{FF2B5EF4-FFF2-40B4-BE49-F238E27FC236}">
                <a16:creationId xmlns:a16="http://schemas.microsoft.com/office/drawing/2014/main" id="{54CC86C4-E3B9-2E9C-1B62-EDC671E0CC13}"/>
              </a:ext>
            </a:extLst>
          </p:cNvPr>
          <p:cNvCxnSpPr/>
          <p:nvPr/>
        </p:nvCxnSpPr>
        <p:spPr>
          <a:xfrm>
            <a:off x="1676400" y="5651500"/>
            <a:ext cx="0" cy="6731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kt">
            <a:extLst>
              <a:ext uri="{FF2B5EF4-FFF2-40B4-BE49-F238E27FC236}">
                <a16:creationId xmlns:a16="http://schemas.microsoft.com/office/drawing/2014/main" id="{5FF89D2F-2125-3715-6B5B-0007922BFB5A}"/>
              </a:ext>
            </a:extLst>
          </p:cNvPr>
          <p:cNvCxnSpPr/>
          <p:nvPr/>
        </p:nvCxnSpPr>
        <p:spPr>
          <a:xfrm>
            <a:off x="1676400" y="6883400"/>
            <a:ext cx="0" cy="6731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kt">
            <a:extLst>
              <a:ext uri="{FF2B5EF4-FFF2-40B4-BE49-F238E27FC236}">
                <a16:creationId xmlns:a16="http://schemas.microsoft.com/office/drawing/2014/main" id="{1870B20D-E160-6956-30DA-3DDBFE97ECC9}"/>
              </a:ext>
            </a:extLst>
          </p:cNvPr>
          <p:cNvSpPr/>
          <p:nvPr/>
        </p:nvSpPr>
        <p:spPr>
          <a:xfrm>
            <a:off x="1397000" y="6324600"/>
            <a:ext cx="558800" cy="558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kt">
            <a:extLst>
              <a:ext uri="{FF2B5EF4-FFF2-40B4-BE49-F238E27FC236}">
                <a16:creationId xmlns:a16="http://schemas.microsoft.com/office/drawing/2014/main" id="{01DFA562-29B1-E80D-0E4C-3477A863FE1F}"/>
              </a:ext>
            </a:extLst>
          </p:cNvPr>
          <p:cNvSpPr txBox="1"/>
          <p:nvPr/>
        </p:nvSpPr>
        <p:spPr>
          <a:xfrm>
            <a:off x="1549400" y="6311899"/>
            <a:ext cx="25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>
                <a:solidFill>
                  <a:srgbClr val="15241D"/>
                </a:solidFill>
                <a:latin typeface="DM Sans" pitchFamily="2" charset="0"/>
              </a:rPr>
              <a:t>+</a:t>
            </a:r>
          </a:p>
        </p:txBody>
      </p:sp>
      <p:sp>
        <p:nvSpPr>
          <p:cNvPr id="34" name="ckt">
            <a:extLst>
              <a:ext uri="{FF2B5EF4-FFF2-40B4-BE49-F238E27FC236}">
                <a16:creationId xmlns:a16="http://schemas.microsoft.com/office/drawing/2014/main" id="{A4C0A9DE-715A-958B-B248-D8BF969B1106}"/>
              </a:ext>
            </a:extLst>
          </p:cNvPr>
          <p:cNvSpPr txBox="1"/>
          <p:nvPr/>
        </p:nvSpPr>
        <p:spPr>
          <a:xfrm>
            <a:off x="1549400" y="6591299"/>
            <a:ext cx="25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>
                <a:solidFill>
                  <a:srgbClr val="15241D"/>
                </a:solidFill>
                <a:latin typeface="DM Sans" pitchFamily="2" charset="0"/>
              </a:rPr>
              <a:t>−</a:t>
            </a:r>
          </a:p>
        </p:txBody>
      </p:sp>
      <p:cxnSp>
        <p:nvCxnSpPr>
          <p:cNvPr id="35" name="ckt">
            <a:extLst>
              <a:ext uri="{FF2B5EF4-FFF2-40B4-BE49-F238E27FC236}">
                <a16:creationId xmlns:a16="http://schemas.microsoft.com/office/drawing/2014/main" id="{9F583B6E-C53D-A9C5-062E-EF3DC7B8CF1F}"/>
              </a:ext>
            </a:extLst>
          </p:cNvPr>
          <p:cNvCxnSpPr/>
          <p:nvPr/>
        </p:nvCxnSpPr>
        <p:spPr>
          <a:xfrm>
            <a:off x="1676400" y="75565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kt">
            <a:extLst>
              <a:ext uri="{FF2B5EF4-FFF2-40B4-BE49-F238E27FC236}">
                <a16:creationId xmlns:a16="http://schemas.microsoft.com/office/drawing/2014/main" id="{BA82B9CF-4355-103A-7EEA-867FC9D6A2A6}"/>
              </a:ext>
            </a:extLst>
          </p:cNvPr>
          <p:cNvCxnSpPr/>
          <p:nvPr/>
        </p:nvCxnSpPr>
        <p:spPr>
          <a:xfrm>
            <a:off x="1485900" y="77089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kt">
            <a:extLst>
              <a:ext uri="{FF2B5EF4-FFF2-40B4-BE49-F238E27FC236}">
                <a16:creationId xmlns:a16="http://schemas.microsoft.com/office/drawing/2014/main" id="{8F4202E5-652D-2D76-B3D5-1DA41B60A78B}"/>
              </a:ext>
            </a:extLst>
          </p:cNvPr>
          <p:cNvCxnSpPr/>
          <p:nvPr/>
        </p:nvCxnSpPr>
        <p:spPr>
          <a:xfrm>
            <a:off x="1555750" y="77787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kt">
            <a:extLst>
              <a:ext uri="{FF2B5EF4-FFF2-40B4-BE49-F238E27FC236}">
                <a16:creationId xmlns:a16="http://schemas.microsoft.com/office/drawing/2014/main" id="{E3537D1B-1048-84B8-DDFF-B0FAD42CE298}"/>
              </a:ext>
            </a:extLst>
          </p:cNvPr>
          <p:cNvCxnSpPr/>
          <p:nvPr/>
        </p:nvCxnSpPr>
        <p:spPr>
          <a:xfrm>
            <a:off x="1625600" y="78486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kt label">
            <a:extLst>
              <a:ext uri="{FF2B5EF4-FFF2-40B4-BE49-F238E27FC236}">
                <a16:creationId xmlns:a16="http://schemas.microsoft.com/office/drawing/2014/main" id="{E6504649-1009-173C-AEA7-89FBB61A0F1D}"/>
              </a:ext>
            </a:extLst>
          </p:cNvPr>
          <p:cNvSpPr txBox="1"/>
          <p:nvPr/>
        </p:nvSpPr>
        <p:spPr>
          <a:xfrm>
            <a:off x="2057400" y="6423024"/>
            <a:ext cx="1016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</a:p>
        </p:txBody>
      </p:sp>
      <p:sp>
        <p:nvSpPr>
          <p:cNvPr id="40" name="plot card">
            <a:extLst>
              <a:ext uri="{FF2B5EF4-FFF2-40B4-BE49-F238E27FC236}">
                <a16:creationId xmlns:a16="http://schemas.microsoft.com/office/drawing/2014/main" id="{9F491F5C-880B-15B7-601F-7A093CCAB4A3}"/>
              </a:ext>
            </a:extLst>
          </p:cNvPr>
          <p:cNvSpPr/>
          <p:nvPr/>
        </p:nvSpPr>
        <p:spPr>
          <a:xfrm>
            <a:off x="5461000" y="2095500"/>
            <a:ext cx="7874000" cy="609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plot card">
            <a:extLst>
              <a:ext uri="{FF2B5EF4-FFF2-40B4-BE49-F238E27FC236}">
                <a16:creationId xmlns:a16="http://schemas.microsoft.com/office/drawing/2014/main" id="{4352D0F0-7E21-5ED6-968F-DE994836B2DE}"/>
              </a:ext>
            </a:extLst>
          </p:cNvPr>
          <p:cNvSpPr/>
          <p:nvPr/>
        </p:nvSpPr>
        <p:spPr>
          <a:xfrm>
            <a:off x="5461000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plot">
            <a:extLst>
              <a:ext uri="{FF2B5EF4-FFF2-40B4-BE49-F238E27FC236}">
                <a16:creationId xmlns:a16="http://schemas.microsoft.com/office/drawing/2014/main" id="{6A0C1000-D614-EFDE-6120-85060A78789B}"/>
              </a:ext>
            </a:extLst>
          </p:cNvPr>
          <p:cNvCxnSpPr/>
          <p:nvPr/>
        </p:nvCxnSpPr>
        <p:spPr>
          <a:xfrm>
            <a:off x="6604000" y="7112000"/>
            <a:ext cx="5257800" cy="0"/>
          </a:xfrm>
          <a:prstGeom prst="line">
            <a:avLst/>
          </a:prstGeom>
          <a:ln w="22225">
            <a:solidFill>
              <a:srgbClr val="1524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plot">
            <a:extLst>
              <a:ext uri="{FF2B5EF4-FFF2-40B4-BE49-F238E27FC236}">
                <a16:creationId xmlns:a16="http://schemas.microsoft.com/office/drawing/2014/main" id="{961C4CDD-E4B2-8699-6A0B-03AD29EDEE5E}"/>
              </a:ext>
            </a:extLst>
          </p:cNvPr>
          <p:cNvCxnSpPr/>
          <p:nvPr/>
        </p:nvCxnSpPr>
        <p:spPr>
          <a:xfrm flipV="1">
            <a:off x="6604000" y="2743200"/>
            <a:ext cx="0" cy="4368800"/>
          </a:xfrm>
          <a:prstGeom prst="line">
            <a:avLst/>
          </a:prstGeom>
          <a:ln w="22225">
            <a:solidFill>
              <a:srgbClr val="1524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plot">
            <a:extLst>
              <a:ext uri="{FF2B5EF4-FFF2-40B4-BE49-F238E27FC236}">
                <a16:creationId xmlns:a16="http://schemas.microsoft.com/office/drawing/2014/main" id="{DABAEF4E-E199-C926-5C14-BBBB80EEFB73}"/>
              </a:ext>
            </a:extLst>
          </p:cNvPr>
          <p:cNvSpPr txBox="1"/>
          <p:nvPr/>
        </p:nvSpPr>
        <p:spPr>
          <a:xfrm>
            <a:off x="11963400" y="6921499"/>
            <a:ext cx="1397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0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 (V)</a:t>
            </a:r>
          </a:p>
        </p:txBody>
      </p:sp>
      <p:sp>
        <p:nvSpPr>
          <p:cNvPr id="45" name="plot">
            <a:extLst>
              <a:ext uri="{FF2B5EF4-FFF2-40B4-BE49-F238E27FC236}">
                <a16:creationId xmlns:a16="http://schemas.microsoft.com/office/drawing/2014/main" id="{5F0605BA-3C9F-132A-1E7E-42F6A01BE9BB}"/>
              </a:ext>
            </a:extLst>
          </p:cNvPr>
          <p:cNvSpPr txBox="1"/>
          <p:nvPr/>
        </p:nvSpPr>
        <p:spPr>
          <a:xfrm>
            <a:off x="6527800" y="23621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0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 (mA)</a:t>
            </a:r>
          </a:p>
        </p:txBody>
      </p:sp>
      <p:sp>
        <p:nvSpPr>
          <p:cNvPr id="46" name="plot">
            <a:extLst>
              <a:ext uri="{FF2B5EF4-FFF2-40B4-BE49-F238E27FC236}">
                <a16:creationId xmlns:a16="http://schemas.microsoft.com/office/drawing/2014/main" id="{4FAD7E8B-9E01-C145-C5AC-99D1483E365E}"/>
              </a:ext>
            </a:extLst>
          </p:cNvPr>
          <p:cNvSpPr/>
          <p:nvPr/>
        </p:nvSpPr>
        <p:spPr>
          <a:xfrm>
            <a:off x="6604000" y="6878127"/>
            <a:ext cx="4938890" cy="233874"/>
          </a:xfrm>
          <a:custGeom>
            <a:avLst/>
            <a:gdLst/>
            <a:ahLst/>
            <a:cxnLst/>
            <a:rect l="0" t="0" r="0" b="0"/>
            <a:pathLst>
              <a:path w="4938890" h="233874">
                <a:moveTo>
                  <a:pt x="0" y="233873"/>
                </a:moveTo>
                <a:lnTo>
                  <a:pt x="82315" y="159180"/>
                </a:lnTo>
                <a:lnTo>
                  <a:pt x="164629" y="98811"/>
                </a:lnTo>
                <a:lnTo>
                  <a:pt x="246945" y="52768"/>
                </a:lnTo>
                <a:lnTo>
                  <a:pt x="329259" y="21049"/>
                </a:lnTo>
                <a:lnTo>
                  <a:pt x="411574" y="3654"/>
                </a:lnTo>
                <a:lnTo>
                  <a:pt x="493889" y="0"/>
                </a:lnTo>
                <a:lnTo>
                  <a:pt x="576204" y="0"/>
                </a:lnTo>
                <a:lnTo>
                  <a:pt x="658519" y="0"/>
                </a:lnTo>
                <a:lnTo>
                  <a:pt x="740833" y="0"/>
                </a:lnTo>
                <a:lnTo>
                  <a:pt x="823148" y="0"/>
                </a:lnTo>
                <a:lnTo>
                  <a:pt x="905463" y="0"/>
                </a:lnTo>
                <a:lnTo>
                  <a:pt x="987778" y="0"/>
                </a:lnTo>
                <a:lnTo>
                  <a:pt x="1070093" y="0"/>
                </a:lnTo>
                <a:lnTo>
                  <a:pt x="1152407" y="0"/>
                </a:lnTo>
                <a:lnTo>
                  <a:pt x="1234722" y="0"/>
                </a:lnTo>
                <a:lnTo>
                  <a:pt x="1317037" y="0"/>
                </a:lnTo>
                <a:lnTo>
                  <a:pt x="1399352" y="0"/>
                </a:lnTo>
                <a:lnTo>
                  <a:pt x="1481667" y="0"/>
                </a:lnTo>
                <a:lnTo>
                  <a:pt x="1563981" y="0"/>
                </a:lnTo>
                <a:lnTo>
                  <a:pt x="1646296" y="0"/>
                </a:lnTo>
                <a:lnTo>
                  <a:pt x="1728611" y="0"/>
                </a:lnTo>
                <a:lnTo>
                  <a:pt x="1810926" y="0"/>
                </a:lnTo>
                <a:lnTo>
                  <a:pt x="1893241" y="0"/>
                </a:lnTo>
                <a:lnTo>
                  <a:pt x="1975555" y="0"/>
                </a:lnTo>
                <a:lnTo>
                  <a:pt x="2057871" y="0"/>
                </a:lnTo>
                <a:lnTo>
                  <a:pt x="2140185" y="0"/>
                </a:lnTo>
                <a:lnTo>
                  <a:pt x="2222500" y="0"/>
                </a:lnTo>
                <a:lnTo>
                  <a:pt x="2304815" y="0"/>
                </a:lnTo>
                <a:lnTo>
                  <a:pt x="2387129" y="0"/>
                </a:lnTo>
                <a:lnTo>
                  <a:pt x="2469445" y="0"/>
                </a:lnTo>
                <a:lnTo>
                  <a:pt x="2551759" y="0"/>
                </a:lnTo>
                <a:lnTo>
                  <a:pt x="2634074" y="0"/>
                </a:lnTo>
                <a:lnTo>
                  <a:pt x="2716389" y="0"/>
                </a:lnTo>
                <a:lnTo>
                  <a:pt x="2798704" y="0"/>
                </a:lnTo>
                <a:lnTo>
                  <a:pt x="2881019" y="0"/>
                </a:lnTo>
                <a:lnTo>
                  <a:pt x="2963333" y="0"/>
                </a:lnTo>
                <a:lnTo>
                  <a:pt x="3045648" y="0"/>
                </a:lnTo>
                <a:lnTo>
                  <a:pt x="3127963" y="0"/>
                </a:lnTo>
                <a:lnTo>
                  <a:pt x="3210278" y="0"/>
                </a:lnTo>
                <a:lnTo>
                  <a:pt x="3292593" y="0"/>
                </a:lnTo>
                <a:lnTo>
                  <a:pt x="3374907" y="0"/>
                </a:lnTo>
                <a:lnTo>
                  <a:pt x="3457222" y="0"/>
                </a:lnTo>
                <a:lnTo>
                  <a:pt x="3539537" y="0"/>
                </a:lnTo>
                <a:lnTo>
                  <a:pt x="3621852" y="0"/>
                </a:lnTo>
                <a:lnTo>
                  <a:pt x="3704167" y="0"/>
                </a:lnTo>
                <a:lnTo>
                  <a:pt x="3786481" y="0"/>
                </a:lnTo>
                <a:lnTo>
                  <a:pt x="3868796" y="0"/>
                </a:lnTo>
                <a:lnTo>
                  <a:pt x="3951111" y="0"/>
                </a:lnTo>
                <a:lnTo>
                  <a:pt x="4033426" y="0"/>
                </a:lnTo>
                <a:lnTo>
                  <a:pt x="4115741" y="0"/>
                </a:lnTo>
                <a:lnTo>
                  <a:pt x="4198055" y="0"/>
                </a:lnTo>
                <a:lnTo>
                  <a:pt x="4280371" y="0"/>
                </a:lnTo>
                <a:lnTo>
                  <a:pt x="4362685" y="0"/>
                </a:lnTo>
                <a:lnTo>
                  <a:pt x="4445000" y="0"/>
                </a:lnTo>
                <a:lnTo>
                  <a:pt x="4527315" y="0"/>
                </a:lnTo>
                <a:lnTo>
                  <a:pt x="4609629" y="0"/>
                </a:lnTo>
                <a:lnTo>
                  <a:pt x="4691945" y="0"/>
                </a:lnTo>
                <a:lnTo>
                  <a:pt x="4774259" y="0"/>
                </a:lnTo>
                <a:lnTo>
                  <a:pt x="4856574" y="0"/>
                </a:lnTo>
                <a:lnTo>
                  <a:pt x="4938889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plot">
            <a:extLst>
              <a:ext uri="{FF2B5EF4-FFF2-40B4-BE49-F238E27FC236}">
                <a16:creationId xmlns:a16="http://schemas.microsoft.com/office/drawing/2014/main" id="{D764185C-BCD7-9B59-DEDC-DCC05C12BBC9}"/>
              </a:ext>
            </a:extLst>
          </p:cNvPr>
          <p:cNvSpPr txBox="1"/>
          <p:nvPr/>
        </p:nvSpPr>
        <p:spPr>
          <a:xfrm>
            <a:off x="7191963" y="6547926"/>
            <a:ext cx="2413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5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1500">
                <a:solidFill>
                  <a:srgbClr val="4D5B54"/>
                </a:solidFill>
                <a:latin typeface="DM Sans" pitchFamily="2" charset="0"/>
              </a:rPr>
              <a:t> = </a:t>
            </a:r>
            <a:r>
              <a:rPr lang="en-US" sz="15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5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1500">
                <a:solidFill>
                  <a:srgbClr val="4D5B54"/>
                </a:solidFill>
                <a:latin typeface="DM Sans" pitchFamily="2" charset="0"/>
              </a:rPr>
              <a:t> + 1</a:t>
            </a:r>
          </a:p>
        </p:txBody>
      </p:sp>
      <p:sp>
        <p:nvSpPr>
          <p:cNvPr id="48" name="plot">
            <a:extLst>
              <a:ext uri="{FF2B5EF4-FFF2-40B4-BE49-F238E27FC236}">
                <a16:creationId xmlns:a16="http://schemas.microsoft.com/office/drawing/2014/main" id="{D7AFD0B1-758E-08AF-39B0-375B84A5C929}"/>
              </a:ext>
            </a:extLst>
          </p:cNvPr>
          <p:cNvSpPr/>
          <p:nvPr/>
        </p:nvSpPr>
        <p:spPr>
          <a:xfrm>
            <a:off x="6604000" y="6176509"/>
            <a:ext cx="4938890" cy="935492"/>
          </a:xfrm>
          <a:custGeom>
            <a:avLst/>
            <a:gdLst/>
            <a:ahLst/>
            <a:cxnLst/>
            <a:rect l="0" t="0" r="0" b="0"/>
            <a:pathLst>
              <a:path w="4938890" h="935492">
                <a:moveTo>
                  <a:pt x="0" y="935491"/>
                </a:moveTo>
                <a:lnTo>
                  <a:pt x="82315" y="778942"/>
                </a:lnTo>
                <a:lnTo>
                  <a:pt x="164629" y="636719"/>
                </a:lnTo>
                <a:lnTo>
                  <a:pt x="246945" y="508819"/>
                </a:lnTo>
                <a:lnTo>
                  <a:pt x="329259" y="395245"/>
                </a:lnTo>
                <a:lnTo>
                  <a:pt x="411574" y="295995"/>
                </a:lnTo>
                <a:lnTo>
                  <a:pt x="493889" y="211070"/>
                </a:lnTo>
                <a:lnTo>
                  <a:pt x="576204" y="140470"/>
                </a:lnTo>
                <a:lnTo>
                  <a:pt x="658519" y="84194"/>
                </a:lnTo>
                <a:lnTo>
                  <a:pt x="740833" y="42243"/>
                </a:lnTo>
                <a:lnTo>
                  <a:pt x="823148" y="14617"/>
                </a:lnTo>
                <a:lnTo>
                  <a:pt x="905463" y="1315"/>
                </a:lnTo>
                <a:lnTo>
                  <a:pt x="987778" y="0"/>
                </a:lnTo>
                <a:lnTo>
                  <a:pt x="1070093" y="0"/>
                </a:lnTo>
                <a:lnTo>
                  <a:pt x="1152407" y="0"/>
                </a:lnTo>
                <a:lnTo>
                  <a:pt x="1234722" y="0"/>
                </a:lnTo>
                <a:lnTo>
                  <a:pt x="1317037" y="0"/>
                </a:lnTo>
                <a:lnTo>
                  <a:pt x="1399352" y="0"/>
                </a:lnTo>
                <a:lnTo>
                  <a:pt x="1481667" y="0"/>
                </a:lnTo>
                <a:lnTo>
                  <a:pt x="1563981" y="0"/>
                </a:lnTo>
                <a:lnTo>
                  <a:pt x="1646296" y="0"/>
                </a:lnTo>
                <a:lnTo>
                  <a:pt x="1728611" y="0"/>
                </a:lnTo>
                <a:lnTo>
                  <a:pt x="1810926" y="0"/>
                </a:lnTo>
                <a:lnTo>
                  <a:pt x="1893241" y="0"/>
                </a:lnTo>
                <a:lnTo>
                  <a:pt x="1975555" y="0"/>
                </a:lnTo>
                <a:lnTo>
                  <a:pt x="2057871" y="0"/>
                </a:lnTo>
                <a:lnTo>
                  <a:pt x="2140185" y="0"/>
                </a:lnTo>
                <a:lnTo>
                  <a:pt x="2222500" y="0"/>
                </a:lnTo>
                <a:lnTo>
                  <a:pt x="2304815" y="0"/>
                </a:lnTo>
                <a:lnTo>
                  <a:pt x="2387129" y="0"/>
                </a:lnTo>
                <a:lnTo>
                  <a:pt x="2469445" y="0"/>
                </a:lnTo>
                <a:lnTo>
                  <a:pt x="2551759" y="0"/>
                </a:lnTo>
                <a:lnTo>
                  <a:pt x="2634074" y="0"/>
                </a:lnTo>
                <a:lnTo>
                  <a:pt x="2716389" y="0"/>
                </a:lnTo>
                <a:lnTo>
                  <a:pt x="2798704" y="0"/>
                </a:lnTo>
                <a:lnTo>
                  <a:pt x="2881019" y="0"/>
                </a:lnTo>
                <a:lnTo>
                  <a:pt x="2963333" y="0"/>
                </a:lnTo>
                <a:lnTo>
                  <a:pt x="3045648" y="0"/>
                </a:lnTo>
                <a:lnTo>
                  <a:pt x="3127963" y="0"/>
                </a:lnTo>
                <a:lnTo>
                  <a:pt x="3210278" y="0"/>
                </a:lnTo>
                <a:lnTo>
                  <a:pt x="3292593" y="0"/>
                </a:lnTo>
                <a:lnTo>
                  <a:pt x="3374907" y="0"/>
                </a:lnTo>
                <a:lnTo>
                  <a:pt x="3457222" y="0"/>
                </a:lnTo>
                <a:lnTo>
                  <a:pt x="3539537" y="0"/>
                </a:lnTo>
                <a:lnTo>
                  <a:pt x="3621852" y="0"/>
                </a:lnTo>
                <a:lnTo>
                  <a:pt x="3704167" y="0"/>
                </a:lnTo>
                <a:lnTo>
                  <a:pt x="3786481" y="0"/>
                </a:lnTo>
                <a:lnTo>
                  <a:pt x="3868796" y="0"/>
                </a:lnTo>
                <a:lnTo>
                  <a:pt x="3951111" y="0"/>
                </a:lnTo>
                <a:lnTo>
                  <a:pt x="4033426" y="0"/>
                </a:lnTo>
                <a:lnTo>
                  <a:pt x="4115741" y="0"/>
                </a:lnTo>
                <a:lnTo>
                  <a:pt x="4198055" y="0"/>
                </a:lnTo>
                <a:lnTo>
                  <a:pt x="4280371" y="0"/>
                </a:lnTo>
                <a:lnTo>
                  <a:pt x="4362685" y="0"/>
                </a:lnTo>
                <a:lnTo>
                  <a:pt x="4445000" y="0"/>
                </a:lnTo>
                <a:lnTo>
                  <a:pt x="4527315" y="0"/>
                </a:lnTo>
                <a:lnTo>
                  <a:pt x="4609629" y="0"/>
                </a:lnTo>
                <a:lnTo>
                  <a:pt x="4691945" y="0"/>
                </a:lnTo>
                <a:lnTo>
                  <a:pt x="4774259" y="0"/>
                </a:lnTo>
                <a:lnTo>
                  <a:pt x="4856574" y="0"/>
                </a:lnTo>
                <a:lnTo>
                  <a:pt x="4938889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plot">
            <a:extLst>
              <a:ext uri="{FF2B5EF4-FFF2-40B4-BE49-F238E27FC236}">
                <a16:creationId xmlns:a16="http://schemas.microsoft.com/office/drawing/2014/main" id="{3A84F7F1-8BFB-6CA4-1833-0CF99E207657}"/>
              </a:ext>
            </a:extLst>
          </p:cNvPr>
          <p:cNvSpPr txBox="1"/>
          <p:nvPr/>
        </p:nvSpPr>
        <p:spPr>
          <a:xfrm>
            <a:off x="7662333" y="5846308"/>
            <a:ext cx="2413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5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1500">
                <a:solidFill>
                  <a:srgbClr val="4D5B54"/>
                </a:solidFill>
                <a:latin typeface="DM Sans" pitchFamily="2" charset="0"/>
              </a:rPr>
              <a:t> = </a:t>
            </a:r>
            <a:r>
              <a:rPr lang="en-US" sz="15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5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1500">
                <a:solidFill>
                  <a:srgbClr val="4D5B54"/>
                </a:solidFill>
                <a:latin typeface="DM Sans" pitchFamily="2" charset="0"/>
              </a:rPr>
              <a:t> + 2</a:t>
            </a:r>
          </a:p>
        </p:txBody>
      </p:sp>
      <p:sp>
        <p:nvSpPr>
          <p:cNvPr id="50" name="plot">
            <a:extLst>
              <a:ext uri="{FF2B5EF4-FFF2-40B4-BE49-F238E27FC236}">
                <a16:creationId xmlns:a16="http://schemas.microsoft.com/office/drawing/2014/main" id="{E87FA2B1-7348-FB12-1988-6CF3407CBE40}"/>
              </a:ext>
            </a:extLst>
          </p:cNvPr>
          <p:cNvSpPr/>
          <p:nvPr/>
        </p:nvSpPr>
        <p:spPr>
          <a:xfrm>
            <a:off x="6604000" y="5007145"/>
            <a:ext cx="4938890" cy="2104856"/>
          </a:xfrm>
          <a:custGeom>
            <a:avLst/>
            <a:gdLst/>
            <a:ahLst/>
            <a:cxnLst/>
            <a:rect l="0" t="0" r="0" b="0"/>
            <a:pathLst>
              <a:path w="4938890" h="2104856">
                <a:moveTo>
                  <a:pt x="0" y="2104855"/>
                </a:moveTo>
                <a:lnTo>
                  <a:pt x="82315" y="1866451"/>
                </a:lnTo>
                <a:lnTo>
                  <a:pt x="164629" y="1642372"/>
                </a:lnTo>
                <a:lnTo>
                  <a:pt x="246945" y="1432617"/>
                </a:lnTo>
                <a:lnTo>
                  <a:pt x="329259" y="1237187"/>
                </a:lnTo>
                <a:lnTo>
                  <a:pt x="411574" y="1056082"/>
                </a:lnTo>
                <a:lnTo>
                  <a:pt x="493889" y="889301"/>
                </a:lnTo>
                <a:lnTo>
                  <a:pt x="576204" y="736845"/>
                </a:lnTo>
                <a:lnTo>
                  <a:pt x="658519" y="598714"/>
                </a:lnTo>
                <a:lnTo>
                  <a:pt x="740833" y="474908"/>
                </a:lnTo>
                <a:lnTo>
                  <a:pt x="823148" y="365426"/>
                </a:lnTo>
                <a:lnTo>
                  <a:pt x="905463" y="270269"/>
                </a:lnTo>
                <a:lnTo>
                  <a:pt x="987778" y="189437"/>
                </a:lnTo>
                <a:lnTo>
                  <a:pt x="1070093" y="122929"/>
                </a:lnTo>
                <a:lnTo>
                  <a:pt x="1152407" y="70747"/>
                </a:lnTo>
                <a:lnTo>
                  <a:pt x="1234722" y="32888"/>
                </a:lnTo>
                <a:lnTo>
                  <a:pt x="1317037" y="9355"/>
                </a:lnTo>
                <a:lnTo>
                  <a:pt x="1399352" y="146"/>
                </a:lnTo>
                <a:lnTo>
                  <a:pt x="1481667" y="0"/>
                </a:lnTo>
                <a:lnTo>
                  <a:pt x="1563981" y="0"/>
                </a:lnTo>
                <a:lnTo>
                  <a:pt x="1646296" y="0"/>
                </a:lnTo>
                <a:lnTo>
                  <a:pt x="1728611" y="0"/>
                </a:lnTo>
                <a:lnTo>
                  <a:pt x="1810926" y="0"/>
                </a:lnTo>
                <a:lnTo>
                  <a:pt x="1893241" y="0"/>
                </a:lnTo>
                <a:lnTo>
                  <a:pt x="1975555" y="0"/>
                </a:lnTo>
                <a:lnTo>
                  <a:pt x="2057871" y="0"/>
                </a:lnTo>
                <a:lnTo>
                  <a:pt x="2140185" y="0"/>
                </a:lnTo>
                <a:lnTo>
                  <a:pt x="2222500" y="0"/>
                </a:lnTo>
                <a:lnTo>
                  <a:pt x="2304815" y="0"/>
                </a:lnTo>
                <a:lnTo>
                  <a:pt x="2387129" y="0"/>
                </a:lnTo>
                <a:lnTo>
                  <a:pt x="2469445" y="0"/>
                </a:lnTo>
                <a:lnTo>
                  <a:pt x="2551759" y="0"/>
                </a:lnTo>
                <a:lnTo>
                  <a:pt x="2634074" y="0"/>
                </a:lnTo>
                <a:lnTo>
                  <a:pt x="2716389" y="0"/>
                </a:lnTo>
                <a:lnTo>
                  <a:pt x="2798704" y="0"/>
                </a:lnTo>
                <a:lnTo>
                  <a:pt x="2881019" y="0"/>
                </a:lnTo>
                <a:lnTo>
                  <a:pt x="2963333" y="0"/>
                </a:lnTo>
                <a:lnTo>
                  <a:pt x="3045648" y="0"/>
                </a:lnTo>
                <a:lnTo>
                  <a:pt x="3127963" y="0"/>
                </a:lnTo>
                <a:lnTo>
                  <a:pt x="3210278" y="0"/>
                </a:lnTo>
                <a:lnTo>
                  <a:pt x="3292593" y="0"/>
                </a:lnTo>
                <a:lnTo>
                  <a:pt x="3374907" y="0"/>
                </a:lnTo>
                <a:lnTo>
                  <a:pt x="3457222" y="0"/>
                </a:lnTo>
                <a:lnTo>
                  <a:pt x="3539537" y="0"/>
                </a:lnTo>
                <a:lnTo>
                  <a:pt x="3621852" y="0"/>
                </a:lnTo>
                <a:lnTo>
                  <a:pt x="3704167" y="0"/>
                </a:lnTo>
                <a:lnTo>
                  <a:pt x="3786481" y="0"/>
                </a:lnTo>
                <a:lnTo>
                  <a:pt x="3868796" y="0"/>
                </a:lnTo>
                <a:lnTo>
                  <a:pt x="3951111" y="0"/>
                </a:lnTo>
                <a:lnTo>
                  <a:pt x="4033426" y="0"/>
                </a:lnTo>
                <a:lnTo>
                  <a:pt x="4115741" y="0"/>
                </a:lnTo>
                <a:lnTo>
                  <a:pt x="4198055" y="0"/>
                </a:lnTo>
                <a:lnTo>
                  <a:pt x="4280371" y="0"/>
                </a:lnTo>
                <a:lnTo>
                  <a:pt x="4362685" y="0"/>
                </a:lnTo>
                <a:lnTo>
                  <a:pt x="4445000" y="0"/>
                </a:lnTo>
                <a:lnTo>
                  <a:pt x="4527315" y="0"/>
                </a:lnTo>
                <a:lnTo>
                  <a:pt x="4609629" y="0"/>
                </a:lnTo>
                <a:lnTo>
                  <a:pt x="4691945" y="0"/>
                </a:lnTo>
                <a:lnTo>
                  <a:pt x="4774259" y="0"/>
                </a:lnTo>
                <a:lnTo>
                  <a:pt x="4856574" y="0"/>
                </a:lnTo>
                <a:lnTo>
                  <a:pt x="4938889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plot">
            <a:extLst>
              <a:ext uri="{FF2B5EF4-FFF2-40B4-BE49-F238E27FC236}">
                <a16:creationId xmlns:a16="http://schemas.microsoft.com/office/drawing/2014/main" id="{B8E70CC5-1F27-FF8D-040B-1DAF24552F6C}"/>
              </a:ext>
            </a:extLst>
          </p:cNvPr>
          <p:cNvSpPr txBox="1"/>
          <p:nvPr/>
        </p:nvSpPr>
        <p:spPr>
          <a:xfrm>
            <a:off x="8720667" y="4676944"/>
            <a:ext cx="2413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5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1500">
                <a:solidFill>
                  <a:srgbClr val="4D5B54"/>
                </a:solidFill>
                <a:latin typeface="DM Sans" pitchFamily="2" charset="0"/>
              </a:rPr>
              <a:t> = </a:t>
            </a:r>
            <a:r>
              <a:rPr lang="en-US" sz="15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5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1500">
                <a:solidFill>
                  <a:srgbClr val="4D5B54"/>
                </a:solidFill>
                <a:latin typeface="DM Sans" pitchFamily="2" charset="0"/>
              </a:rPr>
              <a:t> + 3</a:t>
            </a:r>
          </a:p>
        </p:txBody>
      </p:sp>
      <p:sp>
        <p:nvSpPr>
          <p:cNvPr id="52" name="plot">
            <a:extLst>
              <a:ext uri="{FF2B5EF4-FFF2-40B4-BE49-F238E27FC236}">
                <a16:creationId xmlns:a16="http://schemas.microsoft.com/office/drawing/2014/main" id="{FA2DDBCA-0A57-484C-9049-01E55C7AD37F}"/>
              </a:ext>
            </a:extLst>
          </p:cNvPr>
          <p:cNvSpPr/>
          <p:nvPr/>
        </p:nvSpPr>
        <p:spPr>
          <a:xfrm>
            <a:off x="6604000" y="3370036"/>
            <a:ext cx="4938890" cy="3741965"/>
          </a:xfrm>
          <a:custGeom>
            <a:avLst/>
            <a:gdLst/>
            <a:ahLst/>
            <a:cxnLst/>
            <a:rect l="0" t="0" r="0" b="0"/>
            <a:pathLst>
              <a:path w="4938890" h="3741965">
                <a:moveTo>
                  <a:pt x="0" y="3741964"/>
                </a:moveTo>
                <a:lnTo>
                  <a:pt x="82315" y="3421704"/>
                </a:lnTo>
                <a:lnTo>
                  <a:pt x="164629" y="3115770"/>
                </a:lnTo>
                <a:lnTo>
                  <a:pt x="246945" y="2824160"/>
                </a:lnTo>
                <a:lnTo>
                  <a:pt x="329259" y="2546874"/>
                </a:lnTo>
                <a:lnTo>
                  <a:pt x="411574" y="2283913"/>
                </a:lnTo>
                <a:lnTo>
                  <a:pt x="493889" y="2035277"/>
                </a:lnTo>
                <a:lnTo>
                  <a:pt x="576204" y="1800966"/>
                </a:lnTo>
                <a:lnTo>
                  <a:pt x="658519" y="1580980"/>
                </a:lnTo>
                <a:lnTo>
                  <a:pt x="740833" y="1375318"/>
                </a:lnTo>
                <a:lnTo>
                  <a:pt x="823148" y="1183981"/>
                </a:lnTo>
                <a:lnTo>
                  <a:pt x="905463" y="1006968"/>
                </a:lnTo>
                <a:lnTo>
                  <a:pt x="987778" y="844280"/>
                </a:lnTo>
                <a:lnTo>
                  <a:pt x="1070093" y="695917"/>
                </a:lnTo>
                <a:lnTo>
                  <a:pt x="1152407" y="561879"/>
                </a:lnTo>
                <a:lnTo>
                  <a:pt x="1234722" y="442165"/>
                </a:lnTo>
                <a:lnTo>
                  <a:pt x="1317037" y="336777"/>
                </a:lnTo>
                <a:lnTo>
                  <a:pt x="1399352" y="245712"/>
                </a:lnTo>
                <a:lnTo>
                  <a:pt x="1481667" y="168973"/>
                </a:lnTo>
                <a:lnTo>
                  <a:pt x="1563981" y="106558"/>
                </a:lnTo>
                <a:lnTo>
                  <a:pt x="1646296" y="58468"/>
                </a:lnTo>
                <a:lnTo>
                  <a:pt x="1728611" y="24703"/>
                </a:lnTo>
                <a:lnTo>
                  <a:pt x="1810926" y="5262"/>
                </a:lnTo>
                <a:lnTo>
                  <a:pt x="1893241" y="0"/>
                </a:lnTo>
                <a:lnTo>
                  <a:pt x="1975555" y="0"/>
                </a:lnTo>
                <a:lnTo>
                  <a:pt x="2057871" y="0"/>
                </a:lnTo>
                <a:lnTo>
                  <a:pt x="2140185" y="0"/>
                </a:lnTo>
                <a:lnTo>
                  <a:pt x="2222500" y="0"/>
                </a:lnTo>
                <a:lnTo>
                  <a:pt x="2304815" y="0"/>
                </a:lnTo>
                <a:lnTo>
                  <a:pt x="2387129" y="0"/>
                </a:lnTo>
                <a:lnTo>
                  <a:pt x="2469445" y="0"/>
                </a:lnTo>
                <a:lnTo>
                  <a:pt x="2551759" y="0"/>
                </a:lnTo>
                <a:lnTo>
                  <a:pt x="2634074" y="0"/>
                </a:lnTo>
                <a:lnTo>
                  <a:pt x="2716389" y="0"/>
                </a:lnTo>
                <a:lnTo>
                  <a:pt x="2798704" y="0"/>
                </a:lnTo>
                <a:lnTo>
                  <a:pt x="2881019" y="0"/>
                </a:lnTo>
                <a:lnTo>
                  <a:pt x="2963333" y="0"/>
                </a:lnTo>
                <a:lnTo>
                  <a:pt x="3045648" y="0"/>
                </a:lnTo>
                <a:lnTo>
                  <a:pt x="3127963" y="0"/>
                </a:lnTo>
                <a:lnTo>
                  <a:pt x="3210278" y="0"/>
                </a:lnTo>
                <a:lnTo>
                  <a:pt x="3292593" y="0"/>
                </a:lnTo>
                <a:lnTo>
                  <a:pt x="3374907" y="0"/>
                </a:lnTo>
                <a:lnTo>
                  <a:pt x="3457222" y="0"/>
                </a:lnTo>
                <a:lnTo>
                  <a:pt x="3539537" y="0"/>
                </a:lnTo>
                <a:lnTo>
                  <a:pt x="3621852" y="0"/>
                </a:lnTo>
                <a:lnTo>
                  <a:pt x="3704167" y="0"/>
                </a:lnTo>
                <a:lnTo>
                  <a:pt x="3786481" y="0"/>
                </a:lnTo>
                <a:lnTo>
                  <a:pt x="3868796" y="0"/>
                </a:lnTo>
                <a:lnTo>
                  <a:pt x="3951111" y="0"/>
                </a:lnTo>
                <a:lnTo>
                  <a:pt x="4033426" y="0"/>
                </a:lnTo>
                <a:lnTo>
                  <a:pt x="4115741" y="0"/>
                </a:lnTo>
                <a:lnTo>
                  <a:pt x="4198055" y="0"/>
                </a:lnTo>
                <a:lnTo>
                  <a:pt x="4280371" y="0"/>
                </a:lnTo>
                <a:lnTo>
                  <a:pt x="4362685" y="0"/>
                </a:lnTo>
                <a:lnTo>
                  <a:pt x="4445000" y="0"/>
                </a:lnTo>
                <a:lnTo>
                  <a:pt x="4527315" y="0"/>
                </a:lnTo>
                <a:lnTo>
                  <a:pt x="4609629" y="0"/>
                </a:lnTo>
                <a:lnTo>
                  <a:pt x="4691945" y="0"/>
                </a:lnTo>
                <a:lnTo>
                  <a:pt x="4774259" y="0"/>
                </a:lnTo>
                <a:lnTo>
                  <a:pt x="4856574" y="0"/>
                </a:lnTo>
                <a:lnTo>
                  <a:pt x="4938889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plot">
            <a:extLst>
              <a:ext uri="{FF2B5EF4-FFF2-40B4-BE49-F238E27FC236}">
                <a16:creationId xmlns:a16="http://schemas.microsoft.com/office/drawing/2014/main" id="{4EFC77A4-D96A-CA23-8B1B-B3BECF330601}"/>
              </a:ext>
            </a:extLst>
          </p:cNvPr>
          <p:cNvSpPr txBox="1"/>
          <p:nvPr/>
        </p:nvSpPr>
        <p:spPr>
          <a:xfrm>
            <a:off x="8603074" y="3039835"/>
            <a:ext cx="2413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5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1500">
                <a:solidFill>
                  <a:srgbClr val="4D5B54"/>
                </a:solidFill>
                <a:latin typeface="DM Sans" pitchFamily="2" charset="0"/>
              </a:rPr>
              <a:t> = </a:t>
            </a:r>
            <a:r>
              <a:rPr lang="en-US" sz="15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5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1500">
                <a:solidFill>
                  <a:srgbClr val="4D5B54"/>
                </a:solidFill>
                <a:latin typeface="DM Sans" pitchFamily="2" charset="0"/>
              </a:rPr>
              <a:t> + 4</a:t>
            </a:r>
          </a:p>
        </p:txBody>
      </p:sp>
      <p:sp>
        <p:nvSpPr>
          <p:cNvPr id="54" name="plot">
            <a:extLst>
              <a:ext uri="{FF2B5EF4-FFF2-40B4-BE49-F238E27FC236}">
                <a16:creationId xmlns:a16="http://schemas.microsoft.com/office/drawing/2014/main" id="{F08E8D2C-57E4-9757-5B45-D6C04797B364}"/>
              </a:ext>
            </a:extLst>
          </p:cNvPr>
          <p:cNvSpPr/>
          <p:nvPr/>
        </p:nvSpPr>
        <p:spPr>
          <a:xfrm>
            <a:off x="6604000" y="3518217"/>
            <a:ext cx="1843853" cy="3593784"/>
          </a:xfrm>
          <a:custGeom>
            <a:avLst/>
            <a:gdLst/>
            <a:ahLst/>
            <a:cxnLst/>
            <a:rect l="0" t="0" r="0" b="0"/>
            <a:pathLst>
              <a:path w="1843853" h="3593784">
                <a:moveTo>
                  <a:pt x="0" y="3593783"/>
                </a:moveTo>
                <a:lnTo>
                  <a:pt x="30731" y="3592785"/>
                </a:lnTo>
                <a:lnTo>
                  <a:pt x="61461" y="3589790"/>
                </a:lnTo>
                <a:lnTo>
                  <a:pt x="92193" y="3584798"/>
                </a:lnTo>
                <a:lnTo>
                  <a:pt x="122924" y="3577810"/>
                </a:lnTo>
                <a:lnTo>
                  <a:pt x="153654" y="3568826"/>
                </a:lnTo>
                <a:lnTo>
                  <a:pt x="184385" y="3557845"/>
                </a:lnTo>
                <a:lnTo>
                  <a:pt x="215116" y="3544867"/>
                </a:lnTo>
                <a:lnTo>
                  <a:pt x="245847" y="3529894"/>
                </a:lnTo>
                <a:lnTo>
                  <a:pt x="276578" y="3512923"/>
                </a:lnTo>
                <a:lnTo>
                  <a:pt x="307308" y="3493956"/>
                </a:lnTo>
                <a:lnTo>
                  <a:pt x="338040" y="3472992"/>
                </a:lnTo>
                <a:lnTo>
                  <a:pt x="368771" y="3450032"/>
                </a:lnTo>
                <a:lnTo>
                  <a:pt x="399501" y="3425075"/>
                </a:lnTo>
                <a:lnTo>
                  <a:pt x="430232" y="3398121"/>
                </a:lnTo>
                <a:lnTo>
                  <a:pt x="460963" y="3369172"/>
                </a:lnTo>
                <a:lnTo>
                  <a:pt x="491694" y="3338225"/>
                </a:lnTo>
                <a:lnTo>
                  <a:pt x="522425" y="3305282"/>
                </a:lnTo>
                <a:lnTo>
                  <a:pt x="553155" y="3270342"/>
                </a:lnTo>
                <a:lnTo>
                  <a:pt x="583886" y="3233407"/>
                </a:lnTo>
                <a:lnTo>
                  <a:pt x="614618" y="3194474"/>
                </a:lnTo>
                <a:lnTo>
                  <a:pt x="645348" y="3153545"/>
                </a:lnTo>
                <a:lnTo>
                  <a:pt x="676079" y="3110619"/>
                </a:lnTo>
                <a:lnTo>
                  <a:pt x="706810" y="3065697"/>
                </a:lnTo>
                <a:lnTo>
                  <a:pt x="737541" y="3018778"/>
                </a:lnTo>
                <a:lnTo>
                  <a:pt x="768272" y="2969863"/>
                </a:lnTo>
                <a:lnTo>
                  <a:pt x="799002" y="2918951"/>
                </a:lnTo>
                <a:lnTo>
                  <a:pt x="829733" y="2866042"/>
                </a:lnTo>
                <a:lnTo>
                  <a:pt x="860465" y="2811137"/>
                </a:lnTo>
                <a:lnTo>
                  <a:pt x="891195" y="2754235"/>
                </a:lnTo>
                <a:lnTo>
                  <a:pt x="921926" y="2695337"/>
                </a:lnTo>
                <a:lnTo>
                  <a:pt x="952657" y="2634443"/>
                </a:lnTo>
                <a:lnTo>
                  <a:pt x="983388" y="2571552"/>
                </a:lnTo>
                <a:lnTo>
                  <a:pt x="1014119" y="2506664"/>
                </a:lnTo>
                <a:lnTo>
                  <a:pt x="1044849" y="2439779"/>
                </a:lnTo>
                <a:lnTo>
                  <a:pt x="1075580" y="2370899"/>
                </a:lnTo>
                <a:lnTo>
                  <a:pt x="1106311" y="2300021"/>
                </a:lnTo>
                <a:lnTo>
                  <a:pt x="1137042" y="2227147"/>
                </a:lnTo>
                <a:lnTo>
                  <a:pt x="1167773" y="2152277"/>
                </a:lnTo>
                <a:lnTo>
                  <a:pt x="1198504" y="2075410"/>
                </a:lnTo>
                <a:lnTo>
                  <a:pt x="1229234" y="1996546"/>
                </a:lnTo>
                <a:lnTo>
                  <a:pt x="1259966" y="1915686"/>
                </a:lnTo>
                <a:lnTo>
                  <a:pt x="1290696" y="1832830"/>
                </a:lnTo>
                <a:lnTo>
                  <a:pt x="1321427" y="1747976"/>
                </a:lnTo>
                <a:lnTo>
                  <a:pt x="1352158" y="1661127"/>
                </a:lnTo>
                <a:lnTo>
                  <a:pt x="1382889" y="1572280"/>
                </a:lnTo>
                <a:lnTo>
                  <a:pt x="1413620" y="1481438"/>
                </a:lnTo>
                <a:lnTo>
                  <a:pt x="1444351" y="1388598"/>
                </a:lnTo>
                <a:lnTo>
                  <a:pt x="1475081" y="1293762"/>
                </a:lnTo>
                <a:lnTo>
                  <a:pt x="1505812" y="1196930"/>
                </a:lnTo>
                <a:lnTo>
                  <a:pt x="1536543" y="1098101"/>
                </a:lnTo>
                <a:lnTo>
                  <a:pt x="1567274" y="997275"/>
                </a:lnTo>
                <a:lnTo>
                  <a:pt x="1598005" y="894453"/>
                </a:lnTo>
                <a:lnTo>
                  <a:pt x="1628735" y="789634"/>
                </a:lnTo>
                <a:lnTo>
                  <a:pt x="1659467" y="682819"/>
                </a:lnTo>
                <a:lnTo>
                  <a:pt x="1690198" y="574007"/>
                </a:lnTo>
                <a:lnTo>
                  <a:pt x="1720928" y="463199"/>
                </a:lnTo>
                <a:lnTo>
                  <a:pt x="1751659" y="350394"/>
                </a:lnTo>
                <a:lnTo>
                  <a:pt x="1782390" y="235593"/>
                </a:lnTo>
                <a:lnTo>
                  <a:pt x="1813121" y="118795"/>
                </a:lnTo>
                <a:lnTo>
                  <a:pt x="1843852" y="0"/>
                </a:lnTo>
              </a:path>
            </a:pathLst>
          </a:custGeom>
          <a:ln w="19050">
            <a:solidFill>
              <a:srgbClr val="4D5B5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plot">
            <a:extLst>
              <a:ext uri="{FF2B5EF4-FFF2-40B4-BE49-F238E27FC236}">
                <a16:creationId xmlns:a16="http://schemas.microsoft.com/office/drawing/2014/main" id="{F28F6EFD-865E-E668-03EC-89204206A8EB}"/>
              </a:ext>
            </a:extLst>
          </p:cNvPr>
          <p:cNvCxnSpPr/>
          <p:nvPr/>
        </p:nvCxnSpPr>
        <p:spPr>
          <a:xfrm>
            <a:off x="6604000" y="3370036"/>
            <a:ext cx="4703704" cy="3741964"/>
          </a:xfrm>
          <a:prstGeom prst="line">
            <a:avLst/>
          </a:prstGeom>
          <a:ln w="38100">
            <a:solidFill>
              <a:srgbClr val="145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plot">
            <a:extLst>
              <a:ext uri="{FF2B5EF4-FFF2-40B4-BE49-F238E27FC236}">
                <a16:creationId xmlns:a16="http://schemas.microsoft.com/office/drawing/2014/main" id="{4F7D764E-ECED-AA40-9BFA-8BB6683BBFBD}"/>
              </a:ext>
            </a:extLst>
          </p:cNvPr>
          <p:cNvSpPr/>
          <p:nvPr/>
        </p:nvSpPr>
        <p:spPr>
          <a:xfrm>
            <a:off x="8057546" y="4508207"/>
            <a:ext cx="177800" cy="177800"/>
          </a:xfrm>
          <a:prstGeom prst="ellipse">
            <a:avLst/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plot">
            <a:extLst>
              <a:ext uri="{FF2B5EF4-FFF2-40B4-BE49-F238E27FC236}">
                <a16:creationId xmlns:a16="http://schemas.microsoft.com/office/drawing/2014/main" id="{67FDC769-49AF-BD8A-FEDA-0714B58855EE}"/>
              </a:ext>
            </a:extLst>
          </p:cNvPr>
          <p:cNvSpPr txBox="1"/>
          <p:nvPr/>
        </p:nvSpPr>
        <p:spPr>
          <a:xfrm>
            <a:off x="8298846" y="4165306"/>
            <a:ext cx="3302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A</a:t>
            </a:r>
          </a:p>
        </p:txBody>
      </p:sp>
      <p:sp>
        <p:nvSpPr>
          <p:cNvPr id="58" name="plot">
            <a:extLst>
              <a:ext uri="{FF2B5EF4-FFF2-40B4-BE49-F238E27FC236}">
                <a16:creationId xmlns:a16="http://schemas.microsoft.com/office/drawing/2014/main" id="{E85837C2-4367-D34A-2C33-7090B7899BDA}"/>
              </a:ext>
            </a:extLst>
          </p:cNvPr>
          <p:cNvSpPr/>
          <p:nvPr/>
        </p:nvSpPr>
        <p:spPr>
          <a:xfrm>
            <a:off x="11218804" y="7023100"/>
            <a:ext cx="177800" cy="177800"/>
          </a:xfrm>
          <a:prstGeom prst="ellipse">
            <a:avLst/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plot">
            <a:extLst>
              <a:ext uri="{FF2B5EF4-FFF2-40B4-BE49-F238E27FC236}">
                <a16:creationId xmlns:a16="http://schemas.microsoft.com/office/drawing/2014/main" id="{5BB2CD49-8724-B354-C21D-15710B5C199D}"/>
              </a:ext>
            </a:extLst>
          </p:cNvPr>
          <p:cNvSpPr txBox="1"/>
          <p:nvPr/>
        </p:nvSpPr>
        <p:spPr>
          <a:xfrm>
            <a:off x="10875904" y="6629399"/>
            <a:ext cx="3302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B</a:t>
            </a:r>
          </a:p>
        </p:txBody>
      </p:sp>
      <p:sp>
        <p:nvSpPr>
          <p:cNvPr id="60" name="plot">
            <a:extLst>
              <a:ext uri="{FF2B5EF4-FFF2-40B4-BE49-F238E27FC236}">
                <a16:creationId xmlns:a16="http://schemas.microsoft.com/office/drawing/2014/main" id="{7623D0C0-0C63-BBA0-015F-F9A01C574719}"/>
              </a:ext>
            </a:extLst>
          </p:cNvPr>
          <p:cNvSpPr txBox="1"/>
          <p:nvPr/>
        </p:nvSpPr>
        <p:spPr>
          <a:xfrm>
            <a:off x="9394237" y="5326515"/>
            <a:ext cx="431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145A43"/>
                </a:solidFill>
                <a:latin typeface="DM Sans" pitchFamily="2" charset="0"/>
              </a:rPr>
              <a:t>load line: </a:t>
            </a:r>
            <a:r>
              <a:rPr lang="en-US" sz="1600" i="1">
                <a:solidFill>
                  <a:srgbClr val="145A43"/>
                </a:solidFill>
                <a:latin typeface="DM Sans" pitchFamily="2" charset="0"/>
              </a:rPr>
              <a:t>i</a:t>
            </a:r>
            <a:r>
              <a:rPr lang="en-US" sz="1600" i="1" baseline="-25000">
                <a:solidFill>
                  <a:srgbClr val="145A43"/>
                </a:solidFill>
                <a:latin typeface="DM Sans" pitchFamily="2" charset="0"/>
              </a:rPr>
              <a:t>D</a:t>
            </a:r>
            <a:r>
              <a:rPr lang="en-US" sz="1600">
                <a:solidFill>
                  <a:srgbClr val="145A43"/>
                </a:solidFill>
                <a:latin typeface="DM Sans" pitchFamily="2" charset="0"/>
              </a:rPr>
              <a:t> = (</a:t>
            </a:r>
            <a:r>
              <a:rPr lang="en-US" sz="1600" i="1">
                <a:solidFill>
                  <a:srgbClr val="145A43"/>
                </a:solidFill>
                <a:latin typeface="DM Sans" pitchFamily="2" charset="0"/>
              </a:rPr>
              <a:t>V</a:t>
            </a:r>
            <a:r>
              <a:rPr lang="en-US" sz="1600" i="1" baseline="-25000">
                <a:solidFill>
                  <a:srgbClr val="145A43"/>
                </a:solidFill>
                <a:latin typeface="DM Sans" pitchFamily="2" charset="0"/>
              </a:rPr>
              <a:t>DD</a:t>
            </a:r>
            <a:r>
              <a:rPr lang="en-US" sz="1600">
                <a:solidFill>
                  <a:srgbClr val="145A43"/>
                </a:solidFill>
                <a:latin typeface="DM Sans" pitchFamily="2" charset="0"/>
              </a:rPr>
              <a:t> − </a:t>
            </a:r>
            <a:r>
              <a:rPr lang="en-US" sz="1600" i="1">
                <a:solidFill>
                  <a:srgbClr val="145A43"/>
                </a:solidFill>
                <a:latin typeface="DM Sans" pitchFamily="2" charset="0"/>
              </a:rPr>
              <a:t>v</a:t>
            </a:r>
            <a:r>
              <a:rPr lang="en-US" sz="1600" i="1" baseline="-25000">
                <a:solidFill>
                  <a:srgbClr val="145A43"/>
                </a:solidFill>
                <a:latin typeface="DM Sans" pitchFamily="2" charset="0"/>
              </a:rPr>
              <a:t>DS</a:t>
            </a:r>
            <a:r>
              <a:rPr lang="en-US" sz="1600">
                <a:solidFill>
                  <a:srgbClr val="145A43"/>
                </a:solidFill>
                <a:latin typeface="DM Sans" pitchFamily="2" charset="0"/>
              </a:rPr>
              <a:t>)/</a:t>
            </a:r>
            <a:r>
              <a:rPr lang="en-US" sz="1600" i="1">
                <a:solidFill>
                  <a:srgbClr val="145A43"/>
                </a:solidFill>
                <a:latin typeface="DM Sans" pitchFamily="2" charset="0"/>
              </a:rPr>
              <a:t>R</a:t>
            </a:r>
            <a:r>
              <a:rPr lang="en-US" sz="1600" i="1" baseline="-25000">
                <a:solidFill>
                  <a:srgbClr val="145A43"/>
                </a:solidFill>
                <a:latin typeface="DM Sans" pitchFamily="2" charset="0"/>
              </a:rPr>
              <a:t>D</a:t>
            </a:r>
          </a:p>
        </p:txBody>
      </p:sp>
      <p:cxnSp>
        <p:nvCxnSpPr>
          <p:cNvPr id="61" name="plot">
            <a:extLst>
              <a:ext uri="{FF2B5EF4-FFF2-40B4-BE49-F238E27FC236}">
                <a16:creationId xmlns:a16="http://schemas.microsoft.com/office/drawing/2014/main" id="{2AA75D46-D501-4042-7BFF-88BE69D37DCF}"/>
              </a:ext>
            </a:extLst>
          </p:cNvPr>
          <p:cNvCxnSpPr/>
          <p:nvPr/>
        </p:nvCxnSpPr>
        <p:spPr>
          <a:xfrm>
            <a:off x="11307704" y="7112000"/>
            <a:ext cx="0" cy="76200"/>
          </a:xfrm>
          <a:prstGeom prst="line">
            <a:avLst/>
          </a:prstGeom>
          <a:ln w="15875">
            <a:solidFill>
              <a:srgbClr val="4D5B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plot">
            <a:extLst>
              <a:ext uri="{FF2B5EF4-FFF2-40B4-BE49-F238E27FC236}">
                <a16:creationId xmlns:a16="http://schemas.microsoft.com/office/drawing/2014/main" id="{D5A9B997-7A59-033E-F8E1-262BD286D7A9}"/>
              </a:ext>
            </a:extLst>
          </p:cNvPr>
          <p:cNvSpPr txBox="1"/>
          <p:nvPr/>
        </p:nvSpPr>
        <p:spPr>
          <a:xfrm>
            <a:off x="10672704" y="7213599"/>
            <a:ext cx="1270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DD</a:t>
            </a:r>
          </a:p>
        </p:txBody>
      </p:sp>
      <p:cxnSp>
        <p:nvCxnSpPr>
          <p:cNvPr id="63" name="plot">
            <a:extLst>
              <a:ext uri="{FF2B5EF4-FFF2-40B4-BE49-F238E27FC236}">
                <a16:creationId xmlns:a16="http://schemas.microsoft.com/office/drawing/2014/main" id="{91D5E9AB-614B-D61F-CDE0-C5367F4BAEF1}"/>
              </a:ext>
            </a:extLst>
          </p:cNvPr>
          <p:cNvCxnSpPr/>
          <p:nvPr/>
        </p:nvCxnSpPr>
        <p:spPr>
          <a:xfrm>
            <a:off x="6527800" y="3370036"/>
            <a:ext cx="76200" cy="0"/>
          </a:xfrm>
          <a:prstGeom prst="line">
            <a:avLst/>
          </a:prstGeom>
          <a:ln w="15875">
            <a:solidFill>
              <a:srgbClr val="4D5B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plot">
            <a:extLst>
              <a:ext uri="{FF2B5EF4-FFF2-40B4-BE49-F238E27FC236}">
                <a16:creationId xmlns:a16="http://schemas.microsoft.com/office/drawing/2014/main" id="{E2B64156-539F-57E1-3B62-914AA792B46F}"/>
              </a:ext>
            </a:extLst>
          </p:cNvPr>
          <p:cNvSpPr txBox="1"/>
          <p:nvPr/>
        </p:nvSpPr>
        <p:spPr>
          <a:xfrm>
            <a:off x="5207000" y="3204935"/>
            <a:ext cx="1270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DD</a:t>
            </a:r>
            <a:r>
              <a:rPr lang="en-US" sz="1700">
                <a:solidFill>
                  <a:srgbClr val="4D5B54"/>
                </a:solidFill>
                <a:latin typeface="DM Sans" pitchFamily="2" charset="0"/>
              </a:rPr>
              <a:t>/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eq @1">
                <a:extLst>
                  <a:ext uri="{FF2B5EF4-FFF2-40B4-BE49-F238E27FC236}">
                    <a16:creationId xmlns:a16="http://schemas.microsoft.com/office/drawing/2014/main" id="{CDB94209-D657-6332-D298-3736A8B2FD9D}"/>
                  </a:ext>
                </a:extLst>
              </p:cNvPr>
              <p:cNvSpPr txBox="1"/>
              <p:nvPr/>
            </p:nvSpPr>
            <p:spPr>
              <a:xfrm>
                <a:off x="13716000" y="2285999"/>
                <a:ext cx="3657600" cy="4572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𝐷𝑆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5" name="eq @1">
                <a:extLst>
                  <a:ext uri="{FF2B5EF4-FFF2-40B4-BE49-F238E27FC236}">
                    <a16:creationId xmlns:a16="http://schemas.microsoft.com/office/drawing/2014/main" id="{CDB94209-D657-6332-D298-3736A8B2F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0" y="2285999"/>
                <a:ext cx="3657600" cy="457200"/>
              </a:xfrm>
              <a:prstGeom prst="rect">
                <a:avLst/>
              </a:prstGeom>
              <a:blipFill>
                <a:blip r:embed="rId2"/>
                <a:stretch>
                  <a:fillRect l="-2167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point @1">
            <a:extLst>
              <a:ext uri="{FF2B5EF4-FFF2-40B4-BE49-F238E27FC236}">
                <a16:creationId xmlns:a16="http://schemas.microsoft.com/office/drawing/2014/main" id="{EB235635-E27F-4327-2D9F-B8208E1E3897}"/>
              </a:ext>
            </a:extLst>
          </p:cNvPr>
          <p:cNvSpPr txBox="1"/>
          <p:nvPr/>
        </p:nvSpPr>
        <p:spPr>
          <a:xfrm>
            <a:off x="13716000" y="3111500"/>
            <a:ext cx="3657600" cy="9619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KVL at the drain: every operating point lies on this line.</a:t>
            </a:r>
          </a:p>
        </p:txBody>
      </p:sp>
      <p:sp>
        <p:nvSpPr>
          <p:cNvPr id="67" name="point @2">
            <a:extLst>
              <a:ext uri="{FF2B5EF4-FFF2-40B4-BE49-F238E27FC236}">
                <a16:creationId xmlns:a16="http://schemas.microsoft.com/office/drawing/2014/main" id="{246012AB-6963-9EAB-3852-DF4816CC3C8A}"/>
              </a:ext>
            </a:extLst>
          </p:cNvPr>
          <p:cNvSpPr txBox="1"/>
          <p:nvPr/>
        </p:nvSpPr>
        <p:spPr>
          <a:xfrm>
            <a:off x="13716000" y="4352895"/>
            <a:ext cx="3657600" cy="9619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Between </a:t>
            </a:r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A</a:t>
            </a:r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 (edge of triode) and </a:t>
            </a:r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B</a:t>
            </a:r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 (cutoff) the MOSFET is in saturation: bias it there.</a:t>
            </a:r>
          </a:p>
        </p:txBody>
      </p:sp>
      <p:sp>
        <p:nvSpPr>
          <p:cNvPr id="69" name="credit">
            <a:extLst>
              <a:ext uri="{FF2B5EF4-FFF2-40B4-BE49-F238E27FC236}">
                <a16:creationId xmlns:a16="http://schemas.microsoft.com/office/drawing/2014/main" id="{4D019B28-AD43-0BD4-7286-74452D367FD0}"/>
              </a:ext>
            </a:extLst>
          </p:cNvPr>
          <p:cNvSpPr txBox="1"/>
          <p:nvPr/>
        </p:nvSpPr>
        <p:spPr>
          <a:xfrm>
            <a:off x="5461000" y="8318499"/>
            <a:ext cx="7620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Curves computed for k′</a:t>
            </a:r>
            <a:r>
              <a:rPr lang="en-US" sz="1300" baseline="-25000">
                <a:solidFill>
                  <a:srgbClr val="4D5B54"/>
                </a:solidFill>
                <a:latin typeface="DM Sans" pitchFamily="2" charset="0"/>
              </a:rPr>
              <a:t>n</a:t>
            </a:r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(W/L) = 1 mA/V², </a:t>
            </a:r>
            <a:r>
              <a:rPr lang="en-US" sz="13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300" i="1" baseline="-25000">
                <a:solidFill>
                  <a:srgbClr val="4D5B54"/>
                </a:solidFill>
                <a:latin typeface="DM Sans" pitchFamily="2" charset="0"/>
              </a:rPr>
              <a:t>DD</a:t>
            </a:r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 = 10 V, </a:t>
            </a:r>
            <a:r>
              <a:rPr lang="en-US" sz="1300" i="1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13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 = 1.25 kΩ.</a:t>
            </a:r>
          </a:p>
        </p:txBody>
      </p:sp>
      <p:sp>
        <p:nvSpPr>
          <p:cNvPr id="70" name="chrome page">
            <a:extLst>
              <a:ext uri="{FF2B5EF4-FFF2-40B4-BE49-F238E27FC236}">
                <a16:creationId xmlns:a16="http://schemas.microsoft.com/office/drawing/2014/main" id="{312949AA-22A0-7390-D1E1-07F15D869FC8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chrome page">
            <a:extLst>
              <a:ext uri="{FF2B5EF4-FFF2-40B4-BE49-F238E27FC236}">
                <a16:creationId xmlns:a16="http://schemas.microsoft.com/office/drawing/2014/main" id="{02F54688-3A87-F294-547F-65181344068C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16400586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mplifier action: the load lin s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304C083-31E6-C37C-0951-F8480E6F4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Amplifier action: the load line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04F1BDD9-D783-65A3-E5FF-F1AA0ACBFF21}"/>
              </a:ext>
            </a:extLst>
          </p:cNvPr>
          <p:cNvSpPr/>
          <p:nvPr/>
        </p:nvSpPr>
        <p:spPr>
          <a:xfrm>
            <a:off x="914400" y="279400"/>
            <a:ext cx="377698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AD1AB7C9-E807-925A-6E90-859B2F3C1FAD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428F2A18-AEB3-DDD6-65E9-E88A365F945D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drawing card">
            <a:extLst>
              <a:ext uri="{FF2B5EF4-FFF2-40B4-BE49-F238E27FC236}">
                <a16:creationId xmlns:a16="http://schemas.microsoft.com/office/drawing/2014/main" id="{5D2CEA72-1358-CD73-6141-C9F56B87A087}"/>
              </a:ext>
            </a:extLst>
          </p:cNvPr>
          <p:cNvSpPr/>
          <p:nvPr/>
        </p:nvSpPr>
        <p:spPr>
          <a:xfrm>
            <a:off x="914400" y="2095500"/>
            <a:ext cx="4191000" cy="609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rawing card">
            <a:extLst>
              <a:ext uri="{FF2B5EF4-FFF2-40B4-BE49-F238E27FC236}">
                <a16:creationId xmlns:a16="http://schemas.microsoft.com/office/drawing/2014/main" id="{41A73EB7-3F79-EB21-FBD2-7A6682FCCFEA}"/>
              </a:ext>
            </a:extLst>
          </p:cNvPr>
          <p:cNvSpPr/>
          <p:nvPr/>
        </p:nvSpPr>
        <p:spPr>
          <a:xfrm>
            <a:off x="914400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kt">
            <a:extLst>
              <a:ext uri="{FF2B5EF4-FFF2-40B4-BE49-F238E27FC236}">
                <a16:creationId xmlns:a16="http://schemas.microsoft.com/office/drawing/2014/main" id="{041A5796-9B8A-2533-933B-9DBF80834957}"/>
              </a:ext>
            </a:extLst>
          </p:cNvPr>
          <p:cNvCxnSpPr/>
          <p:nvPr/>
        </p:nvCxnSpPr>
        <p:spPr>
          <a:xfrm>
            <a:off x="3073400" y="52674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kt">
            <a:extLst>
              <a:ext uri="{FF2B5EF4-FFF2-40B4-BE49-F238E27FC236}">
                <a16:creationId xmlns:a16="http://schemas.microsoft.com/office/drawing/2014/main" id="{BE72B1E4-145C-C5AC-E081-F3DE68950EC0}"/>
              </a:ext>
            </a:extLst>
          </p:cNvPr>
          <p:cNvCxnSpPr/>
          <p:nvPr/>
        </p:nvCxnSpPr>
        <p:spPr>
          <a:xfrm>
            <a:off x="3200400" y="5118100"/>
            <a:ext cx="0" cy="1066800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kt">
            <a:extLst>
              <a:ext uri="{FF2B5EF4-FFF2-40B4-BE49-F238E27FC236}">
                <a16:creationId xmlns:a16="http://schemas.microsoft.com/office/drawing/2014/main" id="{6CBEC450-B198-5825-80EE-A2F733E224BF}"/>
              </a:ext>
            </a:extLst>
          </p:cNvPr>
          <p:cNvCxnSpPr/>
          <p:nvPr/>
        </p:nvCxnSpPr>
        <p:spPr>
          <a:xfrm>
            <a:off x="3200400" y="52197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kt">
            <a:extLst>
              <a:ext uri="{FF2B5EF4-FFF2-40B4-BE49-F238E27FC236}">
                <a16:creationId xmlns:a16="http://schemas.microsoft.com/office/drawing/2014/main" id="{51BA6037-B5B5-6E0F-C4B3-FD56971852B4}"/>
              </a:ext>
            </a:extLst>
          </p:cNvPr>
          <p:cNvCxnSpPr/>
          <p:nvPr/>
        </p:nvCxnSpPr>
        <p:spPr>
          <a:xfrm>
            <a:off x="3200400" y="60833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kt">
            <a:extLst>
              <a:ext uri="{FF2B5EF4-FFF2-40B4-BE49-F238E27FC236}">
                <a16:creationId xmlns:a16="http://schemas.microsoft.com/office/drawing/2014/main" id="{81BC4941-A26B-DB6B-0DC4-BB825A18A7CE}"/>
              </a:ext>
            </a:extLst>
          </p:cNvPr>
          <p:cNvCxnSpPr/>
          <p:nvPr/>
        </p:nvCxnSpPr>
        <p:spPr>
          <a:xfrm>
            <a:off x="3502660" y="6083300"/>
            <a:ext cx="12954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kt">
            <a:extLst>
              <a:ext uri="{FF2B5EF4-FFF2-40B4-BE49-F238E27FC236}">
                <a16:creationId xmlns:a16="http://schemas.microsoft.com/office/drawing/2014/main" id="{38EF97D5-A617-442C-E0F7-30A057316FA8}"/>
              </a:ext>
            </a:extLst>
          </p:cNvPr>
          <p:cNvSpPr/>
          <p:nvPr/>
        </p:nvSpPr>
        <p:spPr>
          <a:xfrm>
            <a:off x="3562350" y="26606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 label">
            <a:extLst>
              <a:ext uri="{FF2B5EF4-FFF2-40B4-BE49-F238E27FC236}">
                <a16:creationId xmlns:a16="http://schemas.microsoft.com/office/drawing/2014/main" id="{5D7BE1DC-C545-05A1-DDD6-2625453BFF29}"/>
              </a:ext>
            </a:extLst>
          </p:cNvPr>
          <p:cNvSpPr txBox="1"/>
          <p:nvPr/>
        </p:nvSpPr>
        <p:spPr>
          <a:xfrm>
            <a:off x="3810000" y="2549524"/>
            <a:ext cx="2794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DD</a:t>
            </a:r>
          </a:p>
        </p:txBody>
      </p:sp>
      <p:sp>
        <p:nvSpPr>
          <p:cNvPr id="15" name="ckt">
            <a:extLst>
              <a:ext uri="{FF2B5EF4-FFF2-40B4-BE49-F238E27FC236}">
                <a16:creationId xmlns:a16="http://schemas.microsoft.com/office/drawing/2014/main" id="{207F68B6-4F53-3206-1036-5E2C34F175EF}"/>
              </a:ext>
            </a:extLst>
          </p:cNvPr>
          <p:cNvSpPr/>
          <p:nvPr/>
        </p:nvSpPr>
        <p:spPr>
          <a:xfrm>
            <a:off x="3505200" y="2800350"/>
            <a:ext cx="254001" cy="1454151"/>
          </a:xfrm>
          <a:custGeom>
            <a:avLst/>
            <a:gdLst/>
            <a:ahLst/>
            <a:cxnLst/>
            <a:rect l="0" t="0" r="0" b="0"/>
            <a:pathLst>
              <a:path w="254001" h="1454151">
                <a:moveTo>
                  <a:pt x="127000" y="0"/>
                </a:moveTo>
                <a:lnTo>
                  <a:pt x="127000" y="358775"/>
                </a:lnTo>
                <a:lnTo>
                  <a:pt x="0" y="420158"/>
                </a:lnTo>
                <a:lnTo>
                  <a:pt x="254000" y="542925"/>
                </a:lnTo>
                <a:lnTo>
                  <a:pt x="0" y="665692"/>
                </a:lnTo>
                <a:lnTo>
                  <a:pt x="254000" y="788458"/>
                </a:lnTo>
                <a:lnTo>
                  <a:pt x="0" y="911225"/>
                </a:lnTo>
                <a:lnTo>
                  <a:pt x="254000" y="1033992"/>
                </a:lnTo>
                <a:lnTo>
                  <a:pt x="127000" y="1095375"/>
                </a:lnTo>
                <a:lnTo>
                  <a:pt x="127000" y="145415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kt">
            <a:extLst>
              <a:ext uri="{FF2B5EF4-FFF2-40B4-BE49-F238E27FC236}">
                <a16:creationId xmlns:a16="http://schemas.microsoft.com/office/drawing/2014/main" id="{A65C845E-4A1E-846C-A8B8-F855F0BDAE4C}"/>
              </a:ext>
            </a:extLst>
          </p:cNvPr>
          <p:cNvSpPr/>
          <p:nvPr/>
        </p:nvSpPr>
        <p:spPr>
          <a:xfrm>
            <a:off x="3575050" y="41973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kt label">
            <a:extLst>
              <a:ext uri="{FF2B5EF4-FFF2-40B4-BE49-F238E27FC236}">
                <a16:creationId xmlns:a16="http://schemas.microsoft.com/office/drawing/2014/main" id="{453FDE91-0419-59C5-D2DD-5D7EB164F97E}"/>
              </a:ext>
            </a:extLst>
          </p:cNvPr>
          <p:cNvSpPr txBox="1"/>
          <p:nvPr/>
        </p:nvSpPr>
        <p:spPr>
          <a:xfrm>
            <a:off x="3835400" y="3311524"/>
            <a:ext cx="2794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</a:p>
        </p:txBody>
      </p:sp>
      <p:cxnSp>
        <p:nvCxnSpPr>
          <p:cNvPr id="18" name="ckt">
            <a:extLst>
              <a:ext uri="{FF2B5EF4-FFF2-40B4-BE49-F238E27FC236}">
                <a16:creationId xmlns:a16="http://schemas.microsoft.com/office/drawing/2014/main" id="{C95CF6A3-3680-4604-8372-305B0948A192}"/>
              </a:ext>
            </a:extLst>
          </p:cNvPr>
          <p:cNvCxnSpPr/>
          <p:nvPr/>
        </p:nvCxnSpPr>
        <p:spPr>
          <a:xfrm>
            <a:off x="3403600" y="3492500"/>
            <a:ext cx="0" cy="508000"/>
          </a:xfrm>
          <a:prstGeom prst="line">
            <a:avLst/>
          </a:prstGeom>
          <a:ln w="22225">
            <a:solidFill>
              <a:srgbClr val="4D5B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kt label">
            <a:extLst>
              <a:ext uri="{FF2B5EF4-FFF2-40B4-BE49-F238E27FC236}">
                <a16:creationId xmlns:a16="http://schemas.microsoft.com/office/drawing/2014/main" id="{83523822-C1A9-B5B2-1B96-FB8EB9B4CD91}"/>
              </a:ext>
            </a:extLst>
          </p:cNvPr>
          <p:cNvSpPr txBox="1"/>
          <p:nvPr/>
        </p:nvSpPr>
        <p:spPr>
          <a:xfrm>
            <a:off x="2692400" y="3508374"/>
            <a:ext cx="635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</a:p>
        </p:txBody>
      </p:sp>
      <p:cxnSp>
        <p:nvCxnSpPr>
          <p:cNvPr id="20" name="ckt">
            <a:extLst>
              <a:ext uri="{FF2B5EF4-FFF2-40B4-BE49-F238E27FC236}">
                <a16:creationId xmlns:a16="http://schemas.microsoft.com/office/drawing/2014/main" id="{47DACD5A-6738-E8FB-96EC-B9F474EF354C}"/>
              </a:ext>
            </a:extLst>
          </p:cNvPr>
          <p:cNvCxnSpPr/>
          <p:nvPr/>
        </p:nvCxnSpPr>
        <p:spPr>
          <a:xfrm>
            <a:off x="3632200" y="4254500"/>
            <a:ext cx="0" cy="9652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kt">
            <a:extLst>
              <a:ext uri="{FF2B5EF4-FFF2-40B4-BE49-F238E27FC236}">
                <a16:creationId xmlns:a16="http://schemas.microsoft.com/office/drawing/2014/main" id="{D4D82803-044A-6D6F-252D-0DD7D940CE26}"/>
              </a:ext>
            </a:extLst>
          </p:cNvPr>
          <p:cNvCxnSpPr/>
          <p:nvPr/>
        </p:nvCxnSpPr>
        <p:spPr>
          <a:xfrm>
            <a:off x="3632200" y="4254500"/>
            <a:ext cx="762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kt">
            <a:extLst>
              <a:ext uri="{FF2B5EF4-FFF2-40B4-BE49-F238E27FC236}">
                <a16:creationId xmlns:a16="http://schemas.microsoft.com/office/drawing/2014/main" id="{D055DFCF-6A6C-C9E8-BEB6-44AEC6013CD7}"/>
              </a:ext>
            </a:extLst>
          </p:cNvPr>
          <p:cNvSpPr/>
          <p:nvPr/>
        </p:nvSpPr>
        <p:spPr>
          <a:xfrm>
            <a:off x="4400550" y="41846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kt label">
            <a:extLst>
              <a:ext uri="{FF2B5EF4-FFF2-40B4-BE49-F238E27FC236}">
                <a16:creationId xmlns:a16="http://schemas.microsoft.com/office/drawing/2014/main" id="{F058A7A8-4F03-DDBD-D610-15AF28E8662D}"/>
              </a:ext>
            </a:extLst>
          </p:cNvPr>
          <p:cNvSpPr txBox="1"/>
          <p:nvPr/>
        </p:nvSpPr>
        <p:spPr>
          <a:xfrm>
            <a:off x="4622800" y="4073524"/>
            <a:ext cx="1016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</a:p>
        </p:txBody>
      </p:sp>
      <p:cxnSp>
        <p:nvCxnSpPr>
          <p:cNvPr id="24" name="ckt">
            <a:extLst>
              <a:ext uri="{FF2B5EF4-FFF2-40B4-BE49-F238E27FC236}">
                <a16:creationId xmlns:a16="http://schemas.microsoft.com/office/drawing/2014/main" id="{FE9C3505-D04F-4F05-2BB8-357EFF56EF3E}"/>
              </a:ext>
            </a:extLst>
          </p:cNvPr>
          <p:cNvCxnSpPr/>
          <p:nvPr/>
        </p:nvCxnSpPr>
        <p:spPr>
          <a:xfrm>
            <a:off x="3632200" y="6083300"/>
            <a:ext cx="0" cy="14732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95F0D330-58F0-55A1-BB36-4D6F0C2EC217}"/>
              </a:ext>
            </a:extLst>
          </p:cNvPr>
          <p:cNvCxnSpPr/>
          <p:nvPr/>
        </p:nvCxnSpPr>
        <p:spPr>
          <a:xfrm>
            <a:off x="3632200" y="75565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641DEB30-91FE-68DA-B8B4-C8871A83F4E9}"/>
              </a:ext>
            </a:extLst>
          </p:cNvPr>
          <p:cNvCxnSpPr/>
          <p:nvPr/>
        </p:nvCxnSpPr>
        <p:spPr>
          <a:xfrm>
            <a:off x="3441700" y="77089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8A09CD5D-77E5-672F-313D-F4900A6462DA}"/>
              </a:ext>
            </a:extLst>
          </p:cNvPr>
          <p:cNvCxnSpPr/>
          <p:nvPr/>
        </p:nvCxnSpPr>
        <p:spPr>
          <a:xfrm>
            <a:off x="3511550" y="77787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kt">
            <a:extLst>
              <a:ext uri="{FF2B5EF4-FFF2-40B4-BE49-F238E27FC236}">
                <a16:creationId xmlns:a16="http://schemas.microsoft.com/office/drawing/2014/main" id="{D75339A9-6FF4-DF15-B80A-F1B85759583B}"/>
              </a:ext>
            </a:extLst>
          </p:cNvPr>
          <p:cNvCxnSpPr/>
          <p:nvPr/>
        </p:nvCxnSpPr>
        <p:spPr>
          <a:xfrm>
            <a:off x="3581400" y="78486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kt">
            <a:extLst>
              <a:ext uri="{FF2B5EF4-FFF2-40B4-BE49-F238E27FC236}">
                <a16:creationId xmlns:a16="http://schemas.microsoft.com/office/drawing/2014/main" id="{1E4B3EEE-557D-C991-7399-AAF24B6CCA51}"/>
              </a:ext>
            </a:extLst>
          </p:cNvPr>
          <p:cNvCxnSpPr/>
          <p:nvPr/>
        </p:nvCxnSpPr>
        <p:spPr>
          <a:xfrm>
            <a:off x="1676400" y="5651500"/>
            <a:ext cx="1397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kt">
            <a:extLst>
              <a:ext uri="{FF2B5EF4-FFF2-40B4-BE49-F238E27FC236}">
                <a16:creationId xmlns:a16="http://schemas.microsoft.com/office/drawing/2014/main" id="{54CC86C4-E3B9-2E9C-1B62-EDC671E0CC13}"/>
              </a:ext>
            </a:extLst>
          </p:cNvPr>
          <p:cNvCxnSpPr/>
          <p:nvPr/>
        </p:nvCxnSpPr>
        <p:spPr>
          <a:xfrm>
            <a:off x="1676400" y="5651500"/>
            <a:ext cx="0" cy="6731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kt">
            <a:extLst>
              <a:ext uri="{FF2B5EF4-FFF2-40B4-BE49-F238E27FC236}">
                <a16:creationId xmlns:a16="http://schemas.microsoft.com/office/drawing/2014/main" id="{5FF89D2F-2125-3715-6B5B-0007922BFB5A}"/>
              </a:ext>
            </a:extLst>
          </p:cNvPr>
          <p:cNvCxnSpPr/>
          <p:nvPr/>
        </p:nvCxnSpPr>
        <p:spPr>
          <a:xfrm>
            <a:off x="1676400" y="6883400"/>
            <a:ext cx="0" cy="6731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kt">
            <a:extLst>
              <a:ext uri="{FF2B5EF4-FFF2-40B4-BE49-F238E27FC236}">
                <a16:creationId xmlns:a16="http://schemas.microsoft.com/office/drawing/2014/main" id="{1870B20D-E160-6956-30DA-3DDBFE97ECC9}"/>
              </a:ext>
            </a:extLst>
          </p:cNvPr>
          <p:cNvSpPr/>
          <p:nvPr/>
        </p:nvSpPr>
        <p:spPr>
          <a:xfrm>
            <a:off x="1397000" y="6324600"/>
            <a:ext cx="558800" cy="558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kt">
            <a:extLst>
              <a:ext uri="{FF2B5EF4-FFF2-40B4-BE49-F238E27FC236}">
                <a16:creationId xmlns:a16="http://schemas.microsoft.com/office/drawing/2014/main" id="{01DFA562-29B1-E80D-0E4C-3477A863FE1F}"/>
              </a:ext>
            </a:extLst>
          </p:cNvPr>
          <p:cNvSpPr txBox="1"/>
          <p:nvPr/>
        </p:nvSpPr>
        <p:spPr>
          <a:xfrm>
            <a:off x="1549400" y="6311899"/>
            <a:ext cx="25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>
                <a:solidFill>
                  <a:srgbClr val="15241D"/>
                </a:solidFill>
                <a:latin typeface="DM Sans" pitchFamily="2" charset="0"/>
              </a:rPr>
              <a:t>+</a:t>
            </a:r>
          </a:p>
        </p:txBody>
      </p:sp>
      <p:sp>
        <p:nvSpPr>
          <p:cNvPr id="34" name="ckt">
            <a:extLst>
              <a:ext uri="{FF2B5EF4-FFF2-40B4-BE49-F238E27FC236}">
                <a16:creationId xmlns:a16="http://schemas.microsoft.com/office/drawing/2014/main" id="{A4C0A9DE-715A-958B-B248-D8BF969B1106}"/>
              </a:ext>
            </a:extLst>
          </p:cNvPr>
          <p:cNvSpPr txBox="1"/>
          <p:nvPr/>
        </p:nvSpPr>
        <p:spPr>
          <a:xfrm>
            <a:off x="1549400" y="6591299"/>
            <a:ext cx="25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>
                <a:solidFill>
                  <a:srgbClr val="15241D"/>
                </a:solidFill>
                <a:latin typeface="DM Sans" pitchFamily="2" charset="0"/>
              </a:rPr>
              <a:t>−</a:t>
            </a:r>
          </a:p>
        </p:txBody>
      </p:sp>
      <p:cxnSp>
        <p:nvCxnSpPr>
          <p:cNvPr id="35" name="ckt">
            <a:extLst>
              <a:ext uri="{FF2B5EF4-FFF2-40B4-BE49-F238E27FC236}">
                <a16:creationId xmlns:a16="http://schemas.microsoft.com/office/drawing/2014/main" id="{9F583B6E-C53D-A9C5-062E-EF3DC7B8CF1F}"/>
              </a:ext>
            </a:extLst>
          </p:cNvPr>
          <p:cNvCxnSpPr/>
          <p:nvPr/>
        </p:nvCxnSpPr>
        <p:spPr>
          <a:xfrm>
            <a:off x="1676400" y="75565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kt">
            <a:extLst>
              <a:ext uri="{FF2B5EF4-FFF2-40B4-BE49-F238E27FC236}">
                <a16:creationId xmlns:a16="http://schemas.microsoft.com/office/drawing/2014/main" id="{BA82B9CF-4355-103A-7EEA-867FC9D6A2A6}"/>
              </a:ext>
            </a:extLst>
          </p:cNvPr>
          <p:cNvCxnSpPr/>
          <p:nvPr/>
        </p:nvCxnSpPr>
        <p:spPr>
          <a:xfrm>
            <a:off x="1485900" y="77089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kt">
            <a:extLst>
              <a:ext uri="{FF2B5EF4-FFF2-40B4-BE49-F238E27FC236}">
                <a16:creationId xmlns:a16="http://schemas.microsoft.com/office/drawing/2014/main" id="{8F4202E5-652D-2D76-B3D5-1DA41B60A78B}"/>
              </a:ext>
            </a:extLst>
          </p:cNvPr>
          <p:cNvCxnSpPr/>
          <p:nvPr/>
        </p:nvCxnSpPr>
        <p:spPr>
          <a:xfrm>
            <a:off x="1555750" y="77787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kt">
            <a:extLst>
              <a:ext uri="{FF2B5EF4-FFF2-40B4-BE49-F238E27FC236}">
                <a16:creationId xmlns:a16="http://schemas.microsoft.com/office/drawing/2014/main" id="{E3537D1B-1048-84B8-DDFF-B0FAD42CE298}"/>
              </a:ext>
            </a:extLst>
          </p:cNvPr>
          <p:cNvCxnSpPr/>
          <p:nvPr/>
        </p:nvCxnSpPr>
        <p:spPr>
          <a:xfrm>
            <a:off x="1625600" y="78486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kt label">
            <a:extLst>
              <a:ext uri="{FF2B5EF4-FFF2-40B4-BE49-F238E27FC236}">
                <a16:creationId xmlns:a16="http://schemas.microsoft.com/office/drawing/2014/main" id="{E6504649-1009-173C-AEA7-89FBB61A0F1D}"/>
              </a:ext>
            </a:extLst>
          </p:cNvPr>
          <p:cNvSpPr txBox="1"/>
          <p:nvPr/>
        </p:nvSpPr>
        <p:spPr>
          <a:xfrm>
            <a:off x="2057400" y="6423024"/>
            <a:ext cx="1016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</a:p>
        </p:txBody>
      </p:sp>
      <p:sp>
        <p:nvSpPr>
          <p:cNvPr id="40" name="plot card">
            <a:extLst>
              <a:ext uri="{FF2B5EF4-FFF2-40B4-BE49-F238E27FC236}">
                <a16:creationId xmlns:a16="http://schemas.microsoft.com/office/drawing/2014/main" id="{9F491F5C-880B-15B7-601F-7A093CCAB4A3}"/>
              </a:ext>
            </a:extLst>
          </p:cNvPr>
          <p:cNvSpPr/>
          <p:nvPr/>
        </p:nvSpPr>
        <p:spPr>
          <a:xfrm>
            <a:off x="5461000" y="2095500"/>
            <a:ext cx="7874000" cy="6096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plot card">
            <a:extLst>
              <a:ext uri="{FF2B5EF4-FFF2-40B4-BE49-F238E27FC236}">
                <a16:creationId xmlns:a16="http://schemas.microsoft.com/office/drawing/2014/main" id="{4352D0F0-7E21-5ED6-968F-DE994836B2DE}"/>
              </a:ext>
            </a:extLst>
          </p:cNvPr>
          <p:cNvSpPr/>
          <p:nvPr/>
        </p:nvSpPr>
        <p:spPr>
          <a:xfrm>
            <a:off x="5461000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plot">
            <a:extLst>
              <a:ext uri="{FF2B5EF4-FFF2-40B4-BE49-F238E27FC236}">
                <a16:creationId xmlns:a16="http://schemas.microsoft.com/office/drawing/2014/main" id="{6A0C1000-D614-EFDE-6120-85060A78789B}"/>
              </a:ext>
            </a:extLst>
          </p:cNvPr>
          <p:cNvCxnSpPr/>
          <p:nvPr/>
        </p:nvCxnSpPr>
        <p:spPr>
          <a:xfrm>
            <a:off x="6604000" y="7112000"/>
            <a:ext cx="5257800" cy="0"/>
          </a:xfrm>
          <a:prstGeom prst="line">
            <a:avLst/>
          </a:prstGeom>
          <a:ln w="22225">
            <a:solidFill>
              <a:srgbClr val="1524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plot">
            <a:extLst>
              <a:ext uri="{FF2B5EF4-FFF2-40B4-BE49-F238E27FC236}">
                <a16:creationId xmlns:a16="http://schemas.microsoft.com/office/drawing/2014/main" id="{961C4CDD-E4B2-8699-6A0B-03AD29EDEE5E}"/>
              </a:ext>
            </a:extLst>
          </p:cNvPr>
          <p:cNvCxnSpPr/>
          <p:nvPr/>
        </p:nvCxnSpPr>
        <p:spPr>
          <a:xfrm flipV="1">
            <a:off x="6604000" y="2743200"/>
            <a:ext cx="0" cy="4368800"/>
          </a:xfrm>
          <a:prstGeom prst="line">
            <a:avLst/>
          </a:prstGeom>
          <a:ln w="22225">
            <a:solidFill>
              <a:srgbClr val="1524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plot">
            <a:extLst>
              <a:ext uri="{FF2B5EF4-FFF2-40B4-BE49-F238E27FC236}">
                <a16:creationId xmlns:a16="http://schemas.microsoft.com/office/drawing/2014/main" id="{DABAEF4E-E199-C926-5C14-BBBB80EEFB73}"/>
              </a:ext>
            </a:extLst>
          </p:cNvPr>
          <p:cNvSpPr txBox="1"/>
          <p:nvPr/>
        </p:nvSpPr>
        <p:spPr>
          <a:xfrm>
            <a:off x="11963400" y="6921499"/>
            <a:ext cx="1397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0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 (V)</a:t>
            </a:r>
          </a:p>
        </p:txBody>
      </p:sp>
      <p:sp>
        <p:nvSpPr>
          <p:cNvPr id="45" name="plot">
            <a:extLst>
              <a:ext uri="{FF2B5EF4-FFF2-40B4-BE49-F238E27FC236}">
                <a16:creationId xmlns:a16="http://schemas.microsoft.com/office/drawing/2014/main" id="{5F0605BA-3C9F-132A-1E7E-42F6A01BE9BB}"/>
              </a:ext>
            </a:extLst>
          </p:cNvPr>
          <p:cNvSpPr txBox="1"/>
          <p:nvPr/>
        </p:nvSpPr>
        <p:spPr>
          <a:xfrm>
            <a:off x="6527800" y="2362199"/>
            <a:ext cx="203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0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 (mA)</a:t>
            </a:r>
          </a:p>
        </p:txBody>
      </p:sp>
      <p:sp>
        <p:nvSpPr>
          <p:cNvPr id="46" name="plot">
            <a:extLst>
              <a:ext uri="{FF2B5EF4-FFF2-40B4-BE49-F238E27FC236}">
                <a16:creationId xmlns:a16="http://schemas.microsoft.com/office/drawing/2014/main" id="{4FAD7E8B-9E01-C145-C5AC-99D1483E365E}"/>
              </a:ext>
            </a:extLst>
          </p:cNvPr>
          <p:cNvSpPr/>
          <p:nvPr/>
        </p:nvSpPr>
        <p:spPr>
          <a:xfrm>
            <a:off x="6604000" y="6878127"/>
            <a:ext cx="4938890" cy="233874"/>
          </a:xfrm>
          <a:custGeom>
            <a:avLst/>
            <a:gdLst/>
            <a:ahLst/>
            <a:cxnLst/>
            <a:rect l="0" t="0" r="0" b="0"/>
            <a:pathLst>
              <a:path w="4938890" h="233874">
                <a:moveTo>
                  <a:pt x="0" y="233873"/>
                </a:moveTo>
                <a:lnTo>
                  <a:pt x="82315" y="159180"/>
                </a:lnTo>
                <a:lnTo>
                  <a:pt x="164629" y="98811"/>
                </a:lnTo>
                <a:lnTo>
                  <a:pt x="246945" y="52768"/>
                </a:lnTo>
                <a:lnTo>
                  <a:pt x="329259" y="21049"/>
                </a:lnTo>
                <a:lnTo>
                  <a:pt x="411574" y="3654"/>
                </a:lnTo>
                <a:lnTo>
                  <a:pt x="493889" y="0"/>
                </a:lnTo>
                <a:lnTo>
                  <a:pt x="576204" y="0"/>
                </a:lnTo>
                <a:lnTo>
                  <a:pt x="658519" y="0"/>
                </a:lnTo>
                <a:lnTo>
                  <a:pt x="740833" y="0"/>
                </a:lnTo>
                <a:lnTo>
                  <a:pt x="823148" y="0"/>
                </a:lnTo>
                <a:lnTo>
                  <a:pt x="905463" y="0"/>
                </a:lnTo>
                <a:lnTo>
                  <a:pt x="987778" y="0"/>
                </a:lnTo>
                <a:lnTo>
                  <a:pt x="1070093" y="0"/>
                </a:lnTo>
                <a:lnTo>
                  <a:pt x="1152407" y="0"/>
                </a:lnTo>
                <a:lnTo>
                  <a:pt x="1234722" y="0"/>
                </a:lnTo>
                <a:lnTo>
                  <a:pt x="1317037" y="0"/>
                </a:lnTo>
                <a:lnTo>
                  <a:pt x="1399352" y="0"/>
                </a:lnTo>
                <a:lnTo>
                  <a:pt x="1481667" y="0"/>
                </a:lnTo>
                <a:lnTo>
                  <a:pt x="1563981" y="0"/>
                </a:lnTo>
                <a:lnTo>
                  <a:pt x="1646296" y="0"/>
                </a:lnTo>
                <a:lnTo>
                  <a:pt x="1728611" y="0"/>
                </a:lnTo>
                <a:lnTo>
                  <a:pt x="1810926" y="0"/>
                </a:lnTo>
                <a:lnTo>
                  <a:pt x="1893241" y="0"/>
                </a:lnTo>
                <a:lnTo>
                  <a:pt x="1975555" y="0"/>
                </a:lnTo>
                <a:lnTo>
                  <a:pt x="2057871" y="0"/>
                </a:lnTo>
                <a:lnTo>
                  <a:pt x="2140185" y="0"/>
                </a:lnTo>
                <a:lnTo>
                  <a:pt x="2222500" y="0"/>
                </a:lnTo>
                <a:lnTo>
                  <a:pt x="2304815" y="0"/>
                </a:lnTo>
                <a:lnTo>
                  <a:pt x="2387129" y="0"/>
                </a:lnTo>
                <a:lnTo>
                  <a:pt x="2469445" y="0"/>
                </a:lnTo>
                <a:lnTo>
                  <a:pt x="2551759" y="0"/>
                </a:lnTo>
                <a:lnTo>
                  <a:pt x="2634074" y="0"/>
                </a:lnTo>
                <a:lnTo>
                  <a:pt x="2716389" y="0"/>
                </a:lnTo>
                <a:lnTo>
                  <a:pt x="2798704" y="0"/>
                </a:lnTo>
                <a:lnTo>
                  <a:pt x="2881019" y="0"/>
                </a:lnTo>
                <a:lnTo>
                  <a:pt x="2963333" y="0"/>
                </a:lnTo>
                <a:lnTo>
                  <a:pt x="3045648" y="0"/>
                </a:lnTo>
                <a:lnTo>
                  <a:pt x="3127963" y="0"/>
                </a:lnTo>
                <a:lnTo>
                  <a:pt x="3210278" y="0"/>
                </a:lnTo>
                <a:lnTo>
                  <a:pt x="3292593" y="0"/>
                </a:lnTo>
                <a:lnTo>
                  <a:pt x="3374907" y="0"/>
                </a:lnTo>
                <a:lnTo>
                  <a:pt x="3457222" y="0"/>
                </a:lnTo>
                <a:lnTo>
                  <a:pt x="3539537" y="0"/>
                </a:lnTo>
                <a:lnTo>
                  <a:pt x="3621852" y="0"/>
                </a:lnTo>
                <a:lnTo>
                  <a:pt x="3704167" y="0"/>
                </a:lnTo>
                <a:lnTo>
                  <a:pt x="3786481" y="0"/>
                </a:lnTo>
                <a:lnTo>
                  <a:pt x="3868796" y="0"/>
                </a:lnTo>
                <a:lnTo>
                  <a:pt x="3951111" y="0"/>
                </a:lnTo>
                <a:lnTo>
                  <a:pt x="4033426" y="0"/>
                </a:lnTo>
                <a:lnTo>
                  <a:pt x="4115741" y="0"/>
                </a:lnTo>
                <a:lnTo>
                  <a:pt x="4198055" y="0"/>
                </a:lnTo>
                <a:lnTo>
                  <a:pt x="4280371" y="0"/>
                </a:lnTo>
                <a:lnTo>
                  <a:pt x="4362685" y="0"/>
                </a:lnTo>
                <a:lnTo>
                  <a:pt x="4445000" y="0"/>
                </a:lnTo>
                <a:lnTo>
                  <a:pt x="4527315" y="0"/>
                </a:lnTo>
                <a:lnTo>
                  <a:pt x="4609629" y="0"/>
                </a:lnTo>
                <a:lnTo>
                  <a:pt x="4691945" y="0"/>
                </a:lnTo>
                <a:lnTo>
                  <a:pt x="4774259" y="0"/>
                </a:lnTo>
                <a:lnTo>
                  <a:pt x="4856574" y="0"/>
                </a:lnTo>
                <a:lnTo>
                  <a:pt x="4938889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plot">
            <a:extLst>
              <a:ext uri="{FF2B5EF4-FFF2-40B4-BE49-F238E27FC236}">
                <a16:creationId xmlns:a16="http://schemas.microsoft.com/office/drawing/2014/main" id="{D764185C-BCD7-9B59-DEDC-DCC05C12BBC9}"/>
              </a:ext>
            </a:extLst>
          </p:cNvPr>
          <p:cNvSpPr txBox="1"/>
          <p:nvPr/>
        </p:nvSpPr>
        <p:spPr>
          <a:xfrm>
            <a:off x="7191963" y="6547926"/>
            <a:ext cx="2413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5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1500">
                <a:solidFill>
                  <a:srgbClr val="4D5B54"/>
                </a:solidFill>
                <a:latin typeface="DM Sans" pitchFamily="2" charset="0"/>
              </a:rPr>
              <a:t> = </a:t>
            </a:r>
            <a:r>
              <a:rPr lang="en-US" sz="15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5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1500">
                <a:solidFill>
                  <a:srgbClr val="4D5B54"/>
                </a:solidFill>
                <a:latin typeface="DM Sans" pitchFamily="2" charset="0"/>
              </a:rPr>
              <a:t> + 1</a:t>
            </a:r>
          </a:p>
        </p:txBody>
      </p:sp>
      <p:sp>
        <p:nvSpPr>
          <p:cNvPr id="48" name="plot">
            <a:extLst>
              <a:ext uri="{FF2B5EF4-FFF2-40B4-BE49-F238E27FC236}">
                <a16:creationId xmlns:a16="http://schemas.microsoft.com/office/drawing/2014/main" id="{D7AFD0B1-758E-08AF-39B0-375B84A5C929}"/>
              </a:ext>
            </a:extLst>
          </p:cNvPr>
          <p:cNvSpPr/>
          <p:nvPr/>
        </p:nvSpPr>
        <p:spPr>
          <a:xfrm>
            <a:off x="6604000" y="6176509"/>
            <a:ext cx="4938890" cy="935492"/>
          </a:xfrm>
          <a:custGeom>
            <a:avLst/>
            <a:gdLst/>
            <a:ahLst/>
            <a:cxnLst/>
            <a:rect l="0" t="0" r="0" b="0"/>
            <a:pathLst>
              <a:path w="4938890" h="935492">
                <a:moveTo>
                  <a:pt x="0" y="935491"/>
                </a:moveTo>
                <a:lnTo>
                  <a:pt x="82315" y="778942"/>
                </a:lnTo>
                <a:lnTo>
                  <a:pt x="164629" y="636719"/>
                </a:lnTo>
                <a:lnTo>
                  <a:pt x="246945" y="508819"/>
                </a:lnTo>
                <a:lnTo>
                  <a:pt x="329259" y="395245"/>
                </a:lnTo>
                <a:lnTo>
                  <a:pt x="411574" y="295995"/>
                </a:lnTo>
                <a:lnTo>
                  <a:pt x="493889" y="211070"/>
                </a:lnTo>
                <a:lnTo>
                  <a:pt x="576204" y="140470"/>
                </a:lnTo>
                <a:lnTo>
                  <a:pt x="658519" y="84194"/>
                </a:lnTo>
                <a:lnTo>
                  <a:pt x="740833" y="42243"/>
                </a:lnTo>
                <a:lnTo>
                  <a:pt x="823148" y="14617"/>
                </a:lnTo>
                <a:lnTo>
                  <a:pt x="905463" y="1315"/>
                </a:lnTo>
                <a:lnTo>
                  <a:pt x="987778" y="0"/>
                </a:lnTo>
                <a:lnTo>
                  <a:pt x="1070093" y="0"/>
                </a:lnTo>
                <a:lnTo>
                  <a:pt x="1152407" y="0"/>
                </a:lnTo>
                <a:lnTo>
                  <a:pt x="1234722" y="0"/>
                </a:lnTo>
                <a:lnTo>
                  <a:pt x="1317037" y="0"/>
                </a:lnTo>
                <a:lnTo>
                  <a:pt x="1399352" y="0"/>
                </a:lnTo>
                <a:lnTo>
                  <a:pt x="1481667" y="0"/>
                </a:lnTo>
                <a:lnTo>
                  <a:pt x="1563981" y="0"/>
                </a:lnTo>
                <a:lnTo>
                  <a:pt x="1646296" y="0"/>
                </a:lnTo>
                <a:lnTo>
                  <a:pt x="1728611" y="0"/>
                </a:lnTo>
                <a:lnTo>
                  <a:pt x="1810926" y="0"/>
                </a:lnTo>
                <a:lnTo>
                  <a:pt x="1893241" y="0"/>
                </a:lnTo>
                <a:lnTo>
                  <a:pt x="1975555" y="0"/>
                </a:lnTo>
                <a:lnTo>
                  <a:pt x="2057871" y="0"/>
                </a:lnTo>
                <a:lnTo>
                  <a:pt x="2140185" y="0"/>
                </a:lnTo>
                <a:lnTo>
                  <a:pt x="2222500" y="0"/>
                </a:lnTo>
                <a:lnTo>
                  <a:pt x="2304815" y="0"/>
                </a:lnTo>
                <a:lnTo>
                  <a:pt x="2387129" y="0"/>
                </a:lnTo>
                <a:lnTo>
                  <a:pt x="2469445" y="0"/>
                </a:lnTo>
                <a:lnTo>
                  <a:pt x="2551759" y="0"/>
                </a:lnTo>
                <a:lnTo>
                  <a:pt x="2634074" y="0"/>
                </a:lnTo>
                <a:lnTo>
                  <a:pt x="2716389" y="0"/>
                </a:lnTo>
                <a:lnTo>
                  <a:pt x="2798704" y="0"/>
                </a:lnTo>
                <a:lnTo>
                  <a:pt x="2881019" y="0"/>
                </a:lnTo>
                <a:lnTo>
                  <a:pt x="2963333" y="0"/>
                </a:lnTo>
                <a:lnTo>
                  <a:pt x="3045648" y="0"/>
                </a:lnTo>
                <a:lnTo>
                  <a:pt x="3127963" y="0"/>
                </a:lnTo>
                <a:lnTo>
                  <a:pt x="3210278" y="0"/>
                </a:lnTo>
                <a:lnTo>
                  <a:pt x="3292593" y="0"/>
                </a:lnTo>
                <a:lnTo>
                  <a:pt x="3374907" y="0"/>
                </a:lnTo>
                <a:lnTo>
                  <a:pt x="3457222" y="0"/>
                </a:lnTo>
                <a:lnTo>
                  <a:pt x="3539537" y="0"/>
                </a:lnTo>
                <a:lnTo>
                  <a:pt x="3621852" y="0"/>
                </a:lnTo>
                <a:lnTo>
                  <a:pt x="3704167" y="0"/>
                </a:lnTo>
                <a:lnTo>
                  <a:pt x="3786481" y="0"/>
                </a:lnTo>
                <a:lnTo>
                  <a:pt x="3868796" y="0"/>
                </a:lnTo>
                <a:lnTo>
                  <a:pt x="3951111" y="0"/>
                </a:lnTo>
                <a:lnTo>
                  <a:pt x="4033426" y="0"/>
                </a:lnTo>
                <a:lnTo>
                  <a:pt x="4115741" y="0"/>
                </a:lnTo>
                <a:lnTo>
                  <a:pt x="4198055" y="0"/>
                </a:lnTo>
                <a:lnTo>
                  <a:pt x="4280371" y="0"/>
                </a:lnTo>
                <a:lnTo>
                  <a:pt x="4362685" y="0"/>
                </a:lnTo>
                <a:lnTo>
                  <a:pt x="4445000" y="0"/>
                </a:lnTo>
                <a:lnTo>
                  <a:pt x="4527315" y="0"/>
                </a:lnTo>
                <a:lnTo>
                  <a:pt x="4609629" y="0"/>
                </a:lnTo>
                <a:lnTo>
                  <a:pt x="4691945" y="0"/>
                </a:lnTo>
                <a:lnTo>
                  <a:pt x="4774259" y="0"/>
                </a:lnTo>
                <a:lnTo>
                  <a:pt x="4856574" y="0"/>
                </a:lnTo>
                <a:lnTo>
                  <a:pt x="4938889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plot">
            <a:extLst>
              <a:ext uri="{FF2B5EF4-FFF2-40B4-BE49-F238E27FC236}">
                <a16:creationId xmlns:a16="http://schemas.microsoft.com/office/drawing/2014/main" id="{3A84F7F1-8BFB-6CA4-1833-0CF99E207657}"/>
              </a:ext>
            </a:extLst>
          </p:cNvPr>
          <p:cNvSpPr txBox="1"/>
          <p:nvPr/>
        </p:nvSpPr>
        <p:spPr>
          <a:xfrm>
            <a:off x="7662333" y="5846308"/>
            <a:ext cx="2413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5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1500">
                <a:solidFill>
                  <a:srgbClr val="4D5B54"/>
                </a:solidFill>
                <a:latin typeface="DM Sans" pitchFamily="2" charset="0"/>
              </a:rPr>
              <a:t> = </a:t>
            </a:r>
            <a:r>
              <a:rPr lang="en-US" sz="15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5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1500">
                <a:solidFill>
                  <a:srgbClr val="4D5B54"/>
                </a:solidFill>
                <a:latin typeface="DM Sans" pitchFamily="2" charset="0"/>
              </a:rPr>
              <a:t> + 2</a:t>
            </a:r>
          </a:p>
        </p:txBody>
      </p:sp>
      <p:sp>
        <p:nvSpPr>
          <p:cNvPr id="50" name="plot">
            <a:extLst>
              <a:ext uri="{FF2B5EF4-FFF2-40B4-BE49-F238E27FC236}">
                <a16:creationId xmlns:a16="http://schemas.microsoft.com/office/drawing/2014/main" id="{E87FA2B1-7348-FB12-1988-6CF3407CBE40}"/>
              </a:ext>
            </a:extLst>
          </p:cNvPr>
          <p:cNvSpPr/>
          <p:nvPr/>
        </p:nvSpPr>
        <p:spPr>
          <a:xfrm>
            <a:off x="6604000" y="5007145"/>
            <a:ext cx="4938890" cy="2104856"/>
          </a:xfrm>
          <a:custGeom>
            <a:avLst/>
            <a:gdLst/>
            <a:ahLst/>
            <a:cxnLst/>
            <a:rect l="0" t="0" r="0" b="0"/>
            <a:pathLst>
              <a:path w="4938890" h="2104856">
                <a:moveTo>
                  <a:pt x="0" y="2104855"/>
                </a:moveTo>
                <a:lnTo>
                  <a:pt x="82315" y="1866451"/>
                </a:lnTo>
                <a:lnTo>
                  <a:pt x="164629" y="1642372"/>
                </a:lnTo>
                <a:lnTo>
                  <a:pt x="246945" y="1432617"/>
                </a:lnTo>
                <a:lnTo>
                  <a:pt x="329259" y="1237187"/>
                </a:lnTo>
                <a:lnTo>
                  <a:pt x="411574" y="1056082"/>
                </a:lnTo>
                <a:lnTo>
                  <a:pt x="493889" y="889301"/>
                </a:lnTo>
                <a:lnTo>
                  <a:pt x="576204" y="736845"/>
                </a:lnTo>
                <a:lnTo>
                  <a:pt x="658519" y="598714"/>
                </a:lnTo>
                <a:lnTo>
                  <a:pt x="740833" y="474908"/>
                </a:lnTo>
                <a:lnTo>
                  <a:pt x="823148" y="365426"/>
                </a:lnTo>
                <a:lnTo>
                  <a:pt x="905463" y="270269"/>
                </a:lnTo>
                <a:lnTo>
                  <a:pt x="987778" y="189437"/>
                </a:lnTo>
                <a:lnTo>
                  <a:pt x="1070093" y="122929"/>
                </a:lnTo>
                <a:lnTo>
                  <a:pt x="1152407" y="70747"/>
                </a:lnTo>
                <a:lnTo>
                  <a:pt x="1234722" y="32888"/>
                </a:lnTo>
                <a:lnTo>
                  <a:pt x="1317037" y="9355"/>
                </a:lnTo>
                <a:lnTo>
                  <a:pt x="1399352" y="146"/>
                </a:lnTo>
                <a:lnTo>
                  <a:pt x="1481667" y="0"/>
                </a:lnTo>
                <a:lnTo>
                  <a:pt x="1563981" y="0"/>
                </a:lnTo>
                <a:lnTo>
                  <a:pt x="1646296" y="0"/>
                </a:lnTo>
                <a:lnTo>
                  <a:pt x="1728611" y="0"/>
                </a:lnTo>
                <a:lnTo>
                  <a:pt x="1810926" y="0"/>
                </a:lnTo>
                <a:lnTo>
                  <a:pt x="1893241" y="0"/>
                </a:lnTo>
                <a:lnTo>
                  <a:pt x="1975555" y="0"/>
                </a:lnTo>
                <a:lnTo>
                  <a:pt x="2057871" y="0"/>
                </a:lnTo>
                <a:lnTo>
                  <a:pt x="2140185" y="0"/>
                </a:lnTo>
                <a:lnTo>
                  <a:pt x="2222500" y="0"/>
                </a:lnTo>
                <a:lnTo>
                  <a:pt x="2304815" y="0"/>
                </a:lnTo>
                <a:lnTo>
                  <a:pt x="2387129" y="0"/>
                </a:lnTo>
                <a:lnTo>
                  <a:pt x="2469445" y="0"/>
                </a:lnTo>
                <a:lnTo>
                  <a:pt x="2551759" y="0"/>
                </a:lnTo>
                <a:lnTo>
                  <a:pt x="2634074" y="0"/>
                </a:lnTo>
                <a:lnTo>
                  <a:pt x="2716389" y="0"/>
                </a:lnTo>
                <a:lnTo>
                  <a:pt x="2798704" y="0"/>
                </a:lnTo>
                <a:lnTo>
                  <a:pt x="2881019" y="0"/>
                </a:lnTo>
                <a:lnTo>
                  <a:pt x="2963333" y="0"/>
                </a:lnTo>
                <a:lnTo>
                  <a:pt x="3045648" y="0"/>
                </a:lnTo>
                <a:lnTo>
                  <a:pt x="3127963" y="0"/>
                </a:lnTo>
                <a:lnTo>
                  <a:pt x="3210278" y="0"/>
                </a:lnTo>
                <a:lnTo>
                  <a:pt x="3292593" y="0"/>
                </a:lnTo>
                <a:lnTo>
                  <a:pt x="3374907" y="0"/>
                </a:lnTo>
                <a:lnTo>
                  <a:pt x="3457222" y="0"/>
                </a:lnTo>
                <a:lnTo>
                  <a:pt x="3539537" y="0"/>
                </a:lnTo>
                <a:lnTo>
                  <a:pt x="3621852" y="0"/>
                </a:lnTo>
                <a:lnTo>
                  <a:pt x="3704167" y="0"/>
                </a:lnTo>
                <a:lnTo>
                  <a:pt x="3786481" y="0"/>
                </a:lnTo>
                <a:lnTo>
                  <a:pt x="3868796" y="0"/>
                </a:lnTo>
                <a:lnTo>
                  <a:pt x="3951111" y="0"/>
                </a:lnTo>
                <a:lnTo>
                  <a:pt x="4033426" y="0"/>
                </a:lnTo>
                <a:lnTo>
                  <a:pt x="4115741" y="0"/>
                </a:lnTo>
                <a:lnTo>
                  <a:pt x="4198055" y="0"/>
                </a:lnTo>
                <a:lnTo>
                  <a:pt x="4280371" y="0"/>
                </a:lnTo>
                <a:lnTo>
                  <a:pt x="4362685" y="0"/>
                </a:lnTo>
                <a:lnTo>
                  <a:pt x="4445000" y="0"/>
                </a:lnTo>
                <a:lnTo>
                  <a:pt x="4527315" y="0"/>
                </a:lnTo>
                <a:lnTo>
                  <a:pt x="4609629" y="0"/>
                </a:lnTo>
                <a:lnTo>
                  <a:pt x="4691945" y="0"/>
                </a:lnTo>
                <a:lnTo>
                  <a:pt x="4774259" y="0"/>
                </a:lnTo>
                <a:lnTo>
                  <a:pt x="4856574" y="0"/>
                </a:lnTo>
                <a:lnTo>
                  <a:pt x="4938889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plot">
            <a:extLst>
              <a:ext uri="{FF2B5EF4-FFF2-40B4-BE49-F238E27FC236}">
                <a16:creationId xmlns:a16="http://schemas.microsoft.com/office/drawing/2014/main" id="{B8E70CC5-1F27-FF8D-040B-1DAF24552F6C}"/>
              </a:ext>
            </a:extLst>
          </p:cNvPr>
          <p:cNvSpPr txBox="1"/>
          <p:nvPr/>
        </p:nvSpPr>
        <p:spPr>
          <a:xfrm>
            <a:off x="8720667" y="4676944"/>
            <a:ext cx="2413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5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1500">
                <a:solidFill>
                  <a:srgbClr val="4D5B54"/>
                </a:solidFill>
                <a:latin typeface="DM Sans" pitchFamily="2" charset="0"/>
              </a:rPr>
              <a:t> = </a:t>
            </a:r>
            <a:r>
              <a:rPr lang="en-US" sz="15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5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1500">
                <a:solidFill>
                  <a:srgbClr val="4D5B54"/>
                </a:solidFill>
                <a:latin typeface="DM Sans" pitchFamily="2" charset="0"/>
              </a:rPr>
              <a:t> + 3</a:t>
            </a:r>
          </a:p>
        </p:txBody>
      </p:sp>
      <p:sp>
        <p:nvSpPr>
          <p:cNvPr id="52" name="plot">
            <a:extLst>
              <a:ext uri="{FF2B5EF4-FFF2-40B4-BE49-F238E27FC236}">
                <a16:creationId xmlns:a16="http://schemas.microsoft.com/office/drawing/2014/main" id="{FA2DDBCA-0A57-484C-9049-01E55C7AD37F}"/>
              </a:ext>
            </a:extLst>
          </p:cNvPr>
          <p:cNvSpPr/>
          <p:nvPr/>
        </p:nvSpPr>
        <p:spPr>
          <a:xfrm>
            <a:off x="6604000" y="3370036"/>
            <a:ext cx="4938890" cy="3741965"/>
          </a:xfrm>
          <a:custGeom>
            <a:avLst/>
            <a:gdLst/>
            <a:ahLst/>
            <a:cxnLst/>
            <a:rect l="0" t="0" r="0" b="0"/>
            <a:pathLst>
              <a:path w="4938890" h="3741965">
                <a:moveTo>
                  <a:pt x="0" y="3741964"/>
                </a:moveTo>
                <a:lnTo>
                  <a:pt x="82315" y="3421704"/>
                </a:lnTo>
                <a:lnTo>
                  <a:pt x="164629" y="3115770"/>
                </a:lnTo>
                <a:lnTo>
                  <a:pt x="246945" y="2824160"/>
                </a:lnTo>
                <a:lnTo>
                  <a:pt x="329259" y="2546874"/>
                </a:lnTo>
                <a:lnTo>
                  <a:pt x="411574" y="2283913"/>
                </a:lnTo>
                <a:lnTo>
                  <a:pt x="493889" y="2035277"/>
                </a:lnTo>
                <a:lnTo>
                  <a:pt x="576204" y="1800966"/>
                </a:lnTo>
                <a:lnTo>
                  <a:pt x="658519" y="1580980"/>
                </a:lnTo>
                <a:lnTo>
                  <a:pt x="740833" y="1375318"/>
                </a:lnTo>
                <a:lnTo>
                  <a:pt x="823148" y="1183981"/>
                </a:lnTo>
                <a:lnTo>
                  <a:pt x="905463" y="1006968"/>
                </a:lnTo>
                <a:lnTo>
                  <a:pt x="987778" y="844280"/>
                </a:lnTo>
                <a:lnTo>
                  <a:pt x="1070093" y="695917"/>
                </a:lnTo>
                <a:lnTo>
                  <a:pt x="1152407" y="561879"/>
                </a:lnTo>
                <a:lnTo>
                  <a:pt x="1234722" y="442165"/>
                </a:lnTo>
                <a:lnTo>
                  <a:pt x="1317037" y="336777"/>
                </a:lnTo>
                <a:lnTo>
                  <a:pt x="1399352" y="245712"/>
                </a:lnTo>
                <a:lnTo>
                  <a:pt x="1481667" y="168973"/>
                </a:lnTo>
                <a:lnTo>
                  <a:pt x="1563981" y="106558"/>
                </a:lnTo>
                <a:lnTo>
                  <a:pt x="1646296" y="58468"/>
                </a:lnTo>
                <a:lnTo>
                  <a:pt x="1728611" y="24703"/>
                </a:lnTo>
                <a:lnTo>
                  <a:pt x="1810926" y="5262"/>
                </a:lnTo>
                <a:lnTo>
                  <a:pt x="1893241" y="0"/>
                </a:lnTo>
                <a:lnTo>
                  <a:pt x="1975555" y="0"/>
                </a:lnTo>
                <a:lnTo>
                  <a:pt x="2057871" y="0"/>
                </a:lnTo>
                <a:lnTo>
                  <a:pt x="2140185" y="0"/>
                </a:lnTo>
                <a:lnTo>
                  <a:pt x="2222500" y="0"/>
                </a:lnTo>
                <a:lnTo>
                  <a:pt x="2304815" y="0"/>
                </a:lnTo>
                <a:lnTo>
                  <a:pt x="2387129" y="0"/>
                </a:lnTo>
                <a:lnTo>
                  <a:pt x="2469445" y="0"/>
                </a:lnTo>
                <a:lnTo>
                  <a:pt x="2551759" y="0"/>
                </a:lnTo>
                <a:lnTo>
                  <a:pt x="2634074" y="0"/>
                </a:lnTo>
                <a:lnTo>
                  <a:pt x="2716389" y="0"/>
                </a:lnTo>
                <a:lnTo>
                  <a:pt x="2798704" y="0"/>
                </a:lnTo>
                <a:lnTo>
                  <a:pt x="2881019" y="0"/>
                </a:lnTo>
                <a:lnTo>
                  <a:pt x="2963333" y="0"/>
                </a:lnTo>
                <a:lnTo>
                  <a:pt x="3045648" y="0"/>
                </a:lnTo>
                <a:lnTo>
                  <a:pt x="3127963" y="0"/>
                </a:lnTo>
                <a:lnTo>
                  <a:pt x="3210278" y="0"/>
                </a:lnTo>
                <a:lnTo>
                  <a:pt x="3292593" y="0"/>
                </a:lnTo>
                <a:lnTo>
                  <a:pt x="3374907" y="0"/>
                </a:lnTo>
                <a:lnTo>
                  <a:pt x="3457222" y="0"/>
                </a:lnTo>
                <a:lnTo>
                  <a:pt x="3539537" y="0"/>
                </a:lnTo>
                <a:lnTo>
                  <a:pt x="3621852" y="0"/>
                </a:lnTo>
                <a:lnTo>
                  <a:pt x="3704167" y="0"/>
                </a:lnTo>
                <a:lnTo>
                  <a:pt x="3786481" y="0"/>
                </a:lnTo>
                <a:lnTo>
                  <a:pt x="3868796" y="0"/>
                </a:lnTo>
                <a:lnTo>
                  <a:pt x="3951111" y="0"/>
                </a:lnTo>
                <a:lnTo>
                  <a:pt x="4033426" y="0"/>
                </a:lnTo>
                <a:lnTo>
                  <a:pt x="4115741" y="0"/>
                </a:lnTo>
                <a:lnTo>
                  <a:pt x="4198055" y="0"/>
                </a:lnTo>
                <a:lnTo>
                  <a:pt x="4280371" y="0"/>
                </a:lnTo>
                <a:lnTo>
                  <a:pt x="4362685" y="0"/>
                </a:lnTo>
                <a:lnTo>
                  <a:pt x="4445000" y="0"/>
                </a:lnTo>
                <a:lnTo>
                  <a:pt x="4527315" y="0"/>
                </a:lnTo>
                <a:lnTo>
                  <a:pt x="4609629" y="0"/>
                </a:lnTo>
                <a:lnTo>
                  <a:pt x="4691945" y="0"/>
                </a:lnTo>
                <a:lnTo>
                  <a:pt x="4774259" y="0"/>
                </a:lnTo>
                <a:lnTo>
                  <a:pt x="4856574" y="0"/>
                </a:lnTo>
                <a:lnTo>
                  <a:pt x="4938889" y="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plot">
            <a:extLst>
              <a:ext uri="{FF2B5EF4-FFF2-40B4-BE49-F238E27FC236}">
                <a16:creationId xmlns:a16="http://schemas.microsoft.com/office/drawing/2014/main" id="{4EFC77A4-D96A-CA23-8B1B-B3BECF330601}"/>
              </a:ext>
            </a:extLst>
          </p:cNvPr>
          <p:cNvSpPr txBox="1"/>
          <p:nvPr/>
        </p:nvSpPr>
        <p:spPr>
          <a:xfrm>
            <a:off x="8603074" y="3039835"/>
            <a:ext cx="2413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5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1500">
                <a:solidFill>
                  <a:srgbClr val="4D5B54"/>
                </a:solidFill>
                <a:latin typeface="DM Sans" pitchFamily="2" charset="0"/>
              </a:rPr>
              <a:t> = </a:t>
            </a:r>
            <a:r>
              <a:rPr lang="en-US" sz="15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5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1500">
                <a:solidFill>
                  <a:srgbClr val="4D5B54"/>
                </a:solidFill>
                <a:latin typeface="DM Sans" pitchFamily="2" charset="0"/>
              </a:rPr>
              <a:t> + 4</a:t>
            </a:r>
          </a:p>
        </p:txBody>
      </p:sp>
      <p:sp>
        <p:nvSpPr>
          <p:cNvPr id="54" name="plot">
            <a:extLst>
              <a:ext uri="{FF2B5EF4-FFF2-40B4-BE49-F238E27FC236}">
                <a16:creationId xmlns:a16="http://schemas.microsoft.com/office/drawing/2014/main" id="{F08E8D2C-57E4-9757-5B45-D6C04797B364}"/>
              </a:ext>
            </a:extLst>
          </p:cNvPr>
          <p:cNvSpPr/>
          <p:nvPr/>
        </p:nvSpPr>
        <p:spPr>
          <a:xfrm>
            <a:off x="6604000" y="3518217"/>
            <a:ext cx="1843853" cy="3593784"/>
          </a:xfrm>
          <a:custGeom>
            <a:avLst/>
            <a:gdLst/>
            <a:ahLst/>
            <a:cxnLst/>
            <a:rect l="0" t="0" r="0" b="0"/>
            <a:pathLst>
              <a:path w="1843853" h="3593784">
                <a:moveTo>
                  <a:pt x="0" y="3593783"/>
                </a:moveTo>
                <a:lnTo>
                  <a:pt x="30731" y="3592785"/>
                </a:lnTo>
                <a:lnTo>
                  <a:pt x="61461" y="3589790"/>
                </a:lnTo>
                <a:lnTo>
                  <a:pt x="92193" y="3584798"/>
                </a:lnTo>
                <a:lnTo>
                  <a:pt x="122924" y="3577810"/>
                </a:lnTo>
                <a:lnTo>
                  <a:pt x="153654" y="3568826"/>
                </a:lnTo>
                <a:lnTo>
                  <a:pt x="184385" y="3557845"/>
                </a:lnTo>
                <a:lnTo>
                  <a:pt x="215116" y="3544867"/>
                </a:lnTo>
                <a:lnTo>
                  <a:pt x="245847" y="3529894"/>
                </a:lnTo>
                <a:lnTo>
                  <a:pt x="276578" y="3512923"/>
                </a:lnTo>
                <a:lnTo>
                  <a:pt x="307308" y="3493956"/>
                </a:lnTo>
                <a:lnTo>
                  <a:pt x="338040" y="3472992"/>
                </a:lnTo>
                <a:lnTo>
                  <a:pt x="368771" y="3450032"/>
                </a:lnTo>
                <a:lnTo>
                  <a:pt x="399501" y="3425075"/>
                </a:lnTo>
                <a:lnTo>
                  <a:pt x="430232" y="3398121"/>
                </a:lnTo>
                <a:lnTo>
                  <a:pt x="460963" y="3369172"/>
                </a:lnTo>
                <a:lnTo>
                  <a:pt x="491694" y="3338225"/>
                </a:lnTo>
                <a:lnTo>
                  <a:pt x="522425" y="3305282"/>
                </a:lnTo>
                <a:lnTo>
                  <a:pt x="553155" y="3270342"/>
                </a:lnTo>
                <a:lnTo>
                  <a:pt x="583886" y="3233407"/>
                </a:lnTo>
                <a:lnTo>
                  <a:pt x="614618" y="3194474"/>
                </a:lnTo>
                <a:lnTo>
                  <a:pt x="645348" y="3153545"/>
                </a:lnTo>
                <a:lnTo>
                  <a:pt x="676079" y="3110619"/>
                </a:lnTo>
                <a:lnTo>
                  <a:pt x="706810" y="3065697"/>
                </a:lnTo>
                <a:lnTo>
                  <a:pt x="737541" y="3018778"/>
                </a:lnTo>
                <a:lnTo>
                  <a:pt x="768272" y="2969863"/>
                </a:lnTo>
                <a:lnTo>
                  <a:pt x="799002" y="2918951"/>
                </a:lnTo>
                <a:lnTo>
                  <a:pt x="829733" y="2866042"/>
                </a:lnTo>
                <a:lnTo>
                  <a:pt x="860465" y="2811137"/>
                </a:lnTo>
                <a:lnTo>
                  <a:pt x="891195" y="2754235"/>
                </a:lnTo>
                <a:lnTo>
                  <a:pt x="921926" y="2695337"/>
                </a:lnTo>
                <a:lnTo>
                  <a:pt x="952657" y="2634443"/>
                </a:lnTo>
                <a:lnTo>
                  <a:pt x="983388" y="2571552"/>
                </a:lnTo>
                <a:lnTo>
                  <a:pt x="1014119" y="2506664"/>
                </a:lnTo>
                <a:lnTo>
                  <a:pt x="1044849" y="2439779"/>
                </a:lnTo>
                <a:lnTo>
                  <a:pt x="1075580" y="2370899"/>
                </a:lnTo>
                <a:lnTo>
                  <a:pt x="1106311" y="2300021"/>
                </a:lnTo>
                <a:lnTo>
                  <a:pt x="1137042" y="2227147"/>
                </a:lnTo>
                <a:lnTo>
                  <a:pt x="1167773" y="2152277"/>
                </a:lnTo>
                <a:lnTo>
                  <a:pt x="1198504" y="2075410"/>
                </a:lnTo>
                <a:lnTo>
                  <a:pt x="1229234" y="1996546"/>
                </a:lnTo>
                <a:lnTo>
                  <a:pt x="1259966" y="1915686"/>
                </a:lnTo>
                <a:lnTo>
                  <a:pt x="1290696" y="1832830"/>
                </a:lnTo>
                <a:lnTo>
                  <a:pt x="1321427" y="1747976"/>
                </a:lnTo>
                <a:lnTo>
                  <a:pt x="1352158" y="1661127"/>
                </a:lnTo>
                <a:lnTo>
                  <a:pt x="1382889" y="1572280"/>
                </a:lnTo>
                <a:lnTo>
                  <a:pt x="1413620" y="1481438"/>
                </a:lnTo>
                <a:lnTo>
                  <a:pt x="1444351" y="1388598"/>
                </a:lnTo>
                <a:lnTo>
                  <a:pt x="1475081" y="1293762"/>
                </a:lnTo>
                <a:lnTo>
                  <a:pt x="1505812" y="1196930"/>
                </a:lnTo>
                <a:lnTo>
                  <a:pt x="1536543" y="1098101"/>
                </a:lnTo>
                <a:lnTo>
                  <a:pt x="1567274" y="997275"/>
                </a:lnTo>
                <a:lnTo>
                  <a:pt x="1598005" y="894453"/>
                </a:lnTo>
                <a:lnTo>
                  <a:pt x="1628735" y="789634"/>
                </a:lnTo>
                <a:lnTo>
                  <a:pt x="1659467" y="682819"/>
                </a:lnTo>
                <a:lnTo>
                  <a:pt x="1690198" y="574007"/>
                </a:lnTo>
                <a:lnTo>
                  <a:pt x="1720928" y="463199"/>
                </a:lnTo>
                <a:lnTo>
                  <a:pt x="1751659" y="350394"/>
                </a:lnTo>
                <a:lnTo>
                  <a:pt x="1782390" y="235593"/>
                </a:lnTo>
                <a:lnTo>
                  <a:pt x="1813121" y="118795"/>
                </a:lnTo>
                <a:lnTo>
                  <a:pt x="1843852" y="0"/>
                </a:lnTo>
              </a:path>
            </a:pathLst>
          </a:custGeom>
          <a:ln w="19050">
            <a:solidFill>
              <a:srgbClr val="4D5B5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plot">
            <a:extLst>
              <a:ext uri="{FF2B5EF4-FFF2-40B4-BE49-F238E27FC236}">
                <a16:creationId xmlns:a16="http://schemas.microsoft.com/office/drawing/2014/main" id="{F28F6EFD-865E-E668-03EC-89204206A8EB}"/>
              </a:ext>
            </a:extLst>
          </p:cNvPr>
          <p:cNvCxnSpPr/>
          <p:nvPr/>
        </p:nvCxnSpPr>
        <p:spPr>
          <a:xfrm>
            <a:off x="6604000" y="3370036"/>
            <a:ext cx="4703704" cy="3741964"/>
          </a:xfrm>
          <a:prstGeom prst="line">
            <a:avLst/>
          </a:prstGeom>
          <a:ln w="38100">
            <a:solidFill>
              <a:srgbClr val="145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plot">
            <a:extLst>
              <a:ext uri="{FF2B5EF4-FFF2-40B4-BE49-F238E27FC236}">
                <a16:creationId xmlns:a16="http://schemas.microsoft.com/office/drawing/2014/main" id="{4F7D764E-ECED-AA40-9BFA-8BB6683BBFBD}"/>
              </a:ext>
            </a:extLst>
          </p:cNvPr>
          <p:cNvSpPr/>
          <p:nvPr/>
        </p:nvSpPr>
        <p:spPr>
          <a:xfrm>
            <a:off x="8057546" y="4508207"/>
            <a:ext cx="177800" cy="177800"/>
          </a:xfrm>
          <a:prstGeom prst="ellipse">
            <a:avLst/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plot">
            <a:extLst>
              <a:ext uri="{FF2B5EF4-FFF2-40B4-BE49-F238E27FC236}">
                <a16:creationId xmlns:a16="http://schemas.microsoft.com/office/drawing/2014/main" id="{67FDC769-49AF-BD8A-FEDA-0714B58855EE}"/>
              </a:ext>
            </a:extLst>
          </p:cNvPr>
          <p:cNvSpPr txBox="1"/>
          <p:nvPr/>
        </p:nvSpPr>
        <p:spPr>
          <a:xfrm>
            <a:off x="8298846" y="4165306"/>
            <a:ext cx="3302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A</a:t>
            </a:r>
          </a:p>
        </p:txBody>
      </p:sp>
      <p:sp>
        <p:nvSpPr>
          <p:cNvPr id="58" name="plot">
            <a:extLst>
              <a:ext uri="{FF2B5EF4-FFF2-40B4-BE49-F238E27FC236}">
                <a16:creationId xmlns:a16="http://schemas.microsoft.com/office/drawing/2014/main" id="{E85837C2-4367-D34A-2C33-7090B7899BDA}"/>
              </a:ext>
            </a:extLst>
          </p:cNvPr>
          <p:cNvSpPr/>
          <p:nvPr/>
        </p:nvSpPr>
        <p:spPr>
          <a:xfrm>
            <a:off x="11218804" y="7023100"/>
            <a:ext cx="177800" cy="177800"/>
          </a:xfrm>
          <a:prstGeom prst="ellipse">
            <a:avLst/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plot">
            <a:extLst>
              <a:ext uri="{FF2B5EF4-FFF2-40B4-BE49-F238E27FC236}">
                <a16:creationId xmlns:a16="http://schemas.microsoft.com/office/drawing/2014/main" id="{5BB2CD49-8724-B354-C21D-15710B5C199D}"/>
              </a:ext>
            </a:extLst>
          </p:cNvPr>
          <p:cNvSpPr txBox="1"/>
          <p:nvPr/>
        </p:nvSpPr>
        <p:spPr>
          <a:xfrm>
            <a:off x="10875904" y="6629399"/>
            <a:ext cx="3302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B</a:t>
            </a:r>
          </a:p>
        </p:txBody>
      </p:sp>
      <p:sp>
        <p:nvSpPr>
          <p:cNvPr id="60" name="plot">
            <a:extLst>
              <a:ext uri="{FF2B5EF4-FFF2-40B4-BE49-F238E27FC236}">
                <a16:creationId xmlns:a16="http://schemas.microsoft.com/office/drawing/2014/main" id="{7623D0C0-0C63-BBA0-015F-F9A01C574719}"/>
              </a:ext>
            </a:extLst>
          </p:cNvPr>
          <p:cNvSpPr txBox="1"/>
          <p:nvPr/>
        </p:nvSpPr>
        <p:spPr>
          <a:xfrm>
            <a:off x="9394237" y="5326515"/>
            <a:ext cx="4318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00">
                <a:solidFill>
                  <a:srgbClr val="145A43"/>
                </a:solidFill>
                <a:latin typeface="DM Sans" pitchFamily="2" charset="0"/>
              </a:rPr>
              <a:t>load line: </a:t>
            </a:r>
            <a:r>
              <a:rPr lang="en-US" sz="1600" i="1">
                <a:solidFill>
                  <a:srgbClr val="145A43"/>
                </a:solidFill>
                <a:latin typeface="DM Sans" pitchFamily="2" charset="0"/>
              </a:rPr>
              <a:t>i</a:t>
            </a:r>
            <a:r>
              <a:rPr lang="en-US" sz="1600" i="1" baseline="-25000">
                <a:solidFill>
                  <a:srgbClr val="145A43"/>
                </a:solidFill>
                <a:latin typeface="DM Sans" pitchFamily="2" charset="0"/>
              </a:rPr>
              <a:t>D</a:t>
            </a:r>
            <a:r>
              <a:rPr lang="en-US" sz="1600">
                <a:solidFill>
                  <a:srgbClr val="145A43"/>
                </a:solidFill>
                <a:latin typeface="DM Sans" pitchFamily="2" charset="0"/>
              </a:rPr>
              <a:t> = (</a:t>
            </a:r>
            <a:r>
              <a:rPr lang="en-US" sz="1600" i="1">
                <a:solidFill>
                  <a:srgbClr val="145A43"/>
                </a:solidFill>
                <a:latin typeface="DM Sans" pitchFamily="2" charset="0"/>
              </a:rPr>
              <a:t>V</a:t>
            </a:r>
            <a:r>
              <a:rPr lang="en-US" sz="1600" i="1" baseline="-25000">
                <a:solidFill>
                  <a:srgbClr val="145A43"/>
                </a:solidFill>
                <a:latin typeface="DM Sans" pitchFamily="2" charset="0"/>
              </a:rPr>
              <a:t>DD</a:t>
            </a:r>
            <a:r>
              <a:rPr lang="en-US" sz="1600">
                <a:solidFill>
                  <a:srgbClr val="145A43"/>
                </a:solidFill>
                <a:latin typeface="DM Sans" pitchFamily="2" charset="0"/>
              </a:rPr>
              <a:t> − </a:t>
            </a:r>
            <a:r>
              <a:rPr lang="en-US" sz="1600" i="1">
                <a:solidFill>
                  <a:srgbClr val="145A43"/>
                </a:solidFill>
                <a:latin typeface="DM Sans" pitchFamily="2" charset="0"/>
              </a:rPr>
              <a:t>v</a:t>
            </a:r>
            <a:r>
              <a:rPr lang="en-US" sz="1600" i="1" baseline="-25000">
                <a:solidFill>
                  <a:srgbClr val="145A43"/>
                </a:solidFill>
                <a:latin typeface="DM Sans" pitchFamily="2" charset="0"/>
              </a:rPr>
              <a:t>DS</a:t>
            </a:r>
            <a:r>
              <a:rPr lang="en-US" sz="1600">
                <a:solidFill>
                  <a:srgbClr val="145A43"/>
                </a:solidFill>
                <a:latin typeface="DM Sans" pitchFamily="2" charset="0"/>
              </a:rPr>
              <a:t>)/</a:t>
            </a:r>
            <a:r>
              <a:rPr lang="en-US" sz="1600" i="1">
                <a:solidFill>
                  <a:srgbClr val="145A43"/>
                </a:solidFill>
                <a:latin typeface="DM Sans" pitchFamily="2" charset="0"/>
              </a:rPr>
              <a:t>R</a:t>
            </a:r>
            <a:r>
              <a:rPr lang="en-US" sz="1600" i="1" baseline="-25000">
                <a:solidFill>
                  <a:srgbClr val="145A43"/>
                </a:solidFill>
                <a:latin typeface="DM Sans" pitchFamily="2" charset="0"/>
              </a:rPr>
              <a:t>D</a:t>
            </a:r>
          </a:p>
        </p:txBody>
      </p:sp>
      <p:cxnSp>
        <p:nvCxnSpPr>
          <p:cNvPr id="61" name="plot">
            <a:extLst>
              <a:ext uri="{FF2B5EF4-FFF2-40B4-BE49-F238E27FC236}">
                <a16:creationId xmlns:a16="http://schemas.microsoft.com/office/drawing/2014/main" id="{2AA75D46-D501-4042-7BFF-88BE69D37DCF}"/>
              </a:ext>
            </a:extLst>
          </p:cNvPr>
          <p:cNvCxnSpPr/>
          <p:nvPr/>
        </p:nvCxnSpPr>
        <p:spPr>
          <a:xfrm>
            <a:off x="11307704" y="7112000"/>
            <a:ext cx="0" cy="76200"/>
          </a:xfrm>
          <a:prstGeom prst="line">
            <a:avLst/>
          </a:prstGeom>
          <a:ln w="15875">
            <a:solidFill>
              <a:srgbClr val="4D5B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plot">
            <a:extLst>
              <a:ext uri="{FF2B5EF4-FFF2-40B4-BE49-F238E27FC236}">
                <a16:creationId xmlns:a16="http://schemas.microsoft.com/office/drawing/2014/main" id="{D5A9B997-7A59-033E-F8E1-262BD286D7A9}"/>
              </a:ext>
            </a:extLst>
          </p:cNvPr>
          <p:cNvSpPr txBox="1"/>
          <p:nvPr/>
        </p:nvSpPr>
        <p:spPr>
          <a:xfrm>
            <a:off x="10672704" y="7213599"/>
            <a:ext cx="1270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DD</a:t>
            </a:r>
          </a:p>
        </p:txBody>
      </p:sp>
      <p:cxnSp>
        <p:nvCxnSpPr>
          <p:cNvPr id="63" name="plot">
            <a:extLst>
              <a:ext uri="{FF2B5EF4-FFF2-40B4-BE49-F238E27FC236}">
                <a16:creationId xmlns:a16="http://schemas.microsoft.com/office/drawing/2014/main" id="{91D5E9AB-614B-D61F-CDE0-C5367F4BAEF1}"/>
              </a:ext>
            </a:extLst>
          </p:cNvPr>
          <p:cNvCxnSpPr/>
          <p:nvPr/>
        </p:nvCxnSpPr>
        <p:spPr>
          <a:xfrm>
            <a:off x="6527800" y="3370036"/>
            <a:ext cx="76200" cy="0"/>
          </a:xfrm>
          <a:prstGeom prst="line">
            <a:avLst/>
          </a:prstGeom>
          <a:ln w="15875">
            <a:solidFill>
              <a:srgbClr val="4D5B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plot">
            <a:extLst>
              <a:ext uri="{FF2B5EF4-FFF2-40B4-BE49-F238E27FC236}">
                <a16:creationId xmlns:a16="http://schemas.microsoft.com/office/drawing/2014/main" id="{E2B64156-539F-57E1-3B62-914AA792B46F}"/>
              </a:ext>
            </a:extLst>
          </p:cNvPr>
          <p:cNvSpPr txBox="1"/>
          <p:nvPr/>
        </p:nvSpPr>
        <p:spPr>
          <a:xfrm>
            <a:off x="5207000" y="3204935"/>
            <a:ext cx="1270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DD</a:t>
            </a:r>
            <a:r>
              <a:rPr lang="en-US" sz="1700">
                <a:solidFill>
                  <a:srgbClr val="4D5B54"/>
                </a:solidFill>
                <a:latin typeface="DM Sans" pitchFamily="2" charset="0"/>
              </a:rPr>
              <a:t>/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eq @1">
                <a:extLst>
                  <a:ext uri="{FF2B5EF4-FFF2-40B4-BE49-F238E27FC236}">
                    <a16:creationId xmlns:a16="http://schemas.microsoft.com/office/drawing/2014/main" id="{CDB94209-D657-6332-D298-3736A8B2FD9D}"/>
                  </a:ext>
                </a:extLst>
              </p:cNvPr>
              <p:cNvSpPr txBox="1"/>
              <p:nvPr/>
            </p:nvSpPr>
            <p:spPr>
              <a:xfrm>
                <a:off x="13716000" y="2285999"/>
                <a:ext cx="3657600" cy="4572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𝐷𝑆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𝐷𝐷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5" name="eq @1">
                <a:extLst>
                  <a:ext uri="{FF2B5EF4-FFF2-40B4-BE49-F238E27FC236}">
                    <a16:creationId xmlns:a16="http://schemas.microsoft.com/office/drawing/2014/main" id="{CDB94209-D657-6332-D298-3736A8B2F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0" y="2285999"/>
                <a:ext cx="3657600" cy="457200"/>
              </a:xfrm>
              <a:prstGeom prst="rect">
                <a:avLst/>
              </a:prstGeom>
              <a:blipFill>
                <a:blip r:embed="rId2"/>
                <a:stretch>
                  <a:fillRect l="-2167"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point @1">
            <a:extLst>
              <a:ext uri="{FF2B5EF4-FFF2-40B4-BE49-F238E27FC236}">
                <a16:creationId xmlns:a16="http://schemas.microsoft.com/office/drawing/2014/main" id="{EB235635-E27F-4327-2D9F-B8208E1E3897}"/>
              </a:ext>
            </a:extLst>
          </p:cNvPr>
          <p:cNvSpPr txBox="1"/>
          <p:nvPr/>
        </p:nvSpPr>
        <p:spPr>
          <a:xfrm>
            <a:off x="13716000" y="3111500"/>
            <a:ext cx="3657600" cy="9619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KVL at the drain: every operating point lies on this line.</a:t>
            </a:r>
          </a:p>
        </p:txBody>
      </p:sp>
      <p:sp>
        <p:nvSpPr>
          <p:cNvPr id="67" name="point @2">
            <a:extLst>
              <a:ext uri="{FF2B5EF4-FFF2-40B4-BE49-F238E27FC236}">
                <a16:creationId xmlns:a16="http://schemas.microsoft.com/office/drawing/2014/main" id="{246012AB-6963-9EAB-3852-DF4816CC3C8A}"/>
              </a:ext>
            </a:extLst>
          </p:cNvPr>
          <p:cNvSpPr txBox="1"/>
          <p:nvPr/>
        </p:nvSpPr>
        <p:spPr>
          <a:xfrm>
            <a:off x="13716000" y="4352895"/>
            <a:ext cx="3657600" cy="9619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Between </a:t>
            </a:r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A</a:t>
            </a:r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 (edge of triode) and </a:t>
            </a:r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B</a:t>
            </a:r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 (cutoff) the MOSFET is in saturation: bias it there.</a:t>
            </a:r>
          </a:p>
        </p:txBody>
      </p:sp>
      <p:sp>
        <p:nvSpPr>
          <p:cNvPr id="68" name="point @3">
            <a:extLst>
              <a:ext uri="{FF2B5EF4-FFF2-40B4-BE49-F238E27FC236}">
                <a16:creationId xmlns:a16="http://schemas.microsoft.com/office/drawing/2014/main" id="{D0C540A5-1B11-DD4A-11BF-4CB538455AD9}"/>
              </a:ext>
            </a:extLst>
          </p:cNvPr>
          <p:cNvSpPr txBox="1"/>
          <p:nvPr/>
        </p:nvSpPr>
        <p:spPr>
          <a:xfrm>
            <a:off x="13716000" y="5594290"/>
            <a:ext cx="3657600" cy="9619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A small change in </a:t>
            </a:r>
            <a:r>
              <a:rPr lang="en-US" sz="20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0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 moves the point along the line: a </a:t>
            </a:r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large</a:t>
            </a:r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 change in </a:t>
            </a:r>
            <a:r>
              <a:rPr lang="en-US" sz="20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0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69" name="credit">
            <a:extLst>
              <a:ext uri="{FF2B5EF4-FFF2-40B4-BE49-F238E27FC236}">
                <a16:creationId xmlns:a16="http://schemas.microsoft.com/office/drawing/2014/main" id="{4D019B28-AD43-0BD4-7286-74452D367FD0}"/>
              </a:ext>
            </a:extLst>
          </p:cNvPr>
          <p:cNvSpPr txBox="1"/>
          <p:nvPr/>
        </p:nvSpPr>
        <p:spPr>
          <a:xfrm>
            <a:off x="5461000" y="8318499"/>
            <a:ext cx="76200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Curves computed for k′</a:t>
            </a:r>
            <a:r>
              <a:rPr lang="en-US" sz="1300" baseline="-25000">
                <a:solidFill>
                  <a:srgbClr val="4D5B54"/>
                </a:solidFill>
                <a:latin typeface="DM Sans" pitchFamily="2" charset="0"/>
              </a:rPr>
              <a:t>n</a:t>
            </a:r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(W/L) = 1 mA/V², </a:t>
            </a:r>
            <a:r>
              <a:rPr lang="en-US" sz="13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300" i="1" baseline="-25000">
                <a:solidFill>
                  <a:srgbClr val="4D5B54"/>
                </a:solidFill>
                <a:latin typeface="DM Sans" pitchFamily="2" charset="0"/>
              </a:rPr>
              <a:t>DD</a:t>
            </a:r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 = 10 V, </a:t>
            </a:r>
            <a:r>
              <a:rPr lang="en-US" sz="1300" i="1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13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 = 1.25 kΩ.</a:t>
            </a:r>
          </a:p>
        </p:txBody>
      </p:sp>
      <p:sp>
        <p:nvSpPr>
          <p:cNvPr id="70" name="chrome page">
            <a:extLst>
              <a:ext uri="{FF2B5EF4-FFF2-40B4-BE49-F238E27FC236}">
                <a16:creationId xmlns:a16="http://schemas.microsoft.com/office/drawing/2014/main" id="{DA087555-C3D6-8431-25B0-CE5596E1F7DF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chrome page">
            <a:extLst>
              <a:ext uri="{FF2B5EF4-FFF2-40B4-BE49-F238E27FC236}">
                <a16:creationId xmlns:a16="http://schemas.microsoft.com/office/drawing/2014/main" id="{10E62A8C-53BB-F764-B5A6-DC82DCFB74BC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156348255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mall-signal operation: the tr s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B2A1AD9-90A0-0BC6-EA19-B7213E7FF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Small-signal operation: the transconductance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g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m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A5208E2F-2C6E-A93D-D6D7-BA2BB3AD6AFA}"/>
              </a:ext>
            </a:extLst>
          </p:cNvPr>
          <p:cNvSpPr/>
          <p:nvPr/>
        </p:nvSpPr>
        <p:spPr>
          <a:xfrm>
            <a:off x="914400" y="279400"/>
            <a:ext cx="377698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42D9E249-2080-5F6A-6E57-A31A26E7B2BC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AF697FA1-BB9F-447D-5476-58BBBFDF45A3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badge @1">
            <a:extLst>
              <a:ext uri="{FF2B5EF4-FFF2-40B4-BE49-F238E27FC236}">
                <a16:creationId xmlns:a16="http://schemas.microsoft.com/office/drawing/2014/main" id="{64283EF4-640D-8658-E9C6-D66C5990BDFB}"/>
              </a:ext>
            </a:extLst>
          </p:cNvPr>
          <p:cNvSpPr/>
          <p:nvPr/>
        </p:nvSpPr>
        <p:spPr>
          <a:xfrm>
            <a:off x="914400" y="22352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7" name="lab @1">
            <a:extLst>
              <a:ext uri="{FF2B5EF4-FFF2-40B4-BE49-F238E27FC236}">
                <a16:creationId xmlns:a16="http://schemas.microsoft.com/office/drawing/2014/main" id="{439DDC84-0C28-CB2D-0E23-45D829029065}"/>
              </a:ext>
            </a:extLst>
          </p:cNvPr>
          <p:cNvSpPr txBox="1"/>
          <p:nvPr/>
        </p:nvSpPr>
        <p:spPr>
          <a:xfrm>
            <a:off x="1524000" y="2222500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The gate voltage is the bias plus a small signal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eq @1">
                <a:extLst>
                  <a:ext uri="{FF2B5EF4-FFF2-40B4-BE49-F238E27FC236}">
                    <a16:creationId xmlns:a16="http://schemas.microsoft.com/office/drawing/2014/main" id="{140637ED-FEF4-8C2C-F242-D66C0A5C7EA7}"/>
                  </a:ext>
                </a:extLst>
              </p:cNvPr>
              <p:cNvSpPr txBox="1"/>
              <p:nvPr/>
            </p:nvSpPr>
            <p:spPr>
              <a:xfrm>
                <a:off x="1524000" y="2596464"/>
                <a:ext cx="158496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𝑔𝑠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" name="eq @1">
                <a:extLst>
                  <a:ext uri="{FF2B5EF4-FFF2-40B4-BE49-F238E27FC236}">
                    <a16:creationId xmlns:a16="http://schemas.microsoft.com/office/drawing/2014/main" id="{140637ED-FEF4-8C2C-F242-D66C0A5C7EA7}"/>
                  </a:ext>
                </a:extLst>
              </p:cNvPr>
              <p:cNvSpPr txBox="1"/>
              <p:nvPr/>
            </p:nvSpPr>
            <p:spPr>
              <a:xfrm>
                <a:off x="1524000" y="2596464"/>
                <a:ext cx="158496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v_{GS} = V_{GS} + v_{gs}</a:t>
                </a:r>
              </a:p>
            </p:txBody>
          </p:sp>
        </mc:Fallback>
      </mc:AlternateContent>
      <p:sp>
        <p:nvSpPr>
          <p:cNvPr id="18" name="chrome page">
            <a:extLst>
              <a:ext uri="{FF2B5EF4-FFF2-40B4-BE49-F238E27FC236}">
                <a16:creationId xmlns:a16="http://schemas.microsoft.com/office/drawing/2014/main" id="{D5B8BF2C-BC27-B153-52DF-49EC0B51E7CD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hrome page">
            <a:extLst>
              <a:ext uri="{FF2B5EF4-FFF2-40B4-BE49-F238E27FC236}">
                <a16:creationId xmlns:a16="http://schemas.microsoft.com/office/drawing/2014/main" id="{AE29A19D-68AC-5601-781E-91D0AFF0FA66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232501840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mall-signal operation: the tr s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B2A1AD9-90A0-0BC6-EA19-B7213E7FF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Small-signal operation: the transconductance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g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m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A5208E2F-2C6E-A93D-D6D7-BA2BB3AD6AFA}"/>
              </a:ext>
            </a:extLst>
          </p:cNvPr>
          <p:cNvSpPr/>
          <p:nvPr/>
        </p:nvSpPr>
        <p:spPr>
          <a:xfrm>
            <a:off x="914400" y="279400"/>
            <a:ext cx="377698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42D9E249-2080-5F6A-6E57-A31A26E7B2BC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AF697FA1-BB9F-447D-5476-58BBBFDF45A3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badge @1">
            <a:extLst>
              <a:ext uri="{FF2B5EF4-FFF2-40B4-BE49-F238E27FC236}">
                <a16:creationId xmlns:a16="http://schemas.microsoft.com/office/drawing/2014/main" id="{64283EF4-640D-8658-E9C6-D66C5990BDFB}"/>
              </a:ext>
            </a:extLst>
          </p:cNvPr>
          <p:cNvSpPr/>
          <p:nvPr/>
        </p:nvSpPr>
        <p:spPr>
          <a:xfrm>
            <a:off x="914400" y="22352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7" name="lab @1">
            <a:extLst>
              <a:ext uri="{FF2B5EF4-FFF2-40B4-BE49-F238E27FC236}">
                <a16:creationId xmlns:a16="http://schemas.microsoft.com/office/drawing/2014/main" id="{439DDC84-0C28-CB2D-0E23-45D829029065}"/>
              </a:ext>
            </a:extLst>
          </p:cNvPr>
          <p:cNvSpPr txBox="1"/>
          <p:nvPr/>
        </p:nvSpPr>
        <p:spPr>
          <a:xfrm>
            <a:off x="1524000" y="2222500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The gate voltage is the bias plus a small signal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eq @1">
                <a:extLst>
                  <a:ext uri="{FF2B5EF4-FFF2-40B4-BE49-F238E27FC236}">
                    <a16:creationId xmlns:a16="http://schemas.microsoft.com/office/drawing/2014/main" id="{140637ED-FEF4-8C2C-F242-D66C0A5C7EA7}"/>
                  </a:ext>
                </a:extLst>
              </p:cNvPr>
              <p:cNvSpPr txBox="1"/>
              <p:nvPr/>
            </p:nvSpPr>
            <p:spPr>
              <a:xfrm>
                <a:off x="1524000" y="2596464"/>
                <a:ext cx="158496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𝑔𝑠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" name="eq @1">
                <a:extLst>
                  <a:ext uri="{FF2B5EF4-FFF2-40B4-BE49-F238E27FC236}">
                    <a16:creationId xmlns:a16="http://schemas.microsoft.com/office/drawing/2014/main" id="{140637ED-FEF4-8C2C-F242-D66C0A5C7E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2596464"/>
                <a:ext cx="15849600" cy="4953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badge @2">
            <a:extLst>
              <a:ext uri="{FF2B5EF4-FFF2-40B4-BE49-F238E27FC236}">
                <a16:creationId xmlns:a16="http://schemas.microsoft.com/office/drawing/2014/main" id="{4E4F39F5-FE8F-AA05-50DA-1389A0ED7BD3}"/>
              </a:ext>
            </a:extLst>
          </p:cNvPr>
          <p:cNvSpPr/>
          <p:nvPr/>
        </p:nvSpPr>
        <p:spPr>
          <a:xfrm>
            <a:off x="914400" y="3307665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2</a:t>
            </a:r>
          </a:p>
        </p:txBody>
      </p:sp>
      <p:sp>
        <p:nvSpPr>
          <p:cNvPr id="10" name="lab @2">
            <a:extLst>
              <a:ext uri="{FF2B5EF4-FFF2-40B4-BE49-F238E27FC236}">
                <a16:creationId xmlns:a16="http://schemas.microsoft.com/office/drawing/2014/main" id="{30733FC2-D605-D91D-B301-F8E4FD29FB7F}"/>
              </a:ext>
            </a:extLst>
          </p:cNvPr>
          <p:cNvSpPr txBox="1"/>
          <p:nvPr/>
        </p:nvSpPr>
        <p:spPr>
          <a:xfrm>
            <a:off x="1524000" y="3294965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Substitute into the saturation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q @2">
                <a:extLst>
                  <a:ext uri="{FF2B5EF4-FFF2-40B4-BE49-F238E27FC236}">
                    <a16:creationId xmlns:a16="http://schemas.microsoft.com/office/drawing/2014/main" id="{D2531D8A-EB8C-8E66-823D-F38B60F145D2}"/>
                  </a:ext>
                </a:extLst>
              </p:cNvPr>
              <p:cNvSpPr txBox="1"/>
              <p:nvPr/>
            </p:nvSpPr>
            <p:spPr>
              <a:xfrm>
                <a:off x="1524000" y="3668929"/>
                <a:ext cx="15849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+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𝑔𝑠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+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𝑔𝑠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1" name="eq @2">
                <a:extLst>
                  <a:ext uri="{FF2B5EF4-FFF2-40B4-BE49-F238E27FC236}">
                    <a16:creationId xmlns:a16="http://schemas.microsoft.com/office/drawing/2014/main" id="{D2531D8A-EB8C-8E66-823D-F38B60F145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3668929"/>
                <a:ext cx="15849600" cy="7594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hrome page">
            <a:extLst>
              <a:ext uri="{FF2B5EF4-FFF2-40B4-BE49-F238E27FC236}">
                <a16:creationId xmlns:a16="http://schemas.microsoft.com/office/drawing/2014/main" id="{5310A765-3503-F316-4DDD-3C73436379BF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hrome page">
            <a:extLst>
              <a:ext uri="{FF2B5EF4-FFF2-40B4-BE49-F238E27FC236}">
                <a16:creationId xmlns:a16="http://schemas.microsoft.com/office/drawing/2014/main" id="{9C88E656-B8DB-2863-8DFD-FAD852AB5FFC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37912276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mall-signal operation: the tr s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B2A1AD9-90A0-0BC6-EA19-B7213E7FF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Small-signal operation: the transconductance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g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m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A5208E2F-2C6E-A93D-D6D7-BA2BB3AD6AFA}"/>
              </a:ext>
            </a:extLst>
          </p:cNvPr>
          <p:cNvSpPr/>
          <p:nvPr/>
        </p:nvSpPr>
        <p:spPr>
          <a:xfrm>
            <a:off x="914400" y="279400"/>
            <a:ext cx="377698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42D9E249-2080-5F6A-6E57-A31A26E7B2BC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AF697FA1-BB9F-447D-5476-58BBBFDF45A3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badge @1">
            <a:extLst>
              <a:ext uri="{FF2B5EF4-FFF2-40B4-BE49-F238E27FC236}">
                <a16:creationId xmlns:a16="http://schemas.microsoft.com/office/drawing/2014/main" id="{64283EF4-640D-8658-E9C6-D66C5990BDFB}"/>
              </a:ext>
            </a:extLst>
          </p:cNvPr>
          <p:cNvSpPr/>
          <p:nvPr/>
        </p:nvSpPr>
        <p:spPr>
          <a:xfrm>
            <a:off x="914400" y="22352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7" name="lab @1">
            <a:extLst>
              <a:ext uri="{FF2B5EF4-FFF2-40B4-BE49-F238E27FC236}">
                <a16:creationId xmlns:a16="http://schemas.microsoft.com/office/drawing/2014/main" id="{439DDC84-0C28-CB2D-0E23-45D829029065}"/>
              </a:ext>
            </a:extLst>
          </p:cNvPr>
          <p:cNvSpPr txBox="1"/>
          <p:nvPr/>
        </p:nvSpPr>
        <p:spPr>
          <a:xfrm>
            <a:off x="1524000" y="2222500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The gate voltage is the bias plus a small signal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eq @1">
                <a:extLst>
                  <a:ext uri="{FF2B5EF4-FFF2-40B4-BE49-F238E27FC236}">
                    <a16:creationId xmlns:a16="http://schemas.microsoft.com/office/drawing/2014/main" id="{140637ED-FEF4-8C2C-F242-D66C0A5C7EA7}"/>
                  </a:ext>
                </a:extLst>
              </p:cNvPr>
              <p:cNvSpPr txBox="1"/>
              <p:nvPr/>
            </p:nvSpPr>
            <p:spPr>
              <a:xfrm>
                <a:off x="1524000" y="2596464"/>
                <a:ext cx="158496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𝑔𝑠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" name="eq @1">
                <a:extLst>
                  <a:ext uri="{FF2B5EF4-FFF2-40B4-BE49-F238E27FC236}">
                    <a16:creationId xmlns:a16="http://schemas.microsoft.com/office/drawing/2014/main" id="{140637ED-FEF4-8C2C-F242-D66C0A5C7E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2596464"/>
                <a:ext cx="15849600" cy="4953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badge @2">
            <a:extLst>
              <a:ext uri="{FF2B5EF4-FFF2-40B4-BE49-F238E27FC236}">
                <a16:creationId xmlns:a16="http://schemas.microsoft.com/office/drawing/2014/main" id="{4E4F39F5-FE8F-AA05-50DA-1389A0ED7BD3}"/>
              </a:ext>
            </a:extLst>
          </p:cNvPr>
          <p:cNvSpPr/>
          <p:nvPr/>
        </p:nvSpPr>
        <p:spPr>
          <a:xfrm>
            <a:off x="914400" y="3307665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2</a:t>
            </a:r>
          </a:p>
        </p:txBody>
      </p:sp>
      <p:sp>
        <p:nvSpPr>
          <p:cNvPr id="10" name="lab @2">
            <a:extLst>
              <a:ext uri="{FF2B5EF4-FFF2-40B4-BE49-F238E27FC236}">
                <a16:creationId xmlns:a16="http://schemas.microsoft.com/office/drawing/2014/main" id="{30733FC2-D605-D91D-B301-F8E4FD29FB7F}"/>
              </a:ext>
            </a:extLst>
          </p:cNvPr>
          <p:cNvSpPr txBox="1"/>
          <p:nvPr/>
        </p:nvSpPr>
        <p:spPr>
          <a:xfrm>
            <a:off x="1524000" y="3294965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Substitute into the saturation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q @2">
                <a:extLst>
                  <a:ext uri="{FF2B5EF4-FFF2-40B4-BE49-F238E27FC236}">
                    <a16:creationId xmlns:a16="http://schemas.microsoft.com/office/drawing/2014/main" id="{D2531D8A-EB8C-8E66-823D-F38B60F145D2}"/>
                  </a:ext>
                </a:extLst>
              </p:cNvPr>
              <p:cNvSpPr txBox="1"/>
              <p:nvPr/>
            </p:nvSpPr>
            <p:spPr>
              <a:xfrm>
                <a:off x="1524000" y="3668929"/>
                <a:ext cx="15849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+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𝑔𝑠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+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𝑔𝑠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1" name="eq @2">
                <a:extLst>
                  <a:ext uri="{FF2B5EF4-FFF2-40B4-BE49-F238E27FC236}">
                    <a16:creationId xmlns:a16="http://schemas.microsoft.com/office/drawing/2014/main" id="{D2531D8A-EB8C-8E66-823D-F38B60F145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3668929"/>
                <a:ext cx="15849600" cy="7594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badge @3">
            <a:extLst>
              <a:ext uri="{FF2B5EF4-FFF2-40B4-BE49-F238E27FC236}">
                <a16:creationId xmlns:a16="http://schemas.microsoft.com/office/drawing/2014/main" id="{0637EBF1-A02F-AD06-62F0-E298047D6469}"/>
              </a:ext>
            </a:extLst>
          </p:cNvPr>
          <p:cNvSpPr/>
          <p:nvPr/>
        </p:nvSpPr>
        <p:spPr>
          <a:xfrm>
            <a:off x="914400" y="464429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3</a:t>
            </a:r>
          </a:p>
        </p:txBody>
      </p:sp>
      <p:sp>
        <p:nvSpPr>
          <p:cNvPr id="13" name="lab @3">
            <a:extLst>
              <a:ext uri="{FF2B5EF4-FFF2-40B4-BE49-F238E27FC236}">
                <a16:creationId xmlns:a16="http://schemas.microsoft.com/office/drawing/2014/main" id="{3CCE6EE8-1201-D36C-39AA-6CEB0D315289}"/>
              </a:ext>
            </a:extLst>
          </p:cNvPr>
          <p:cNvSpPr txBox="1"/>
          <p:nvPr/>
        </p:nvSpPr>
        <p:spPr>
          <a:xfrm>
            <a:off x="1524000" y="4631590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If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≪ 2(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−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), the last term is negligible: the signal current is linear in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eq @3">
                <a:extLst>
                  <a:ext uri="{FF2B5EF4-FFF2-40B4-BE49-F238E27FC236}">
                    <a16:creationId xmlns:a16="http://schemas.microsoft.com/office/drawing/2014/main" id="{CCD27B9E-F059-86D3-3BF8-FD0D159D6A3C}"/>
                  </a:ext>
                </a:extLst>
              </p:cNvPr>
              <p:cNvSpPr txBox="1"/>
              <p:nvPr/>
            </p:nvSpPr>
            <p:spPr>
              <a:xfrm>
                <a:off x="1524000" y="5005554"/>
                <a:ext cx="15849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𝑑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𝑔𝑠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,     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𝑚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4" name="eq @3">
                <a:extLst>
                  <a:ext uri="{FF2B5EF4-FFF2-40B4-BE49-F238E27FC236}">
                    <a16:creationId xmlns:a16="http://schemas.microsoft.com/office/drawing/2014/main" id="{CCD27B9E-F059-86D3-3BF8-FD0D159D6A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5005554"/>
                <a:ext cx="15849600" cy="7594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hrome page">
            <a:extLst>
              <a:ext uri="{FF2B5EF4-FFF2-40B4-BE49-F238E27FC236}">
                <a16:creationId xmlns:a16="http://schemas.microsoft.com/office/drawing/2014/main" id="{9C84D36C-76D5-B2A9-BF7F-27205E20FB4F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hrome page">
            <a:extLst>
              <a:ext uri="{FF2B5EF4-FFF2-40B4-BE49-F238E27FC236}">
                <a16:creationId xmlns:a16="http://schemas.microsoft.com/office/drawing/2014/main" id="{96E7744D-83F5-D467-7110-1BDA57539024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59</a:t>
            </a:r>
          </a:p>
        </p:txBody>
      </p:sp>
    </p:spTree>
    <p:extLst>
      <p:ext uri="{BB962C8B-B14F-4D97-AF65-F5344CB8AC3E}">
        <p14:creationId xmlns:p14="http://schemas.microsoft.com/office/powerpoint/2010/main" val="13565953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mall-signal operation: the tr s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B2A1AD9-90A0-0BC6-EA19-B7213E7FF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Small-signal operation: the transconductance </a:t>
            </a:r>
            <a:r>
              <a:rPr lang="en-US" sz="5400" i="1">
                <a:solidFill>
                  <a:srgbClr val="15241D"/>
                </a:solidFill>
                <a:latin typeface="DM Sans" pitchFamily="2" charset="0"/>
              </a:rPr>
              <a:t>g</a:t>
            </a:r>
            <a:r>
              <a:rPr lang="en-US" sz="5400" i="1" baseline="-25000">
                <a:solidFill>
                  <a:srgbClr val="15241D"/>
                </a:solidFill>
                <a:latin typeface="DM Sans" pitchFamily="2" charset="0"/>
              </a:rPr>
              <a:t>m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A5208E2F-2C6E-A93D-D6D7-BA2BB3AD6AFA}"/>
              </a:ext>
            </a:extLst>
          </p:cNvPr>
          <p:cNvSpPr/>
          <p:nvPr/>
        </p:nvSpPr>
        <p:spPr>
          <a:xfrm>
            <a:off x="914400" y="279400"/>
            <a:ext cx="377698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42D9E249-2080-5F6A-6E57-A31A26E7B2BC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AF697FA1-BB9F-447D-5476-58BBBFDF45A3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badge @1">
            <a:extLst>
              <a:ext uri="{FF2B5EF4-FFF2-40B4-BE49-F238E27FC236}">
                <a16:creationId xmlns:a16="http://schemas.microsoft.com/office/drawing/2014/main" id="{64283EF4-640D-8658-E9C6-D66C5990BDFB}"/>
              </a:ext>
            </a:extLst>
          </p:cNvPr>
          <p:cNvSpPr/>
          <p:nvPr/>
        </p:nvSpPr>
        <p:spPr>
          <a:xfrm>
            <a:off x="914400" y="22352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7" name="lab @1">
            <a:extLst>
              <a:ext uri="{FF2B5EF4-FFF2-40B4-BE49-F238E27FC236}">
                <a16:creationId xmlns:a16="http://schemas.microsoft.com/office/drawing/2014/main" id="{439DDC84-0C28-CB2D-0E23-45D829029065}"/>
              </a:ext>
            </a:extLst>
          </p:cNvPr>
          <p:cNvSpPr txBox="1"/>
          <p:nvPr/>
        </p:nvSpPr>
        <p:spPr>
          <a:xfrm>
            <a:off x="1524000" y="2222500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The gate voltage is the bias plus a small signal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eq @1">
                <a:extLst>
                  <a:ext uri="{FF2B5EF4-FFF2-40B4-BE49-F238E27FC236}">
                    <a16:creationId xmlns:a16="http://schemas.microsoft.com/office/drawing/2014/main" id="{140637ED-FEF4-8C2C-F242-D66C0A5C7EA7}"/>
                  </a:ext>
                </a:extLst>
              </p:cNvPr>
              <p:cNvSpPr txBox="1"/>
              <p:nvPr/>
            </p:nvSpPr>
            <p:spPr>
              <a:xfrm>
                <a:off x="1524000" y="2596464"/>
                <a:ext cx="15849600" cy="4953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𝑔𝑠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" name="eq @1">
                <a:extLst>
                  <a:ext uri="{FF2B5EF4-FFF2-40B4-BE49-F238E27FC236}">
                    <a16:creationId xmlns:a16="http://schemas.microsoft.com/office/drawing/2014/main" id="{140637ED-FEF4-8C2C-F242-D66C0A5C7E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2596464"/>
                <a:ext cx="15849600" cy="4953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badge @2">
            <a:extLst>
              <a:ext uri="{FF2B5EF4-FFF2-40B4-BE49-F238E27FC236}">
                <a16:creationId xmlns:a16="http://schemas.microsoft.com/office/drawing/2014/main" id="{4E4F39F5-FE8F-AA05-50DA-1389A0ED7BD3}"/>
              </a:ext>
            </a:extLst>
          </p:cNvPr>
          <p:cNvSpPr/>
          <p:nvPr/>
        </p:nvSpPr>
        <p:spPr>
          <a:xfrm>
            <a:off x="914400" y="3307665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2</a:t>
            </a:r>
          </a:p>
        </p:txBody>
      </p:sp>
      <p:sp>
        <p:nvSpPr>
          <p:cNvPr id="10" name="lab @2">
            <a:extLst>
              <a:ext uri="{FF2B5EF4-FFF2-40B4-BE49-F238E27FC236}">
                <a16:creationId xmlns:a16="http://schemas.microsoft.com/office/drawing/2014/main" id="{30733FC2-D605-D91D-B301-F8E4FD29FB7F}"/>
              </a:ext>
            </a:extLst>
          </p:cNvPr>
          <p:cNvSpPr txBox="1"/>
          <p:nvPr/>
        </p:nvSpPr>
        <p:spPr>
          <a:xfrm>
            <a:off x="1524000" y="3294965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Substitute into the saturation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q @2">
                <a:extLst>
                  <a:ext uri="{FF2B5EF4-FFF2-40B4-BE49-F238E27FC236}">
                    <a16:creationId xmlns:a16="http://schemas.microsoft.com/office/drawing/2014/main" id="{D2531D8A-EB8C-8E66-823D-F38B60F145D2}"/>
                  </a:ext>
                </a:extLst>
              </p:cNvPr>
              <p:cNvSpPr txBox="1"/>
              <p:nvPr/>
            </p:nvSpPr>
            <p:spPr>
              <a:xfrm>
                <a:off x="1524000" y="3668929"/>
                <a:ext cx="15849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+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𝑔𝑠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+</m:t>
                      </m:r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𝑔𝑠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1" name="eq @2">
                <a:extLst>
                  <a:ext uri="{FF2B5EF4-FFF2-40B4-BE49-F238E27FC236}">
                    <a16:creationId xmlns:a16="http://schemas.microsoft.com/office/drawing/2014/main" id="{D2531D8A-EB8C-8E66-823D-F38B60F145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3668929"/>
                <a:ext cx="15849600" cy="7594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badge @3">
            <a:extLst>
              <a:ext uri="{FF2B5EF4-FFF2-40B4-BE49-F238E27FC236}">
                <a16:creationId xmlns:a16="http://schemas.microsoft.com/office/drawing/2014/main" id="{0637EBF1-A02F-AD06-62F0-E298047D6469}"/>
              </a:ext>
            </a:extLst>
          </p:cNvPr>
          <p:cNvSpPr/>
          <p:nvPr/>
        </p:nvSpPr>
        <p:spPr>
          <a:xfrm>
            <a:off x="914400" y="464429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3</a:t>
            </a:r>
          </a:p>
        </p:txBody>
      </p:sp>
      <p:sp>
        <p:nvSpPr>
          <p:cNvPr id="13" name="lab @3">
            <a:extLst>
              <a:ext uri="{FF2B5EF4-FFF2-40B4-BE49-F238E27FC236}">
                <a16:creationId xmlns:a16="http://schemas.microsoft.com/office/drawing/2014/main" id="{3CCE6EE8-1201-D36C-39AA-6CEB0D315289}"/>
              </a:ext>
            </a:extLst>
          </p:cNvPr>
          <p:cNvSpPr txBox="1"/>
          <p:nvPr/>
        </p:nvSpPr>
        <p:spPr>
          <a:xfrm>
            <a:off x="1524000" y="4631590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If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≪ 2(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 −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), the last term is negligible: the signal current is linear in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eq @3">
                <a:extLst>
                  <a:ext uri="{FF2B5EF4-FFF2-40B4-BE49-F238E27FC236}">
                    <a16:creationId xmlns:a16="http://schemas.microsoft.com/office/drawing/2014/main" id="{CCD27B9E-F059-86D3-3BF8-FD0D159D6A3C}"/>
                  </a:ext>
                </a:extLst>
              </p:cNvPr>
              <p:cNvSpPr txBox="1"/>
              <p:nvPr/>
            </p:nvSpPr>
            <p:spPr>
              <a:xfrm>
                <a:off x="1524000" y="5005554"/>
                <a:ext cx="15849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𝑑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𝑔𝑠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,     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𝑚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4" name="eq @3">
                <a:extLst>
                  <a:ext uri="{FF2B5EF4-FFF2-40B4-BE49-F238E27FC236}">
                    <a16:creationId xmlns:a16="http://schemas.microsoft.com/office/drawing/2014/main" id="{CCD27B9E-F059-86D3-3BF8-FD0D159D6A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5005554"/>
                <a:ext cx="15849600" cy="7594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badge @4">
            <a:extLst>
              <a:ext uri="{FF2B5EF4-FFF2-40B4-BE49-F238E27FC236}">
                <a16:creationId xmlns:a16="http://schemas.microsoft.com/office/drawing/2014/main" id="{0A08E7E4-5536-808A-40E5-028C1AD60FA7}"/>
              </a:ext>
            </a:extLst>
          </p:cNvPr>
          <p:cNvSpPr/>
          <p:nvPr/>
        </p:nvSpPr>
        <p:spPr>
          <a:xfrm>
            <a:off x="914400" y="5980915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4</a:t>
            </a:r>
          </a:p>
        </p:txBody>
      </p:sp>
      <p:sp>
        <p:nvSpPr>
          <p:cNvPr id="16" name="lab @4">
            <a:extLst>
              <a:ext uri="{FF2B5EF4-FFF2-40B4-BE49-F238E27FC236}">
                <a16:creationId xmlns:a16="http://schemas.microsoft.com/office/drawing/2014/main" id="{CD931FB9-73AC-38F9-ACAA-CA637B7E48C1}"/>
              </a:ext>
            </a:extLst>
          </p:cNvPr>
          <p:cNvSpPr txBox="1"/>
          <p:nvPr/>
        </p:nvSpPr>
        <p:spPr>
          <a:xfrm>
            <a:off x="1524000" y="5968215"/>
            <a:ext cx="158496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With a drain resistor </a:t>
            </a:r>
            <a:r>
              <a:rPr lang="en-US" sz="2100" i="1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21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2100">
                <a:solidFill>
                  <a:srgbClr val="4D5B54"/>
                </a:solidFill>
                <a:latin typeface="DM Sans" pitchFamily="2" charset="0"/>
              </a:rPr>
              <a:t>, the voltage gain 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eq @4">
                <a:extLst>
                  <a:ext uri="{FF2B5EF4-FFF2-40B4-BE49-F238E27FC236}">
                    <a16:creationId xmlns:a16="http://schemas.microsoft.com/office/drawing/2014/main" id="{E5B871D2-DB2B-E65C-803F-16BAEE178C7F}"/>
                  </a:ext>
                </a:extLst>
              </p:cNvPr>
              <p:cNvSpPr txBox="1"/>
              <p:nvPr/>
            </p:nvSpPr>
            <p:spPr>
              <a:xfrm>
                <a:off x="1524000" y="6342179"/>
                <a:ext cx="15849600" cy="75946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sub>
                      </m:sSub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600" b="0" i="1">
                              <a:solidFill>
                                <a:srgbClr val="15241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𝑑𝑠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6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𝑔𝑠</m:t>
                              </m:r>
                            </m:sub>
                          </m:sSub>
                        </m:den>
                      </m:f>
                      <m:r>
                        <a:rPr lang="en-US" sz="26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=−</m:t>
                      </m:r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6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7" name="eq @4">
                <a:extLst>
                  <a:ext uri="{FF2B5EF4-FFF2-40B4-BE49-F238E27FC236}">
                    <a16:creationId xmlns:a16="http://schemas.microsoft.com/office/drawing/2014/main" id="{E5B871D2-DB2B-E65C-803F-16BAEE178C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6342179"/>
                <a:ext cx="15849600" cy="759460"/>
              </a:xfrm>
              <a:prstGeom prst="rect">
                <a:avLst/>
              </a:prstGeom>
              <a:blipFill>
                <a:blip r:embed="rId5"/>
                <a:stretch>
                  <a:fillRect l="-38" b="-2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hrome page">
            <a:extLst>
              <a:ext uri="{FF2B5EF4-FFF2-40B4-BE49-F238E27FC236}">
                <a16:creationId xmlns:a16="http://schemas.microsoft.com/office/drawing/2014/main" id="{A6C2FD23-DA80-C3E8-B03F-A8F8E636D2ED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hrome page">
            <a:extLst>
              <a:ext uri="{FF2B5EF4-FFF2-40B4-BE49-F238E27FC236}">
                <a16:creationId xmlns:a16="http://schemas.microsoft.com/office/drawing/2014/main" id="{1964B24D-9D4B-75C9-D966-CAB25BECBCF2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252680047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mall-signal equivalent circui s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826C37A-A524-8CC1-54E7-1D8BF68FC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Small-signal equivalent circuits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58BFB469-E841-4467-37ED-8F5D06A69E1B}"/>
              </a:ext>
            </a:extLst>
          </p:cNvPr>
          <p:cNvSpPr/>
          <p:nvPr/>
        </p:nvSpPr>
        <p:spPr>
          <a:xfrm>
            <a:off x="914400" y="279400"/>
            <a:ext cx="377698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DD2921AE-2D16-2048-26E8-F1F1FA879135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E7F285B8-6C68-757B-06F1-055795CE8DC4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drawing card">
            <a:extLst>
              <a:ext uri="{FF2B5EF4-FFF2-40B4-BE49-F238E27FC236}">
                <a16:creationId xmlns:a16="http://schemas.microsoft.com/office/drawing/2014/main" id="{F04996EA-4D3B-0D02-B2F8-CEFB8C82450A}"/>
              </a:ext>
            </a:extLst>
          </p:cNvPr>
          <p:cNvSpPr/>
          <p:nvPr/>
        </p:nvSpPr>
        <p:spPr>
          <a:xfrm>
            <a:off x="914400" y="2095500"/>
            <a:ext cx="7874000" cy="508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rawing card">
            <a:extLst>
              <a:ext uri="{FF2B5EF4-FFF2-40B4-BE49-F238E27FC236}">
                <a16:creationId xmlns:a16="http://schemas.microsoft.com/office/drawing/2014/main" id="{541CD950-A352-2F2D-D704-AB3661CE06AD}"/>
              </a:ext>
            </a:extLst>
          </p:cNvPr>
          <p:cNvSpPr/>
          <p:nvPr/>
        </p:nvSpPr>
        <p:spPr>
          <a:xfrm>
            <a:off x="914400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kt">
            <a:extLst>
              <a:ext uri="{FF2B5EF4-FFF2-40B4-BE49-F238E27FC236}">
                <a16:creationId xmlns:a16="http://schemas.microsoft.com/office/drawing/2014/main" id="{4AAB4ADC-A2E5-1073-BF86-C56A1964C70F}"/>
              </a:ext>
            </a:extLst>
          </p:cNvPr>
          <p:cNvSpPr/>
          <p:nvPr/>
        </p:nvSpPr>
        <p:spPr>
          <a:xfrm>
            <a:off x="2368550" y="3105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kt label">
            <a:extLst>
              <a:ext uri="{FF2B5EF4-FFF2-40B4-BE49-F238E27FC236}">
                <a16:creationId xmlns:a16="http://schemas.microsoft.com/office/drawing/2014/main" id="{EE425A26-500E-D793-47E9-D6CC5EA4E58E}"/>
              </a:ext>
            </a:extLst>
          </p:cNvPr>
          <p:cNvSpPr txBox="1"/>
          <p:nvPr/>
        </p:nvSpPr>
        <p:spPr>
          <a:xfrm>
            <a:off x="1727200" y="2984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G</a:t>
            </a:r>
          </a:p>
        </p:txBody>
      </p:sp>
      <p:sp>
        <p:nvSpPr>
          <p:cNvPr id="10" name="ckt">
            <a:extLst>
              <a:ext uri="{FF2B5EF4-FFF2-40B4-BE49-F238E27FC236}">
                <a16:creationId xmlns:a16="http://schemas.microsoft.com/office/drawing/2014/main" id="{E242E851-03E4-6202-D0E4-3609B5F9A466}"/>
              </a:ext>
            </a:extLst>
          </p:cNvPr>
          <p:cNvSpPr/>
          <p:nvPr/>
        </p:nvSpPr>
        <p:spPr>
          <a:xfrm>
            <a:off x="2368550" y="6153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kt label">
            <a:extLst>
              <a:ext uri="{FF2B5EF4-FFF2-40B4-BE49-F238E27FC236}">
                <a16:creationId xmlns:a16="http://schemas.microsoft.com/office/drawing/2014/main" id="{4E2E855E-C93C-A578-6C0B-1B3F83FC02CD}"/>
              </a:ext>
            </a:extLst>
          </p:cNvPr>
          <p:cNvSpPr txBox="1"/>
          <p:nvPr/>
        </p:nvSpPr>
        <p:spPr>
          <a:xfrm>
            <a:off x="1727200" y="6032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S</a:t>
            </a:r>
          </a:p>
        </p:txBody>
      </p:sp>
      <p:sp>
        <p:nvSpPr>
          <p:cNvPr id="12" name="ckt label">
            <a:extLst>
              <a:ext uri="{FF2B5EF4-FFF2-40B4-BE49-F238E27FC236}">
                <a16:creationId xmlns:a16="http://schemas.microsoft.com/office/drawing/2014/main" id="{0A4BAB5D-11E7-849A-E851-8BAFB916C267}"/>
              </a:ext>
            </a:extLst>
          </p:cNvPr>
          <p:cNvSpPr txBox="1"/>
          <p:nvPr/>
        </p:nvSpPr>
        <p:spPr>
          <a:xfrm>
            <a:off x="2362200" y="34924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+</a:t>
            </a:r>
          </a:p>
        </p:txBody>
      </p:sp>
      <p:sp>
        <p:nvSpPr>
          <p:cNvPr id="13" name="ckt label">
            <a:extLst>
              <a:ext uri="{FF2B5EF4-FFF2-40B4-BE49-F238E27FC236}">
                <a16:creationId xmlns:a16="http://schemas.microsoft.com/office/drawing/2014/main" id="{59E3A543-4593-EE51-FD12-AE98F523D2CC}"/>
              </a:ext>
            </a:extLst>
          </p:cNvPr>
          <p:cNvSpPr txBox="1"/>
          <p:nvPr/>
        </p:nvSpPr>
        <p:spPr>
          <a:xfrm>
            <a:off x="2209800" y="4508499"/>
            <a:ext cx="1016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0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</a:p>
        </p:txBody>
      </p:sp>
      <p:sp>
        <p:nvSpPr>
          <p:cNvPr id="14" name="ckt label">
            <a:extLst>
              <a:ext uri="{FF2B5EF4-FFF2-40B4-BE49-F238E27FC236}">
                <a16:creationId xmlns:a16="http://schemas.microsoft.com/office/drawing/2014/main" id="{C6A89D22-B8EB-930D-9A92-5FD5549D47B4}"/>
              </a:ext>
            </a:extLst>
          </p:cNvPr>
          <p:cNvSpPr txBox="1"/>
          <p:nvPr/>
        </p:nvSpPr>
        <p:spPr>
          <a:xfrm>
            <a:off x="2362200" y="55244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−</a:t>
            </a:r>
          </a:p>
        </p:txBody>
      </p:sp>
      <p:cxnSp>
        <p:nvCxnSpPr>
          <p:cNvPr id="15" name="ckt">
            <a:extLst>
              <a:ext uri="{FF2B5EF4-FFF2-40B4-BE49-F238E27FC236}">
                <a16:creationId xmlns:a16="http://schemas.microsoft.com/office/drawing/2014/main" id="{4D89E4A4-CDB3-3F3A-3B11-183F83D8FE1E}"/>
              </a:ext>
            </a:extLst>
          </p:cNvPr>
          <p:cNvCxnSpPr/>
          <p:nvPr/>
        </p:nvCxnSpPr>
        <p:spPr>
          <a:xfrm>
            <a:off x="2508250" y="6223000"/>
            <a:ext cx="259715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kt">
            <a:extLst>
              <a:ext uri="{FF2B5EF4-FFF2-40B4-BE49-F238E27FC236}">
                <a16:creationId xmlns:a16="http://schemas.microsoft.com/office/drawing/2014/main" id="{889EB228-D03D-7A90-1D40-390867FFEB4C}"/>
              </a:ext>
            </a:extLst>
          </p:cNvPr>
          <p:cNvSpPr/>
          <p:nvPr/>
        </p:nvSpPr>
        <p:spPr>
          <a:xfrm>
            <a:off x="5048250" y="6165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kt">
            <a:extLst>
              <a:ext uri="{FF2B5EF4-FFF2-40B4-BE49-F238E27FC236}">
                <a16:creationId xmlns:a16="http://schemas.microsoft.com/office/drawing/2014/main" id="{005C1E2C-5E9F-4B8D-99F6-ADDBA9E6847D}"/>
              </a:ext>
            </a:extLst>
          </p:cNvPr>
          <p:cNvCxnSpPr/>
          <p:nvPr/>
        </p:nvCxnSpPr>
        <p:spPr>
          <a:xfrm>
            <a:off x="5105400" y="3175000"/>
            <a:ext cx="247015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kt">
            <a:extLst>
              <a:ext uri="{FF2B5EF4-FFF2-40B4-BE49-F238E27FC236}">
                <a16:creationId xmlns:a16="http://schemas.microsoft.com/office/drawing/2014/main" id="{594DCDDA-5528-89A9-4F52-71113D41DDCC}"/>
              </a:ext>
            </a:extLst>
          </p:cNvPr>
          <p:cNvSpPr/>
          <p:nvPr/>
        </p:nvSpPr>
        <p:spPr>
          <a:xfrm>
            <a:off x="7575550" y="3105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kt label">
            <a:extLst>
              <a:ext uri="{FF2B5EF4-FFF2-40B4-BE49-F238E27FC236}">
                <a16:creationId xmlns:a16="http://schemas.microsoft.com/office/drawing/2014/main" id="{5B55FE4A-B4F4-E4F8-D166-FDE01D913D9E}"/>
              </a:ext>
            </a:extLst>
          </p:cNvPr>
          <p:cNvSpPr txBox="1"/>
          <p:nvPr/>
        </p:nvSpPr>
        <p:spPr>
          <a:xfrm>
            <a:off x="7823200" y="2984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D</a:t>
            </a:r>
          </a:p>
        </p:txBody>
      </p:sp>
      <p:cxnSp>
        <p:nvCxnSpPr>
          <p:cNvPr id="20" name="ckt">
            <a:extLst>
              <a:ext uri="{FF2B5EF4-FFF2-40B4-BE49-F238E27FC236}">
                <a16:creationId xmlns:a16="http://schemas.microsoft.com/office/drawing/2014/main" id="{1ECA547A-8805-AAD3-A199-BF58C254B50F}"/>
              </a:ext>
            </a:extLst>
          </p:cNvPr>
          <p:cNvCxnSpPr/>
          <p:nvPr/>
        </p:nvCxnSpPr>
        <p:spPr>
          <a:xfrm>
            <a:off x="5105400" y="3175000"/>
            <a:ext cx="0" cy="1193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kt">
            <a:extLst>
              <a:ext uri="{FF2B5EF4-FFF2-40B4-BE49-F238E27FC236}">
                <a16:creationId xmlns:a16="http://schemas.microsoft.com/office/drawing/2014/main" id="{4DC79E46-55DD-F726-4FC9-5171A7F96897}"/>
              </a:ext>
            </a:extLst>
          </p:cNvPr>
          <p:cNvCxnSpPr/>
          <p:nvPr/>
        </p:nvCxnSpPr>
        <p:spPr>
          <a:xfrm>
            <a:off x="5105400" y="5029200"/>
            <a:ext cx="0" cy="1193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kt">
            <a:extLst>
              <a:ext uri="{FF2B5EF4-FFF2-40B4-BE49-F238E27FC236}">
                <a16:creationId xmlns:a16="http://schemas.microsoft.com/office/drawing/2014/main" id="{B3BDA1FE-1A99-C3AA-52FF-A1DEABC4F191}"/>
              </a:ext>
            </a:extLst>
          </p:cNvPr>
          <p:cNvSpPr/>
          <p:nvPr/>
        </p:nvSpPr>
        <p:spPr>
          <a:xfrm rot="2700000">
            <a:off x="4867656" y="4461256"/>
            <a:ext cx="475488" cy="475488"/>
          </a:xfrm>
          <a:prstGeom prst="rect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ckt">
            <a:extLst>
              <a:ext uri="{FF2B5EF4-FFF2-40B4-BE49-F238E27FC236}">
                <a16:creationId xmlns:a16="http://schemas.microsoft.com/office/drawing/2014/main" id="{3EB90D5E-C997-0C32-070A-8F4637E02A81}"/>
              </a:ext>
            </a:extLst>
          </p:cNvPr>
          <p:cNvCxnSpPr/>
          <p:nvPr/>
        </p:nvCxnSpPr>
        <p:spPr>
          <a:xfrm>
            <a:off x="5105400" y="4533900"/>
            <a:ext cx="0" cy="346710"/>
          </a:xfrm>
          <a:prstGeom prst="line">
            <a:avLst/>
          </a:prstGeom>
          <a:ln w="22225">
            <a:solidFill>
              <a:srgbClr val="1524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kt label">
            <a:extLst>
              <a:ext uri="{FF2B5EF4-FFF2-40B4-BE49-F238E27FC236}">
                <a16:creationId xmlns:a16="http://schemas.microsoft.com/office/drawing/2014/main" id="{B232BBFB-189C-CED4-C6E6-3ADC2BE467C9}"/>
              </a:ext>
            </a:extLst>
          </p:cNvPr>
          <p:cNvSpPr txBox="1"/>
          <p:nvPr/>
        </p:nvSpPr>
        <p:spPr>
          <a:xfrm>
            <a:off x="5537200" y="4508499"/>
            <a:ext cx="1397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i="1">
                <a:solidFill>
                  <a:srgbClr val="15241D"/>
                </a:solidFill>
                <a:latin typeface="DM Sans" pitchFamily="2" charset="0"/>
              </a:rPr>
              <a:t>g</a:t>
            </a:r>
            <a:r>
              <a:rPr lang="en-US" sz="2000" i="1" baseline="-25000">
                <a:solidFill>
                  <a:srgbClr val="15241D"/>
                </a:solidFill>
                <a:latin typeface="DM Sans" pitchFamily="2" charset="0"/>
              </a:rPr>
              <a:t>m</a:t>
            </a:r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000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</a:p>
        </p:txBody>
      </p:sp>
      <p:sp>
        <p:nvSpPr>
          <p:cNvPr id="25" name="drawing card">
            <a:extLst>
              <a:ext uri="{FF2B5EF4-FFF2-40B4-BE49-F238E27FC236}">
                <a16:creationId xmlns:a16="http://schemas.microsoft.com/office/drawing/2014/main" id="{B6D58B24-8D60-B4D3-D6E0-33AAE7B414A4}"/>
              </a:ext>
            </a:extLst>
          </p:cNvPr>
          <p:cNvSpPr/>
          <p:nvPr/>
        </p:nvSpPr>
        <p:spPr>
          <a:xfrm>
            <a:off x="9499600" y="2095500"/>
            <a:ext cx="7874000" cy="508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rawing card">
            <a:extLst>
              <a:ext uri="{FF2B5EF4-FFF2-40B4-BE49-F238E27FC236}">
                <a16:creationId xmlns:a16="http://schemas.microsoft.com/office/drawing/2014/main" id="{DEC6B7C9-637F-B8E0-1AE6-8ADDBAEA9D71}"/>
              </a:ext>
            </a:extLst>
          </p:cNvPr>
          <p:cNvSpPr/>
          <p:nvPr/>
        </p:nvSpPr>
        <p:spPr>
          <a:xfrm>
            <a:off x="9499600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ckt">
            <a:extLst>
              <a:ext uri="{FF2B5EF4-FFF2-40B4-BE49-F238E27FC236}">
                <a16:creationId xmlns:a16="http://schemas.microsoft.com/office/drawing/2014/main" id="{6F3A1123-A008-EBB0-6006-7DCB207891A9}"/>
              </a:ext>
            </a:extLst>
          </p:cNvPr>
          <p:cNvSpPr/>
          <p:nvPr/>
        </p:nvSpPr>
        <p:spPr>
          <a:xfrm>
            <a:off x="10699750" y="3105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kt label">
            <a:extLst>
              <a:ext uri="{FF2B5EF4-FFF2-40B4-BE49-F238E27FC236}">
                <a16:creationId xmlns:a16="http://schemas.microsoft.com/office/drawing/2014/main" id="{FAC744D5-AEC6-08FD-A6E9-E40E6503EC72}"/>
              </a:ext>
            </a:extLst>
          </p:cNvPr>
          <p:cNvSpPr txBox="1"/>
          <p:nvPr/>
        </p:nvSpPr>
        <p:spPr>
          <a:xfrm>
            <a:off x="10058400" y="2984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G</a:t>
            </a:r>
          </a:p>
        </p:txBody>
      </p:sp>
      <p:sp>
        <p:nvSpPr>
          <p:cNvPr id="29" name="ckt">
            <a:extLst>
              <a:ext uri="{FF2B5EF4-FFF2-40B4-BE49-F238E27FC236}">
                <a16:creationId xmlns:a16="http://schemas.microsoft.com/office/drawing/2014/main" id="{898A7CF6-76F2-15D1-BF38-2C1029A43DBE}"/>
              </a:ext>
            </a:extLst>
          </p:cNvPr>
          <p:cNvSpPr/>
          <p:nvPr/>
        </p:nvSpPr>
        <p:spPr>
          <a:xfrm>
            <a:off x="10699750" y="6153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kt label">
            <a:extLst>
              <a:ext uri="{FF2B5EF4-FFF2-40B4-BE49-F238E27FC236}">
                <a16:creationId xmlns:a16="http://schemas.microsoft.com/office/drawing/2014/main" id="{CAA28C86-1537-402C-FEBF-6A820D234A35}"/>
              </a:ext>
            </a:extLst>
          </p:cNvPr>
          <p:cNvSpPr txBox="1"/>
          <p:nvPr/>
        </p:nvSpPr>
        <p:spPr>
          <a:xfrm>
            <a:off x="10058400" y="6032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S</a:t>
            </a:r>
          </a:p>
        </p:txBody>
      </p:sp>
      <p:sp>
        <p:nvSpPr>
          <p:cNvPr id="31" name="ckt label">
            <a:extLst>
              <a:ext uri="{FF2B5EF4-FFF2-40B4-BE49-F238E27FC236}">
                <a16:creationId xmlns:a16="http://schemas.microsoft.com/office/drawing/2014/main" id="{808357F6-59BD-40B7-82AB-31EFC4AF3C32}"/>
              </a:ext>
            </a:extLst>
          </p:cNvPr>
          <p:cNvSpPr txBox="1"/>
          <p:nvPr/>
        </p:nvSpPr>
        <p:spPr>
          <a:xfrm>
            <a:off x="10693400" y="34924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+</a:t>
            </a:r>
          </a:p>
        </p:txBody>
      </p:sp>
      <p:sp>
        <p:nvSpPr>
          <p:cNvPr id="32" name="ckt label">
            <a:extLst>
              <a:ext uri="{FF2B5EF4-FFF2-40B4-BE49-F238E27FC236}">
                <a16:creationId xmlns:a16="http://schemas.microsoft.com/office/drawing/2014/main" id="{DF10E70D-3705-924A-78DB-B9CCD38D5818}"/>
              </a:ext>
            </a:extLst>
          </p:cNvPr>
          <p:cNvSpPr txBox="1"/>
          <p:nvPr/>
        </p:nvSpPr>
        <p:spPr>
          <a:xfrm>
            <a:off x="10541000" y="4508499"/>
            <a:ext cx="1016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0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</a:p>
        </p:txBody>
      </p:sp>
      <p:sp>
        <p:nvSpPr>
          <p:cNvPr id="33" name="ckt label">
            <a:extLst>
              <a:ext uri="{FF2B5EF4-FFF2-40B4-BE49-F238E27FC236}">
                <a16:creationId xmlns:a16="http://schemas.microsoft.com/office/drawing/2014/main" id="{2D2D6334-6720-72A5-A471-8146512529E4}"/>
              </a:ext>
            </a:extLst>
          </p:cNvPr>
          <p:cNvSpPr txBox="1"/>
          <p:nvPr/>
        </p:nvSpPr>
        <p:spPr>
          <a:xfrm>
            <a:off x="10693400" y="55244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−</a:t>
            </a:r>
          </a:p>
        </p:txBody>
      </p:sp>
      <p:cxnSp>
        <p:nvCxnSpPr>
          <p:cNvPr id="34" name="ckt">
            <a:extLst>
              <a:ext uri="{FF2B5EF4-FFF2-40B4-BE49-F238E27FC236}">
                <a16:creationId xmlns:a16="http://schemas.microsoft.com/office/drawing/2014/main" id="{1E35D51C-8E31-1B5E-731C-DBB03DD822FE}"/>
              </a:ext>
            </a:extLst>
          </p:cNvPr>
          <p:cNvCxnSpPr/>
          <p:nvPr/>
        </p:nvCxnSpPr>
        <p:spPr>
          <a:xfrm>
            <a:off x="10839450" y="6223000"/>
            <a:ext cx="399415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kt">
            <a:extLst>
              <a:ext uri="{FF2B5EF4-FFF2-40B4-BE49-F238E27FC236}">
                <a16:creationId xmlns:a16="http://schemas.microsoft.com/office/drawing/2014/main" id="{82CFD7EF-50DA-7356-4029-1E6296EE86AF}"/>
              </a:ext>
            </a:extLst>
          </p:cNvPr>
          <p:cNvSpPr/>
          <p:nvPr/>
        </p:nvSpPr>
        <p:spPr>
          <a:xfrm>
            <a:off x="13379450" y="6165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ckt">
            <a:extLst>
              <a:ext uri="{FF2B5EF4-FFF2-40B4-BE49-F238E27FC236}">
                <a16:creationId xmlns:a16="http://schemas.microsoft.com/office/drawing/2014/main" id="{736FF3F5-4890-086F-6003-4D99A57E46E2}"/>
              </a:ext>
            </a:extLst>
          </p:cNvPr>
          <p:cNvCxnSpPr/>
          <p:nvPr/>
        </p:nvCxnSpPr>
        <p:spPr>
          <a:xfrm>
            <a:off x="13436600" y="3175000"/>
            <a:ext cx="247015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kt">
            <a:extLst>
              <a:ext uri="{FF2B5EF4-FFF2-40B4-BE49-F238E27FC236}">
                <a16:creationId xmlns:a16="http://schemas.microsoft.com/office/drawing/2014/main" id="{F72883A0-4F4D-C99F-F439-7080DFF47E7E}"/>
              </a:ext>
            </a:extLst>
          </p:cNvPr>
          <p:cNvSpPr/>
          <p:nvPr/>
        </p:nvSpPr>
        <p:spPr>
          <a:xfrm>
            <a:off x="15906750" y="3105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kt label">
            <a:extLst>
              <a:ext uri="{FF2B5EF4-FFF2-40B4-BE49-F238E27FC236}">
                <a16:creationId xmlns:a16="http://schemas.microsoft.com/office/drawing/2014/main" id="{63D5C23F-3AC8-90B7-7E76-5FC1ADA9FB07}"/>
              </a:ext>
            </a:extLst>
          </p:cNvPr>
          <p:cNvSpPr txBox="1"/>
          <p:nvPr/>
        </p:nvSpPr>
        <p:spPr>
          <a:xfrm>
            <a:off x="16154400" y="2984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D</a:t>
            </a:r>
          </a:p>
        </p:txBody>
      </p:sp>
      <p:cxnSp>
        <p:nvCxnSpPr>
          <p:cNvPr id="39" name="ckt">
            <a:extLst>
              <a:ext uri="{FF2B5EF4-FFF2-40B4-BE49-F238E27FC236}">
                <a16:creationId xmlns:a16="http://schemas.microsoft.com/office/drawing/2014/main" id="{5052029C-EE3B-036A-DB3C-23CD44A02C2E}"/>
              </a:ext>
            </a:extLst>
          </p:cNvPr>
          <p:cNvCxnSpPr/>
          <p:nvPr/>
        </p:nvCxnSpPr>
        <p:spPr>
          <a:xfrm>
            <a:off x="13436600" y="3175000"/>
            <a:ext cx="0" cy="1193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kt">
            <a:extLst>
              <a:ext uri="{FF2B5EF4-FFF2-40B4-BE49-F238E27FC236}">
                <a16:creationId xmlns:a16="http://schemas.microsoft.com/office/drawing/2014/main" id="{4A7EBF3E-3754-52C1-B075-7345B3057F22}"/>
              </a:ext>
            </a:extLst>
          </p:cNvPr>
          <p:cNvCxnSpPr/>
          <p:nvPr/>
        </p:nvCxnSpPr>
        <p:spPr>
          <a:xfrm>
            <a:off x="13436600" y="5029200"/>
            <a:ext cx="0" cy="1193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ckt">
            <a:extLst>
              <a:ext uri="{FF2B5EF4-FFF2-40B4-BE49-F238E27FC236}">
                <a16:creationId xmlns:a16="http://schemas.microsoft.com/office/drawing/2014/main" id="{23A7B3C4-CDB4-AA58-2C42-7CB3BC095B91}"/>
              </a:ext>
            </a:extLst>
          </p:cNvPr>
          <p:cNvSpPr/>
          <p:nvPr/>
        </p:nvSpPr>
        <p:spPr>
          <a:xfrm rot="2700000">
            <a:off x="13198856" y="4461256"/>
            <a:ext cx="475488" cy="475488"/>
          </a:xfrm>
          <a:prstGeom prst="rect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ckt">
            <a:extLst>
              <a:ext uri="{FF2B5EF4-FFF2-40B4-BE49-F238E27FC236}">
                <a16:creationId xmlns:a16="http://schemas.microsoft.com/office/drawing/2014/main" id="{33E1999B-A77C-6516-FDE7-DAECBFD20A8C}"/>
              </a:ext>
            </a:extLst>
          </p:cNvPr>
          <p:cNvCxnSpPr/>
          <p:nvPr/>
        </p:nvCxnSpPr>
        <p:spPr>
          <a:xfrm>
            <a:off x="13436600" y="4533900"/>
            <a:ext cx="0" cy="346710"/>
          </a:xfrm>
          <a:prstGeom prst="line">
            <a:avLst/>
          </a:prstGeom>
          <a:ln w="22225">
            <a:solidFill>
              <a:srgbClr val="1524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kt label">
            <a:extLst>
              <a:ext uri="{FF2B5EF4-FFF2-40B4-BE49-F238E27FC236}">
                <a16:creationId xmlns:a16="http://schemas.microsoft.com/office/drawing/2014/main" id="{BE96D8E9-86E1-62DD-94D7-75DEA3908A7F}"/>
              </a:ext>
            </a:extLst>
          </p:cNvPr>
          <p:cNvSpPr txBox="1"/>
          <p:nvPr/>
        </p:nvSpPr>
        <p:spPr>
          <a:xfrm>
            <a:off x="13868400" y="4508499"/>
            <a:ext cx="1397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i="1">
                <a:solidFill>
                  <a:srgbClr val="15241D"/>
                </a:solidFill>
                <a:latin typeface="DM Sans" pitchFamily="2" charset="0"/>
              </a:rPr>
              <a:t>g</a:t>
            </a:r>
            <a:r>
              <a:rPr lang="en-US" sz="2000" i="1" baseline="-25000">
                <a:solidFill>
                  <a:srgbClr val="15241D"/>
                </a:solidFill>
                <a:latin typeface="DM Sans" pitchFamily="2" charset="0"/>
              </a:rPr>
              <a:t>m</a:t>
            </a:r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000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</a:p>
        </p:txBody>
      </p:sp>
      <p:sp>
        <p:nvSpPr>
          <p:cNvPr id="44" name="ckt">
            <a:extLst>
              <a:ext uri="{FF2B5EF4-FFF2-40B4-BE49-F238E27FC236}">
                <a16:creationId xmlns:a16="http://schemas.microsoft.com/office/drawing/2014/main" id="{05DDD946-6B22-F826-C55B-1DCE9ECB16AE}"/>
              </a:ext>
            </a:extLst>
          </p:cNvPr>
          <p:cNvSpPr/>
          <p:nvPr/>
        </p:nvSpPr>
        <p:spPr>
          <a:xfrm>
            <a:off x="14776450" y="3117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ckt">
            <a:extLst>
              <a:ext uri="{FF2B5EF4-FFF2-40B4-BE49-F238E27FC236}">
                <a16:creationId xmlns:a16="http://schemas.microsoft.com/office/drawing/2014/main" id="{FE97BB53-7370-6E3E-3CE6-75EAB7B90FDE}"/>
              </a:ext>
            </a:extLst>
          </p:cNvPr>
          <p:cNvSpPr/>
          <p:nvPr/>
        </p:nvSpPr>
        <p:spPr>
          <a:xfrm>
            <a:off x="14706600" y="3175000"/>
            <a:ext cx="254001" cy="3048001"/>
          </a:xfrm>
          <a:custGeom>
            <a:avLst/>
            <a:gdLst/>
            <a:ahLst/>
            <a:cxnLst/>
            <a:rect l="0" t="0" r="0" b="0"/>
            <a:pathLst>
              <a:path w="254001" h="3048001">
                <a:moveTo>
                  <a:pt x="127000" y="0"/>
                </a:moveTo>
                <a:lnTo>
                  <a:pt x="127000" y="1155700"/>
                </a:lnTo>
                <a:lnTo>
                  <a:pt x="0" y="1217083"/>
                </a:lnTo>
                <a:lnTo>
                  <a:pt x="254000" y="1339850"/>
                </a:lnTo>
                <a:lnTo>
                  <a:pt x="0" y="1462617"/>
                </a:lnTo>
                <a:lnTo>
                  <a:pt x="254000" y="1585383"/>
                </a:lnTo>
                <a:lnTo>
                  <a:pt x="0" y="1708150"/>
                </a:lnTo>
                <a:lnTo>
                  <a:pt x="254000" y="1830917"/>
                </a:lnTo>
                <a:lnTo>
                  <a:pt x="127000" y="1892300"/>
                </a:lnTo>
                <a:lnTo>
                  <a:pt x="127000" y="30480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ckt label">
            <a:extLst>
              <a:ext uri="{FF2B5EF4-FFF2-40B4-BE49-F238E27FC236}">
                <a16:creationId xmlns:a16="http://schemas.microsoft.com/office/drawing/2014/main" id="{1D4E2950-F282-C03F-FB17-A54953D10C6C}"/>
              </a:ext>
            </a:extLst>
          </p:cNvPr>
          <p:cNvSpPr txBox="1"/>
          <p:nvPr/>
        </p:nvSpPr>
        <p:spPr>
          <a:xfrm>
            <a:off x="15062200" y="5016499"/>
            <a:ext cx="635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2000" i="1" baseline="-25000">
                <a:solidFill>
                  <a:srgbClr val="15241D"/>
                </a:solidFill>
                <a:latin typeface="DM Sans" pitchFamily="2" charset="0"/>
              </a:rPr>
              <a:t>o</a:t>
            </a:r>
          </a:p>
        </p:txBody>
      </p:sp>
      <p:sp>
        <p:nvSpPr>
          <p:cNvPr id="47" name="point @1">
            <a:extLst>
              <a:ext uri="{FF2B5EF4-FFF2-40B4-BE49-F238E27FC236}">
                <a16:creationId xmlns:a16="http://schemas.microsoft.com/office/drawing/2014/main" id="{30319779-20F6-CC8F-C63C-57DA21938277}"/>
              </a:ext>
            </a:extLst>
          </p:cNvPr>
          <p:cNvSpPr txBox="1"/>
          <p:nvPr/>
        </p:nvSpPr>
        <p:spPr>
          <a:xfrm>
            <a:off x="914400" y="7620000"/>
            <a:ext cx="7874000" cy="70269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The MOSFET as a voltage-controlled current source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g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m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; no current into the gate.</a:t>
            </a:r>
          </a:p>
        </p:txBody>
      </p:sp>
      <p:sp>
        <p:nvSpPr>
          <p:cNvPr id="49" name="chrome page">
            <a:extLst>
              <a:ext uri="{FF2B5EF4-FFF2-40B4-BE49-F238E27FC236}">
                <a16:creationId xmlns:a16="http://schemas.microsoft.com/office/drawing/2014/main" id="{821D1DCC-F93F-25E0-BCC3-1EAB822207E8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hrome page">
            <a:extLst>
              <a:ext uri="{FF2B5EF4-FFF2-40B4-BE49-F238E27FC236}">
                <a16:creationId xmlns:a16="http://schemas.microsoft.com/office/drawing/2014/main" id="{05E1B89B-DD5F-5C92-49D9-C42F13C77B7E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61</a:t>
            </a:r>
          </a:p>
        </p:txBody>
      </p:sp>
    </p:spTree>
    <p:extLst>
      <p:ext uri="{BB962C8B-B14F-4D97-AF65-F5344CB8AC3E}">
        <p14:creationId xmlns:p14="http://schemas.microsoft.com/office/powerpoint/2010/main" val="140620326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mall-signal equivalent circui s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826C37A-A524-8CC1-54E7-1D8BF68FC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Small-signal equivalent circuits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58BFB469-E841-4467-37ED-8F5D06A69E1B}"/>
              </a:ext>
            </a:extLst>
          </p:cNvPr>
          <p:cNvSpPr/>
          <p:nvPr/>
        </p:nvSpPr>
        <p:spPr>
          <a:xfrm>
            <a:off x="914400" y="279400"/>
            <a:ext cx="377698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DD2921AE-2D16-2048-26E8-F1F1FA879135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E7F285B8-6C68-757B-06F1-055795CE8DC4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drawing card">
            <a:extLst>
              <a:ext uri="{FF2B5EF4-FFF2-40B4-BE49-F238E27FC236}">
                <a16:creationId xmlns:a16="http://schemas.microsoft.com/office/drawing/2014/main" id="{F04996EA-4D3B-0D02-B2F8-CEFB8C82450A}"/>
              </a:ext>
            </a:extLst>
          </p:cNvPr>
          <p:cNvSpPr/>
          <p:nvPr/>
        </p:nvSpPr>
        <p:spPr>
          <a:xfrm>
            <a:off x="914400" y="2095500"/>
            <a:ext cx="7874000" cy="508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rawing card">
            <a:extLst>
              <a:ext uri="{FF2B5EF4-FFF2-40B4-BE49-F238E27FC236}">
                <a16:creationId xmlns:a16="http://schemas.microsoft.com/office/drawing/2014/main" id="{541CD950-A352-2F2D-D704-AB3661CE06AD}"/>
              </a:ext>
            </a:extLst>
          </p:cNvPr>
          <p:cNvSpPr/>
          <p:nvPr/>
        </p:nvSpPr>
        <p:spPr>
          <a:xfrm>
            <a:off x="914400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kt">
            <a:extLst>
              <a:ext uri="{FF2B5EF4-FFF2-40B4-BE49-F238E27FC236}">
                <a16:creationId xmlns:a16="http://schemas.microsoft.com/office/drawing/2014/main" id="{4AAB4ADC-A2E5-1073-BF86-C56A1964C70F}"/>
              </a:ext>
            </a:extLst>
          </p:cNvPr>
          <p:cNvSpPr/>
          <p:nvPr/>
        </p:nvSpPr>
        <p:spPr>
          <a:xfrm>
            <a:off x="2368550" y="3105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kt label">
            <a:extLst>
              <a:ext uri="{FF2B5EF4-FFF2-40B4-BE49-F238E27FC236}">
                <a16:creationId xmlns:a16="http://schemas.microsoft.com/office/drawing/2014/main" id="{EE425A26-500E-D793-47E9-D6CC5EA4E58E}"/>
              </a:ext>
            </a:extLst>
          </p:cNvPr>
          <p:cNvSpPr txBox="1"/>
          <p:nvPr/>
        </p:nvSpPr>
        <p:spPr>
          <a:xfrm>
            <a:off x="1727200" y="2984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G</a:t>
            </a:r>
          </a:p>
        </p:txBody>
      </p:sp>
      <p:sp>
        <p:nvSpPr>
          <p:cNvPr id="10" name="ckt">
            <a:extLst>
              <a:ext uri="{FF2B5EF4-FFF2-40B4-BE49-F238E27FC236}">
                <a16:creationId xmlns:a16="http://schemas.microsoft.com/office/drawing/2014/main" id="{E242E851-03E4-6202-D0E4-3609B5F9A466}"/>
              </a:ext>
            </a:extLst>
          </p:cNvPr>
          <p:cNvSpPr/>
          <p:nvPr/>
        </p:nvSpPr>
        <p:spPr>
          <a:xfrm>
            <a:off x="2368550" y="6153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kt label">
            <a:extLst>
              <a:ext uri="{FF2B5EF4-FFF2-40B4-BE49-F238E27FC236}">
                <a16:creationId xmlns:a16="http://schemas.microsoft.com/office/drawing/2014/main" id="{4E2E855E-C93C-A578-6C0B-1B3F83FC02CD}"/>
              </a:ext>
            </a:extLst>
          </p:cNvPr>
          <p:cNvSpPr txBox="1"/>
          <p:nvPr/>
        </p:nvSpPr>
        <p:spPr>
          <a:xfrm>
            <a:off x="1727200" y="6032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S</a:t>
            </a:r>
          </a:p>
        </p:txBody>
      </p:sp>
      <p:sp>
        <p:nvSpPr>
          <p:cNvPr id="12" name="ckt label">
            <a:extLst>
              <a:ext uri="{FF2B5EF4-FFF2-40B4-BE49-F238E27FC236}">
                <a16:creationId xmlns:a16="http://schemas.microsoft.com/office/drawing/2014/main" id="{0A4BAB5D-11E7-849A-E851-8BAFB916C267}"/>
              </a:ext>
            </a:extLst>
          </p:cNvPr>
          <p:cNvSpPr txBox="1"/>
          <p:nvPr/>
        </p:nvSpPr>
        <p:spPr>
          <a:xfrm>
            <a:off x="2362200" y="34924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+</a:t>
            </a:r>
          </a:p>
        </p:txBody>
      </p:sp>
      <p:sp>
        <p:nvSpPr>
          <p:cNvPr id="13" name="ckt label">
            <a:extLst>
              <a:ext uri="{FF2B5EF4-FFF2-40B4-BE49-F238E27FC236}">
                <a16:creationId xmlns:a16="http://schemas.microsoft.com/office/drawing/2014/main" id="{59E3A543-4593-EE51-FD12-AE98F523D2CC}"/>
              </a:ext>
            </a:extLst>
          </p:cNvPr>
          <p:cNvSpPr txBox="1"/>
          <p:nvPr/>
        </p:nvSpPr>
        <p:spPr>
          <a:xfrm>
            <a:off x="2209800" y="4508499"/>
            <a:ext cx="1016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0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</a:p>
        </p:txBody>
      </p:sp>
      <p:sp>
        <p:nvSpPr>
          <p:cNvPr id="14" name="ckt label">
            <a:extLst>
              <a:ext uri="{FF2B5EF4-FFF2-40B4-BE49-F238E27FC236}">
                <a16:creationId xmlns:a16="http://schemas.microsoft.com/office/drawing/2014/main" id="{C6A89D22-B8EB-930D-9A92-5FD5549D47B4}"/>
              </a:ext>
            </a:extLst>
          </p:cNvPr>
          <p:cNvSpPr txBox="1"/>
          <p:nvPr/>
        </p:nvSpPr>
        <p:spPr>
          <a:xfrm>
            <a:off x="2362200" y="55244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−</a:t>
            </a:r>
          </a:p>
        </p:txBody>
      </p:sp>
      <p:cxnSp>
        <p:nvCxnSpPr>
          <p:cNvPr id="15" name="ckt">
            <a:extLst>
              <a:ext uri="{FF2B5EF4-FFF2-40B4-BE49-F238E27FC236}">
                <a16:creationId xmlns:a16="http://schemas.microsoft.com/office/drawing/2014/main" id="{4D89E4A4-CDB3-3F3A-3B11-183F83D8FE1E}"/>
              </a:ext>
            </a:extLst>
          </p:cNvPr>
          <p:cNvCxnSpPr/>
          <p:nvPr/>
        </p:nvCxnSpPr>
        <p:spPr>
          <a:xfrm>
            <a:off x="2508250" y="6223000"/>
            <a:ext cx="259715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kt">
            <a:extLst>
              <a:ext uri="{FF2B5EF4-FFF2-40B4-BE49-F238E27FC236}">
                <a16:creationId xmlns:a16="http://schemas.microsoft.com/office/drawing/2014/main" id="{889EB228-D03D-7A90-1D40-390867FFEB4C}"/>
              </a:ext>
            </a:extLst>
          </p:cNvPr>
          <p:cNvSpPr/>
          <p:nvPr/>
        </p:nvSpPr>
        <p:spPr>
          <a:xfrm>
            <a:off x="5048250" y="6165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kt">
            <a:extLst>
              <a:ext uri="{FF2B5EF4-FFF2-40B4-BE49-F238E27FC236}">
                <a16:creationId xmlns:a16="http://schemas.microsoft.com/office/drawing/2014/main" id="{005C1E2C-5E9F-4B8D-99F6-ADDBA9E6847D}"/>
              </a:ext>
            </a:extLst>
          </p:cNvPr>
          <p:cNvCxnSpPr/>
          <p:nvPr/>
        </p:nvCxnSpPr>
        <p:spPr>
          <a:xfrm>
            <a:off x="5105400" y="3175000"/>
            <a:ext cx="247015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kt">
            <a:extLst>
              <a:ext uri="{FF2B5EF4-FFF2-40B4-BE49-F238E27FC236}">
                <a16:creationId xmlns:a16="http://schemas.microsoft.com/office/drawing/2014/main" id="{594DCDDA-5528-89A9-4F52-71113D41DDCC}"/>
              </a:ext>
            </a:extLst>
          </p:cNvPr>
          <p:cNvSpPr/>
          <p:nvPr/>
        </p:nvSpPr>
        <p:spPr>
          <a:xfrm>
            <a:off x="7575550" y="3105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kt label">
            <a:extLst>
              <a:ext uri="{FF2B5EF4-FFF2-40B4-BE49-F238E27FC236}">
                <a16:creationId xmlns:a16="http://schemas.microsoft.com/office/drawing/2014/main" id="{5B55FE4A-B4F4-E4F8-D166-FDE01D913D9E}"/>
              </a:ext>
            </a:extLst>
          </p:cNvPr>
          <p:cNvSpPr txBox="1"/>
          <p:nvPr/>
        </p:nvSpPr>
        <p:spPr>
          <a:xfrm>
            <a:off x="7823200" y="2984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D</a:t>
            </a:r>
          </a:p>
        </p:txBody>
      </p:sp>
      <p:cxnSp>
        <p:nvCxnSpPr>
          <p:cNvPr id="20" name="ckt">
            <a:extLst>
              <a:ext uri="{FF2B5EF4-FFF2-40B4-BE49-F238E27FC236}">
                <a16:creationId xmlns:a16="http://schemas.microsoft.com/office/drawing/2014/main" id="{1ECA547A-8805-AAD3-A199-BF58C254B50F}"/>
              </a:ext>
            </a:extLst>
          </p:cNvPr>
          <p:cNvCxnSpPr/>
          <p:nvPr/>
        </p:nvCxnSpPr>
        <p:spPr>
          <a:xfrm>
            <a:off x="5105400" y="3175000"/>
            <a:ext cx="0" cy="1193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kt">
            <a:extLst>
              <a:ext uri="{FF2B5EF4-FFF2-40B4-BE49-F238E27FC236}">
                <a16:creationId xmlns:a16="http://schemas.microsoft.com/office/drawing/2014/main" id="{4DC79E46-55DD-F726-4FC9-5171A7F96897}"/>
              </a:ext>
            </a:extLst>
          </p:cNvPr>
          <p:cNvCxnSpPr/>
          <p:nvPr/>
        </p:nvCxnSpPr>
        <p:spPr>
          <a:xfrm>
            <a:off x="5105400" y="5029200"/>
            <a:ext cx="0" cy="1193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kt">
            <a:extLst>
              <a:ext uri="{FF2B5EF4-FFF2-40B4-BE49-F238E27FC236}">
                <a16:creationId xmlns:a16="http://schemas.microsoft.com/office/drawing/2014/main" id="{B3BDA1FE-1A99-C3AA-52FF-A1DEABC4F191}"/>
              </a:ext>
            </a:extLst>
          </p:cNvPr>
          <p:cNvSpPr/>
          <p:nvPr/>
        </p:nvSpPr>
        <p:spPr>
          <a:xfrm rot="2700000">
            <a:off x="4867656" y="4461256"/>
            <a:ext cx="475488" cy="475488"/>
          </a:xfrm>
          <a:prstGeom prst="rect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ckt">
            <a:extLst>
              <a:ext uri="{FF2B5EF4-FFF2-40B4-BE49-F238E27FC236}">
                <a16:creationId xmlns:a16="http://schemas.microsoft.com/office/drawing/2014/main" id="{3EB90D5E-C997-0C32-070A-8F4637E02A81}"/>
              </a:ext>
            </a:extLst>
          </p:cNvPr>
          <p:cNvCxnSpPr/>
          <p:nvPr/>
        </p:nvCxnSpPr>
        <p:spPr>
          <a:xfrm>
            <a:off x="5105400" y="4533900"/>
            <a:ext cx="0" cy="346710"/>
          </a:xfrm>
          <a:prstGeom prst="line">
            <a:avLst/>
          </a:prstGeom>
          <a:ln w="22225">
            <a:solidFill>
              <a:srgbClr val="1524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kt label">
            <a:extLst>
              <a:ext uri="{FF2B5EF4-FFF2-40B4-BE49-F238E27FC236}">
                <a16:creationId xmlns:a16="http://schemas.microsoft.com/office/drawing/2014/main" id="{B232BBFB-189C-CED4-C6E6-3ADC2BE467C9}"/>
              </a:ext>
            </a:extLst>
          </p:cNvPr>
          <p:cNvSpPr txBox="1"/>
          <p:nvPr/>
        </p:nvSpPr>
        <p:spPr>
          <a:xfrm>
            <a:off x="5537200" y="4508499"/>
            <a:ext cx="1397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i="1">
                <a:solidFill>
                  <a:srgbClr val="15241D"/>
                </a:solidFill>
                <a:latin typeface="DM Sans" pitchFamily="2" charset="0"/>
              </a:rPr>
              <a:t>g</a:t>
            </a:r>
            <a:r>
              <a:rPr lang="en-US" sz="2000" i="1" baseline="-25000">
                <a:solidFill>
                  <a:srgbClr val="15241D"/>
                </a:solidFill>
                <a:latin typeface="DM Sans" pitchFamily="2" charset="0"/>
              </a:rPr>
              <a:t>m</a:t>
            </a:r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000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</a:p>
        </p:txBody>
      </p:sp>
      <p:sp>
        <p:nvSpPr>
          <p:cNvPr id="25" name="drawing card">
            <a:extLst>
              <a:ext uri="{FF2B5EF4-FFF2-40B4-BE49-F238E27FC236}">
                <a16:creationId xmlns:a16="http://schemas.microsoft.com/office/drawing/2014/main" id="{B6D58B24-8D60-B4D3-D6E0-33AAE7B414A4}"/>
              </a:ext>
            </a:extLst>
          </p:cNvPr>
          <p:cNvSpPr/>
          <p:nvPr/>
        </p:nvSpPr>
        <p:spPr>
          <a:xfrm>
            <a:off x="9499600" y="2095500"/>
            <a:ext cx="7874000" cy="508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rawing card">
            <a:extLst>
              <a:ext uri="{FF2B5EF4-FFF2-40B4-BE49-F238E27FC236}">
                <a16:creationId xmlns:a16="http://schemas.microsoft.com/office/drawing/2014/main" id="{DEC6B7C9-637F-B8E0-1AE6-8ADDBAEA9D71}"/>
              </a:ext>
            </a:extLst>
          </p:cNvPr>
          <p:cNvSpPr/>
          <p:nvPr/>
        </p:nvSpPr>
        <p:spPr>
          <a:xfrm>
            <a:off x="9499600" y="2082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ckt">
            <a:extLst>
              <a:ext uri="{FF2B5EF4-FFF2-40B4-BE49-F238E27FC236}">
                <a16:creationId xmlns:a16="http://schemas.microsoft.com/office/drawing/2014/main" id="{6F3A1123-A008-EBB0-6006-7DCB207891A9}"/>
              </a:ext>
            </a:extLst>
          </p:cNvPr>
          <p:cNvSpPr/>
          <p:nvPr/>
        </p:nvSpPr>
        <p:spPr>
          <a:xfrm>
            <a:off x="10699750" y="3105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kt label">
            <a:extLst>
              <a:ext uri="{FF2B5EF4-FFF2-40B4-BE49-F238E27FC236}">
                <a16:creationId xmlns:a16="http://schemas.microsoft.com/office/drawing/2014/main" id="{FAC744D5-AEC6-08FD-A6E9-E40E6503EC72}"/>
              </a:ext>
            </a:extLst>
          </p:cNvPr>
          <p:cNvSpPr txBox="1"/>
          <p:nvPr/>
        </p:nvSpPr>
        <p:spPr>
          <a:xfrm>
            <a:off x="10058400" y="2984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G</a:t>
            </a:r>
          </a:p>
        </p:txBody>
      </p:sp>
      <p:sp>
        <p:nvSpPr>
          <p:cNvPr id="29" name="ckt">
            <a:extLst>
              <a:ext uri="{FF2B5EF4-FFF2-40B4-BE49-F238E27FC236}">
                <a16:creationId xmlns:a16="http://schemas.microsoft.com/office/drawing/2014/main" id="{898A7CF6-76F2-15D1-BF38-2C1029A43DBE}"/>
              </a:ext>
            </a:extLst>
          </p:cNvPr>
          <p:cNvSpPr/>
          <p:nvPr/>
        </p:nvSpPr>
        <p:spPr>
          <a:xfrm>
            <a:off x="10699750" y="6153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kt label">
            <a:extLst>
              <a:ext uri="{FF2B5EF4-FFF2-40B4-BE49-F238E27FC236}">
                <a16:creationId xmlns:a16="http://schemas.microsoft.com/office/drawing/2014/main" id="{CAA28C86-1537-402C-FEBF-6A820D234A35}"/>
              </a:ext>
            </a:extLst>
          </p:cNvPr>
          <p:cNvSpPr txBox="1"/>
          <p:nvPr/>
        </p:nvSpPr>
        <p:spPr>
          <a:xfrm>
            <a:off x="10058400" y="6032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S</a:t>
            </a:r>
          </a:p>
        </p:txBody>
      </p:sp>
      <p:sp>
        <p:nvSpPr>
          <p:cNvPr id="31" name="ckt label">
            <a:extLst>
              <a:ext uri="{FF2B5EF4-FFF2-40B4-BE49-F238E27FC236}">
                <a16:creationId xmlns:a16="http://schemas.microsoft.com/office/drawing/2014/main" id="{808357F6-59BD-40B7-82AB-31EFC4AF3C32}"/>
              </a:ext>
            </a:extLst>
          </p:cNvPr>
          <p:cNvSpPr txBox="1"/>
          <p:nvPr/>
        </p:nvSpPr>
        <p:spPr>
          <a:xfrm>
            <a:off x="10693400" y="34924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+</a:t>
            </a:r>
          </a:p>
        </p:txBody>
      </p:sp>
      <p:sp>
        <p:nvSpPr>
          <p:cNvPr id="32" name="ckt label">
            <a:extLst>
              <a:ext uri="{FF2B5EF4-FFF2-40B4-BE49-F238E27FC236}">
                <a16:creationId xmlns:a16="http://schemas.microsoft.com/office/drawing/2014/main" id="{DF10E70D-3705-924A-78DB-B9CCD38D5818}"/>
              </a:ext>
            </a:extLst>
          </p:cNvPr>
          <p:cNvSpPr txBox="1"/>
          <p:nvPr/>
        </p:nvSpPr>
        <p:spPr>
          <a:xfrm>
            <a:off x="10541000" y="4508499"/>
            <a:ext cx="1016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0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</a:p>
        </p:txBody>
      </p:sp>
      <p:sp>
        <p:nvSpPr>
          <p:cNvPr id="33" name="ckt label">
            <a:extLst>
              <a:ext uri="{FF2B5EF4-FFF2-40B4-BE49-F238E27FC236}">
                <a16:creationId xmlns:a16="http://schemas.microsoft.com/office/drawing/2014/main" id="{2D2D6334-6720-72A5-A471-8146512529E4}"/>
              </a:ext>
            </a:extLst>
          </p:cNvPr>
          <p:cNvSpPr txBox="1"/>
          <p:nvPr/>
        </p:nvSpPr>
        <p:spPr>
          <a:xfrm>
            <a:off x="10693400" y="55244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−</a:t>
            </a:r>
          </a:p>
        </p:txBody>
      </p:sp>
      <p:cxnSp>
        <p:nvCxnSpPr>
          <p:cNvPr id="34" name="ckt">
            <a:extLst>
              <a:ext uri="{FF2B5EF4-FFF2-40B4-BE49-F238E27FC236}">
                <a16:creationId xmlns:a16="http://schemas.microsoft.com/office/drawing/2014/main" id="{1E35D51C-8E31-1B5E-731C-DBB03DD822FE}"/>
              </a:ext>
            </a:extLst>
          </p:cNvPr>
          <p:cNvCxnSpPr/>
          <p:nvPr/>
        </p:nvCxnSpPr>
        <p:spPr>
          <a:xfrm>
            <a:off x="10839450" y="6223000"/>
            <a:ext cx="399415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kt">
            <a:extLst>
              <a:ext uri="{FF2B5EF4-FFF2-40B4-BE49-F238E27FC236}">
                <a16:creationId xmlns:a16="http://schemas.microsoft.com/office/drawing/2014/main" id="{82CFD7EF-50DA-7356-4029-1E6296EE86AF}"/>
              </a:ext>
            </a:extLst>
          </p:cNvPr>
          <p:cNvSpPr/>
          <p:nvPr/>
        </p:nvSpPr>
        <p:spPr>
          <a:xfrm>
            <a:off x="13379450" y="6165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ckt">
            <a:extLst>
              <a:ext uri="{FF2B5EF4-FFF2-40B4-BE49-F238E27FC236}">
                <a16:creationId xmlns:a16="http://schemas.microsoft.com/office/drawing/2014/main" id="{736FF3F5-4890-086F-6003-4D99A57E46E2}"/>
              </a:ext>
            </a:extLst>
          </p:cNvPr>
          <p:cNvCxnSpPr/>
          <p:nvPr/>
        </p:nvCxnSpPr>
        <p:spPr>
          <a:xfrm>
            <a:off x="13436600" y="3175000"/>
            <a:ext cx="247015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kt">
            <a:extLst>
              <a:ext uri="{FF2B5EF4-FFF2-40B4-BE49-F238E27FC236}">
                <a16:creationId xmlns:a16="http://schemas.microsoft.com/office/drawing/2014/main" id="{F72883A0-4F4D-C99F-F439-7080DFF47E7E}"/>
              </a:ext>
            </a:extLst>
          </p:cNvPr>
          <p:cNvSpPr/>
          <p:nvPr/>
        </p:nvSpPr>
        <p:spPr>
          <a:xfrm>
            <a:off x="15906750" y="3105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kt label">
            <a:extLst>
              <a:ext uri="{FF2B5EF4-FFF2-40B4-BE49-F238E27FC236}">
                <a16:creationId xmlns:a16="http://schemas.microsoft.com/office/drawing/2014/main" id="{63D5C23F-3AC8-90B7-7E76-5FC1ADA9FB07}"/>
              </a:ext>
            </a:extLst>
          </p:cNvPr>
          <p:cNvSpPr txBox="1"/>
          <p:nvPr/>
        </p:nvSpPr>
        <p:spPr>
          <a:xfrm>
            <a:off x="16154400" y="2984499"/>
            <a:ext cx="50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D</a:t>
            </a:r>
          </a:p>
        </p:txBody>
      </p:sp>
      <p:cxnSp>
        <p:nvCxnSpPr>
          <p:cNvPr id="39" name="ckt">
            <a:extLst>
              <a:ext uri="{FF2B5EF4-FFF2-40B4-BE49-F238E27FC236}">
                <a16:creationId xmlns:a16="http://schemas.microsoft.com/office/drawing/2014/main" id="{5052029C-EE3B-036A-DB3C-23CD44A02C2E}"/>
              </a:ext>
            </a:extLst>
          </p:cNvPr>
          <p:cNvCxnSpPr/>
          <p:nvPr/>
        </p:nvCxnSpPr>
        <p:spPr>
          <a:xfrm>
            <a:off x="13436600" y="3175000"/>
            <a:ext cx="0" cy="1193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kt">
            <a:extLst>
              <a:ext uri="{FF2B5EF4-FFF2-40B4-BE49-F238E27FC236}">
                <a16:creationId xmlns:a16="http://schemas.microsoft.com/office/drawing/2014/main" id="{4A7EBF3E-3754-52C1-B075-7345B3057F22}"/>
              </a:ext>
            </a:extLst>
          </p:cNvPr>
          <p:cNvCxnSpPr/>
          <p:nvPr/>
        </p:nvCxnSpPr>
        <p:spPr>
          <a:xfrm>
            <a:off x="13436600" y="5029200"/>
            <a:ext cx="0" cy="11938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ckt">
            <a:extLst>
              <a:ext uri="{FF2B5EF4-FFF2-40B4-BE49-F238E27FC236}">
                <a16:creationId xmlns:a16="http://schemas.microsoft.com/office/drawing/2014/main" id="{23A7B3C4-CDB4-AA58-2C42-7CB3BC095B91}"/>
              </a:ext>
            </a:extLst>
          </p:cNvPr>
          <p:cNvSpPr/>
          <p:nvPr/>
        </p:nvSpPr>
        <p:spPr>
          <a:xfrm rot="2700000">
            <a:off x="13198856" y="4461256"/>
            <a:ext cx="475488" cy="475488"/>
          </a:xfrm>
          <a:prstGeom prst="rect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ckt">
            <a:extLst>
              <a:ext uri="{FF2B5EF4-FFF2-40B4-BE49-F238E27FC236}">
                <a16:creationId xmlns:a16="http://schemas.microsoft.com/office/drawing/2014/main" id="{33E1999B-A77C-6516-FDE7-DAECBFD20A8C}"/>
              </a:ext>
            </a:extLst>
          </p:cNvPr>
          <p:cNvCxnSpPr/>
          <p:nvPr/>
        </p:nvCxnSpPr>
        <p:spPr>
          <a:xfrm>
            <a:off x="13436600" y="4533900"/>
            <a:ext cx="0" cy="346710"/>
          </a:xfrm>
          <a:prstGeom prst="line">
            <a:avLst/>
          </a:prstGeom>
          <a:ln w="22225">
            <a:solidFill>
              <a:srgbClr val="1524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kt label">
            <a:extLst>
              <a:ext uri="{FF2B5EF4-FFF2-40B4-BE49-F238E27FC236}">
                <a16:creationId xmlns:a16="http://schemas.microsoft.com/office/drawing/2014/main" id="{BE96D8E9-86E1-62DD-94D7-75DEA3908A7F}"/>
              </a:ext>
            </a:extLst>
          </p:cNvPr>
          <p:cNvSpPr txBox="1"/>
          <p:nvPr/>
        </p:nvSpPr>
        <p:spPr>
          <a:xfrm>
            <a:off x="13868400" y="4508499"/>
            <a:ext cx="1397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i="1">
                <a:solidFill>
                  <a:srgbClr val="15241D"/>
                </a:solidFill>
                <a:latin typeface="DM Sans" pitchFamily="2" charset="0"/>
              </a:rPr>
              <a:t>g</a:t>
            </a:r>
            <a:r>
              <a:rPr lang="en-US" sz="2000" i="1" baseline="-25000">
                <a:solidFill>
                  <a:srgbClr val="15241D"/>
                </a:solidFill>
                <a:latin typeface="DM Sans" pitchFamily="2" charset="0"/>
              </a:rPr>
              <a:t>m</a:t>
            </a:r>
            <a:r>
              <a:rPr lang="en-US" sz="2000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000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</a:p>
        </p:txBody>
      </p:sp>
      <p:sp>
        <p:nvSpPr>
          <p:cNvPr id="44" name="ckt">
            <a:extLst>
              <a:ext uri="{FF2B5EF4-FFF2-40B4-BE49-F238E27FC236}">
                <a16:creationId xmlns:a16="http://schemas.microsoft.com/office/drawing/2014/main" id="{05DDD946-6B22-F826-C55B-1DCE9ECB16AE}"/>
              </a:ext>
            </a:extLst>
          </p:cNvPr>
          <p:cNvSpPr/>
          <p:nvPr/>
        </p:nvSpPr>
        <p:spPr>
          <a:xfrm>
            <a:off x="14776450" y="3117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ckt">
            <a:extLst>
              <a:ext uri="{FF2B5EF4-FFF2-40B4-BE49-F238E27FC236}">
                <a16:creationId xmlns:a16="http://schemas.microsoft.com/office/drawing/2014/main" id="{FE97BB53-7370-6E3E-3CE6-75EAB7B90FDE}"/>
              </a:ext>
            </a:extLst>
          </p:cNvPr>
          <p:cNvSpPr/>
          <p:nvPr/>
        </p:nvSpPr>
        <p:spPr>
          <a:xfrm>
            <a:off x="14706600" y="3175000"/>
            <a:ext cx="254001" cy="3048001"/>
          </a:xfrm>
          <a:custGeom>
            <a:avLst/>
            <a:gdLst/>
            <a:ahLst/>
            <a:cxnLst/>
            <a:rect l="0" t="0" r="0" b="0"/>
            <a:pathLst>
              <a:path w="254001" h="3048001">
                <a:moveTo>
                  <a:pt x="127000" y="0"/>
                </a:moveTo>
                <a:lnTo>
                  <a:pt x="127000" y="1155700"/>
                </a:lnTo>
                <a:lnTo>
                  <a:pt x="0" y="1217083"/>
                </a:lnTo>
                <a:lnTo>
                  <a:pt x="254000" y="1339850"/>
                </a:lnTo>
                <a:lnTo>
                  <a:pt x="0" y="1462617"/>
                </a:lnTo>
                <a:lnTo>
                  <a:pt x="254000" y="1585383"/>
                </a:lnTo>
                <a:lnTo>
                  <a:pt x="0" y="1708150"/>
                </a:lnTo>
                <a:lnTo>
                  <a:pt x="254000" y="1830917"/>
                </a:lnTo>
                <a:lnTo>
                  <a:pt x="127000" y="1892300"/>
                </a:lnTo>
                <a:lnTo>
                  <a:pt x="127000" y="30480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ckt label">
            <a:extLst>
              <a:ext uri="{FF2B5EF4-FFF2-40B4-BE49-F238E27FC236}">
                <a16:creationId xmlns:a16="http://schemas.microsoft.com/office/drawing/2014/main" id="{1D4E2950-F282-C03F-FB17-A54953D10C6C}"/>
              </a:ext>
            </a:extLst>
          </p:cNvPr>
          <p:cNvSpPr txBox="1"/>
          <p:nvPr/>
        </p:nvSpPr>
        <p:spPr>
          <a:xfrm>
            <a:off x="15062200" y="5016499"/>
            <a:ext cx="635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2000" i="1" baseline="-25000">
                <a:solidFill>
                  <a:srgbClr val="15241D"/>
                </a:solidFill>
                <a:latin typeface="DM Sans" pitchFamily="2" charset="0"/>
              </a:rPr>
              <a:t>o</a:t>
            </a:r>
          </a:p>
        </p:txBody>
      </p:sp>
      <p:sp>
        <p:nvSpPr>
          <p:cNvPr id="47" name="point @1">
            <a:extLst>
              <a:ext uri="{FF2B5EF4-FFF2-40B4-BE49-F238E27FC236}">
                <a16:creationId xmlns:a16="http://schemas.microsoft.com/office/drawing/2014/main" id="{30319779-20F6-CC8F-C63C-57DA21938277}"/>
              </a:ext>
            </a:extLst>
          </p:cNvPr>
          <p:cNvSpPr txBox="1"/>
          <p:nvPr/>
        </p:nvSpPr>
        <p:spPr>
          <a:xfrm>
            <a:off x="914400" y="7620000"/>
            <a:ext cx="7874000" cy="70269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The MOSFET as a voltage-controlled current source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g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m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; no current into the gate.</a:t>
            </a:r>
          </a:p>
        </p:txBody>
      </p:sp>
      <p:sp>
        <p:nvSpPr>
          <p:cNvPr id="48" name="point @2">
            <a:extLst>
              <a:ext uri="{FF2B5EF4-FFF2-40B4-BE49-F238E27FC236}">
                <a16:creationId xmlns:a16="http://schemas.microsoft.com/office/drawing/2014/main" id="{392554BB-B84C-48F8-B64B-0F0F4A1EF858}"/>
              </a:ext>
            </a:extLst>
          </p:cNvPr>
          <p:cNvSpPr txBox="1"/>
          <p:nvPr/>
        </p:nvSpPr>
        <p:spPr>
          <a:xfrm>
            <a:off x="9499600" y="7620000"/>
            <a:ext cx="7874000" cy="70269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Adding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o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=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A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/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models the slight slope of the saturation curves (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A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: the Early voltage).</a:t>
            </a:r>
          </a:p>
        </p:txBody>
      </p:sp>
      <p:sp>
        <p:nvSpPr>
          <p:cNvPr id="49" name="chrome page">
            <a:extLst>
              <a:ext uri="{FF2B5EF4-FFF2-40B4-BE49-F238E27FC236}">
                <a16:creationId xmlns:a16="http://schemas.microsoft.com/office/drawing/2014/main" id="{917D3065-F382-B89A-25D2-AEC9125C5D13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hrome page">
            <a:extLst>
              <a:ext uri="{FF2B5EF4-FFF2-40B4-BE49-F238E27FC236}">
                <a16:creationId xmlns:a16="http://schemas.microsoft.com/office/drawing/2014/main" id="{6C7FABF6-52CB-AE46-E9A4-AA856ECC6E73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62</a:t>
            </a:r>
          </a:p>
        </p:txBody>
      </p:sp>
    </p:spTree>
    <p:extLst>
      <p:ext uri="{BB962C8B-B14F-4D97-AF65-F5344CB8AC3E}">
        <p14:creationId xmlns:p14="http://schemas.microsoft.com/office/powerpoint/2010/main" val="113047967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 2: bias point (1 of 2) s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E97174-8A2B-D18F-213E-64D7A7E2C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Example 2: bias point (1 of 2)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636BECBC-F05B-6B75-A398-5C613FE4575D}"/>
              </a:ext>
            </a:extLst>
          </p:cNvPr>
          <p:cNvSpPr/>
          <p:nvPr/>
        </p:nvSpPr>
        <p:spPr>
          <a:xfrm>
            <a:off x="914400" y="279400"/>
            <a:ext cx="377698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B857F4A5-442C-30E1-D9C6-5977068804BD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AF534598-6DC5-FD3A-CF73-76D00A45AEB1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circuit card">
            <a:extLst>
              <a:ext uri="{FF2B5EF4-FFF2-40B4-BE49-F238E27FC236}">
                <a16:creationId xmlns:a16="http://schemas.microsoft.com/office/drawing/2014/main" id="{042AE6B6-BDE3-606F-D9BE-4821C6FDE559}"/>
              </a:ext>
            </a:extLst>
          </p:cNvPr>
          <p:cNvSpPr/>
          <p:nvPr/>
        </p:nvSpPr>
        <p:spPr>
          <a:xfrm>
            <a:off x="914400" y="1905000"/>
            <a:ext cx="7874000" cy="5715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3D63AECC-0F78-274E-CC9E-9F04BB4036AA}"/>
              </a:ext>
            </a:extLst>
          </p:cNvPr>
          <p:cNvSpPr/>
          <p:nvPr/>
        </p:nvSpPr>
        <p:spPr>
          <a:xfrm>
            <a:off x="914400" y="1892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kt">
            <a:extLst>
              <a:ext uri="{FF2B5EF4-FFF2-40B4-BE49-F238E27FC236}">
                <a16:creationId xmlns:a16="http://schemas.microsoft.com/office/drawing/2014/main" id="{E68646D8-ED8B-F056-8604-14F900224E9D}"/>
              </a:ext>
            </a:extLst>
          </p:cNvPr>
          <p:cNvCxnSpPr/>
          <p:nvPr/>
        </p:nvCxnSpPr>
        <p:spPr>
          <a:xfrm>
            <a:off x="4724400" y="50769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kt">
            <a:extLst>
              <a:ext uri="{FF2B5EF4-FFF2-40B4-BE49-F238E27FC236}">
                <a16:creationId xmlns:a16="http://schemas.microsoft.com/office/drawing/2014/main" id="{01A77A39-C847-EC4F-E8C5-8FFC1E104247}"/>
              </a:ext>
            </a:extLst>
          </p:cNvPr>
          <p:cNvCxnSpPr/>
          <p:nvPr/>
        </p:nvCxnSpPr>
        <p:spPr>
          <a:xfrm>
            <a:off x="4851400" y="4927600"/>
            <a:ext cx="0" cy="1066800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kt">
            <a:extLst>
              <a:ext uri="{FF2B5EF4-FFF2-40B4-BE49-F238E27FC236}">
                <a16:creationId xmlns:a16="http://schemas.microsoft.com/office/drawing/2014/main" id="{A21D2D91-80A3-4957-14CA-AF97E811F737}"/>
              </a:ext>
            </a:extLst>
          </p:cNvPr>
          <p:cNvCxnSpPr/>
          <p:nvPr/>
        </p:nvCxnSpPr>
        <p:spPr>
          <a:xfrm>
            <a:off x="4851400" y="50292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kt">
            <a:extLst>
              <a:ext uri="{FF2B5EF4-FFF2-40B4-BE49-F238E27FC236}">
                <a16:creationId xmlns:a16="http://schemas.microsoft.com/office/drawing/2014/main" id="{03A1B569-9742-BB2E-FF0A-3000C393105E}"/>
              </a:ext>
            </a:extLst>
          </p:cNvPr>
          <p:cNvCxnSpPr/>
          <p:nvPr/>
        </p:nvCxnSpPr>
        <p:spPr>
          <a:xfrm>
            <a:off x="4851400" y="58928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kt">
            <a:extLst>
              <a:ext uri="{FF2B5EF4-FFF2-40B4-BE49-F238E27FC236}">
                <a16:creationId xmlns:a16="http://schemas.microsoft.com/office/drawing/2014/main" id="{A8A1285F-B0A7-FCF0-5B67-F71DFFF965A0}"/>
              </a:ext>
            </a:extLst>
          </p:cNvPr>
          <p:cNvCxnSpPr/>
          <p:nvPr/>
        </p:nvCxnSpPr>
        <p:spPr>
          <a:xfrm>
            <a:off x="5153660" y="5892800"/>
            <a:ext cx="12954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kt">
            <a:extLst>
              <a:ext uri="{FF2B5EF4-FFF2-40B4-BE49-F238E27FC236}">
                <a16:creationId xmlns:a16="http://schemas.microsoft.com/office/drawing/2014/main" id="{B6B5B1BD-DF7A-D245-D21D-1691DB137D70}"/>
              </a:ext>
            </a:extLst>
          </p:cNvPr>
          <p:cNvSpPr/>
          <p:nvPr/>
        </p:nvSpPr>
        <p:spPr>
          <a:xfrm>
            <a:off x="5213350" y="2343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 label">
            <a:extLst>
              <a:ext uri="{FF2B5EF4-FFF2-40B4-BE49-F238E27FC236}">
                <a16:creationId xmlns:a16="http://schemas.microsoft.com/office/drawing/2014/main" id="{EBFCFD1D-FD64-5F1A-A36B-586D389505B3}"/>
              </a:ext>
            </a:extLst>
          </p:cNvPr>
          <p:cNvSpPr txBox="1"/>
          <p:nvPr/>
        </p:nvSpPr>
        <p:spPr>
          <a:xfrm>
            <a:off x="5461000" y="2251074"/>
            <a:ext cx="2794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b="1">
                <a:solidFill>
                  <a:srgbClr val="1F6FA8"/>
                </a:solidFill>
                <a:latin typeface="DM Sans" pitchFamily="2" charset="0"/>
              </a:rPr>
              <a:t>+</a:t>
            </a:r>
            <a:r>
              <a:rPr lang="en-US" sz="1700" b="1" i="1">
                <a:solidFill>
                  <a:srgbClr val="1F6FA8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1F6FA8"/>
                </a:solidFill>
                <a:latin typeface="DM Sans" pitchFamily="2" charset="0"/>
              </a:rPr>
              <a:t>DD</a:t>
            </a:r>
            <a:r>
              <a:rPr lang="en-US" sz="1700" b="1">
                <a:solidFill>
                  <a:srgbClr val="1F6FA8"/>
                </a:solidFill>
                <a:latin typeface="DM Sans" pitchFamily="2" charset="0"/>
              </a:rPr>
              <a:t> = 15 V</a:t>
            </a:r>
          </a:p>
        </p:txBody>
      </p:sp>
      <p:sp>
        <p:nvSpPr>
          <p:cNvPr id="15" name="ckt">
            <a:extLst>
              <a:ext uri="{FF2B5EF4-FFF2-40B4-BE49-F238E27FC236}">
                <a16:creationId xmlns:a16="http://schemas.microsoft.com/office/drawing/2014/main" id="{37210CF4-427F-0878-CDF1-6DF63BED0B81}"/>
              </a:ext>
            </a:extLst>
          </p:cNvPr>
          <p:cNvSpPr/>
          <p:nvPr/>
        </p:nvSpPr>
        <p:spPr>
          <a:xfrm>
            <a:off x="5156200" y="2482850"/>
            <a:ext cx="254001" cy="1581151"/>
          </a:xfrm>
          <a:custGeom>
            <a:avLst/>
            <a:gdLst/>
            <a:ahLst/>
            <a:cxnLst/>
            <a:rect l="0" t="0" r="0" b="0"/>
            <a:pathLst>
              <a:path w="254001" h="1581151">
                <a:moveTo>
                  <a:pt x="127000" y="0"/>
                </a:moveTo>
                <a:lnTo>
                  <a:pt x="127000" y="422275"/>
                </a:lnTo>
                <a:lnTo>
                  <a:pt x="0" y="483658"/>
                </a:lnTo>
                <a:lnTo>
                  <a:pt x="254000" y="606425"/>
                </a:lnTo>
                <a:lnTo>
                  <a:pt x="0" y="729192"/>
                </a:lnTo>
                <a:lnTo>
                  <a:pt x="254000" y="851958"/>
                </a:lnTo>
                <a:lnTo>
                  <a:pt x="0" y="974725"/>
                </a:lnTo>
                <a:lnTo>
                  <a:pt x="254000" y="1097492"/>
                </a:lnTo>
                <a:lnTo>
                  <a:pt x="127000" y="1158875"/>
                </a:lnTo>
                <a:lnTo>
                  <a:pt x="127000" y="158115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kt">
            <a:extLst>
              <a:ext uri="{FF2B5EF4-FFF2-40B4-BE49-F238E27FC236}">
                <a16:creationId xmlns:a16="http://schemas.microsoft.com/office/drawing/2014/main" id="{33B104A8-3EE4-B8B2-B084-79853E647CB5}"/>
              </a:ext>
            </a:extLst>
          </p:cNvPr>
          <p:cNvSpPr/>
          <p:nvPr/>
        </p:nvSpPr>
        <p:spPr>
          <a:xfrm>
            <a:off x="5226050" y="4006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kt label">
            <a:extLst>
              <a:ext uri="{FF2B5EF4-FFF2-40B4-BE49-F238E27FC236}">
                <a16:creationId xmlns:a16="http://schemas.microsoft.com/office/drawing/2014/main" id="{A911B766-A597-CFA6-B75C-11FD728652BF}"/>
              </a:ext>
            </a:extLst>
          </p:cNvPr>
          <p:cNvSpPr txBox="1"/>
          <p:nvPr/>
        </p:nvSpPr>
        <p:spPr>
          <a:xfrm>
            <a:off x="5486400" y="3127374"/>
            <a:ext cx="2794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D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10 k</a:t>
            </a:r>
            <a:r>
              <a:rPr lang="el-GR" sz="1700" b="1">
                <a:solidFill>
                  <a:srgbClr val="0E7C7B"/>
                </a:solidFill>
              </a:rPr>
              <a:t>Ω</a:t>
            </a:r>
            <a:endParaRPr lang="en-US" sz="1700" b="1">
              <a:solidFill>
                <a:srgbClr val="0E7C7B"/>
              </a:solidFill>
              <a:latin typeface="DM Sans" pitchFamily="2" charset="0"/>
            </a:endParaRPr>
          </a:p>
        </p:txBody>
      </p:sp>
      <p:cxnSp>
        <p:nvCxnSpPr>
          <p:cNvPr id="18" name="ckt">
            <a:extLst>
              <a:ext uri="{FF2B5EF4-FFF2-40B4-BE49-F238E27FC236}">
                <a16:creationId xmlns:a16="http://schemas.microsoft.com/office/drawing/2014/main" id="{854C04BA-B66F-879D-C2FA-8251015A26A7}"/>
              </a:ext>
            </a:extLst>
          </p:cNvPr>
          <p:cNvCxnSpPr/>
          <p:nvPr/>
        </p:nvCxnSpPr>
        <p:spPr>
          <a:xfrm>
            <a:off x="5283200" y="4064000"/>
            <a:ext cx="0" cy="9652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kt">
            <a:extLst>
              <a:ext uri="{FF2B5EF4-FFF2-40B4-BE49-F238E27FC236}">
                <a16:creationId xmlns:a16="http://schemas.microsoft.com/office/drawing/2014/main" id="{2345217D-D4A8-68E1-A556-70BC323B3FC8}"/>
              </a:ext>
            </a:extLst>
          </p:cNvPr>
          <p:cNvCxnSpPr/>
          <p:nvPr/>
        </p:nvCxnSpPr>
        <p:spPr>
          <a:xfrm>
            <a:off x="5283200" y="5892800"/>
            <a:ext cx="0" cy="14732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kt">
            <a:extLst>
              <a:ext uri="{FF2B5EF4-FFF2-40B4-BE49-F238E27FC236}">
                <a16:creationId xmlns:a16="http://schemas.microsoft.com/office/drawing/2014/main" id="{E7B64B46-AE12-F774-D498-E11B1AFD86F6}"/>
              </a:ext>
            </a:extLst>
          </p:cNvPr>
          <p:cNvCxnSpPr/>
          <p:nvPr/>
        </p:nvCxnSpPr>
        <p:spPr>
          <a:xfrm>
            <a:off x="5283200" y="73660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kt">
            <a:extLst>
              <a:ext uri="{FF2B5EF4-FFF2-40B4-BE49-F238E27FC236}">
                <a16:creationId xmlns:a16="http://schemas.microsoft.com/office/drawing/2014/main" id="{E46EA6FD-ADB5-13B6-0775-E022953812A0}"/>
              </a:ext>
            </a:extLst>
          </p:cNvPr>
          <p:cNvCxnSpPr/>
          <p:nvPr/>
        </p:nvCxnSpPr>
        <p:spPr>
          <a:xfrm>
            <a:off x="5092700" y="75184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kt">
            <a:extLst>
              <a:ext uri="{FF2B5EF4-FFF2-40B4-BE49-F238E27FC236}">
                <a16:creationId xmlns:a16="http://schemas.microsoft.com/office/drawing/2014/main" id="{45965C96-0CFB-113C-DC08-28F32FD097E8}"/>
              </a:ext>
            </a:extLst>
          </p:cNvPr>
          <p:cNvCxnSpPr/>
          <p:nvPr/>
        </p:nvCxnSpPr>
        <p:spPr>
          <a:xfrm>
            <a:off x="5162550" y="75882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kt">
            <a:extLst>
              <a:ext uri="{FF2B5EF4-FFF2-40B4-BE49-F238E27FC236}">
                <a16:creationId xmlns:a16="http://schemas.microsoft.com/office/drawing/2014/main" id="{F7F7E7BC-D5B9-4B82-3785-E85BFC28F3FA}"/>
              </a:ext>
            </a:extLst>
          </p:cNvPr>
          <p:cNvCxnSpPr/>
          <p:nvPr/>
        </p:nvCxnSpPr>
        <p:spPr>
          <a:xfrm>
            <a:off x="5232400" y="76581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kt">
            <a:extLst>
              <a:ext uri="{FF2B5EF4-FFF2-40B4-BE49-F238E27FC236}">
                <a16:creationId xmlns:a16="http://schemas.microsoft.com/office/drawing/2014/main" id="{703ED40B-F2B5-7F86-2989-6EB2A86326BB}"/>
              </a:ext>
            </a:extLst>
          </p:cNvPr>
          <p:cNvCxnSpPr/>
          <p:nvPr/>
        </p:nvCxnSpPr>
        <p:spPr>
          <a:xfrm flipH="1">
            <a:off x="3835400" y="4064000"/>
            <a:ext cx="1447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kt">
            <a:extLst>
              <a:ext uri="{FF2B5EF4-FFF2-40B4-BE49-F238E27FC236}">
                <a16:creationId xmlns:a16="http://schemas.microsoft.com/office/drawing/2014/main" id="{708778CA-78FF-3A8F-57E3-E8B460E4DF87}"/>
              </a:ext>
            </a:extLst>
          </p:cNvPr>
          <p:cNvSpPr/>
          <p:nvPr/>
        </p:nvSpPr>
        <p:spPr>
          <a:xfrm>
            <a:off x="3708400" y="4064000"/>
            <a:ext cx="254001" cy="1397001"/>
          </a:xfrm>
          <a:custGeom>
            <a:avLst/>
            <a:gdLst/>
            <a:ahLst/>
            <a:cxnLst/>
            <a:rect l="0" t="0" r="0" b="0"/>
            <a:pathLst>
              <a:path w="254001" h="1397001">
                <a:moveTo>
                  <a:pt x="127000" y="0"/>
                </a:moveTo>
                <a:lnTo>
                  <a:pt x="127000" y="330200"/>
                </a:lnTo>
                <a:lnTo>
                  <a:pt x="0" y="391583"/>
                </a:lnTo>
                <a:lnTo>
                  <a:pt x="254000" y="514350"/>
                </a:lnTo>
                <a:lnTo>
                  <a:pt x="0" y="637117"/>
                </a:lnTo>
                <a:lnTo>
                  <a:pt x="254000" y="759883"/>
                </a:lnTo>
                <a:lnTo>
                  <a:pt x="0" y="882650"/>
                </a:lnTo>
                <a:lnTo>
                  <a:pt x="254000" y="1005417"/>
                </a:lnTo>
                <a:lnTo>
                  <a:pt x="127000" y="1066800"/>
                </a:lnTo>
                <a:lnTo>
                  <a:pt x="127000" y="13970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kt">
            <a:extLst>
              <a:ext uri="{FF2B5EF4-FFF2-40B4-BE49-F238E27FC236}">
                <a16:creationId xmlns:a16="http://schemas.microsoft.com/office/drawing/2014/main" id="{C2277E41-B212-6F1E-6F59-94A029477AA2}"/>
              </a:ext>
            </a:extLst>
          </p:cNvPr>
          <p:cNvSpPr/>
          <p:nvPr/>
        </p:nvSpPr>
        <p:spPr>
          <a:xfrm>
            <a:off x="3778250" y="5403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ckt label">
            <a:extLst>
              <a:ext uri="{FF2B5EF4-FFF2-40B4-BE49-F238E27FC236}">
                <a16:creationId xmlns:a16="http://schemas.microsoft.com/office/drawing/2014/main" id="{E35C7F65-4E6E-780A-A9E1-298A3C4A9D80}"/>
              </a:ext>
            </a:extLst>
          </p:cNvPr>
          <p:cNvSpPr txBox="1"/>
          <p:nvPr/>
        </p:nvSpPr>
        <p:spPr>
          <a:xfrm>
            <a:off x="838200" y="4600574"/>
            <a:ext cx="2794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700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7A3E9D"/>
                </a:solidFill>
                <a:latin typeface="DM Sans" pitchFamily="2" charset="0"/>
              </a:rPr>
              <a:t>G</a:t>
            </a:r>
            <a:r>
              <a:rPr lang="en-US" sz="1700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sz="1700" b="1">
                <a:solidFill>
                  <a:srgbClr val="7A3E9D"/>
                </a:solidFill>
              </a:rPr>
              <a:t>Ω</a:t>
            </a:r>
            <a:endParaRPr lang="en-US" sz="1700" b="1">
              <a:solidFill>
                <a:srgbClr val="7A3E9D"/>
              </a:solidFill>
              <a:latin typeface="DM Sans" pitchFamily="2" charset="0"/>
            </a:endParaRPr>
          </a:p>
        </p:txBody>
      </p:sp>
      <p:cxnSp>
        <p:nvCxnSpPr>
          <p:cNvPr id="28" name="ckt">
            <a:extLst>
              <a:ext uri="{FF2B5EF4-FFF2-40B4-BE49-F238E27FC236}">
                <a16:creationId xmlns:a16="http://schemas.microsoft.com/office/drawing/2014/main" id="{DFDEB394-FC01-C92B-D413-3B738B6D95BC}"/>
              </a:ext>
            </a:extLst>
          </p:cNvPr>
          <p:cNvCxnSpPr/>
          <p:nvPr/>
        </p:nvCxnSpPr>
        <p:spPr>
          <a:xfrm>
            <a:off x="3835400" y="5461000"/>
            <a:ext cx="889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kt">
            <a:extLst>
              <a:ext uri="{FF2B5EF4-FFF2-40B4-BE49-F238E27FC236}">
                <a16:creationId xmlns:a16="http://schemas.microsoft.com/office/drawing/2014/main" id="{8A340A3C-79F4-D6C7-190E-FF1C487DCEE8}"/>
              </a:ext>
            </a:extLst>
          </p:cNvPr>
          <p:cNvCxnSpPr/>
          <p:nvPr/>
        </p:nvCxnSpPr>
        <p:spPr>
          <a:xfrm>
            <a:off x="2565400" y="5461000"/>
            <a:ext cx="5715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kt">
            <a:extLst>
              <a:ext uri="{FF2B5EF4-FFF2-40B4-BE49-F238E27FC236}">
                <a16:creationId xmlns:a16="http://schemas.microsoft.com/office/drawing/2014/main" id="{53477620-59DD-FCEE-45EA-9CC037672529}"/>
              </a:ext>
            </a:extLst>
          </p:cNvPr>
          <p:cNvCxnSpPr/>
          <p:nvPr/>
        </p:nvCxnSpPr>
        <p:spPr>
          <a:xfrm>
            <a:off x="3263900" y="5461000"/>
            <a:ext cx="5715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kt">
            <a:extLst>
              <a:ext uri="{FF2B5EF4-FFF2-40B4-BE49-F238E27FC236}">
                <a16:creationId xmlns:a16="http://schemas.microsoft.com/office/drawing/2014/main" id="{A6E819E9-0EF5-EF1F-7207-E891E78743C2}"/>
              </a:ext>
            </a:extLst>
          </p:cNvPr>
          <p:cNvCxnSpPr/>
          <p:nvPr/>
        </p:nvCxnSpPr>
        <p:spPr>
          <a:xfrm flipV="1">
            <a:off x="3136900" y="5270500"/>
            <a:ext cx="0" cy="381000"/>
          </a:xfrm>
          <a:prstGeom prst="line">
            <a:avLst/>
          </a:prstGeom>
          <a:ln w="381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kt">
            <a:extLst>
              <a:ext uri="{FF2B5EF4-FFF2-40B4-BE49-F238E27FC236}">
                <a16:creationId xmlns:a16="http://schemas.microsoft.com/office/drawing/2014/main" id="{6274AF1A-B0B2-E26B-6C55-6596372B439E}"/>
              </a:ext>
            </a:extLst>
          </p:cNvPr>
          <p:cNvCxnSpPr/>
          <p:nvPr/>
        </p:nvCxnSpPr>
        <p:spPr>
          <a:xfrm flipV="1">
            <a:off x="3263900" y="5270500"/>
            <a:ext cx="0" cy="381000"/>
          </a:xfrm>
          <a:prstGeom prst="line">
            <a:avLst/>
          </a:prstGeom>
          <a:ln w="381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kt">
            <a:extLst>
              <a:ext uri="{FF2B5EF4-FFF2-40B4-BE49-F238E27FC236}">
                <a16:creationId xmlns:a16="http://schemas.microsoft.com/office/drawing/2014/main" id="{5C6F67FB-DDDE-80F2-5032-6860D2EF51BD}"/>
              </a:ext>
            </a:extLst>
          </p:cNvPr>
          <p:cNvCxnSpPr/>
          <p:nvPr/>
        </p:nvCxnSpPr>
        <p:spPr>
          <a:xfrm>
            <a:off x="1930400" y="5461000"/>
            <a:ext cx="635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kt">
            <a:extLst>
              <a:ext uri="{FF2B5EF4-FFF2-40B4-BE49-F238E27FC236}">
                <a16:creationId xmlns:a16="http://schemas.microsoft.com/office/drawing/2014/main" id="{B1A706C9-65E5-5E97-287C-F6FB601865B2}"/>
              </a:ext>
            </a:extLst>
          </p:cNvPr>
          <p:cNvSpPr/>
          <p:nvPr/>
        </p:nvSpPr>
        <p:spPr>
          <a:xfrm>
            <a:off x="1873250" y="5403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ckt">
            <a:extLst>
              <a:ext uri="{FF2B5EF4-FFF2-40B4-BE49-F238E27FC236}">
                <a16:creationId xmlns:a16="http://schemas.microsoft.com/office/drawing/2014/main" id="{2E2CF8C7-1082-81C8-D90D-77ABB161089F}"/>
              </a:ext>
            </a:extLst>
          </p:cNvPr>
          <p:cNvCxnSpPr/>
          <p:nvPr/>
        </p:nvCxnSpPr>
        <p:spPr>
          <a:xfrm>
            <a:off x="1930400" y="5461000"/>
            <a:ext cx="0" cy="6731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kt">
            <a:extLst>
              <a:ext uri="{FF2B5EF4-FFF2-40B4-BE49-F238E27FC236}">
                <a16:creationId xmlns:a16="http://schemas.microsoft.com/office/drawing/2014/main" id="{A387000E-14B3-5D8C-194B-40C773C38F63}"/>
              </a:ext>
            </a:extLst>
          </p:cNvPr>
          <p:cNvCxnSpPr/>
          <p:nvPr/>
        </p:nvCxnSpPr>
        <p:spPr>
          <a:xfrm>
            <a:off x="1930400" y="6692900"/>
            <a:ext cx="0" cy="6731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kt">
            <a:extLst>
              <a:ext uri="{FF2B5EF4-FFF2-40B4-BE49-F238E27FC236}">
                <a16:creationId xmlns:a16="http://schemas.microsoft.com/office/drawing/2014/main" id="{0A64E3B9-56EC-383E-EA16-2936790A31D8}"/>
              </a:ext>
            </a:extLst>
          </p:cNvPr>
          <p:cNvSpPr/>
          <p:nvPr/>
        </p:nvSpPr>
        <p:spPr>
          <a:xfrm>
            <a:off x="1651000" y="6134100"/>
            <a:ext cx="558800" cy="558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kt">
            <a:extLst>
              <a:ext uri="{FF2B5EF4-FFF2-40B4-BE49-F238E27FC236}">
                <a16:creationId xmlns:a16="http://schemas.microsoft.com/office/drawing/2014/main" id="{7E048E56-48C6-81A2-CF2B-50E00EDB3E53}"/>
              </a:ext>
            </a:extLst>
          </p:cNvPr>
          <p:cNvSpPr/>
          <p:nvPr/>
        </p:nvSpPr>
        <p:spPr>
          <a:xfrm>
            <a:off x="1762760" y="6315710"/>
            <a:ext cx="335281" cy="195581"/>
          </a:xfrm>
          <a:custGeom>
            <a:avLst/>
            <a:gdLst/>
            <a:ahLst/>
            <a:cxnLst/>
            <a:rect l="0" t="0" r="0" b="0"/>
            <a:pathLst>
              <a:path w="335281" h="195581">
                <a:moveTo>
                  <a:pt x="0" y="97790"/>
                </a:moveTo>
                <a:lnTo>
                  <a:pt x="20955" y="60367"/>
                </a:lnTo>
                <a:lnTo>
                  <a:pt x="41910" y="28642"/>
                </a:lnTo>
                <a:lnTo>
                  <a:pt x="62865" y="7444"/>
                </a:lnTo>
                <a:lnTo>
                  <a:pt x="83820" y="0"/>
                </a:lnTo>
                <a:lnTo>
                  <a:pt x="104775" y="7444"/>
                </a:lnTo>
                <a:lnTo>
                  <a:pt x="125730" y="28642"/>
                </a:lnTo>
                <a:lnTo>
                  <a:pt x="146685" y="60367"/>
                </a:lnTo>
                <a:lnTo>
                  <a:pt x="167640" y="97790"/>
                </a:lnTo>
                <a:lnTo>
                  <a:pt x="188595" y="135213"/>
                </a:lnTo>
                <a:lnTo>
                  <a:pt x="209550" y="166938"/>
                </a:lnTo>
                <a:lnTo>
                  <a:pt x="230505" y="188136"/>
                </a:lnTo>
                <a:lnTo>
                  <a:pt x="251460" y="195580"/>
                </a:lnTo>
                <a:lnTo>
                  <a:pt x="272415" y="188136"/>
                </a:lnTo>
                <a:lnTo>
                  <a:pt x="293370" y="166938"/>
                </a:lnTo>
                <a:lnTo>
                  <a:pt x="314325" y="135213"/>
                </a:lnTo>
                <a:lnTo>
                  <a:pt x="335280" y="97790"/>
                </a:lnTo>
              </a:path>
            </a:pathLst>
          </a:custGeom>
          <a:ln w="222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ckt">
            <a:extLst>
              <a:ext uri="{FF2B5EF4-FFF2-40B4-BE49-F238E27FC236}">
                <a16:creationId xmlns:a16="http://schemas.microsoft.com/office/drawing/2014/main" id="{717D1C20-F659-F79D-2A14-B76C1D26FE7D}"/>
              </a:ext>
            </a:extLst>
          </p:cNvPr>
          <p:cNvSpPr txBox="1"/>
          <p:nvPr/>
        </p:nvSpPr>
        <p:spPr>
          <a:xfrm>
            <a:off x="1981200" y="5854699"/>
            <a:ext cx="25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15241D"/>
                </a:solidFill>
                <a:latin typeface="DM Sans" pitchFamily="2" charset="0"/>
              </a:rPr>
              <a:t>+</a:t>
            </a:r>
          </a:p>
        </p:txBody>
      </p:sp>
      <p:cxnSp>
        <p:nvCxnSpPr>
          <p:cNvPr id="40" name="ckt">
            <a:extLst>
              <a:ext uri="{FF2B5EF4-FFF2-40B4-BE49-F238E27FC236}">
                <a16:creationId xmlns:a16="http://schemas.microsoft.com/office/drawing/2014/main" id="{9E1EB727-1CE1-D527-D92F-F20296EE883C}"/>
              </a:ext>
            </a:extLst>
          </p:cNvPr>
          <p:cNvCxnSpPr/>
          <p:nvPr/>
        </p:nvCxnSpPr>
        <p:spPr>
          <a:xfrm>
            <a:off x="1930400" y="73660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kt">
            <a:extLst>
              <a:ext uri="{FF2B5EF4-FFF2-40B4-BE49-F238E27FC236}">
                <a16:creationId xmlns:a16="http://schemas.microsoft.com/office/drawing/2014/main" id="{ABDDF52F-D7C6-492D-FCEE-48FE160CBD7C}"/>
              </a:ext>
            </a:extLst>
          </p:cNvPr>
          <p:cNvCxnSpPr/>
          <p:nvPr/>
        </p:nvCxnSpPr>
        <p:spPr>
          <a:xfrm>
            <a:off x="1739900" y="75184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kt">
            <a:extLst>
              <a:ext uri="{FF2B5EF4-FFF2-40B4-BE49-F238E27FC236}">
                <a16:creationId xmlns:a16="http://schemas.microsoft.com/office/drawing/2014/main" id="{D3650FF2-286C-F847-5D96-DE6FF287C761}"/>
              </a:ext>
            </a:extLst>
          </p:cNvPr>
          <p:cNvCxnSpPr/>
          <p:nvPr/>
        </p:nvCxnSpPr>
        <p:spPr>
          <a:xfrm>
            <a:off x="1809750" y="75882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kt">
            <a:extLst>
              <a:ext uri="{FF2B5EF4-FFF2-40B4-BE49-F238E27FC236}">
                <a16:creationId xmlns:a16="http://schemas.microsoft.com/office/drawing/2014/main" id="{604A87BD-534F-2E8F-B0BA-2D53701F16F7}"/>
              </a:ext>
            </a:extLst>
          </p:cNvPr>
          <p:cNvCxnSpPr/>
          <p:nvPr/>
        </p:nvCxnSpPr>
        <p:spPr>
          <a:xfrm>
            <a:off x="1879600" y="76581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kt label">
            <a:extLst>
              <a:ext uri="{FF2B5EF4-FFF2-40B4-BE49-F238E27FC236}">
                <a16:creationId xmlns:a16="http://schemas.microsoft.com/office/drawing/2014/main" id="{45B3A018-9034-8B0C-A4A5-7EA5256B2EAE}"/>
              </a:ext>
            </a:extLst>
          </p:cNvPr>
          <p:cNvSpPr txBox="1"/>
          <p:nvPr/>
        </p:nvSpPr>
        <p:spPr>
          <a:xfrm>
            <a:off x="787400" y="6232524"/>
            <a:ext cx="762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i</a:t>
            </a:r>
          </a:p>
        </p:txBody>
      </p:sp>
      <p:cxnSp>
        <p:nvCxnSpPr>
          <p:cNvPr id="45" name="ckt">
            <a:extLst>
              <a:ext uri="{FF2B5EF4-FFF2-40B4-BE49-F238E27FC236}">
                <a16:creationId xmlns:a16="http://schemas.microsoft.com/office/drawing/2014/main" id="{589663C9-43D7-C010-4351-B3AF9930B520}"/>
              </a:ext>
            </a:extLst>
          </p:cNvPr>
          <p:cNvCxnSpPr/>
          <p:nvPr/>
        </p:nvCxnSpPr>
        <p:spPr>
          <a:xfrm>
            <a:off x="2032000" y="6350000"/>
            <a:ext cx="635000" cy="0"/>
          </a:xfrm>
          <a:prstGeom prst="line">
            <a:avLst/>
          </a:prstGeom>
          <a:ln w="22225">
            <a:solidFill>
              <a:srgbClr val="4D5B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kt label">
            <a:extLst>
              <a:ext uri="{FF2B5EF4-FFF2-40B4-BE49-F238E27FC236}">
                <a16:creationId xmlns:a16="http://schemas.microsoft.com/office/drawing/2014/main" id="{6ABE9C73-5B7D-A9FA-30F8-B458577CB8F3}"/>
              </a:ext>
            </a:extLst>
          </p:cNvPr>
          <p:cNvSpPr txBox="1"/>
          <p:nvPr/>
        </p:nvSpPr>
        <p:spPr>
          <a:xfrm>
            <a:off x="2743200" y="6188074"/>
            <a:ext cx="1016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in</a:t>
            </a:r>
          </a:p>
        </p:txBody>
      </p:sp>
      <p:cxnSp>
        <p:nvCxnSpPr>
          <p:cNvPr id="47" name="ckt">
            <a:extLst>
              <a:ext uri="{FF2B5EF4-FFF2-40B4-BE49-F238E27FC236}">
                <a16:creationId xmlns:a16="http://schemas.microsoft.com/office/drawing/2014/main" id="{7219C352-2F47-0101-1EAA-0D3E09674141}"/>
              </a:ext>
            </a:extLst>
          </p:cNvPr>
          <p:cNvCxnSpPr/>
          <p:nvPr/>
        </p:nvCxnSpPr>
        <p:spPr>
          <a:xfrm>
            <a:off x="5283200" y="4064000"/>
            <a:ext cx="508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kt">
            <a:extLst>
              <a:ext uri="{FF2B5EF4-FFF2-40B4-BE49-F238E27FC236}">
                <a16:creationId xmlns:a16="http://schemas.microsoft.com/office/drawing/2014/main" id="{A7FD5BEE-8545-B7DD-E403-B57732CD99C5}"/>
              </a:ext>
            </a:extLst>
          </p:cNvPr>
          <p:cNvCxnSpPr/>
          <p:nvPr/>
        </p:nvCxnSpPr>
        <p:spPr>
          <a:xfrm>
            <a:off x="5791200" y="40640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kt">
            <a:extLst>
              <a:ext uri="{FF2B5EF4-FFF2-40B4-BE49-F238E27FC236}">
                <a16:creationId xmlns:a16="http://schemas.microsoft.com/office/drawing/2014/main" id="{3925007B-2AF0-1632-FFB2-43686063C9C9}"/>
              </a:ext>
            </a:extLst>
          </p:cNvPr>
          <p:cNvCxnSpPr/>
          <p:nvPr/>
        </p:nvCxnSpPr>
        <p:spPr>
          <a:xfrm>
            <a:off x="6299200" y="40640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kt">
            <a:extLst>
              <a:ext uri="{FF2B5EF4-FFF2-40B4-BE49-F238E27FC236}">
                <a16:creationId xmlns:a16="http://schemas.microsoft.com/office/drawing/2014/main" id="{20A233E6-0AF9-C46B-669E-F1B0B2E3FD5A}"/>
              </a:ext>
            </a:extLst>
          </p:cNvPr>
          <p:cNvCxnSpPr/>
          <p:nvPr/>
        </p:nvCxnSpPr>
        <p:spPr>
          <a:xfrm flipV="1">
            <a:off x="6172200" y="3873500"/>
            <a:ext cx="0" cy="381000"/>
          </a:xfrm>
          <a:prstGeom prst="line">
            <a:avLst/>
          </a:prstGeom>
          <a:ln w="381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kt">
            <a:extLst>
              <a:ext uri="{FF2B5EF4-FFF2-40B4-BE49-F238E27FC236}">
                <a16:creationId xmlns:a16="http://schemas.microsoft.com/office/drawing/2014/main" id="{DFDB6DCA-246E-AC64-22BD-CF4344F5774A}"/>
              </a:ext>
            </a:extLst>
          </p:cNvPr>
          <p:cNvCxnSpPr/>
          <p:nvPr/>
        </p:nvCxnSpPr>
        <p:spPr>
          <a:xfrm flipV="1">
            <a:off x="6299200" y="3873500"/>
            <a:ext cx="0" cy="381000"/>
          </a:xfrm>
          <a:prstGeom prst="line">
            <a:avLst/>
          </a:prstGeom>
          <a:ln w="381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kt">
            <a:extLst>
              <a:ext uri="{FF2B5EF4-FFF2-40B4-BE49-F238E27FC236}">
                <a16:creationId xmlns:a16="http://schemas.microsoft.com/office/drawing/2014/main" id="{4768ED7B-E4F6-E927-248F-1314E82BF00C}"/>
              </a:ext>
            </a:extLst>
          </p:cNvPr>
          <p:cNvCxnSpPr/>
          <p:nvPr/>
        </p:nvCxnSpPr>
        <p:spPr>
          <a:xfrm>
            <a:off x="6680200" y="4064000"/>
            <a:ext cx="635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ckt">
            <a:extLst>
              <a:ext uri="{FF2B5EF4-FFF2-40B4-BE49-F238E27FC236}">
                <a16:creationId xmlns:a16="http://schemas.microsoft.com/office/drawing/2014/main" id="{D7265B49-AC3F-81B4-1A2D-A25A634B0AD8}"/>
              </a:ext>
            </a:extLst>
          </p:cNvPr>
          <p:cNvSpPr/>
          <p:nvPr/>
        </p:nvSpPr>
        <p:spPr>
          <a:xfrm>
            <a:off x="7258050" y="4006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kt">
            <a:extLst>
              <a:ext uri="{FF2B5EF4-FFF2-40B4-BE49-F238E27FC236}">
                <a16:creationId xmlns:a16="http://schemas.microsoft.com/office/drawing/2014/main" id="{277C5E1F-733A-D265-C9A6-DFAB26FB91DF}"/>
              </a:ext>
            </a:extLst>
          </p:cNvPr>
          <p:cNvSpPr/>
          <p:nvPr/>
        </p:nvSpPr>
        <p:spPr>
          <a:xfrm>
            <a:off x="7188200" y="4064000"/>
            <a:ext cx="254001" cy="3302001"/>
          </a:xfrm>
          <a:custGeom>
            <a:avLst/>
            <a:gdLst/>
            <a:ahLst/>
            <a:cxnLst/>
            <a:rect l="0" t="0" r="0" b="0"/>
            <a:pathLst>
              <a:path w="254001" h="3302001">
                <a:moveTo>
                  <a:pt x="127000" y="0"/>
                </a:moveTo>
                <a:lnTo>
                  <a:pt x="127000" y="1282700"/>
                </a:lnTo>
                <a:lnTo>
                  <a:pt x="0" y="1344083"/>
                </a:lnTo>
                <a:lnTo>
                  <a:pt x="254000" y="1466850"/>
                </a:lnTo>
                <a:lnTo>
                  <a:pt x="0" y="1589617"/>
                </a:lnTo>
                <a:lnTo>
                  <a:pt x="254000" y="1712383"/>
                </a:lnTo>
                <a:lnTo>
                  <a:pt x="0" y="1835150"/>
                </a:lnTo>
                <a:lnTo>
                  <a:pt x="254000" y="1957917"/>
                </a:lnTo>
                <a:lnTo>
                  <a:pt x="127000" y="2019300"/>
                </a:lnTo>
                <a:lnTo>
                  <a:pt x="127000" y="33020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ckt">
            <a:extLst>
              <a:ext uri="{FF2B5EF4-FFF2-40B4-BE49-F238E27FC236}">
                <a16:creationId xmlns:a16="http://schemas.microsoft.com/office/drawing/2014/main" id="{C30450AA-86DC-6C9D-3784-882781784D2B}"/>
              </a:ext>
            </a:extLst>
          </p:cNvPr>
          <p:cNvCxnSpPr/>
          <p:nvPr/>
        </p:nvCxnSpPr>
        <p:spPr>
          <a:xfrm>
            <a:off x="7315200" y="73660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kt">
            <a:extLst>
              <a:ext uri="{FF2B5EF4-FFF2-40B4-BE49-F238E27FC236}">
                <a16:creationId xmlns:a16="http://schemas.microsoft.com/office/drawing/2014/main" id="{B6AB488D-5FAD-26BD-4AA1-449DA2A42CBD}"/>
              </a:ext>
            </a:extLst>
          </p:cNvPr>
          <p:cNvCxnSpPr/>
          <p:nvPr/>
        </p:nvCxnSpPr>
        <p:spPr>
          <a:xfrm>
            <a:off x="7124700" y="75184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kt">
            <a:extLst>
              <a:ext uri="{FF2B5EF4-FFF2-40B4-BE49-F238E27FC236}">
                <a16:creationId xmlns:a16="http://schemas.microsoft.com/office/drawing/2014/main" id="{B2E789CB-F2E4-6281-2BE8-D4D27109DB8F}"/>
              </a:ext>
            </a:extLst>
          </p:cNvPr>
          <p:cNvCxnSpPr/>
          <p:nvPr/>
        </p:nvCxnSpPr>
        <p:spPr>
          <a:xfrm>
            <a:off x="7194550" y="75882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kt">
            <a:extLst>
              <a:ext uri="{FF2B5EF4-FFF2-40B4-BE49-F238E27FC236}">
                <a16:creationId xmlns:a16="http://schemas.microsoft.com/office/drawing/2014/main" id="{62F755E0-51F1-EE96-ACA2-BC0F8705872D}"/>
              </a:ext>
            </a:extLst>
          </p:cNvPr>
          <p:cNvCxnSpPr/>
          <p:nvPr/>
        </p:nvCxnSpPr>
        <p:spPr>
          <a:xfrm>
            <a:off x="7264400" y="76581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kt label">
            <a:extLst>
              <a:ext uri="{FF2B5EF4-FFF2-40B4-BE49-F238E27FC236}">
                <a16:creationId xmlns:a16="http://schemas.microsoft.com/office/drawing/2014/main" id="{D9CA4248-EE24-0EF2-ED3E-1CE005F61417}"/>
              </a:ext>
            </a:extLst>
          </p:cNvPr>
          <p:cNvSpPr txBox="1"/>
          <p:nvPr/>
        </p:nvSpPr>
        <p:spPr>
          <a:xfrm>
            <a:off x="5461000" y="6061074"/>
            <a:ext cx="1651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L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10 k</a:t>
            </a:r>
            <a:r>
              <a:rPr lang="el-GR" sz="1700" b="1">
                <a:solidFill>
                  <a:srgbClr val="0E7C7B"/>
                </a:solidFill>
              </a:rPr>
              <a:t>Ω</a:t>
            </a:r>
            <a:endParaRPr lang="en-US" sz="1700" b="1">
              <a:solidFill>
                <a:srgbClr val="0E7C7B"/>
              </a:solidFill>
              <a:latin typeface="DM Sans" pitchFamily="2" charset="0"/>
            </a:endParaRPr>
          </a:p>
        </p:txBody>
      </p:sp>
      <p:cxnSp>
        <p:nvCxnSpPr>
          <p:cNvPr id="60" name="ckt">
            <a:extLst>
              <a:ext uri="{FF2B5EF4-FFF2-40B4-BE49-F238E27FC236}">
                <a16:creationId xmlns:a16="http://schemas.microsoft.com/office/drawing/2014/main" id="{232365EB-46CE-5413-0050-E57136C420D5}"/>
              </a:ext>
            </a:extLst>
          </p:cNvPr>
          <p:cNvCxnSpPr/>
          <p:nvPr/>
        </p:nvCxnSpPr>
        <p:spPr>
          <a:xfrm>
            <a:off x="7315200" y="4064000"/>
            <a:ext cx="558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kt">
            <a:extLst>
              <a:ext uri="{FF2B5EF4-FFF2-40B4-BE49-F238E27FC236}">
                <a16:creationId xmlns:a16="http://schemas.microsoft.com/office/drawing/2014/main" id="{A4CE2D8E-D2B1-4F30-F7F0-F5D2DBD59CD4}"/>
              </a:ext>
            </a:extLst>
          </p:cNvPr>
          <p:cNvSpPr/>
          <p:nvPr/>
        </p:nvSpPr>
        <p:spPr>
          <a:xfrm>
            <a:off x="7880350" y="3994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kt label">
            <a:extLst>
              <a:ext uri="{FF2B5EF4-FFF2-40B4-BE49-F238E27FC236}">
                <a16:creationId xmlns:a16="http://schemas.microsoft.com/office/drawing/2014/main" id="{11EE4E54-3608-5219-F74A-C1633C50107C}"/>
              </a:ext>
            </a:extLst>
          </p:cNvPr>
          <p:cNvSpPr txBox="1"/>
          <p:nvPr/>
        </p:nvSpPr>
        <p:spPr>
          <a:xfrm>
            <a:off x="8102600" y="3883024"/>
            <a:ext cx="635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o</a:t>
            </a:r>
          </a:p>
        </p:txBody>
      </p:sp>
      <p:sp>
        <p:nvSpPr>
          <p:cNvPr id="63" name="ckt label">
            <a:extLst>
              <a:ext uri="{FF2B5EF4-FFF2-40B4-BE49-F238E27FC236}">
                <a16:creationId xmlns:a16="http://schemas.microsoft.com/office/drawing/2014/main" id="{8F9171C8-33D8-9F3A-8DF6-D5D897DB4D99}"/>
              </a:ext>
            </a:extLst>
          </p:cNvPr>
          <p:cNvSpPr txBox="1"/>
          <p:nvPr/>
        </p:nvSpPr>
        <p:spPr>
          <a:xfrm>
            <a:off x="5854700" y="3479799"/>
            <a:ext cx="76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 i="1">
                <a:solidFill>
                  <a:srgbClr val="4D5B54"/>
                </a:solidFill>
                <a:latin typeface="DM Sans" pitchFamily="2" charset="0"/>
              </a:rPr>
              <a:t>C</a:t>
            </a:r>
            <a:r>
              <a:rPr lang="en-US" sz="1600" i="1" baseline="-25000">
                <a:solidFill>
                  <a:srgbClr val="4D5B54"/>
                </a:solidFill>
                <a:latin typeface="DM Sans" pitchFamily="2" charset="0"/>
              </a:rPr>
              <a:t>C</a:t>
            </a:r>
          </a:p>
        </p:txBody>
      </p:sp>
      <p:sp>
        <p:nvSpPr>
          <p:cNvPr id="64" name="ckt label">
            <a:extLst>
              <a:ext uri="{FF2B5EF4-FFF2-40B4-BE49-F238E27FC236}">
                <a16:creationId xmlns:a16="http://schemas.microsoft.com/office/drawing/2014/main" id="{9DFF9CE6-E92A-10CA-643A-806E0F22B9F1}"/>
              </a:ext>
            </a:extLst>
          </p:cNvPr>
          <p:cNvSpPr txBox="1"/>
          <p:nvPr/>
        </p:nvSpPr>
        <p:spPr>
          <a:xfrm>
            <a:off x="2819400" y="5740399"/>
            <a:ext cx="76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 i="1">
                <a:solidFill>
                  <a:srgbClr val="4D5B54"/>
                </a:solidFill>
                <a:latin typeface="DM Sans" pitchFamily="2" charset="0"/>
              </a:rPr>
              <a:t>C</a:t>
            </a:r>
            <a:r>
              <a:rPr lang="en-US" sz="1600" i="1" baseline="-25000">
                <a:solidFill>
                  <a:srgbClr val="4D5B54"/>
                </a:solidFill>
                <a:latin typeface="DM Sans" pitchFamily="2" charset="0"/>
              </a:rPr>
              <a:t>C</a:t>
            </a:r>
          </a:p>
        </p:txBody>
      </p:sp>
      <p:sp>
        <p:nvSpPr>
          <p:cNvPr id="65" name="given">
            <a:extLst>
              <a:ext uri="{FF2B5EF4-FFF2-40B4-BE49-F238E27FC236}">
                <a16:creationId xmlns:a16="http://schemas.microsoft.com/office/drawing/2014/main" id="{8C8BC1F3-809A-A7CA-2718-631A925BF843}"/>
              </a:ext>
            </a:extLst>
          </p:cNvPr>
          <p:cNvSpPr/>
          <p:nvPr/>
        </p:nvSpPr>
        <p:spPr>
          <a:xfrm>
            <a:off x="914400" y="7772400"/>
            <a:ext cx="105283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GIVEN</a:t>
            </a:r>
          </a:p>
        </p:txBody>
      </p:sp>
      <p:sp>
        <p:nvSpPr>
          <p:cNvPr id="66" name="given">
            <a:extLst>
              <a:ext uri="{FF2B5EF4-FFF2-40B4-BE49-F238E27FC236}">
                <a16:creationId xmlns:a16="http://schemas.microsoft.com/office/drawing/2014/main" id="{AEA8C0C8-105D-92F2-7195-620C9ACE0CF1}"/>
              </a:ext>
            </a:extLst>
          </p:cNvPr>
          <p:cNvSpPr/>
          <p:nvPr/>
        </p:nvSpPr>
        <p:spPr>
          <a:xfrm>
            <a:off x="914400" y="8355965"/>
            <a:ext cx="118745" cy="118745"/>
          </a:xfrm>
          <a:prstGeom prst="rect">
            <a:avLst/>
          </a:prstGeom>
          <a:solidFill>
            <a:srgbClr val="1F6F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given">
            <a:extLst>
              <a:ext uri="{FF2B5EF4-FFF2-40B4-BE49-F238E27FC236}">
                <a16:creationId xmlns:a16="http://schemas.microsoft.com/office/drawing/2014/main" id="{4E114B2B-31D5-DDE1-1F3F-8565071C70A2}"/>
              </a:ext>
            </a:extLst>
          </p:cNvPr>
          <p:cNvSpPr txBox="1"/>
          <p:nvPr/>
        </p:nvSpPr>
        <p:spPr>
          <a:xfrm>
            <a:off x="1130300" y="8280400"/>
            <a:ext cx="7658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1F6FA8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1F6FA8"/>
                </a:solidFill>
                <a:latin typeface="DM Sans" pitchFamily="2" charset="0"/>
              </a:rPr>
              <a:t>DD</a:t>
            </a:r>
            <a:r>
              <a:rPr lang="en-US" sz="1700" b="1">
                <a:solidFill>
                  <a:srgbClr val="1F6FA8"/>
                </a:solidFill>
                <a:latin typeface="DM Sans" pitchFamily="2" charset="0"/>
              </a:rPr>
              <a:t> = 15 V</a:t>
            </a:r>
          </a:p>
        </p:txBody>
      </p:sp>
      <p:sp>
        <p:nvSpPr>
          <p:cNvPr id="68" name="given">
            <a:extLst>
              <a:ext uri="{FF2B5EF4-FFF2-40B4-BE49-F238E27FC236}">
                <a16:creationId xmlns:a16="http://schemas.microsoft.com/office/drawing/2014/main" id="{0099AF4C-61E3-DBB7-8038-4AE6C842F472}"/>
              </a:ext>
            </a:extLst>
          </p:cNvPr>
          <p:cNvSpPr/>
          <p:nvPr/>
        </p:nvSpPr>
        <p:spPr>
          <a:xfrm>
            <a:off x="914400" y="8642975"/>
            <a:ext cx="118745" cy="118744"/>
          </a:xfrm>
          <a:prstGeom prst="rect">
            <a:avLst/>
          </a:prstGeom>
          <a:solidFill>
            <a:srgbClr val="7A3E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given">
            <a:extLst>
              <a:ext uri="{FF2B5EF4-FFF2-40B4-BE49-F238E27FC236}">
                <a16:creationId xmlns:a16="http://schemas.microsoft.com/office/drawing/2014/main" id="{9A1B9359-F971-C7CA-ADF2-B670E6A0F4E3}"/>
              </a:ext>
            </a:extLst>
          </p:cNvPr>
          <p:cNvSpPr txBox="1"/>
          <p:nvPr/>
        </p:nvSpPr>
        <p:spPr>
          <a:xfrm>
            <a:off x="1130300" y="8567410"/>
            <a:ext cx="7658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7A3E9D"/>
                </a:solidFill>
                <a:latin typeface="DM Sans" pitchFamily="2" charset="0"/>
              </a:rPr>
              <a:t>G</a:t>
            </a:r>
            <a:r>
              <a:rPr lang="en-US" sz="1700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sz="1700" b="1">
                <a:solidFill>
                  <a:srgbClr val="7A3E9D"/>
                </a:solidFill>
              </a:rPr>
              <a:t>Ω</a:t>
            </a:r>
            <a:endParaRPr lang="en-US" sz="1700" b="1">
              <a:solidFill>
                <a:srgbClr val="7A3E9D"/>
              </a:solidFill>
              <a:latin typeface="DM Sans" pitchFamily="2" charset="0"/>
            </a:endParaRPr>
          </a:p>
        </p:txBody>
      </p:sp>
      <p:sp>
        <p:nvSpPr>
          <p:cNvPr id="70" name="given">
            <a:extLst>
              <a:ext uri="{FF2B5EF4-FFF2-40B4-BE49-F238E27FC236}">
                <a16:creationId xmlns:a16="http://schemas.microsoft.com/office/drawing/2014/main" id="{CE5E746D-F58B-A169-1DB7-946BA1023422}"/>
              </a:ext>
            </a:extLst>
          </p:cNvPr>
          <p:cNvSpPr/>
          <p:nvPr/>
        </p:nvSpPr>
        <p:spPr>
          <a:xfrm>
            <a:off x="914400" y="8929984"/>
            <a:ext cx="118745" cy="118745"/>
          </a:xfrm>
          <a:prstGeom prst="rect">
            <a:avLst/>
          </a:prstGeom>
          <a:solidFill>
            <a:srgbClr val="0E7C7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given">
            <a:extLst>
              <a:ext uri="{FF2B5EF4-FFF2-40B4-BE49-F238E27FC236}">
                <a16:creationId xmlns:a16="http://schemas.microsoft.com/office/drawing/2014/main" id="{0A931ED5-2E86-58B6-CF94-6AA488B08060}"/>
              </a:ext>
            </a:extLst>
          </p:cNvPr>
          <p:cNvSpPr txBox="1"/>
          <p:nvPr/>
        </p:nvSpPr>
        <p:spPr>
          <a:xfrm>
            <a:off x="1130300" y="8854419"/>
            <a:ext cx="7658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D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</a:t>
            </a:r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L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10 k</a:t>
            </a:r>
            <a:r>
              <a:rPr lang="el-GR" sz="1700" b="1">
                <a:solidFill>
                  <a:srgbClr val="0E7C7B"/>
                </a:solidFill>
              </a:rPr>
              <a:t>Ω</a:t>
            </a:r>
            <a:endParaRPr lang="en-US" sz="1700" b="1">
              <a:solidFill>
                <a:srgbClr val="0E7C7B"/>
              </a:solidFill>
              <a:latin typeface="DM Sans" pitchFamily="2" charset="0"/>
            </a:endParaRPr>
          </a:p>
        </p:txBody>
      </p:sp>
      <p:sp>
        <p:nvSpPr>
          <p:cNvPr id="72" name="given">
            <a:extLst>
              <a:ext uri="{FF2B5EF4-FFF2-40B4-BE49-F238E27FC236}">
                <a16:creationId xmlns:a16="http://schemas.microsoft.com/office/drawing/2014/main" id="{C1B8FA41-EC06-3C7E-C720-B673D0A9A228}"/>
              </a:ext>
            </a:extLst>
          </p:cNvPr>
          <p:cNvSpPr/>
          <p:nvPr/>
        </p:nvSpPr>
        <p:spPr>
          <a:xfrm>
            <a:off x="914400" y="9216994"/>
            <a:ext cx="118745" cy="118745"/>
          </a:xfrm>
          <a:prstGeom prst="rect">
            <a:avLst/>
          </a:prstGeom>
          <a:solidFill>
            <a:srgbClr val="B018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given">
            <a:extLst>
              <a:ext uri="{FF2B5EF4-FFF2-40B4-BE49-F238E27FC236}">
                <a16:creationId xmlns:a16="http://schemas.microsoft.com/office/drawing/2014/main" id="{0E0F8052-A274-5A07-BFB1-38BC33496949}"/>
              </a:ext>
            </a:extLst>
          </p:cNvPr>
          <p:cNvSpPr txBox="1"/>
          <p:nvPr/>
        </p:nvSpPr>
        <p:spPr>
          <a:xfrm>
            <a:off x="1130300" y="9141430"/>
            <a:ext cx="7658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B0186B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B0186B"/>
                </a:solidFill>
                <a:latin typeface="DM Sans" pitchFamily="2" charset="0"/>
              </a:rPr>
              <a:t>t</a:t>
            </a:r>
            <a:r>
              <a:rPr lang="en-US" sz="1700" b="1">
                <a:solidFill>
                  <a:srgbClr val="B0186B"/>
                </a:solidFill>
                <a:latin typeface="DM Sans" pitchFamily="2" charset="0"/>
              </a:rPr>
              <a:t> = 1.5 V,  k′</a:t>
            </a:r>
            <a:r>
              <a:rPr lang="en-US" sz="1700" b="1" baseline="-25000">
                <a:solidFill>
                  <a:srgbClr val="B0186B"/>
                </a:solidFill>
                <a:latin typeface="DM Sans" pitchFamily="2" charset="0"/>
              </a:rPr>
              <a:t>n</a:t>
            </a:r>
            <a:r>
              <a:rPr lang="en-US" sz="1700" b="1">
                <a:solidFill>
                  <a:srgbClr val="B0186B"/>
                </a:solidFill>
                <a:latin typeface="DM Sans" pitchFamily="2" charset="0"/>
              </a:rPr>
              <a:t>(W/L) = 0.25 mA/V²,  </a:t>
            </a:r>
            <a:r>
              <a:rPr lang="en-US" sz="1700" b="1" i="1">
                <a:solidFill>
                  <a:srgbClr val="B0186B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B0186B"/>
                </a:solidFill>
                <a:latin typeface="DM Sans" pitchFamily="2" charset="0"/>
              </a:rPr>
              <a:t>A</a:t>
            </a:r>
            <a:r>
              <a:rPr lang="en-US" sz="1700" b="1">
                <a:solidFill>
                  <a:srgbClr val="B0186B"/>
                </a:solidFill>
                <a:latin typeface="DM Sans" pitchFamily="2" charset="0"/>
              </a:rPr>
              <a:t> = 50 V</a:t>
            </a:r>
          </a:p>
        </p:txBody>
      </p:sp>
      <p:sp>
        <p:nvSpPr>
          <p:cNvPr id="74" name="question">
            <a:extLst>
              <a:ext uri="{FF2B5EF4-FFF2-40B4-BE49-F238E27FC236}">
                <a16:creationId xmlns:a16="http://schemas.microsoft.com/office/drawing/2014/main" id="{C46396DB-812C-8D5F-193F-F45ABB908137}"/>
              </a:ext>
            </a:extLst>
          </p:cNvPr>
          <p:cNvSpPr txBox="1"/>
          <p:nvPr/>
        </p:nvSpPr>
        <p:spPr>
          <a:xfrm>
            <a:off x="9169400" y="1904999"/>
            <a:ext cx="82042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 b="1">
                <a:solidFill>
                  <a:srgbClr val="15241D"/>
                </a:solidFill>
                <a:latin typeface="DM Sans" pitchFamily="2" charset="0"/>
              </a:rPr>
              <a:t>Find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the gain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A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=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o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/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and the input resistance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in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. First, the DC bias point.</a:t>
            </a:r>
          </a:p>
        </p:txBody>
      </p:sp>
      <p:sp>
        <p:nvSpPr>
          <p:cNvPr id="75" name="badge @1">
            <a:extLst>
              <a:ext uri="{FF2B5EF4-FFF2-40B4-BE49-F238E27FC236}">
                <a16:creationId xmlns:a16="http://schemas.microsoft.com/office/drawing/2014/main" id="{ED093615-3194-8A1F-397B-3583631BD7DD}"/>
              </a:ext>
            </a:extLst>
          </p:cNvPr>
          <p:cNvSpPr/>
          <p:nvPr/>
        </p:nvSpPr>
        <p:spPr>
          <a:xfrm>
            <a:off x="9169400" y="28702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76" name="step @1">
            <a:extLst>
              <a:ext uri="{FF2B5EF4-FFF2-40B4-BE49-F238E27FC236}">
                <a16:creationId xmlns:a16="http://schemas.microsoft.com/office/drawing/2014/main" id="{E48B04A0-26EC-CF77-AA67-E1E0F1E74478}"/>
              </a:ext>
            </a:extLst>
          </p:cNvPr>
          <p:cNvSpPr txBox="1"/>
          <p:nvPr/>
        </p:nvSpPr>
        <p:spPr>
          <a:xfrm>
            <a:off x="9753600" y="2857500"/>
            <a:ext cx="7620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Keep only the DC circuit</a:t>
            </a:r>
          </a:p>
        </p:txBody>
      </p:sp>
      <p:sp>
        <p:nvSpPr>
          <p:cNvPr id="77" name="note @1">
            <a:extLst>
              <a:ext uri="{FF2B5EF4-FFF2-40B4-BE49-F238E27FC236}">
                <a16:creationId xmlns:a16="http://schemas.microsoft.com/office/drawing/2014/main" id="{CF4E2793-547B-E57A-5623-59A4DDA72453}"/>
              </a:ext>
            </a:extLst>
          </p:cNvPr>
          <p:cNvSpPr txBox="1"/>
          <p:nvPr/>
        </p:nvSpPr>
        <p:spPr>
          <a:xfrm>
            <a:off x="9753600" y="3190677"/>
            <a:ext cx="7620000" cy="5232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Coupling capacitors are open circuits at DC, so 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, R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L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and the output terminal drop out.</a:t>
            </a:r>
          </a:p>
        </p:txBody>
      </p:sp>
      <p:sp>
        <p:nvSpPr>
          <p:cNvPr id="87" name="chrome page">
            <a:extLst>
              <a:ext uri="{FF2B5EF4-FFF2-40B4-BE49-F238E27FC236}">
                <a16:creationId xmlns:a16="http://schemas.microsoft.com/office/drawing/2014/main" id="{E0B3AED3-3520-4CB4-A3B9-B67D6CCBC792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chrome page">
            <a:extLst>
              <a:ext uri="{FF2B5EF4-FFF2-40B4-BE49-F238E27FC236}">
                <a16:creationId xmlns:a16="http://schemas.microsoft.com/office/drawing/2014/main" id="{DBCD133E-8C82-09D2-8866-88731DAABDB2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85876770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 2: bias point (1 of 2) s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E97174-8A2B-D18F-213E-64D7A7E2C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Example 2: bias point (1 of 2)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636BECBC-F05B-6B75-A398-5C613FE4575D}"/>
              </a:ext>
            </a:extLst>
          </p:cNvPr>
          <p:cNvSpPr/>
          <p:nvPr/>
        </p:nvSpPr>
        <p:spPr>
          <a:xfrm>
            <a:off x="914400" y="279400"/>
            <a:ext cx="377698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B857F4A5-442C-30E1-D9C6-5977068804BD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AF534598-6DC5-FD3A-CF73-76D00A45AEB1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circuit card">
            <a:extLst>
              <a:ext uri="{FF2B5EF4-FFF2-40B4-BE49-F238E27FC236}">
                <a16:creationId xmlns:a16="http://schemas.microsoft.com/office/drawing/2014/main" id="{042AE6B6-BDE3-606F-D9BE-4821C6FDE559}"/>
              </a:ext>
            </a:extLst>
          </p:cNvPr>
          <p:cNvSpPr/>
          <p:nvPr/>
        </p:nvSpPr>
        <p:spPr>
          <a:xfrm>
            <a:off x="914400" y="1905000"/>
            <a:ext cx="7874000" cy="5715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3D63AECC-0F78-274E-CC9E-9F04BB4036AA}"/>
              </a:ext>
            </a:extLst>
          </p:cNvPr>
          <p:cNvSpPr/>
          <p:nvPr/>
        </p:nvSpPr>
        <p:spPr>
          <a:xfrm>
            <a:off x="914400" y="1892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kt">
            <a:extLst>
              <a:ext uri="{FF2B5EF4-FFF2-40B4-BE49-F238E27FC236}">
                <a16:creationId xmlns:a16="http://schemas.microsoft.com/office/drawing/2014/main" id="{E68646D8-ED8B-F056-8604-14F900224E9D}"/>
              </a:ext>
            </a:extLst>
          </p:cNvPr>
          <p:cNvCxnSpPr/>
          <p:nvPr/>
        </p:nvCxnSpPr>
        <p:spPr>
          <a:xfrm>
            <a:off x="4724400" y="50769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kt">
            <a:extLst>
              <a:ext uri="{FF2B5EF4-FFF2-40B4-BE49-F238E27FC236}">
                <a16:creationId xmlns:a16="http://schemas.microsoft.com/office/drawing/2014/main" id="{01A77A39-C847-EC4F-E8C5-8FFC1E104247}"/>
              </a:ext>
            </a:extLst>
          </p:cNvPr>
          <p:cNvCxnSpPr/>
          <p:nvPr/>
        </p:nvCxnSpPr>
        <p:spPr>
          <a:xfrm>
            <a:off x="4851400" y="4927600"/>
            <a:ext cx="0" cy="1066800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kt">
            <a:extLst>
              <a:ext uri="{FF2B5EF4-FFF2-40B4-BE49-F238E27FC236}">
                <a16:creationId xmlns:a16="http://schemas.microsoft.com/office/drawing/2014/main" id="{A21D2D91-80A3-4957-14CA-AF97E811F737}"/>
              </a:ext>
            </a:extLst>
          </p:cNvPr>
          <p:cNvCxnSpPr/>
          <p:nvPr/>
        </p:nvCxnSpPr>
        <p:spPr>
          <a:xfrm>
            <a:off x="4851400" y="50292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kt">
            <a:extLst>
              <a:ext uri="{FF2B5EF4-FFF2-40B4-BE49-F238E27FC236}">
                <a16:creationId xmlns:a16="http://schemas.microsoft.com/office/drawing/2014/main" id="{03A1B569-9742-BB2E-FF0A-3000C393105E}"/>
              </a:ext>
            </a:extLst>
          </p:cNvPr>
          <p:cNvCxnSpPr/>
          <p:nvPr/>
        </p:nvCxnSpPr>
        <p:spPr>
          <a:xfrm>
            <a:off x="4851400" y="58928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kt">
            <a:extLst>
              <a:ext uri="{FF2B5EF4-FFF2-40B4-BE49-F238E27FC236}">
                <a16:creationId xmlns:a16="http://schemas.microsoft.com/office/drawing/2014/main" id="{A8A1285F-B0A7-FCF0-5B67-F71DFFF965A0}"/>
              </a:ext>
            </a:extLst>
          </p:cNvPr>
          <p:cNvCxnSpPr/>
          <p:nvPr/>
        </p:nvCxnSpPr>
        <p:spPr>
          <a:xfrm>
            <a:off x="5153660" y="5892800"/>
            <a:ext cx="12954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kt">
            <a:extLst>
              <a:ext uri="{FF2B5EF4-FFF2-40B4-BE49-F238E27FC236}">
                <a16:creationId xmlns:a16="http://schemas.microsoft.com/office/drawing/2014/main" id="{B6B5B1BD-DF7A-D245-D21D-1691DB137D70}"/>
              </a:ext>
            </a:extLst>
          </p:cNvPr>
          <p:cNvSpPr/>
          <p:nvPr/>
        </p:nvSpPr>
        <p:spPr>
          <a:xfrm>
            <a:off x="5213350" y="2343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 label">
            <a:extLst>
              <a:ext uri="{FF2B5EF4-FFF2-40B4-BE49-F238E27FC236}">
                <a16:creationId xmlns:a16="http://schemas.microsoft.com/office/drawing/2014/main" id="{EBFCFD1D-FD64-5F1A-A36B-586D389505B3}"/>
              </a:ext>
            </a:extLst>
          </p:cNvPr>
          <p:cNvSpPr txBox="1"/>
          <p:nvPr/>
        </p:nvSpPr>
        <p:spPr>
          <a:xfrm>
            <a:off x="5461000" y="2251074"/>
            <a:ext cx="2794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b="1">
                <a:solidFill>
                  <a:srgbClr val="1F6FA8"/>
                </a:solidFill>
                <a:latin typeface="DM Sans" pitchFamily="2" charset="0"/>
              </a:rPr>
              <a:t>+</a:t>
            </a:r>
            <a:r>
              <a:rPr lang="en-US" sz="1700" b="1" i="1">
                <a:solidFill>
                  <a:srgbClr val="1F6FA8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1F6FA8"/>
                </a:solidFill>
                <a:latin typeface="DM Sans" pitchFamily="2" charset="0"/>
              </a:rPr>
              <a:t>DD</a:t>
            </a:r>
            <a:r>
              <a:rPr lang="en-US" sz="1700" b="1">
                <a:solidFill>
                  <a:srgbClr val="1F6FA8"/>
                </a:solidFill>
                <a:latin typeface="DM Sans" pitchFamily="2" charset="0"/>
              </a:rPr>
              <a:t> = 15 V</a:t>
            </a:r>
          </a:p>
        </p:txBody>
      </p:sp>
      <p:sp>
        <p:nvSpPr>
          <p:cNvPr id="15" name="ckt">
            <a:extLst>
              <a:ext uri="{FF2B5EF4-FFF2-40B4-BE49-F238E27FC236}">
                <a16:creationId xmlns:a16="http://schemas.microsoft.com/office/drawing/2014/main" id="{37210CF4-427F-0878-CDF1-6DF63BED0B81}"/>
              </a:ext>
            </a:extLst>
          </p:cNvPr>
          <p:cNvSpPr/>
          <p:nvPr/>
        </p:nvSpPr>
        <p:spPr>
          <a:xfrm>
            <a:off x="5156200" y="2482850"/>
            <a:ext cx="254001" cy="1581151"/>
          </a:xfrm>
          <a:custGeom>
            <a:avLst/>
            <a:gdLst/>
            <a:ahLst/>
            <a:cxnLst/>
            <a:rect l="0" t="0" r="0" b="0"/>
            <a:pathLst>
              <a:path w="254001" h="1581151">
                <a:moveTo>
                  <a:pt x="127000" y="0"/>
                </a:moveTo>
                <a:lnTo>
                  <a:pt x="127000" y="422275"/>
                </a:lnTo>
                <a:lnTo>
                  <a:pt x="0" y="483658"/>
                </a:lnTo>
                <a:lnTo>
                  <a:pt x="254000" y="606425"/>
                </a:lnTo>
                <a:lnTo>
                  <a:pt x="0" y="729192"/>
                </a:lnTo>
                <a:lnTo>
                  <a:pt x="254000" y="851958"/>
                </a:lnTo>
                <a:lnTo>
                  <a:pt x="0" y="974725"/>
                </a:lnTo>
                <a:lnTo>
                  <a:pt x="254000" y="1097492"/>
                </a:lnTo>
                <a:lnTo>
                  <a:pt x="127000" y="1158875"/>
                </a:lnTo>
                <a:lnTo>
                  <a:pt x="127000" y="158115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kt">
            <a:extLst>
              <a:ext uri="{FF2B5EF4-FFF2-40B4-BE49-F238E27FC236}">
                <a16:creationId xmlns:a16="http://schemas.microsoft.com/office/drawing/2014/main" id="{33B104A8-3EE4-B8B2-B084-79853E647CB5}"/>
              </a:ext>
            </a:extLst>
          </p:cNvPr>
          <p:cNvSpPr/>
          <p:nvPr/>
        </p:nvSpPr>
        <p:spPr>
          <a:xfrm>
            <a:off x="5226050" y="4006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kt label">
            <a:extLst>
              <a:ext uri="{FF2B5EF4-FFF2-40B4-BE49-F238E27FC236}">
                <a16:creationId xmlns:a16="http://schemas.microsoft.com/office/drawing/2014/main" id="{A911B766-A597-CFA6-B75C-11FD728652BF}"/>
              </a:ext>
            </a:extLst>
          </p:cNvPr>
          <p:cNvSpPr txBox="1"/>
          <p:nvPr/>
        </p:nvSpPr>
        <p:spPr>
          <a:xfrm>
            <a:off x="5486400" y="3127374"/>
            <a:ext cx="2794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D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10 k</a:t>
            </a:r>
            <a:r>
              <a:rPr lang="el-GR" sz="1700" b="1">
                <a:solidFill>
                  <a:srgbClr val="0E7C7B"/>
                </a:solidFill>
              </a:rPr>
              <a:t>Ω</a:t>
            </a:r>
            <a:endParaRPr lang="en-US" sz="1700" b="1">
              <a:solidFill>
                <a:srgbClr val="0E7C7B"/>
              </a:solidFill>
              <a:latin typeface="DM Sans" pitchFamily="2" charset="0"/>
            </a:endParaRPr>
          </a:p>
        </p:txBody>
      </p:sp>
      <p:cxnSp>
        <p:nvCxnSpPr>
          <p:cNvPr id="18" name="ckt">
            <a:extLst>
              <a:ext uri="{FF2B5EF4-FFF2-40B4-BE49-F238E27FC236}">
                <a16:creationId xmlns:a16="http://schemas.microsoft.com/office/drawing/2014/main" id="{854C04BA-B66F-879D-C2FA-8251015A26A7}"/>
              </a:ext>
            </a:extLst>
          </p:cNvPr>
          <p:cNvCxnSpPr/>
          <p:nvPr/>
        </p:nvCxnSpPr>
        <p:spPr>
          <a:xfrm>
            <a:off x="5283200" y="4064000"/>
            <a:ext cx="0" cy="9652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kt">
            <a:extLst>
              <a:ext uri="{FF2B5EF4-FFF2-40B4-BE49-F238E27FC236}">
                <a16:creationId xmlns:a16="http://schemas.microsoft.com/office/drawing/2014/main" id="{2345217D-D4A8-68E1-A556-70BC323B3FC8}"/>
              </a:ext>
            </a:extLst>
          </p:cNvPr>
          <p:cNvCxnSpPr/>
          <p:nvPr/>
        </p:nvCxnSpPr>
        <p:spPr>
          <a:xfrm>
            <a:off x="5283200" y="5892800"/>
            <a:ext cx="0" cy="14732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kt">
            <a:extLst>
              <a:ext uri="{FF2B5EF4-FFF2-40B4-BE49-F238E27FC236}">
                <a16:creationId xmlns:a16="http://schemas.microsoft.com/office/drawing/2014/main" id="{E7B64B46-AE12-F774-D498-E11B1AFD86F6}"/>
              </a:ext>
            </a:extLst>
          </p:cNvPr>
          <p:cNvCxnSpPr/>
          <p:nvPr/>
        </p:nvCxnSpPr>
        <p:spPr>
          <a:xfrm>
            <a:off x="5283200" y="73660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kt">
            <a:extLst>
              <a:ext uri="{FF2B5EF4-FFF2-40B4-BE49-F238E27FC236}">
                <a16:creationId xmlns:a16="http://schemas.microsoft.com/office/drawing/2014/main" id="{E46EA6FD-ADB5-13B6-0775-E022953812A0}"/>
              </a:ext>
            </a:extLst>
          </p:cNvPr>
          <p:cNvCxnSpPr/>
          <p:nvPr/>
        </p:nvCxnSpPr>
        <p:spPr>
          <a:xfrm>
            <a:off x="5092700" y="75184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kt">
            <a:extLst>
              <a:ext uri="{FF2B5EF4-FFF2-40B4-BE49-F238E27FC236}">
                <a16:creationId xmlns:a16="http://schemas.microsoft.com/office/drawing/2014/main" id="{45965C96-0CFB-113C-DC08-28F32FD097E8}"/>
              </a:ext>
            </a:extLst>
          </p:cNvPr>
          <p:cNvCxnSpPr/>
          <p:nvPr/>
        </p:nvCxnSpPr>
        <p:spPr>
          <a:xfrm>
            <a:off x="5162550" y="75882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kt">
            <a:extLst>
              <a:ext uri="{FF2B5EF4-FFF2-40B4-BE49-F238E27FC236}">
                <a16:creationId xmlns:a16="http://schemas.microsoft.com/office/drawing/2014/main" id="{F7F7E7BC-D5B9-4B82-3785-E85BFC28F3FA}"/>
              </a:ext>
            </a:extLst>
          </p:cNvPr>
          <p:cNvCxnSpPr/>
          <p:nvPr/>
        </p:nvCxnSpPr>
        <p:spPr>
          <a:xfrm>
            <a:off x="5232400" y="76581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kt">
            <a:extLst>
              <a:ext uri="{FF2B5EF4-FFF2-40B4-BE49-F238E27FC236}">
                <a16:creationId xmlns:a16="http://schemas.microsoft.com/office/drawing/2014/main" id="{703ED40B-F2B5-7F86-2989-6EB2A86326BB}"/>
              </a:ext>
            </a:extLst>
          </p:cNvPr>
          <p:cNvCxnSpPr/>
          <p:nvPr/>
        </p:nvCxnSpPr>
        <p:spPr>
          <a:xfrm flipH="1">
            <a:off x="3835400" y="4064000"/>
            <a:ext cx="1447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kt">
            <a:extLst>
              <a:ext uri="{FF2B5EF4-FFF2-40B4-BE49-F238E27FC236}">
                <a16:creationId xmlns:a16="http://schemas.microsoft.com/office/drawing/2014/main" id="{708778CA-78FF-3A8F-57E3-E8B460E4DF87}"/>
              </a:ext>
            </a:extLst>
          </p:cNvPr>
          <p:cNvSpPr/>
          <p:nvPr/>
        </p:nvSpPr>
        <p:spPr>
          <a:xfrm>
            <a:off x="3708400" y="4064000"/>
            <a:ext cx="254001" cy="1397001"/>
          </a:xfrm>
          <a:custGeom>
            <a:avLst/>
            <a:gdLst/>
            <a:ahLst/>
            <a:cxnLst/>
            <a:rect l="0" t="0" r="0" b="0"/>
            <a:pathLst>
              <a:path w="254001" h="1397001">
                <a:moveTo>
                  <a:pt x="127000" y="0"/>
                </a:moveTo>
                <a:lnTo>
                  <a:pt x="127000" y="330200"/>
                </a:lnTo>
                <a:lnTo>
                  <a:pt x="0" y="391583"/>
                </a:lnTo>
                <a:lnTo>
                  <a:pt x="254000" y="514350"/>
                </a:lnTo>
                <a:lnTo>
                  <a:pt x="0" y="637117"/>
                </a:lnTo>
                <a:lnTo>
                  <a:pt x="254000" y="759883"/>
                </a:lnTo>
                <a:lnTo>
                  <a:pt x="0" y="882650"/>
                </a:lnTo>
                <a:lnTo>
                  <a:pt x="254000" y="1005417"/>
                </a:lnTo>
                <a:lnTo>
                  <a:pt x="127000" y="1066800"/>
                </a:lnTo>
                <a:lnTo>
                  <a:pt x="127000" y="13970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kt">
            <a:extLst>
              <a:ext uri="{FF2B5EF4-FFF2-40B4-BE49-F238E27FC236}">
                <a16:creationId xmlns:a16="http://schemas.microsoft.com/office/drawing/2014/main" id="{C2277E41-B212-6F1E-6F59-94A029477AA2}"/>
              </a:ext>
            </a:extLst>
          </p:cNvPr>
          <p:cNvSpPr/>
          <p:nvPr/>
        </p:nvSpPr>
        <p:spPr>
          <a:xfrm>
            <a:off x="3778250" y="5403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ckt label">
            <a:extLst>
              <a:ext uri="{FF2B5EF4-FFF2-40B4-BE49-F238E27FC236}">
                <a16:creationId xmlns:a16="http://schemas.microsoft.com/office/drawing/2014/main" id="{E35C7F65-4E6E-780A-A9E1-298A3C4A9D80}"/>
              </a:ext>
            </a:extLst>
          </p:cNvPr>
          <p:cNvSpPr txBox="1"/>
          <p:nvPr/>
        </p:nvSpPr>
        <p:spPr>
          <a:xfrm>
            <a:off x="838200" y="4600574"/>
            <a:ext cx="2794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700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7A3E9D"/>
                </a:solidFill>
                <a:latin typeface="DM Sans" pitchFamily="2" charset="0"/>
              </a:rPr>
              <a:t>G</a:t>
            </a:r>
            <a:r>
              <a:rPr lang="en-US" sz="1700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sz="1700" b="1">
                <a:solidFill>
                  <a:srgbClr val="7A3E9D"/>
                </a:solidFill>
              </a:rPr>
              <a:t>Ω</a:t>
            </a:r>
            <a:endParaRPr lang="en-US" sz="1700" b="1">
              <a:solidFill>
                <a:srgbClr val="7A3E9D"/>
              </a:solidFill>
              <a:latin typeface="DM Sans" pitchFamily="2" charset="0"/>
            </a:endParaRPr>
          </a:p>
        </p:txBody>
      </p:sp>
      <p:cxnSp>
        <p:nvCxnSpPr>
          <p:cNvPr id="28" name="ckt">
            <a:extLst>
              <a:ext uri="{FF2B5EF4-FFF2-40B4-BE49-F238E27FC236}">
                <a16:creationId xmlns:a16="http://schemas.microsoft.com/office/drawing/2014/main" id="{DFDEB394-FC01-C92B-D413-3B738B6D95BC}"/>
              </a:ext>
            </a:extLst>
          </p:cNvPr>
          <p:cNvCxnSpPr/>
          <p:nvPr/>
        </p:nvCxnSpPr>
        <p:spPr>
          <a:xfrm>
            <a:off x="3835400" y="5461000"/>
            <a:ext cx="889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kt">
            <a:extLst>
              <a:ext uri="{FF2B5EF4-FFF2-40B4-BE49-F238E27FC236}">
                <a16:creationId xmlns:a16="http://schemas.microsoft.com/office/drawing/2014/main" id="{8A340A3C-79F4-D6C7-190E-FF1C487DCEE8}"/>
              </a:ext>
            </a:extLst>
          </p:cNvPr>
          <p:cNvCxnSpPr/>
          <p:nvPr/>
        </p:nvCxnSpPr>
        <p:spPr>
          <a:xfrm>
            <a:off x="2565400" y="5461000"/>
            <a:ext cx="5715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kt">
            <a:extLst>
              <a:ext uri="{FF2B5EF4-FFF2-40B4-BE49-F238E27FC236}">
                <a16:creationId xmlns:a16="http://schemas.microsoft.com/office/drawing/2014/main" id="{53477620-59DD-FCEE-45EA-9CC037672529}"/>
              </a:ext>
            </a:extLst>
          </p:cNvPr>
          <p:cNvCxnSpPr/>
          <p:nvPr/>
        </p:nvCxnSpPr>
        <p:spPr>
          <a:xfrm>
            <a:off x="3263900" y="5461000"/>
            <a:ext cx="5715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kt">
            <a:extLst>
              <a:ext uri="{FF2B5EF4-FFF2-40B4-BE49-F238E27FC236}">
                <a16:creationId xmlns:a16="http://schemas.microsoft.com/office/drawing/2014/main" id="{A6E819E9-0EF5-EF1F-7207-E891E78743C2}"/>
              </a:ext>
            </a:extLst>
          </p:cNvPr>
          <p:cNvCxnSpPr/>
          <p:nvPr/>
        </p:nvCxnSpPr>
        <p:spPr>
          <a:xfrm flipV="1">
            <a:off x="3136900" y="5270500"/>
            <a:ext cx="0" cy="381000"/>
          </a:xfrm>
          <a:prstGeom prst="line">
            <a:avLst/>
          </a:prstGeom>
          <a:ln w="381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kt">
            <a:extLst>
              <a:ext uri="{FF2B5EF4-FFF2-40B4-BE49-F238E27FC236}">
                <a16:creationId xmlns:a16="http://schemas.microsoft.com/office/drawing/2014/main" id="{6274AF1A-B0B2-E26B-6C55-6596372B439E}"/>
              </a:ext>
            </a:extLst>
          </p:cNvPr>
          <p:cNvCxnSpPr/>
          <p:nvPr/>
        </p:nvCxnSpPr>
        <p:spPr>
          <a:xfrm flipV="1">
            <a:off x="3263900" y="5270500"/>
            <a:ext cx="0" cy="381000"/>
          </a:xfrm>
          <a:prstGeom prst="line">
            <a:avLst/>
          </a:prstGeom>
          <a:ln w="381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kt">
            <a:extLst>
              <a:ext uri="{FF2B5EF4-FFF2-40B4-BE49-F238E27FC236}">
                <a16:creationId xmlns:a16="http://schemas.microsoft.com/office/drawing/2014/main" id="{5C6F67FB-DDDE-80F2-5032-6860D2EF51BD}"/>
              </a:ext>
            </a:extLst>
          </p:cNvPr>
          <p:cNvCxnSpPr/>
          <p:nvPr/>
        </p:nvCxnSpPr>
        <p:spPr>
          <a:xfrm>
            <a:off x="1930400" y="5461000"/>
            <a:ext cx="635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kt">
            <a:extLst>
              <a:ext uri="{FF2B5EF4-FFF2-40B4-BE49-F238E27FC236}">
                <a16:creationId xmlns:a16="http://schemas.microsoft.com/office/drawing/2014/main" id="{B1A706C9-65E5-5E97-287C-F6FB601865B2}"/>
              </a:ext>
            </a:extLst>
          </p:cNvPr>
          <p:cNvSpPr/>
          <p:nvPr/>
        </p:nvSpPr>
        <p:spPr>
          <a:xfrm>
            <a:off x="1873250" y="5403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ckt">
            <a:extLst>
              <a:ext uri="{FF2B5EF4-FFF2-40B4-BE49-F238E27FC236}">
                <a16:creationId xmlns:a16="http://schemas.microsoft.com/office/drawing/2014/main" id="{2E2CF8C7-1082-81C8-D90D-77ABB161089F}"/>
              </a:ext>
            </a:extLst>
          </p:cNvPr>
          <p:cNvCxnSpPr/>
          <p:nvPr/>
        </p:nvCxnSpPr>
        <p:spPr>
          <a:xfrm>
            <a:off x="1930400" y="5461000"/>
            <a:ext cx="0" cy="6731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kt">
            <a:extLst>
              <a:ext uri="{FF2B5EF4-FFF2-40B4-BE49-F238E27FC236}">
                <a16:creationId xmlns:a16="http://schemas.microsoft.com/office/drawing/2014/main" id="{A387000E-14B3-5D8C-194B-40C773C38F63}"/>
              </a:ext>
            </a:extLst>
          </p:cNvPr>
          <p:cNvCxnSpPr/>
          <p:nvPr/>
        </p:nvCxnSpPr>
        <p:spPr>
          <a:xfrm>
            <a:off x="1930400" y="6692900"/>
            <a:ext cx="0" cy="6731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kt">
            <a:extLst>
              <a:ext uri="{FF2B5EF4-FFF2-40B4-BE49-F238E27FC236}">
                <a16:creationId xmlns:a16="http://schemas.microsoft.com/office/drawing/2014/main" id="{0A64E3B9-56EC-383E-EA16-2936790A31D8}"/>
              </a:ext>
            </a:extLst>
          </p:cNvPr>
          <p:cNvSpPr/>
          <p:nvPr/>
        </p:nvSpPr>
        <p:spPr>
          <a:xfrm>
            <a:off x="1651000" y="6134100"/>
            <a:ext cx="558800" cy="558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kt">
            <a:extLst>
              <a:ext uri="{FF2B5EF4-FFF2-40B4-BE49-F238E27FC236}">
                <a16:creationId xmlns:a16="http://schemas.microsoft.com/office/drawing/2014/main" id="{7E048E56-48C6-81A2-CF2B-50E00EDB3E53}"/>
              </a:ext>
            </a:extLst>
          </p:cNvPr>
          <p:cNvSpPr/>
          <p:nvPr/>
        </p:nvSpPr>
        <p:spPr>
          <a:xfrm>
            <a:off x="1762760" y="6315710"/>
            <a:ext cx="335281" cy="195581"/>
          </a:xfrm>
          <a:custGeom>
            <a:avLst/>
            <a:gdLst/>
            <a:ahLst/>
            <a:cxnLst/>
            <a:rect l="0" t="0" r="0" b="0"/>
            <a:pathLst>
              <a:path w="335281" h="195581">
                <a:moveTo>
                  <a:pt x="0" y="97790"/>
                </a:moveTo>
                <a:lnTo>
                  <a:pt x="20955" y="60367"/>
                </a:lnTo>
                <a:lnTo>
                  <a:pt x="41910" y="28642"/>
                </a:lnTo>
                <a:lnTo>
                  <a:pt x="62865" y="7444"/>
                </a:lnTo>
                <a:lnTo>
                  <a:pt x="83820" y="0"/>
                </a:lnTo>
                <a:lnTo>
                  <a:pt x="104775" y="7444"/>
                </a:lnTo>
                <a:lnTo>
                  <a:pt x="125730" y="28642"/>
                </a:lnTo>
                <a:lnTo>
                  <a:pt x="146685" y="60367"/>
                </a:lnTo>
                <a:lnTo>
                  <a:pt x="167640" y="97790"/>
                </a:lnTo>
                <a:lnTo>
                  <a:pt x="188595" y="135213"/>
                </a:lnTo>
                <a:lnTo>
                  <a:pt x="209550" y="166938"/>
                </a:lnTo>
                <a:lnTo>
                  <a:pt x="230505" y="188136"/>
                </a:lnTo>
                <a:lnTo>
                  <a:pt x="251460" y="195580"/>
                </a:lnTo>
                <a:lnTo>
                  <a:pt x="272415" y="188136"/>
                </a:lnTo>
                <a:lnTo>
                  <a:pt x="293370" y="166938"/>
                </a:lnTo>
                <a:lnTo>
                  <a:pt x="314325" y="135213"/>
                </a:lnTo>
                <a:lnTo>
                  <a:pt x="335280" y="97790"/>
                </a:lnTo>
              </a:path>
            </a:pathLst>
          </a:custGeom>
          <a:ln w="222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ckt">
            <a:extLst>
              <a:ext uri="{FF2B5EF4-FFF2-40B4-BE49-F238E27FC236}">
                <a16:creationId xmlns:a16="http://schemas.microsoft.com/office/drawing/2014/main" id="{717D1C20-F659-F79D-2A14-B76C1D26FE7D}"/>
              </a:ext>
            </a:extLst>
          </p:cNvPr>
          <p:cNvSpPr txBox="1"/>
          <p:nvPr/>
        </p:nvSpPr>
        <p:spPr>
          <a:xfrm>
            <a:off x="1981200" y="5854699"/>
            <a:ext cx="25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15241D"/>
                </a:solidFill>
                <a:latin typeface="DM Sans" pitchFamily="2" charset="0"/>
              </a:rPr>
              <a:t>+</a:t>
            </a:r>
          </a:p>
        </p:txBody>
      </p:sp>
      <p:cxnSp>
        <p:nvCxnSpPr>
          <p:cNvPr id="40" name="ckt">
            <a:extLst>
              <a:ext uri="{FF2B5EF4-FFF2-40B4-BE49-F238E27FC236}">
                <a16:creationId xmlns:a16="http://schemas.microsoft.com/office/drawing/2014/main" id="{9E1EB727-1CE1-D527-D92F-F20296EE883C}"/>
              </a:ext>
            </a:extLst>
          </p:cNvPr>
          <p:cNvCxnSpPr/>
          <p:nvPr/>
        </p:nvCxnSpPr>
        <p:spPr>
          <a:xfrm>
            <a:off x="1930400" y="73660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kt">
            <a:extLst>
              <a:ext uri="{FF2B5EF4-FFF2-40B4-BE49-F238E27FC236}">
                <a16:creationId xmlns:a16="http://schemas.microsoft.com/office/drawing/2014/main" id="{ABDDF52F-D7C6-492D-FCEE-48FE160CBD7C}"/>
              </a:ext>
            </a:extLst>
          </p:cNvPr>
          <p:cNvCxnSpPr/>
          <p:nvPr/>
        </p:nvCxnSpPr>
        <p:spPr>
          <a:xfrm>
            <a:off x="1739900" y="75184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kt">
            <a:extLst>
              <a:ext uri="{FF2B5EF4-FFF2-40B4-BE49-F238E27FC236}">
                <a16:creationId xmlns:a16="http://schemas.microsoft.com/office/drawing/2014/main" id="{D3650FF2-286C-F847-5D96-DE6FF287C761}"/>
              </a:ext>
            </a:extLst>
          </p:cNvPr>
          <p:cNvCxnSpPr/>
          <p:nvPr/>
        </p:nvCxnSpPr>
        <p:spPr>
          <a:xfrm>
            <a:off x="1809750" y="75882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kt">
            <a:extLst>
              <a:ext uri="{FF2B5EF4-FFF2-40B4-BE49-F238E27FC236}">
                <a16:creationId xmlns:a16="http://schemas.microsoft.com/office/drawing/2014/main" id="{604A87BD-534F-2E8F-B0BA-2D53701F16F7}"/>
              </a:ext>
            </a:extLst>
          </p:cNvPr>
          <p:cNvCxnSpPr/>
          <p:nvPr/>
        </p:nvCxnSpPr>
        <p:spPr>
          <a:xfrm>
            <a:off x="1879600" y="76581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kt label">
            <a:extLst>
              <a:ext uri="{FF2B5EF4-FFF2-40B4-BE49-F238E27FC236}">
                <a16:creationId xmlns:a16="http://schemas.microsoft.com/office/drawing/2014/main" id="{45B3A018-9034-8B0C-A4A5-7EA5256B2EAE}"/>
              </a:ext>
            </a:extLst>
          </p:cNvPr>
          <p:cNvSpPr txBox="1"/>
          <p:nvPr/>
        </p:nvSpPr>
        <p:spPr>
          <a:xfrm>
            <a:off x="787400" y="6232524"/>
            <a:ext cx="762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i</a:t>
            </a:r>
          </a:p>
        </p:txBody>
      </p:sp>
      <p:cxnSp>
        <p:nvCxnSpPr>
          <p:cNvPr id="45" name="ckt">
            <a:extLst>
              <a:ext uri="{FF2B5EF4-FFF2-40B4-BE49-F238E27FC236}">
                <a16:creationId xmlns:a16="http://schemas.microsoft.com/office/drawing/2014/main" id="{589663C9-43D7-C010-4351-B3AF9930B520}"/>
              </a:ext>
            </a:extLst>
          </p:cNvPr>
          <p:cNvCxnSpPr/>
          <p:nvPr/>
        </p:nvCxnSpPr>
        <p:spPr>
          <a:xfrm>
            <a:off x="2032000" y="6350000"/>
            <a:ext cx="635000" cy="0"/>
          </a:xfrm>
          <a:prstGeom prst="line">
            <a:avLst/>
          </a:prstGeom>
          <a:ln w="22225">
            <a:solidFill>
              <a:srgbClr val="4D5B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kt label">
            <a:extLst>
              <a:ext uri="{FF2B5EF4-FFF2-40B4-BE49-F238E27FC236}">
                <a16:creationId xmlns:a16="http://schemas.microsoft.com/office/drawing/2014/main" id="{6ABE9C73-5B7D-A9FA-30F8-B458577CB8F3}"/>
              </a:ext>
            </a:extLst>
          </p:cNvPr>
          <p:cNvSpPr txBox="1"/>
          <p:nvPr/>
        </p:nvSpPr>
        <p:spPr>
          <a:xfrm>
            <a:off x="2743200" y="6188074"/>
            <a:ext cx="1016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in</a:t>
            </a:r>
          </a:p>
        </p:txBody>
      </p:sp>
      <p:cxnSp>
        <p:nvCxnSpPr>
          <p:cNvPr id="47" name="ckt">
            <a:extLst>
              <a:ext uri="{FF2B5EF4-FFF2-40B4-BE49-F238E27FC236}">
                <a16:creationId xmlns:a16="http://schemas.microsoft.com/office/drawing/2014/main" id="{7219C352-2F47-0101-1EAA-0D3E09674141}"/>
              </a:ext>
            </a:extLst>
          </p:cNvPr>
          <p:cNvCxnSpPr/>
          <p:nvPr/>
        </p:nvCxnSpPr>
        <p:spPr>
          <a:xfrm>
            <a:off x="5283200" y="4064000"/>
            <a:ext cx="508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kt">
            <a:extLst>
              <a:ext uri="{FF2B5EF4-FFF2-40B4-BE49-F238E27FC236}">
                <a16:creationId xmlns:a16="http://schemas.microsoft.com/office/drawing/2014/main" id="{A7FD5BEE-8545-B7DD-E403-B57732CD99C5}"/>
              </a:ext>
            </a:extLst>
          </p:cNvPr>
          <p:cNvCxnSpPr/>
          <p:nvPr/>
        </p:nvCxnSpPr>
        <p:spPr>
          <a:xfrm>
            <a:off x="5791200" y="40640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kt">
            <a:extLst>
              <a:ext uri="{FF2B5EF4-FFF2-40B4-BE49-F238E27FC236}">
                <a16:creationId xmlns:a16="http://schemas.microsoft.com/office/drawing/2014/main" id="{3925007B-2AF0-1632-FFB2-43686063C9C9}"/>
              </a:ext>
            </a:extLst>
          </p:cNvPr>
          <p:cNvCxnSpPr/>
          <p:nvPr/>
        </p:nvCxnSpPr>
        <p:spPr>
          <a:xfrm>
            <a:off x="6299200" y="40640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kt">
            <a:extLst>
              <a:ext uri="{FF2B5EF4-FFF2-40B4-BE49-F238E27FC236}">
                <a16:creationId xmlns:a16="http://schemas.microsoft.com/office/drawing/2014/main" id="{20A233E6-0AF9-C46B-669E-F1B0B2E3FD5A}"/>
              </a:ext>
            </a:extLst>
          </p:cNvPr>
          <p:cNvCxnSpPr/>
          <p:nvPr/>
        </p:nvCxnSpPr>
        <p:spPr>
          <a:xfrm flipV="1">
            <a:off x="6172200" y="3873500"/>
            <a:ext cx="0" cy="381000"/>
          </a:xfrm>
          <a:prstGeom prst="line">
            <a:avLst/>
          </a:prstGeom>
          <a:ln w="381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kt">
            <a:extLst>
              <a:ext uri="{FF2B5EF4-FFF2-40B4-BE49-F238E27FC236}">
                <a16:creationId xmlns:a16="http://schemas.microsoft.com/office/drawing/2014/main" id="{DFDB6DCA-246E-AC64-22BD-CF4344F5774A}"/>
              </a:ext>
            </a:extLst>
          </p:cNvPr>
          <p:cNvCxnSpPr/>
          <p:nvPr/>
        </p:nvCxnSpPr>
        <p:spPr>
          <a:xfrm flipV="1">
            <a:off x="6299200" y="3873500"/>
            <a:ext cx="0" cy="381000"/>
          </a:xfrm>
          <a:prstGeom prst="line">
            <a:avLst/>
          </a:prstGeom>
          <a:ln w="381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kt">
            <a:extLst>
              <a:ext uri="{FF2B5EF4-FFF2-40B4-BE49-F238E27FC236}">
                <a16:creationId xmlns:a16="http://schemas.microsoft.com/office/drawing/2014/main" id="{4768ED7B-E4F6-E927-248F-1314E82BF00C}"/>
              </a:ext>
            </a:extLst>
          </p:cNvPr>
          <p:cNvCxnSpPr/>
          <p:nvPr/>
        </p:nvCxnSpPr>
        <p:spPr>
          <a:xfrm>
            <a:off x="6680200" y="4064000"/>
            <a:ext cx="635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ckt">
            <a:extLst>
              <a:ext uri="{FF2B5EF4-FFF2-40B4-BE49-F238E27FC236}">
                <a16:creationId xmlns:a16="http://schemas.microsoft.com/office/drawing/2014/main" id="{D7265B49-AC3F-81B4-1A2D-A25A634B0AD8}"/>
              </a:ext>
            </a:extLst>
          </p:cNvPr>
          <p:cNvSpPr/>
          <p:nvPr/>
        </p:nvSpPr>
        <p:spPr>
          <a:xfrm>
            <a:off x="7258050" y="4006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kt">
            <a:extLst>
              <a:ext uri="{FF2B5EF4-FFF2-40B4-BE49-F238E27FC236}">
                <a16:creationId xmlns:a16="http://schemas.microsoft.com/office/drawing/2014/main" id="{277C5E1F-733A-D265-C9A6-DFAB26FB91DF}"/>
              </a:ext>
            </a:extLst>
          </p:cNvPr>
          <p:cNvSpPr/>
          <p:nvPr/>
        </p:nvSpPr>
        <p:spPr>
          <a:xfrm>
            <a:off x="7188200" y="4064000"/>
            <a:ext cx="254001" cy="3302001"/>
          </a:xfrm>
          <a:custGeom>
            <a:avLst/>
            <a:gdLst/>
            <a:ahLst/>
            <a:cxnLst/>
            <a:rect l="0" t="0" r="0" b="0"/>
            <a:pathLst>
              <a:path w="254001" h="3302001">
                <a:moveTo>
                  <a:pt x="127000" y="0"/>
                </a:moveTo>
                <a:lnTo>
                  <a:pt x="127000" y="1282700"/>
                </a:lnTo>
                <a:lnTo>
                  <a:pt x="0" y="1344083"/>
                </a:lnTo>
                <a:lnTo>
                  <a:pt x="254000" y="1466850"/>
                </a:lnTo>
                <a:lnTo>
                  <a:pt x="0" y="1589617"/>
                </a:lnTo>
                <a:lnTo>
                  <a:pt x="254000" y="1712383"/>
                </a:lnTo>
                <a:lnTo>
                  <a:pt x="0" y="1835150"/>
                </a:lnTo>
                <a:lnTo>
                  <a:pt x="254000" y="1957917"/>
                </a:lnTo>
                <a:lnTo>
                  <a:pt x="127000" y="2019300"/>
                </a:lnTo>
                <a:lnTo>
                  <a:pt x="127000" y="33020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ckt">
            <a:extLst>
              <a:ext uri="{FF2B5EF4-FFF2-40B4-BE49-F238E27FC236}">
                <a16:creationId xmlns:a16="http://schemas.microsoft.com/office/drawing/2014/main" id="{C30450AA-86DC-6C9D-3784-882781784D2B}"/>
              </a:ext>
            </a:extLst>
          </p:cNvPr>
          <p:cNvCxnSpPr/>
          <p:nvPr/>
        </p:nvCxnSpPr>
        <p:spPr>
          <a:xfrm>
            <a:off x="7315200" y="73660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kt">
            <a:extLst>
              <a:ext uri="{FF2B5EF4-FFF2-40B4-BE49-F238E27FC236}">
                <a16:creationId xmlns:a16="http://schemas.microsoft.com/office/drawing/2014/main" id="{B6AB488D-5FAD-26BD-4AA1-449DA2A42CBD}"/>
              </a:ext>
            </a:extLst>
          </p:cNvPr>
          <p:cNvCxnSpPr/>
          <p:nvPr/>
        </p:nvCxnSpPr>
        <p:spPr>
          <a:xfrm>
            <a:off x="7124700" y="75184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kt">
            <a:extLst>
              <a:ext uri="{FF2B5EF4-FFF2-40B4-BE49-F238E27FC236}">
                <a16:creationId xmlns:a16="http://schemas.microsoft.com/office/drawing/2014/main" id="{B2E789CB-F2E4-6281-2BE8-D4D27109DB8F}"/>
              </a:ext>
            </a:extLst>
          </p:cNvPr>
          <p:cNvCxnSpPr/>
          <p:nvPr/>
        </p:nvCxnSpPr>
        <p:spPr>
          <a:xfrm>
            <a:off x="7194550" y="75882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kt">
            <a:extLst>
              <a:ext uri="{FF2B5EF4-FFF2-40B4-BE49-F238E27FC236}">
                <a16:creationId xmlns:a16="http://schemas.microsoft.com/office/drawing/2014/main" id="{62F755E0-51F1-EE96-ACA2-BC0F8705872D}"/>
              </a:ext>
            </a:extLst>
          </p:cNvPr>
          <p:cNvCxnSpPr/>
          <p:nvPr/>
        </p:nvCxnSpPr>
        <p:spPr>
          <a:xfrm>
            <a:off x="7264400" y="76581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kt label">
            <a:extLst>
              <a:ext uri="{FF2B5EF4-FFF2-40B4-BE49-F238E27FC236}">
                <a16:creationId xmlns:a16="http://schemas.microsoft.com/office/drawing/2014/main" id="{D9CA4248-EE24-0EF2-ED3E-1CE005F61417}"/>
              </a:ext>
            </a:extLst>
          </p:cNvPr>
          <p:cNvSpPr txBox="1"/>
          <p:nvPr/>
        </p:nvSpPr>
        <p:spPr>
          <a:xfrm>
            <a:off x="5461000" y="6061074"/>
            <a:ext cx="1651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L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10 k</a:t>
            </a:r>
            <a:r>
              <a:rPr lang="el-GR" sz="1700" b="1">
                <a:solidFill>
                  <a:srgbClr val="0E7C7B"/>
                </a:solidFill>
              </a:rPr>
              <a:t>Ω</a:t>
            </a:r>
            <a:endParaRPr lang="en-US" sz="1700" b="1">
              <a:solidFill>
                <a:srgbClr val="0E7C7B"/>
              </a:solidFill>
              <a:latin typeface="DM Sans" pitchFamily="2" charset="0"/>
            </a:endParaRPr>
          </a:p>
        </p:txBody>
      </p:sp>
      <p:cxnSp>
        <p:nvCxnSpPr>
          <p:cNvPr id="60" name="ckt">
            <a:extLst>
              <a:ext uri="{FF2B5EF4-FFF2-40B4-BE49-F238E27FC236}">
                <a16:creationId xmlns:a16="http://schemas.microsoft.com/office/drawing/2014/main" id="{232365EB-46CE-5413-0050-E57136C420D5}"/>
              </a:ext>
            </a:extLst>
          </p:cNvPr>
          <p:cNvCxnSpPr/>
          <p:nvPr/>
        </p:nvCxnSpPr>
        <p:spPr>
          <a:xfrm>
            <a:off x="7315200" y="4064000"/>
            <a:ext cx="558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kt">
            <a:extLst>
              <a:ext uri="{FF2B5EF4-FFF2-40B4-BE49-F238E27FC236}">
                <a16:creationId xmlns:a16="http://schemas.microsoft.com/office/drawing/2014/main" id="{A4CE2D8E-D2B1-4F30-F7F0-F5D2DBD59CD4}"/>
              </a:ext>
            </a:extLst>
          </p:cNvPr>
          <p:cNvSpPr/>
          <p:nvPr/>
        </p:nvSpPr>
        <p:spPr>
          <a:xfrm>
            <a:off x="7880350" y="3994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kt label">
            <a:extLst>
              <a:ext uri="{FF2B5EF4-FFF2-40B4-BE49-F238E27FC236}">
                <a16:creationId xmlns:a16="http://schemas.microsoft.com/office/drawing/2014/main" id="{11EE4E54-3608-5219-F74A-C1633C50107C}"/>
              </a:ext>
            </a:extLst>
          </p:cNvPr>
          <p:cNvSpPr txBox="1"/>
          <p:nvPr/>
        </p:nvSpPr>
        <p:spPr>
          <a:xfrm>
            <a:off x="8102600" y="3883024"/>
            <a:ext cx="635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o</a:t>
            </a:r>
          </a:p>
        </p:txBody>
      </p:sp>
      <p:sp>
        <p:nvSpPr>
          <p:cNvPr id="63" name="ckt label">
            <a:extLst>
              <a:ext uri="{FF2B5EF4-FFF2-40B4-BE49-F238E27FC236}">
                <a16:creationId xmlns:a16="http://schemas.microsoft.com/office/drawing/2014/main" id="{8F9171C8-33D8-9F3A-8DF6-D5D897DB4D99}"/>
              </a:ext>
            </a:extLst>
          </p:cNvPr>
          <p:cNvSpPr txBox="1"/>
          <p:nvPr/>
        </p:nvSpPr>
        <p:spPr>
          <a:xfrm>
            <a:off x="5854700" y="3479799"/>
            <a:ext cx="76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 i="1">
                <a:solidFill>
                  <a:srgbClr val="4D5B54"/>
                </a:solidFill>
                <a:latin typeface="DM Sans" pitchFamily="2" charset="0"/>
              </a:rPr>
              <a:t>C</a:t>
            </a:r>
            <a:r>
              <a:rPr lang="en-US" sz="1600" i="1" baseline="-25000">
                <a:solidFill>
                  <a:srgbClr val="4D5B54"/>
                </a:solidFill>
                <a:latin typeface="DM Sans" pitchFamily="2" charset="0"/>
              </a:rPr>
              <a:t>C</a:t>
            </a:r>
          </a:p>
        </p:txBody>
      </p:sp>
      <p:sp>
        <p:nvSpPr>
          <p:cNvPr id="64" name="ckt label">
            <a:extLst>
              <a:ext uri="{FF2B5EF4-FFF2-40B4-BE49-F238E27FC236}">
                <a16:creationId xmlns:a16="http://schemas.microsoft.com/office/drawing/2014/main" id="{9DFF9CE6-E92A-10CA-643A-806E0F22B9F1}"/>
              </a:ext>
            </a:extLst>
          </p:cNvPr>
          <p:cNvSpPr txBox="1"/>
          <p:nvPr/>
        </p:nvSpPr>
        <p:spPr>
          <a:xfrm>
            <a:off x="2819400" y="5740399"/>
            <a:ext cx="76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 i="1">
                <a:solidFill>
                  <a:srgbClr val="4D5B54"/>
                </a:solidFill>
                <a:latin typeface="DM Sans" pitchFamily="2" charset="0"/>
              </a:rPr>
              <a:t>C</a:t>
            </a:r>
            <a:r>
              <a:rPr lang="en-US" sz="1600" i="1" baseline="-25000">
                <a:solidFill>
                  <a:srgbClr val="4D5B54"/>
                </a:solidFill>
                <a:latin typeface="DM Sans" pitchFamily="2" charset="0"/>
              </a:rPr>
              <a:t>C</a:t>
            </a:r>
          </a:p>
        </p:txBody>
      </p:sp>
      <p:sp>
        <p:nvSpPr>
          <p:cNvPr id="65" name="given">
            <a:extLst>
              <a:ext uri="{FF2B5EF4-FFF2-40B4-BE49-F238E27FC236}">
                <a16:creationId xmlns:a16="http://schemas.microsoft.com/office/drawing/2014/main" id="{8C8BC1F3-809A-A7CA-2718-631A925BF843}"/>
              </a:ext>
            </a:extLst>
          </p:cNvPr>
          <p:cNvSpPr/>
          <p:nvPr/>
        </p:nvSpPr>
        <p:spPr>
          <a:xfrm>
            <a:off x="914400" y="7772400"/>
            <a:ext cx="105283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GIVEN</a:t>
            </a:r>
          </a:p>
        </p:txBody>
      </p:sp>
      <p:sp>
        <p:nvSpPr>
          <p:cNvPr id="66" name="given">
            <a:extLst>
              <a:ext uri="{FF2B5EF4-FFF2-40B4-BE49-F238E27FC236}">
                <a16:creationId xmlns:a16="http://schemas.microsoft.com/office/drawing/2014/main" id="{AEA8C0C8-105D-92F2-7195-620C9ACE0CF1}"/>
              </a:ext>
            </a:extLst>
          </p:cNvPr>
          <p:cNvSpPr/>
          <p:nvPr/>
        </p:nvSpPr>
        <p:spPr>
          <a:xfrm>
            <a:off x="914400" y="8355965"/>
            <a:ext cx="118745" cy="118745"/>
          </a:xfrm>
          <a:prstGeom prst="rect">
            <a:avLst/>
          </a:prstGeom>
          <a:solidFill>
            <a:srgbClr val="1F6F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given">
            <a:extLst>
              <a:ext uri="{FF2B5EF4-FFF2-40B4-BE49-F238E27FC236}">
                <a16:creationId xmlns:a16="http://schemas.microsoft.com/office/drawing/2014/main" id="{4E114B2B-31D5-DDE1-1F3F-8565071C70A2}"/>
              </a:ext>
            </a:extLst>
          </p:cNvPr>
          <p:cNvSpPr txBox="1"/>
          <p:nvPr/>
        </p:nvSpPr>
        <p:spPr>
          <a:xfrm>
            <a:off x="1130300" y="8280400"/>
            <a:ext cx="7658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1F6FA8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1F6FA8"/>
                </a:solidFill>
                <a:latin typeface="DM Sans" pitchFamily="2" charset="0"/>
              </a:rPr>
              <a:t>DD</a:t>
            </a:r>
            <a:r>
              <a:rPr lang="en-US" sz="1700" b="1">
                <a:solidFill>
                  <a:srgbClr val="1F6FA8"/>
                </a:solidFill>
                <a:latin typeface="DM Sans" pitchFamily="2" charset="0"/>
              </a:rPr>
              <a:t> = 15 V</a:t>
            </a:r>
          </a:p>
        </p:txBody>
      </p:sp>
      <p:sp>
        <p:nvSpPr>
          <p:cNvPr id="68" name="given">
            <a:extLst>
              <a:ext uri="{FF2B5EF4-FFF2-40B4-BE49-F238E27FC236}">
                <a16:creationId xmlns:a16="http://schemas.microsoft.com/office/drawing/2014/main" id="{0099AF4C-61E3-DBB7-8038-4AE6C842F472}"/>
              </a:ext>
            </a:extLst>
          </p:cNvPr>
          <p:cNvSpPr/>
          <p:nvPr/>
        </p:nvSpPr>
        <p:spPr>
          <a:xfrm>
            <a:off x="914400" y="8642975"/>
            <a:ext cx="118745" cy="118744"/>
          </a:xfrm>
          <a:prstGeom prst="rect">
            <a:avLst/>
          </a:prstGeom>
          <a:solidFill>
            <a:srgbClr val="7A3E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given">
            <a:extLst>
              <a:ext uri="{FF2B5EF4-FFF2-40B4-BE49-F238E27FC236}">
                <a16:creationId xmlns:a16="http://schemas.microsoft.com/office/drawing/2014/main" id="{9A1B9359-F971-C7CA-ADF2-B670E6A0F4E3}"/>
              </a:ext>
            </a:extLst>
          </p:cNvPr>
          <p:cNvSpPr txBox="1"/>
          <p:nvPr/>
        </p:nvSpPr>
        <p:spPr>
          <a:xfrm>
            <a:off x="1130300" y="8567410"/>
            <a:ext cx="7658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7A3E9D"/>
                </a:solidFill>
                <a:latin typeface="DM Sans" pitchFamily="2" charset="0"/>
              </a:rPr>
              <a:t>G</a:t>
            </a:r>
            <a:r>
              <a:rPr lang="en-US" sz="1700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sz="1700" b="1">
                <a:solidFill>
                  <a:srgbClr val="7A3E9D"/>
                </a:solidFill>
              </a:rPr>
              <a:t>Ω</a:t>
            </a:r>
            <a:endParaRPr lang="en-US" sz="1700" b="1">
              <a:solidFill>
                <a:srgbClr val="7A3E9D"/>
              </a:solidFill>
              <a:latin typeface="DM Sans" pitchFamily="2" charset="0"/>
            </a:endParaRPr>
          </a:p>
        </p:txBody>
      </p:sp>
      <p:sp>
        <p:nvSpPr>
          <p:cNvPr id="70" name="given">
            <a:extLst>
              <a:ext uri="{FF2B5EF4-FFF2-40B4-BE49-F238E27FC236}">
                <a16:creationId xmlns:a16="http://schemas.microsoft.com/office/drawing/2014/main" id="{CE5E746D-F58B-A169-1DB7-946BA1023422}"/>
              </a:ext>
            </a:extLst>
          </p:cNvPr>
          <p:cNvSpPr/>
          <p:nvPr/>
        </p:nvSpPr>
        <p:spPr>
          <a:xfrm>
            <a:off x="914400" y="8929984"/>
            <a:ext cx="118745" cy="118745"/>
          </a:xfrm>
          <a:prstGeom prst="rect">
            <a:avLst/>
          </a:prstGeom>
          <a:solidFill>
            <a:srgbClr val="0E7C7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given">
            <a:extLst>
              <a:ext uri="{FF2B5EF4-FFF2-40B4-BE49-F238E27FC236}">
                <a16:creationId xmlns:a16="http://schemas.microsoft.com/office/drawing/2014/main" id="{0A931ED5-2E86-58B6-CF94-6AA488B08060}"/>
              </a:ext>
            </a:extLst>
          </p:cNvPr>
          <p:cNvSpPr txBox="1"/>
          <p:nvPr/>
        </p:nvSpPr>
        <p:spPr>
          <a:xfrm>
            <a:off x="1130300" y="8854419"/>
            <a:ext cx="7658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D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</a:t>
            </a:r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L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10 k</a:t>
            </a:r>
            <a:r>
              <a:rPr lang="el-GR" sz="1700" b="1">
                <a:solidFill>
                  <a:srgbClr val="0E7C7B"/>
                </a:solidFill>
              </a:rPr>
              <a:t>Ω</a:t>
            </a:r>
            <a:endParaRPr lang="en-US" sz="1700" b="1">
              <a:solidFill>
                <a:srgbClr val="0E7C7B"/>
              </a:solidFill>
              <a:latin typeface="DM Sans" pitchFamily="2" charset="0"/>
            </a:endParaRPr>
          </a:p>
        </p:txBody>
      </p:sp>
      <p:sp>
        <p:nvSpPr>
          <p:cNvPr id="72" name="given">
            <a:extLst>
              <a:ext uri="{FF2B5EF4-FFF2-40B4-BE49-F238E27FC236}">
                <a16:creationId xmlns:a16="http://schemas.microsoft.com/office/drawing/2014/main" id="{C1B8FA41-EC06-3C7E-C720-B673D0A9A228}"/>
              </a:ext>
            </a:extLst>
          </p:cNvPr>
          <p:cNvSpPr/>
          <p:nvPr/>
        </p:nvSpPr>
        <p:spPr>
          <a:xfrm>
            <a:off x="914400" y="9216994"/>
            <a:ext cx="118745" cy="118745"/>
          </a:xfrm>
          <a:prstGeom prst="rect">
            <a:avLst/>
          </a:prstGeom>
          <a:solidFill>
            <a:srgbClr val="B018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given">
            <a:extLst>
              <a:ext uri="{FF2B5EF4-FFF2-40B4-BE49-F238E27FC236}">
                <a16:creationId xmlns:a16="http://schemas.microsoft.com/office/drawing/2014/main" id="{0E0F8052-A274-5A07-BFB1-38BC33496949}"/>
              </a:ext>
            </a:extLst>
          </p:cNvPr>
          <p:cNvSpPr txBox="1"/>
          <p:nvPr/>
        </p:nvSpPr>
        <p:spPr>
          <a:xfrm>
            <a:off x="1130300" y="9141430"/>
            <a:ext cx="7658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B0186B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B0186B"/>
                </a:solidFill>
                <a:latin typeface="DM Sans" pitchFamily="2" charset="0"/>
              </a:rPr>
              <a:t>t</a:t>
            </a:r>
            <a:r>
              <a:rPr lang="en-US" sz="1700" b="1">
                <a:solidFill>
                  <a:srgbClr val="B0186B"/>
                </a:solidFill>
                <a:latin typeface="DM Sans" pitchFamily="2" charset="0"/>
              </a:rPr>
              <a:t> = 1.5 V,  k′</a:t>
            </a:r>
            <a:r>
              <a:rPr lang="en-US" sz="1700" b="1" baseline="-25000">
                <a:solidFill>
                  <a:srgbClr val="B0186B"/>
                </a:solidFill>
                <a:latin typeface="DM Sans" pitchFamily="2" charset="0"/>
              </a:rPr>
              <a:t>n</a:t>
            </a:r>
            <a:r>
              <a:rPr lang="en-US" sz="1700" b="1">
                <a:solidFill>
                  <a:srgbClr val="B0186B"/>
                </a:solidFill>
                <a:latin typeface="DM Sans" pitchFamily="2" charset="0"/>
              </a:rPr>
              <a:t>(W/L) = 0.25 mA/V²,  </a:t>
            </a:r>
            <a:r>
              <a:rPr lang="en-US" sz="1700" b="1" i="1">
                <a:solidFill>
                  <a:srgbClr val="B0186B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B0186B"/>
                </a:solidFill>
                <a:latin typeface="DM Sans" pitchFamily="2" charset="0"/>
              </a:rPr>
              <a:t>A</a:t>
            </a:r>
            <a:r>
              <a:rPr lang="en-US" sz="1700" b="1">
                <a:solidFill>
                  <a:srgbClr val="B0186B"/>
                </a:solidFill>
                <a:latin typeface="DM Sans" pitchFamily="2" charset="0"/>
              </a:rPr>
              <a:t> = 50 V</a:t>
            </a:r>
          </a:p>
        </p:txBody>
      </p:sp>
      <p:sp>
        <p:nvSpPr>
          <p:cNvPr id="74" name="question">
            <a:extLst>
              <a:ext uri="{FF2B5EF4-FFF2-40B4-BE49-F238E27FC236}">
                <a16:creationId xmlns:a16="http://schemas.microsoft.com/office/drawing/2014/main" id="{C46396DB-812C-8D5F-193F-F45ABB908137}"/>
              </a:ext>
            </a:extLst>
          </p:cNvPr>
          <p:cNvSpPr txBox="1"/>
          <p:nvPr/>
        </p:nvSpPr>
        <p:spPr>
          <a:xfrm>
            <a:off x="9169400" y="1904999"/>
            <a:ext cx="82042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 b="1">
                <a:solidFill>
                  <a:srgbClr val="15241D"/>
                </a:solidFill>
                <a:latin typeface="DM Sans" pitchFamily="2" charset="0"/>
              </a:rPr>
              <a:t>Find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the gain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A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=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o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/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and the input resistance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in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. First, the DC bias point.</a:t>
            </a:r>
          </a:p>
        </p:txBody>
      </p:sp>
      <p:sp>
        <p:nvSpPr>
          <p:cNvPr id="75" name="badge @1">
            <a:extLst>
              <a:ext uri="{FF2B5EF4-FFF2-40B4-BE49-F238E27FC236}">
                <a16:creationId xmlns:a16="http://schemas.microsoft.com/office/drawing/2014/main" id="{ED093615-3194-8A1F-397B-3583631BD7DD}"/>
              </a:ext>
            </a:extLst>
          </p:cNvPr>
          <p:cNvSpPr/>
          <p:nvPr/>
        </p:nvSpPr>
        <p:spPr>
          <a:xfrm>
            <a:off x="9169400" y="28702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76" name="step @1">
            <a:extLst>
              <a:ext uri="{FF2B5EF4-FFF2-40B4-BE49-F238E27FC236}">
                <a16:creationId xmlns:a16="http://schemas.microsoft.com/office/drawing/2014/main" id="{E48B04A0-26EC-CF77-AA67-E1E0F1E74478}"/>
              </a:ext>
            </a:extLst>
          </p:cNvPr>
          <p:cNvSpPr txBox="1"/>
          <p:nvPr/>
        </p:nvSpPr>
        <p:spPr>
          <a:xfrm>
            <a:off x="9753600" y="2857500"/>
            <a:ext cx="7620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Keep only the DC circuit</a:t>
            </a:r>
          </a:p>
        </p:txBody>
      </p:sp>
      <p:sp>
        <p:nvSpPr>
          <p:cNvPr id="77" name="note @1">
            <a:extLst>
              <a:ext uri="{FF2B5EF4-FFF2-40B4-BE49-F238E27FC236}">
                <a16:creationId xmlns:a16="http://schemas.microsoft.com/office/drawing/2014/main" id="{CF4E2793-547B-E57A-5623-59A4DDA72453}"/>
              </a:ext>
            </a:extLst>
          </p:cNvPr>
          <p:cNvSpPr txBox="1"/>
          <p:nvPr/>
        </p:nvSpPr>
        <p:spPr>
          <a:xfrm>
            <a:off x="9753600" y="3190677"/>
            <a:ext cx="7620000" cy="5232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Coupling capacitors are open circuits at DC, so 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, R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L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and the output terminal drop out.</a:t>
            </a:r>
          </a:p>
        </p:txBody>
      </p:sp>
      <p:sp>
        <p:nvSpPr>
          <p:cNvPr id="78" name="badge @2">
            <a:extLst>
              <a:ext uri="{FF2B5EF4-FFF2-40B4-BE49-F238E27FC236}">
                <a16:creationId xmlns:a16="http://schemas.microsoft.com/office/drawing/2014/main" id="{3A0F0B35-CCD6-191A-62D1-2DC8BEC103DF}"/>
              </a:ext>
            </a:extLst>
          </p:cNvPr>
          <p:cNvSpPr/>
          <p:nvPr/>
        </p:nvSpPr>
        <p:spPr>
          <a:xfrm>
            <a:off x="9169400" y="3904397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2</a:t>
            </a:r>
          </a:p>
        </p:txBody>
      </p:sp>
      <p:sp>
        <p:nvSpPr>
          <p:cNvPr id="79" name="step @2">
            <a:extLst>
              <a:ext uri="{FF2B5EF4-FFF2-40B4-BE49-F238E27FC236}">
                <a16:creationId xmlns:a16="http://schemas.microsoft.com/office/drawing/2014/main" id="{47D5D8F3-DEC8-8E58-84F4-529FB02691B4}"/>
              </a:ext>
            </a:extLst>
          </p:cNvPr>
          <p:cNvSpPr txBox="1"/>
          <p:nvPr/>
        </p:nvSpPr>
        <p:spPr>
          <a:xfrm>
            <a:off x="9753600" y="3891697"/>
            <a:ext cx="7620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Relate </a:t>
            </a:r>
            <a:r>
              <a:rPr lang="en-US" sz="2000" b="1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000" b="1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 to </a:t>
            </a:r>
            <a:r>
              <a:rPr lang="en-US" sz="2000" b="1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000" b="1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</a:p>
        </p:txBody>
      </p:sp>
      <p:sp>
        <p:nvSpPr>
          <p:cNvPr id="80" name="note @2">
            <a:extLst>
              <a:ext uri="{FF2B5EF4-FFF2-40B4-BE49-F238E27FC236}">
                <a16:creationId xmlns:a16="http://schemas.microsoft.com/office/drawing/2014/main" id="{11935E45-1606-9BA3-54E9-9E65B49A5BB5}"/>
              </a:ext>
            </a:extLst>
          </p:cNvPr>
          <p:cNvSpPr txBox="1"/>
          <p:nvPr/>
        </p:nvSpPr>
        <p:spPr>
          <a:xfrm>
            <a:off x="9753600" y="4224874"/>
            <a:ext cx="7620000" cy="5232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No gate current flows, so there is no drop across R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G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: 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G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= 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. With the source grounded, 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= 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DS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≥ 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− 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: saturation is guaranteed.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" name="eq @2">
                <a:extLst>
                  <a:ext uri="{FF2B5EF4-FFF2-40B4-BE49-F238E27FC236}">
                    <a16:creationId xmlns:a16="http://schemas.microsoft.com/office/drawing/2014/main" id="{CD27F956-8CEF-7CBA-B443-284EFED2F73A}"/>
                  </a:ext>
                </a:extLst>
              </p:cNvPr>
              <p:cNvSpPr txBox="1"/>
              <p:nvPr/>
            </p:nvSpPr>
            <p:spPr>
              <a:xfrm>
                <a:off x="9753600" y="4773493"/>
                <a:ext cx="7620000" cy="4191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r>
                        <a:rPr lang="en-US" sz="2200" b="1">
                          <a:solidFill>
                            <a:srgbClr val="1F6FA8"/>
                          </a:solidFill>
                          <a:latin typeface="Cambria Math"/>
                          <a:cs typeface="Cambria Math"/>
                        </a:rPr>
                        <m:t>15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r>
                        <a:rPr lang="en-US" sz="2200" b="1">
                          <a:solidFill>
                            <a:srgbClr val="0E7C7B"/>
                          </a:solidFill>
                          <a:latin typeface="Cambria Math"/>
                          <a:cs typeface="Cambria Math"/>
                        </a:rPr>
                        <m:t>10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1" name="eq @2">
                <a:extLst>
                  <a:ext uri="{FF2B5EF4-FFF2-40B4-BE49-F238E27FC236}">
                    <a16:creationId xmlns:a16="http://schemas.microsoft.com/office/drawing/2014/main" id="{CD27F956-8CEF-7CBA-B443-284EFED2F7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3600" y="4773493"/>
                <a:ext cx="7620000" cy="419100"/>
              </a:xfrm>
              <a:prstGeom prst="rect">
                <a:avLst/>
              </a:prstGeom>
              <a:blipFill>
                <a:blip r:embed="rId2"/>
                <a:stretch>
                  <a:fillRect l="-1280"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chrome page">
            <a:extLst>
              <a:ext uri="{FF2B5EF4-FFF2-40B4-BE49-F238E27FC236}">
                <a16:creationId xmlns:a16="http://schemas.microsoft.com/office/drawing/2014/main" id="{AB9ABBEB-BF3E-7341-D94F-D673A7F825CE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chrome page">
            <a:extLst>
              <a:ext uri="{FF2B5EF4-FFF2-40B4-BE49-F238E27FC236}">
                <a16:creationId xmlns:a16="http://schemas.microsoft.com/office/drawing/2014/main" id="{DCE0285C-A747-1904-1E55-A78C7744E1E3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37150371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 2: bias point (1 of 2) s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E97174-8A2B-D18F-213E-64D7A7E2C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Example 2: bias point (1 of 2)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636BECBC-F05B-6B75-A398-5C613FE4575D}"/>
              </a:ext>
            </a:extLst>
          </p:cNvPr>
          <p:cNvSpPr/>
          <p:nvPr/>
        </p:nvSpPr>
        <p:spPr>
          <a:xfrm>
            <a:off x="914400" y="279400"/>
            <a:ext cx="377698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B857F4A5-442C-30E1-D9C6-5977068804BD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AF534598-6DC5-FD3A-CF73-76D00A45AEB1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circuit card">
            <a:extLst>
              <a:ext uri="{FF2B5EF4-FFF2-40B4-BE49-F238E27FC236}">
                <a16:creationId xmlns:a16="http://schemas.microsoft.com/office/drawing/2014/main" id="{042AE6B6-BDE3-606F-D9BE-4821C6FDE559}"/>
              </a:ext>
            </a:extLst>
          </p:cNvPr>
          <p:cNvSpPr/>
          <p:nvPr/>
        </p:nvSpPr>
        <p:spPr>
          <a:xfrm>
            <a:off x="914400" y="1905000"/>
            <a:ext cx="7874000" cy="5715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3D63AECC-0F78-274E-CC9E-9F04BB4036AA}"/>
              </a:ext>
            </a:extLst>
          </p:cNvPr>
          <p:cNvSpPr/>
          <p:nvPr/>
        </p:nvSpPr>
        <p:spPr>
          <a:xfrm>
            <a:off x="914400" y="1892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kt">
            <a:extLst>
              <a:ext uri="{FF2B5EF4-FFF2-40B4-BE49-F238E27FC236}">
                <a16:creationId xmlns:a16="http://schemas.microsoft.com/office/drawing/2014/main" id="{E68646D8-ED8B-F056-8604-14F900224E9D}"/>
              </a:ext>
            </a:extLst>
          </p:cNvPr>
          <p:cNvCxnSpPr/>
          <p:nvPr/>
        </p:nvCxnSpPr>
        <p:spPr>
          <a:xfrm>
            <a:off x="4724400" y="50769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kt">
            <a:extLst>
              <a:ext uri="{FF2B5EF4-FFF2-40B4-BE49-F238E27FC236}">
                <a16:creationId xmlns:a16="http://schemas.microsoft.com/office/drawing/2014/main" id="{01A77A39-C847-EC4F-E8C5-8FFC1E104247}"/>
              </a:ext>
            </a:extLst>
          </p:cNvPr>
          <p:cNvCxnSpPr/>
          <p:nvPr/>
        </p:nvCxnSpPr>
        <p:spPr>
          <a:xfrm>
            <a:off x="4851400" y="4927600"/>
            <a:ext cx="0" cy="1066800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kt">
            <a:extLst>
              <a:ext uri="{FF2B5EF4-FFF2-40B4-BE49-F238E27FC236}">
                <a16:creationId xmlns:a16="http://schemas.microsoft.com/office/drawing/2014/main" id="{A21D2D91-80A3-4957-14CA-AF97E811F737}"/>
              </a:ext>
            </a:extLst>
          </p:cNvPr>
          <p:cNvCxnSpPr/>
          <p:nvPr/>
        </p:nvCxnSpPr>
        <p:spPr>
          <a:xfrm>
            <a:off x="4851400" y="50292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kt">
            <a:extLst>
              <a:ext uri="{FF2B5EF4-FFF2-40B4-BE49-F238E27FC236}">
                <a16:creationId xmlns:a16="http://schemas.microsoft.com/office/drawing/2014/main" id="{03A1B569-9742-BB2E-FF0A-3000C393105E}"/>
              </a:ext>
            </a:extLst>
          </p:cNvPr>
          <p:cNvCxnSpPr/>
          <p:nvPr/>
        </p:nvCxnSpPr>
        <p:spPr>
          <a:xfrm>
            <a:off x="4851400" y="58928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kt">
            <a:extLst>
              <a:ext uri="{FF2B5EF4-FFF2-40B4-BE49-F238E27FC236}">
                <a16:creationId xmlns:a16="http://schemas.microsoft.com/office/drawing/2014/main" id="{A8A1285F-B0A7-FCF0-5B67-F71DFFF965A0}"/>
              </a:ext>
            </a:extLst>
          </p:cNvPr>
          <p:cNvCxnSpPr/>
          <p:nvPr/>
        </p:nvCxnSpPr>
        <p:spPr>
          <a:xfrm>
            <a:off x="5153660" y="5892800"/>
            <a:ext cx="12954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kt">
            <a:extLst>
              <a:ext uri="{FF2B5EF4-FFF2-40B4-BE49-F238E27FC236}">
                <a16:creationId xmlns:a16="http://schemas.microsoft.com/office/drawing/2014/main" id="{B6B5B1BD-DF7A-D245-D21D-1691DB137D70}"/>
              </a:ext>
            </a:extLst>
          </p:cNvPr>
          <p:cNvSpPr/>
          <p:nvPr/>
        </p:nvSpPr>
        <p:spPr>
          <a:xfrm>
            <a:off x="5213350" y="2343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 label">
            <a:extLst>
              <a:ext uri="{FF2B5EF4-FFF2-40B4-BE49-F238E27FC236}">
                <a16:creationId xmlns:a16="http://schemas.microsoft.com/office/drawing/2014/main" id="{EBFCFD1D-FD64-5F1A-A36B-586D389505B3}"/>
              </a:ext>
            </a:extLst>
          </p:cNvPr>
          <p:cNvSpPr txBox="1"/>
          <p:nvPr/>
        </p:nvSpPr>
        <p:spPr>
          <a:xfrm>
            <a:off x="5461000" y="2251074"/>
            <a:ext cx="2794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b="1">
                <a:solidFill>
                  <a:srgbClr val="1F6FA8"/>
                </a:solidFill>
                <a:latin typeface="DM Sans" pitchFamily="2" charset="0"/>
              </a:rPr>
              <a:t>+</a:t>
            </a:r>
            <a:r>
              <a:rPr lang="en-US" sz="1700" b="1" i="1">
                <a:solidFill>
                  <a:srgbClr val="1F6FA8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1F6FA8"/>
                </a:solidFill>
                <a:latin typeface="DM Sans" pitchFamily="2" charset="0"/>
              </a:rPr>
              <a:t>DD</a:t>
            </a:r>
            <a:r>
              <a:rPr lang="en-US" sz="1700" b="1">
                <a:solidFill>
                  <a:srgbClr val="1F6FA8"/>
                </a:solidFill>
                <a:latin typeface="DM Sans" pitchFamily="2" charset="0"/>
              </a:rPr>
              <a:t> = 15 V</a:t>
            </a:r>
          </a:p>
        </p:txBody>
      </p:sp>
      <p:sp>
        <p:nvSpPr>
          <p:cNvPr id="15" name="ckt">
            <a:extLst>
              <a:ext uri="{FF2B5EF4-FFF2-40B4-BE49-F238E27FC236}">
                <a16:creationId xmlns:a16="http://schemas.microsoft.com/office/drawing/2014/main" id="{37210CF4-427F-0878-CDF1-6DF63BED0B81}"/>
              </a:ext>
            </a:extLst>
          </p:cNvPr>
          <p:cNvSpPr/>
          <p:nvPr/>
        </p:nvSpPr>
        <p:spPr>
          <a:xfrm>
            <a:off x="5156200" y="2482850"/>
            <a:ext cx="254001" cy="1581151"/>
          </a:xfrm>
          <a:custGeom>
            <a:avLst/>
            <a:gdLst/>
            <a:ahLst/>
            <a:cxnLst/>
            <a:rect l="0" t="0" r="0" b="0"/>
            <a:pathLst>
              <a:path w="254001" h="1581151">
                <a:moveTo>
                  <a:pt x="127000" y="0"/>
                </a:moveTo>
                <a:lnTo>
                  <a:pt x="127000" y="422275"/>
                </a:lnTo>
                <a:lnTo>
                  <a:pt x="0" y="483658"/>
                </a:lnTo>
                <a:lnTo>
                  <a:pt x="254000" y="606425"/>
                </a:lnTo>
                <a:lnTo>
                  <a:pt x="0" y="729192"/>
                </a:lnTo>
                <a:lnTo>
                  <a:pt x="254000" y="851958"/>
                </a:lnTo>
                <a:lnTo>
                  <a:pt x="0" y="974725"/>
                </a:lnTo>
                <a:lnTo>
                  <a:pt x="254000" y="1097492"/>
                </a:lnTo>
                <a:lnTo>
                  <a:pt x="127000" y="1158875"/>
                </a:lnTo>
                <a:lnTo>
                  <a:pt x="127000" y="158115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kt">
            <a:extLst>
              <a:ext uri="{FF2B5EF4-FFF2-40B4-BE49-F238E27FC236}">
                <a16:creationId xmlns:a16="http://schemas.microsoft.com/office/drawing/2014/main" id="{33B104A8-3EE4-B8B2-B084-79853E647CB5}"/>
              </a:ext>
            </a:extLst>
          </p:cNvPr>
          <p:cNvSpPr/>
          <p:nvPr/>
        </p:nvSpPr>
        <p:spPr>
          <a:xfrm>
            <a:off x="5226050" y="4006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kt label">
            <a:extLst>
              <a:ext uri="{FF2B5EF4-FFF2-40B4-BE49-F238E27FC236}">
                <a16:creationId xmlns:a16="http://schemas.microsoft.com/office/drawing/2014/main" id="{A911B766-A597-CFA6-B75C-11FD728652BF}"/>
              </a:ext>
            </a:extLst>
          </p:cNvPr>
          <p:cNvSpPr txBox="1"/>
          <p:nvPr/>
        </p:nvSpPr>
        <p:spPr>
          <a:xfrm>
            <a:off x="5486400" y="3127374"/>
            <a:ext cx="2794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D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10 k</a:t>
            </a:r>
            <a:r>
              <a:rPr lang="el-GR" sz="1700" b="1">
                <a:solidFill>
                  <a:srgbClr val="0E7C7B"/>
                </a:solidFill>
              </a:rPr>
              <a:t>Ω</a:t>
            </a:r>
            <a:endParaRPr lang="en-US" sz="1700" b="1">
              <a:solidFill>
                <a:srgbClr val="0E7C7B"/>
              </a:solidFill>
              <a:latin typeface="DM Sans" pitchFamily="2" charset="0"/>
            </a:endParaRPr>
          </a:p>
        </p:txBody>
      </p:sp>
      <p:cxnSp>
        <p:nvCxnSpPr>
          <p:cNvPr id="18" name="ckt">
            <a:extLst>
              <a:ext uri="{FF2B5EF4-FFF2-40B4-BE49-F238E27FC236}">
                <a16:creationId xmlns:a16="http://schemas.microsoft.com/office/drawing/2014/main" id="{854C04BA-B66F-879D-C2FA-8251015A26A7}"/>
              </a:ext>
            </a:extLst>
          </p:cNvPr>
          <p:cNvCxnSpPr/>
          <p:nvPr/>
        </p:nvCxnSpPr>
        <p:spPr>
          <a:xfrm>
            <a:off x="5283200" y="4064000"/>
            <a:ext cx="0" cy="9652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kt">
            <a:extLst>
              <a:ext uri="{FF2B5EF4-FFF2-40B4-BE49-F238E27FC236}">
                <a16:creationId xmlns:a16="http://schemas.microsoft.com/office/drawing/2014/main" id="{2345217D-D4A8-68E1-A556-70BC323B3FC8}"/>
              </a:ext>
            </a:extLst>
          </p:cNvPr>
          <p:cNvCxnSpPr/>
          <p:nvPr/>
        </p:nvCxnSpPr>
        <p:spPr>
          <a:xfrm>
            <a:off x="5283200" y="5892800"/>
            <a:ext cx="0" cy="14732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kt">
            <a:extLst>
              <a:ext uri="{FF2B5EF4-FFF2-40B4-BE49-F238E27FC236}">
                <a16:creationId xmlns:a16="http://schemas.microsoft.com/office/drawing/2014/main" id="{E7B64B46-AE12-F774-D498-E11B1AFD86F6}"/>
              </a:ext>
            </a:extLst>
          </p:cNvPr>
          <p:cNvCxnSpPr/>
          <p:nvPr/>
        </p:nvCxnSpPr>
        <p:spPr>
          <a:xfrm>
            <a:off x="5283200" y="73660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kt">
            <a:extLst>
              <a:ext uri="{FF2B5EF4-FFF2-40B4-BE49-F238E27FC236}">
                <a16:creationId xmlns:a16="http://schemas.microsoft.com/office/drawing/2014/main" id="{E46EA6FD-ADB5-13B6-0775-E022953812A0}"/>
              </a:ext>
            </a:extLst>
          </p:cNvPr>
          <p:cNvCxnSpPr/>
          <p:nvPr/>
        </p:nvCxnSpPr>
        <p:spPr>
          <a:xfrm>
            <a:off x="5092700" y="75184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kt">
            <a:extLst>
              <a:ext uri="{FF2B5EF4-FFF2-40B4-BE49-F238E27FC236}">
                <a16:creationId xmlns:a16="http://schemas.microsoft.com/office/drawing/2014/main" id="{45965C96-0CFB-113C-DC08-28F32FD097E8}"/>
              </a:ext>
            </a:extLst>
          </p:cNvPr>
          <p:cNvCxnSpPr/>
          <p:nvPr/>
        </p:nvCxnSpPr>
        <p:spPr>
          <a:xfrm>
            <a:off x="5162550" y="75882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kt">
            <a:extLst>
              <a:ext uri="{FF2B5EF4-FFF2-40B4-BE49-F238E27FC236}">
                <a16:creationId xmlns:a16="http://schemas.microsoft.com/office/drawing/2014/main" id="{F7F7E7BC-D5B9-4B82-3785-E85BFC28F3FA}"/>
              </a:ext>
            </a:extLst>
          </p:cNvPr>
          <p:cNvCxnSpPr/>
          <p:nvPr/>
        </p:nvCxnSpPr>
        <p:spPr>
          <a:xfrm>
            <a:off x="5232400" y="76581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kt">
            <a:extLst>
              <a:ext uri="{FF2B5EF4-FFF2-40B4-BE49-F238E27FC236}">
                <a16:creationId xmlns:a16="http://schemas.microsoft.com/office/drawing/2014/main" id="{703ED40B-F2B5-7F86-2989-6EB2A86326BB}"/>
              </a:ext>
            </a:extLst>
          </p:cNvPr>
          <p:cNvCxnSpPr/>
          <p:nvPr/>
        </p:nvCxnSpPr>
        <p:spPr>
          <a:xfrm flipH="1">
            <a:off x="3835400" y="4064000"/>
            <a:ext cx="1447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kt">
            <a:extLst>
              <a:ext uri="{FF2B5EF4-FFF2-40B4-BE49-F238E27FC236}">
                <a16:creationId xmlns:a16="http://schemas.microsoft.com/office/drawing/2014/main" id="{708778CA-78FF-3A8F-57E3-E8B460E4DF87}"/>
              </a:ext>
            </a:extLst>
          </p:cNvPr>
          <p:cNvSpPr/>
          <p:nvPr/>
        </p:nvSpPr>
        <p:spPr>
          <a:xfrm>
            <a:off x="3708400" y="4064000"/>
            <a:ext cx="254001" cy="1397001"/>
          </a:xfrm>
          <a:custGeom>
            <a:avLst/>
            <a:gdLst/>
            <a:ahLst/>
            <a:cxnLst/>
            <a:rect l="0" t="0" r="0" b="0"/>
            <a:pathLst>
              <a:path w="254001" h="1397001">
                <a:moveTo>
                  <a:pt x="127000" y="0"/>
                </a:moveTo>
                <a:lnTo>
                  <a:pt x="127000" y="330200"/>
                </a:lnTo>
                <a:lnTo>
                  <a:pt x="0" y="391583"/>
                </a:lnTo>
                <a:lnTo>
                  <a:pt x="254000" y="514350"/>
                </a:lnTo>
                <a:lnTo>
                  <a:pt x="0" y="637117"/>
                </a:lnTo>
                <a:lnTo>
                  <a:pt x="254000" y="759883"/>
                </a:lnTo>
                <a:lnTo>
                  <a:pt x="0" y="882650"/>
                </a:lnTo>
                <a:lnTo>
                  <a:pt x="254000" y="1005417"/>
                </a:lnTo>
                <a:lnTo>
                  <a:pt x="127000" y="1066800"/>
                </a:lnTo>
                <a:lnTo>
                  <a:pt x="127000" y="13970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kt">
            <a:extLst>
              <a:ext uri="{FF2B5EF4-FFF2-40B4-BE49-F238E27FC236}">
                <a16:creationId xmlns:a16="http://schemas.microsoft.com/office/drawing/2014/main" id="{C2277E41-B212-6F1E-6F59-94A029477AA2}"/>
              </a:ext>
            </a:extLst>
          </p:cNvPr>
          <p:cNvSpPr/>
          <p:nvPr/>
        </p:nvSpPr>
        <p:spPr>
          <a:xfrm>
            <a:off x="3778250" y="5403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ckt label">
            <a:extLst>
              <a:ext uri="{FF2B5EF4-FFF2-40B4-BE49-F238E27FC236}">
                <a16:creationId xmlns:a16="http://schemas.microsoft.com/office/drawing/2014/main" id="{E35C7F65-4E6E-780A-A9E1-298A3C4A9D80}"/>
              </a:ext>
            </a:extLst>
          </p:cNvPr>
          <p:cNvSpPr txBox="1"/>
          <p:nvPr/>
        </p:nvSpPr>
        <p:spPr>
          <a:xfrm>
            <a:off x="838200" y="4600574"/>
            <a:ext cx="2794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700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7A3E9D"/>
                </a:solidFill>
                <a:latin typeface="DM Sans" pitchFamily="2" charset="0"/>
              </a:rPr>
              <a:t>G</a:t>
            </a:r>
            <a:r>
              <a:rPr lang="en-US" sz="1700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sz="1700" b="1">
                <a:solidFill>
                  <a:srgbClr val="7A3E9D"/>
                </a:solidFill>
              </a:rPr>
              <a:t>Ω</a:t>
            </a:r>
            <a:endParaRPr lang="en-US" sz="1700" b="1">
              <a:solidFill>
                <a:srgbClr val="7A3E9D"/>
              </a:solidFill>
              <a:latin typeface="DM Sans" pitchFamily="2" charset="0"/>
            </a:endParaRPr>
          </a:p>
        </p:txBody>
      </p:sp>
      <p:cxnSp>
        <p:nvCxnSpPr>
          <p:cNvPr id="28" name="ckt">
            <a:extLst>
              <a:ext uri="{FF2B5EF4-FFF2-40B4-BE49-F238E27FC236}">
                <a16:creationId xmlns:a16="http://schemas.microsoft.com/office/drawing/2014/main" id="{DFDEB394-FC01-C92B-D413-3B738B6D95BC}"/>
              </a:ext>
            </a:extLst>
          </p:cNvPr>
          <p:cNvCxnSpPr/>
          <p:nvPr/>
        </p:nvCxnSpPr>
        <p:spPr>
          <a:xfrm>
            <a:off x="3835400" y="5461000"/>
            <a:ext cx="889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kt">
            <a:extLst>
              <a:ext uri="{FF2B5EF4-FFF2-40B4-BE49-F238E27FC236}">
                <a16:creationId xmlns:a16="http://schemas.microsoft.com/office/drawing/2014/main" id="{8A340A3C-79F4-D6C7-190E-FF1C487DCEE8}"/>
              </a:ext>
            </a:extLst>
          </p:cNvPr>
          <p:cNvCxnSpPr/>
          <p:nvPr/>
        </p:nvCxnSpPr>
        <p:spPr>
          <a:xfrm>
            <a:off x="2565400" y="5461000"/>
            <a:ext cx="5715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kt">
            <a:extLst>
              <a:ext uri="{FF2B5EF4-FFF2-40B4-BE49-F238E27FC236}">
                <a16:creationId xmlns:a16="http://schemas.microsoft.com/office/drawing/2014/main" id="{53477620-59DD-FCEE-45EA-9CC037672529}"/>
              </a:ext>
            </a:extLst>
          </p:cNvPr>
          <p:cNvCxnSpPr/>
          <p:nvPr/>
        </p:nvCxnSpPr>
        <p:spPr>
          <a:xfrm>
            <a:off x="3263900" y="5461000"/>
            <a:ext cx="5715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kt">
            <a:extLst>
              <a:ext uri="{FF2B5EF4-FFF2-40B4-BE49-F238E27FC236}">
                <a16:creationId xmlns:a16="http://schemas.microsoft.com/office/drawing/2014/main" id="{A6E819E9-0EF5-EF1F-7207-E891E78743C2}"/>
              </a:ext>
            </a:extLst>
          </p:cNvPr>
          <p:cNvCxnSpPr/>
          <p:nvPr/>
        </p:nvCxnSpPr>
        <p:spPr>
          <a:xfrm flipV="1">
            <a:off x="3136900" y="5270500"/>
            <a:ext cx="0" cy="381000"/>
          </a:xfrm>
          <a:prstGeom prst="line">
            <a:avLst/>
          </a:prstGeom>
          <a:ln w="381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kt">
            <a:extLst>
              <a:ext uri="{FF2B5EF4-FFF2-40B4-BE49-F238E27FC236}">
                <a16:creationId xmlns:a16="http://schemas.microsoft.com/office/drawing/2014/main" id="{6274AF1A-B0B2-E26B-6C55-6596372B439E}"/>
              </a:ext>
            </a:extLst>
          </p:cNvPr>
          <p:cNvCxnSpPr/>
          <p:nvPr/>
        </p:nvCxnSpPr>
        <p:spPr>
          <a:xfrm flipV="1">
            <a:off x="3263900" y="5270500"/>
            <a:ext cx="0" cy="381000"/>
          </a:xfrm>
          <a:prstGeom prst="line">
            <a:avLst/>
          </a:prstGeom>
          <a:ln w="381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kt">
            <a:extLst>
              <a:ext uri="{FF2B5EF4-FFF2-40B4-BE49-F238E27FC236}">
                <a16:creationId xmlns:a16="http://schemas.microsoft.com/office/drawing/2014/main" id="{5C6F67FB-DDDE-80F2-5032-6860D2EF51BD}"/>
              </a:ext>
            </a:extLst>
          </p:cNvPr>
          <p:cNvCxnSpPr/>
          <p:nvPr/>
        </p:nvCxnSpPr>
        <p:spPr>
          <a:xfrm>
            <a:off x="1930400" y="5461000"/>
            <a:ext cx="635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kt">
            <a:extLst>
              <a:ext uri="{FF2B5EF4-FFF2-40B4-BE49-F238E27FC236}">
                <a16:creationId xmlns:a16="http://schemas.microsoft.com/office/drawing/2014/main" id="{B1A706C9-65E5-5E97-287C-F6FB601865B2}"/>
              </a:ext>
            </a:extLst>
          </p:cNvPr>
          <p:cNvSpPr/>
          <p:nvPr/>
        </p:nvSpPr>
        <p:spPr>
          <a:xfrm>
            <a:off x="1873250" y="5403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ckt">
            <a:extLst>
              <a:ext uri="{FF2B5EF4-FFF2-40B4-BE49-F238E27FC236}">
                <a16:creationId xmlns:a16="http://schemas.microsoft.com/office/drawing/2014/main" id="{2E2CF8C7-1082-81C8-D90D-77ABB161089F}"/>
              </a:ext>
            </a:extLst>
          </p:cNvPr>
          <p:cNvCxnSpPr/>
          <p:nvPr/>
        </p:nvCxnSpPr>
        <p:spPr>
          <a:xfrm>
            <a:off x="1930400" y="5461000"/>
            <a:ext cx="0" cy="6731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kt">
            <a:extLst>
              <a:ext uri="{FF2B5EF4-FFF2-40B4-BE49-F238E27FC236}">
                <a16:creationId xmlns:a16="http://schemas.microsoft.com/office/drawing/2014/main" id="{A387000E-14B3-5D8C-194B-40C773C38F63}"/>
              </a:ext>
            </a:extLst>
          </p:cNvPr>
          <p:cNvCxnSpPr/>
          <p:nvPr/>
        </p:nvCxnSpPr>
        <p:spPr>
          <a:xfrm>
            <a:off x="1930400" y="6692900"/>
            <a:ext cx="0" cy="6731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kt">
            <a:extLst>
              <a:ext uri="{FF2B5EF4-FFF2-40B4-BE49-F238E27FC236}">
                <a16:creationId xmlns:a16="http://schemas.microsoft.com/office/drawing/2014/main" id="{0A64E3B9-56EC-383E-EA16-2936790A31D8}"/>
              </a:ext>
            </a:extLst>
          </p:cNvPr>
          <p:cNvSpPr/>
          <p:nvPr/>
        </p:nvSpPr>
        <p:spPr>
          <a:xfrm>
            <a:off x="1651000" y="6134100"/>
            <a:ext cx="558800" cy="558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kt">
            <a:extLst>
              <a:ext uri="{FF2B5EF4-FFF2-40B4-BE49-F238E27FC236}">
                <a16:creationId xmlns:a16="http://schemas.microsoft.com/office/drawing/2014/main" id="{7E048E56-48C6-81A2-CF2B-50E00EDB3E53}"/>
              </a:ext>
            </a:extLst>
          </p:cNvPr>
          <p:cNvSpPr/>
          <p:nvPr/>
        </p:nvSpPr>
        <p:spPr>
          <a:xfrm>
            <a:off x="1762760" y="6315710"/>
            <a:ext cx="335281" cy="195581"/>
          </a:xfrm>
          <a:custGeom>
            <a:avLst/>
            <a:gdLst/>
            <a:ahLst/>
            <a:cxnLst/>
            <a:rect l="0" t="0" r="0" b="0"/>
            <a:pathLst>
              <a:path w="335281" h="195581">
                <a:moveTo>
                  <a:pt x="0" y="97790"/>
                </a:moveTo>
                <a:lnTo>
                  <a:pt x="20955" y="60367"/>
                </a:lnTo>
                <a:lnTo>
                  <a:pt x="41910" y="28642"/>
                </a:lnTo>
                <a:lnTo>
                  <a:pt x="62865" y="7444"/>
                </a:lnTo>
                <a:lnTo>
                  <a:pt x="83820" y="0"/>
                </a:lnTo>
                <a:lnTo>
                  <a:pt x="104775" y="7444"/>
                </a:lnTo>
                <a:lnTo>
                  <a:pt x="125730" y="28642"/>
                </a:lnTo>
                <a:lnTo>
                  <a:pt x="146685" y="60367"/>
                </a:lnTo>
                <a:lnTo>
                  <a:pt x="167640" y="97790"/>
                </a:lnTo>
                <a:lnTo>
                  <a:pt x="188595" y="135213"/>
                </a:lnTo>
                <a:lnTo>
                  <a:pt x="209550" y="166938"/>
                </a:lnTo>
                <a:lnTo>
                  <a:pt x="230505" y="188136"/>
                </a:lnTo>
                <a:lnTo>
                  <a:pt x="251460" y="195580"/>
                </a:lnTo>
                <a:lnTo>
                  <a:pt x="272415" y="188136"/>
                </a:lnTo>
                <a:lnTo>
                  <a:pt x="293370" y="166938"/>
                </a:lnTo>
                <a:lnTo>
                  <a:pt x="314325" y="135213"/>
                </a:lnTo>
                <a:lnTo>
                  <a:pt x="335280" y="97790"/>
                </a:lnTo>
              </a:path>
            </a:pathLst>
          </a:custGeom>
          <a:ln w="222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ckt">
            <a:extLst>
              <a:ext uri="{FF2B5EF4-FFF2-40B4-BE49-F238E27FC236}">
                <a16:creationId xmlns:a16="http://schemas.microsoft.com/office/drawing/2014/main" id="{717D1C20-F659-F79D-2A14-B76C1D26FE7D}"/>
              </a:ext>
            </a:extLst>
          </p:cNvPr>
          <p:cNvSpPr txBox="1"/>
          <p:nvPr/>
        </p:nvSpPr>
        <p:spPr>
          <a:xfrm>
            <a:off x="1981200" y="5854699"/>
            <a:ext cx="25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15241D"/>
                </a:solidFill>
                <a:latin typeface="DM Sans" pitchFamily="2" charset="0"/>
              </a:rPr>
              <a:t>+</a:t>
            </a:r>
          </a:p>
        </p:txBody>
      </p:sp>
      <p:cxnSp>
        <p:nvCxnSpPr>
          <p:cNvPr id="40" name="ckt">
            <a:extLst>
              <a:ext uri="{FF2B5EF4-FFF2-40B4-BE49-F238E27FC236}">
                <a16:creationId xmlns:a16="http://schemas.microsoft.com/office/drawing/2014/main" id="{9E1EB727-1CE1-D527-D92F-F20296EE883C}"/>
              </a:ext>
            </a:extLst>
          </p:cNvPr>
          <p:cNvCxnSpPr/>
          <p:nvPr/>
        </p:nvCxnSpPr>
        <p:spPr>
          <a:xfrm>
            <a:off x="1930400" y="73660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kt">
            <a:extLst>
              <a:ext uri="{FF2B5EF4-FFF2-40B4-BE49-F238E27FC236}">
                <a16:creationId xmlns:a16="http://schemas.microsoft.com/office/drawing/2014/main" id="{ABDDF52F-D7C6-492D-FCEE-48FE160CBD7C}"/>
              </a:ext>
            </a:extLst>
          </p:cNvPr>
          <p:cNvCxnSpPr/>
          <p:nvPr/>
        </p:nvCxnSpPr>
        <p:spPr>
          <a:xfrm>
            <a:off x="1739900" y="75184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kt">
            <a:extLst>
              <a:ext uri="{FF2B5EF4-FFF2-40B4-BE49-F238E27FC236}">
                <a16:creationId xmlns:a16="http://schemas.microsoft.com/office/drawing/2014/main" id="{D3650FF2-286C-F847-5D96-DE6FF287C761}"/>
              </a:ext>
            </a:extLst>
          </p:cNvPr>
          <p:cNvCxnSpPr/>
          <p:nvPr/>
        </p:nvCxnSpPr>
        <p:spPr>
          <a:xfrm>
            <a:off x="1809750" y="75882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kt">
            <a:extLst>
              <a:ext uri="{FF2B5EF4-FFF2-40B4-BE49-F238E27FC236}">
                <a16:creationId xmlns:a16="http://schemas.microsoft.com/office/drawing/2014/main" id="{604A87BD-534F-2E8F-B0BA-2D53701F16F7}"/>
              </a:ext>
            </a:extLst>
          </p:cNvPr>
          <p:cNvCxnSpPr/>
          <p:nvPr/>
        </p:nvCxnSpPr>
        <p:spPr>
          <a:xfrm>
            <a:off x="1879600" y="76581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kt label">
            <a:extLst>
              <a:ext uri="{FF2B5EF4-FFF2-40B4-BE49-F238E27FC236}">
                <a16:creationId xmlns:a16="http://schemas.microsoft.com/office/drawing/2014/main" id="{45B3A018-9034-8B0C-A4A5-7EA5256B2EAE}"/>
              </a:ext>
            </a:extLst>
          </p:cNvPr>
          <p:cNvSpPr txBox="1"/>
          <p:nvPr/>
        </p:nvSpPr>
        <p:spPr>
          <a:xfrm>
            <a:off x="787400" y="6232524"/>
            <a:ext cx="762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i</a:t>
            </a:r>
          </a:p>
        </p:txBody>
      </p:sp>
      <p:cxnSp>
        <p:nvCxnSpPr>
          <p:cNvPr id="45" name="ckt">
            <a:extLst>
              <a:ext uri="{FF2B5EF4-FFF2-40B4-BE49-F238E27FC236}">
                <a16:creationId xmlns:a16="http://schemas.microsoft.com/office/drawing/2014/main" id="{589663C9-43D7-C010-4351-B3AF9930B520}"/>
              </a:ext>
            </a:extLst>
          </p:cNvPr>
          <p:cNvCxnSpPr/>
          <p:nvPr/>
        </p:nvCxnSpPr>
        <p:spPr>
          <a:xfrm>
            <a:off x="2032000" y="6350000"/>
            <a:ext cx="635000" cy="0"/>
          </a:xfrm>
          <a:prstGeom prst="line">
            <a:avLst/>
          </a:prstGeom>
          <a:ln w="22225">
            <a:solidFill>
              <a:srgbClr val="4D5B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kt label">
            <a:extLst>
              <a:ext uri="{FF2B5EF4-FFF2-40B4-BE49-F238E27FC236}">
                <a16:creationId xmlns:a16="http://schemas.microsoft.com/office/drawing/2014/main" id="{6ABE9C73-5B7D-A9FA-30F8-B458577CB8F3}"/>
              </a:ext>
            </a:extLst>
          </p:cNvPr>
          <p:cNvSpPr txBox="1"/>
          <p:nvPr/>
        </p:nvSpPr>
        <p:spPr>
          <a:xfrm>
            <a:off x="2743200" y="6188074"/>
            <a:ext cx="1016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in</a:t>
            </a:r>
          </a:p>
        </p:txBody>
      </p:sp>
      <p:cxnSp>
        <p:nvCxnSpPr>
          <p:cNvPr id="47" name="ckt">
            <a:extLst>
              <a:ext uri="{FF2B5EF4-FFF2-40B4-BE49-F238E27FC236}">
                <a16:creationId xmlns:a16="http://schemas.microsoft.com/office/drawing/2014/main" id="{7219C352-2F47-0101-1EAA-0D3E09674141}"/>
              </a:ext>
            </a:extLst>
          </p:cNvPr>
          <p:cNvCxnSpPr/>
          <p:nvPr/>
        </p:nvCxnSpPr>
        <p:spPr>
          <a:xfrm>
            <a:off x="5283200" y="4064000"/>
            <a:ext cx="508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kt">
            <a:extLst>
              <a:ext uri="{FF2B5EF4-FFF2-40B4-BE49-F238E27FC236}">
                <a16:creationId xmlns:a16="http://schemas.microsoft.com/office/drawing/2014/main" id="{A7FD5BEE-8545-B7DD-E403-B57732CD99C5}"/>
              </a:ext>
            </a:extLst>
          </p:cNvPr>
          <p:cNvCxnSpPr/>
          <p:nvPr/>
        </p:nvCxnSpPr>
        <p:spPr>
          <a:xfrm>
            <a:off x="5791200" y="40640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kt">
            <a:extLst>
              <a:ext uri="{FF2B5EF4-FFF2-40B4-BE49-F238E27FC236}">
                <a16:creationId xmlns:a16="http://schemas.microsoft.com/office/drawing/2014/main" id="{3925007B-2AF0-1632-FFB2-43686063C9C9}"/>
              </a:ext>
            </a:extLst>
          </p:cNvPr>
          <p:cNvCxnSpPr/>
          <p:nvPr/>
        </p:nvCxnSpPr>
        <p:spPr>
          <a:xfrm>
            <a:off x="6299200" y="40640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kt">
            <a:extLst>
              <a:ext uri="{FF2B5EF4-FFF2-40B4-BE49-F238E27FC236}">
                <a16:creationId xmlns:a16="http://schemas.microsoft.com/office/drawing/2014/main" id="{20A233E6-0AF9-C46B-669E-F1B0B2E3FD5A}"/>
              </a:ext>
            </a:extLst>
          </p:cNvPr>
          <p:cNvCxnSpPr/>
          <p:nvPr/>
        </p:nvCxnSpPr>
        <p:spPr>
          <a:xfrm flipV="1">
            <a:off x="6172200" y="3873500"/>
            <a:ext cx="0" cy="381000"/>
          </a:xfrm>
          <a:prstGeom prst="line">
            <a:avLst/>
          </a:prstGeom>
          <a:ln w="381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kt">
            <a:extLst>
              <a:ext uri="{FF2B5EF4-FFF2-40B4-BE49-F238E27FC236}">
                <a16:creationId xmlns:a16="http://schemas.microsoft.com/office/drawing/2014/main" id="{DFDB6DCA-246E-AC64-22BD-CF4344F5774A}"/>
              </a:ext>
            </a:extLst>
          </p:cNvPr>
          <p:cNvCxnSpPr/>
          <p:nvPr/>
        </p:nvCxnSpPr>
        <p:spPr>
          <a:xfrm flipV="1">
            <a:off x="6299200" y="3873500"/>
            <a:ext cx="0" cy="381000"/>
          </a:xfrm>
          <a:prstGeom prst="line">
            <a:avLst/>
          </a:prstGeom>
          <a:ln w="381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kt">
            <a:extLst>
              <a:ext uri="{FF2B5EF4-FFF2-40B4-BE49-F238E27FC236}">
                <a16:creationId xmlns:a16="http://schemas.microsoft.com/office/drawing/2014/main" id="{4768ED7B-E4F6-E927-248F-1314E82BF00C}"/>
              </a:ext>
            </a:extLst>
          </p:cNvPr>
          <p:cNvCxnSpPr/>
          <p:nvPr/>
        </p:nvCxnSpPr>
        <p:spPr>
          <a:xfrm>
            <a:off x="6680200" y="4064000"/>
            <a:ext cx="635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ckt">
            <a:extLst>
              <a:ext uri="{FF2B5EF4-FFF2-40B4-BE49-F238E27FC236}">
                <a16:creationId xmlns:a16="http://schemas.microsoft.com/office/drawing/2014/main" id="{D7265B49-AC3F-81B4-1A2D-A25A634B0AD8}"/>
              </a:ext>
            </a:extLst>
          </p:cNvPr>
          <p:cNvSpPr/>
          <p:nvPr/>
        </p:nvSpPr>
        <p:spPr>
          <a:xfrm>
            <a:off x="7258050" y="4006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kt">
            <a:extLst>
              <a:ext uri="{FF2B5EF4-FFF2-40B4-BE49-F238E27FC236}">
                <a16:creationId xmlns:a16="http://schemas.microsoft.com/office/drawing/2014/main" id="{277C5E1F-733A-D265-C9A6-DFAB26FB91DF}"/>
              </a:ext>
            </a:extLst>
          </p:cNvPr>
          <p:cNvSpPr/>
          <p:nvPr/>
        </p:nvSpPr>
        <p:spPr>
          <a:xfrm>
            <a:off x="7188200" y="4064000"/>
            <a:ext cx="254001" cy="3302001"/>
          </a:xfrm>
          <a:custGeom>
            <a:avLst/>
            <a:gdLst/>
            <a:ahLst/>
            <a:cxnLst/>
            <a:rect l="0" t="0" r="0" b="0"/>
            <a:pathLst>
              <a:path w="254001" h="3302001">
                <a:moveTo>
                  <a:pt x="127000" y="0"/>
                </a:moveTo>
                <a:lnTo>
                  <a:pt x="127000" y="1282700"/>
                </a:lnTo>
                <a:lnTo>
                  <a:pt x="0" y="1344083"/>
                </a:lnTo>
                <a:lnTo>
                  <a:pt x="254000" y="1466850"/>
                </a:lnTo>
                <a:lnTo>
                  <a:pt x="0" y="1589617"/>
                </a:lnTo>
                <a:lnTo>
                  <a:pt x="254000" y="1712383"/>
                </a:lnTo>
                <a:lnTo>
                  <a:pt x="0" y="1835150"/>
                </a:lnTo>
                <a:lnTo>
                  <a:pt x="254000" y="1957917"/>
                </a:lnTo>
                <a:lnTo>
                  <a:pt x="127000" y="2019300"/>
                </a:lnTo>
                <a:lnTo>
                  <a:pt x="127000" y="33020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ckt">
            <a:extLst>
              <a:ext uri="{FF2B5EF4-FFF2-40B4-BE49-F238E27FC236}">
                <a16:creationId xmlns:a16="http://schemas.microsoft.com/office/drawing/2014/main" id="{C30450AA-86DC-6C9D-3784-882781784D2B}"/>
              </a:ext>
            </a:extLst>
          </p:cNvPr>
          <p:cNvCxnSpPr/>
          <p:nvPr/>
        </p:nvCxnSpPr>
        <p:spPr>
          <a:xfrm>
            <a:off x="7315200" y="73660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kt">
            <a:extLst>
              <a:ext uri="{FF2B5EF4-FFF2-40B4-BE49-F238E27FC236}">
                <a16:creationId xmlns:a16="http://schemas.microsoft.com/office/drawing/2014/main" id="{B6AB488D-5FAD-26BD-4AA1-449DA2A42CBD}"/>
              </a:ext>
            </a:extLst>
          </p:cNvPr>
          <p:cNvCxnSpPr/>
          <p:nvPr/>
        </p:nvCxnSpPr>
        <p:spPr>
          <a:xfrm>
            <a:off x="7124700" y="75184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kt">
            <a:extLst>
              <a:ext uri="{FF2B5EF4-FFF2-40B4-BE49-F238E27FC236}">
                <a16:creationId xmlns:a16="http://schemas.microsoft.com/office/drawing/2014/main" id="{B2E789CB-F2E4-6281-2BE8-D4D27109DB8F}"/>
              </a:ext>
            </a:extLst>
          </p:cNvPr>
          <p:cNvCxnSpPr/>
          <p:nvPr/>
        </p:nvCxnSpPr>
        <p:spPr>
          <a:xfrm>
            <a:off x="7194550" y="75882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kt">
            <a:extLst>
              <a:ext uri="{FF2B5EF4-FFF2-40B4-BE49-F238E27FC236}">
                <a16:creationId xmlns:a16="http://schemas.microsoft.com/office/drawing/2014/main" id="{62F755E0-51F1-EE96-ACA2-BC0F8705872D}"/>
              </a:ext>
            </a:extLst>
          </p:cNvPr>
          <p:cNvCxnSpPr/>
          <p:nvPr/>
        </p:nvCxnSpPr>
        <p:spPr>
          <a:xfrm>
            <a:off x="7264400" y="76581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kt label">
            <a:extLst>
              <a:ext uri="{FF2B5EF4-FFF2-40B4-BE49-F238E27FC236}">
                <a16:creationId xmlns:a16="http://schemas.microsoft.com/office/drawing/2014/main" id="{D9CA4248-EE24-0EF2-ED3E-1CE005F61417}"/>
              </a:ext>
            </a:extLst>
          </p:cNvPr>
          <p:cNvSpPr txBox="1"/>
          <p:nvPr/>
        </p:nvSpPr>
        <p:spPr>
          <a:xfrm>
            <a:off x="5461000" y="6061074"/>
            <a:ext cx="1651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L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10 k</a:t>
            </a:r>
            <a:r>
              <a:rPr lang="el-GR" sz="1700" b="1">
                <a:solidFill>
                  <a:srgbClr val="0E7C7B"/>
                </a:solidFill>
              </a:rPr>
              <a:t>Ω</a:t>
            </a:r>
            <a:endParaRPr lang="en-US" sz="1700" b="1">
              <a:solidFill>
                <a:srgbClr val="0E7C7B"/>
              </a:solidFill>
              <a:latin typeface="DM Sans" pitchFamily="2" charset="0"/>
            </a:endParaRPr>
          </a:p>
        </p:txBody>
      </p:sp>
      <p:cxnSp>
        <p:nvCxnSpPr>
          <p:cNvPr id="60" name="ckt">
            <a:extLst>
              <a:ext uri="{FF2B5EF4-FFF2-40B4-BE49-F238E27FC236}">
                <a16:creationId xmlns:a16="http://schemas.microsoft.com/office/drawing/2014/main" id="{232365EB-46CE-5413-0050-E57136C420D5}"/>
              </a:ext>
            </a:extLst>
          </p:cNvPr>
          <p:cNvCxnSpPr/>
          <p:nvPr/>
        </p:nvCxnSpPr>
        <p:spPr>
          <a:xfrm>
            <a:off x="7315200" y="4064000"/>
            <a:ext cx="558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kt">
            <a:extLst>
              <a:ext uri="{FF2B5EF4-FFF2-40B4-BE49-F238E27FC236}">
                <a16:creationId xmlns:a16="http://schemas.microsoft.com/office/drawing/2014/main" id="{A4CE2D8E-D2B1-4F30-F7F0-F5D2DBD59CD4}"/>
              </a:ext>
            </a:extLst>
          </p:cNvPr>
          <p:cNvSpPr/>
          <p:nvPr/>
        </p:nvSpPr>
        <p:spPr>
          <a:xfrm>
            <a:off x="7880350" y="3994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kt label">
            <a:extLst>
              <a:ext uri="{FF2B5EF4-FFF2-40B4-BE49-F238E27FC236}">
                <a16:creationId xmlns:a16="http://schemas.microsoft.com/office/drawing/2014/main" id="{11EE4E54-3608-5219-F74A-C1633C50107C}"/>
              </a:ext>
            </a:extLst>
          </p:cNvPr>
          <p:cNvSpPr txBox="1"/>
          <p:nvPr/>
        </p:nvSpPr>
        <p:spPr>
          <a:xfrm>
            <a:off x="8102600" y="3883024"/>
            <a:ext cx="635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o</a:t>
            </a:r>
          </a:p>
        </p:txBody>
      </p:sp>
      <p:sp>
        <p:nvSpPr>
          <p:cNvPr id="63" name="ckt label">
            <a:extLst>
              <a:ext uri="{FF2B5EF4-FFF2-40B4-BE49-F238E27FC236}">
                <a16:creationId xmlns:a16="http://schemas.microsoft.com/office/drawing/2014/main" id="{8F9171C8-33D8-9F3A-8DF6-D5D897DB4D99}"/>
              </a:ext>
            </a:extLst>
          </p:cNvPr>
          <p:cNvSpPr txBox="1"/>
          <p:nvPr/>
        </p:nvSpPr>
        <p:spPr>
          <a:xfrm>
            <a:off x="5854700" y="3479799"/>
            <a:ext cx="76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 i="1">
                <a:solidFill>
                  <a:srgbClr val="4D5B54"/>
                </a:solidFill>
                <a:latin typeface="DM Sans" pitchFamily="2" charset="0"/>
              </a:rPr>
              <a:t>C</a:t>
            </a:r>
            <a:r>
              <a:rPr lang="en-US" sz="1600" i="1" baseline="-25000">
                <a:solidFill>
                  <a:srgbClr val="4D5B54"/>
                </a:solidFill>
                <a:latin typeface="DM Sans" pitchFamily="2" charset="0"/>
              </a:rPr>
              <a:t>C</a:t>
            </a:r>
          </a:p>
        </p:txBody>
      </p:sp>
      <p:sp>
        <p:nvSpPr>
          <p:cNvPr id="64" name="ckt label">
            <a:extLst>
              <a:ext uri="{FF2B5EF4-FFF2-40B4-BE49-F238E27FC236}">
                <a16:creationId xmlns:a16="http://schemas.microsoft.com/office/drawing/2014/main" id="{9DFF9CE6-E92A-10CA-643A-806E0F22B9F1}"/>
              </a:ext>
            </a:extLst>
          </p:cNvPr>
          <p:cNvSpPr txBox="1"/>
          <p:nvPr/>
        </p:nvSpPr>
        <p:spPr>
          <a:xfrm>
            <a:off x="2819400" y="5740399"/>
            <a:ext cx="76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 i="1">
                <a:solidFill>
                  <a:srgbClr val="4D5B54"/>
                </a:solidFill>
                <a:latin typeface="DM Sans" pitchFamily="2" charset="0"/>
              </a:rPr>
              <a:t>C</a:t>
            </a:r>
            <a:r>
              <a:rPr lang="en-US" sz="1600" i="1" baseline="-25000">
                <a:solidFill>
                  <a:srgbClr val="4D5B54"/>
                </a:solidFill>
                <a:latin typeface="DM Sans" pitchFamily="2" charset="0"/>
              </a:rPr>
              <a:t>C</a:t>
            </a:r>
          </a:p>
        </p:txBody>
      </p:sp>
      <p:sp>
        <p:nvSpPr>
          <p:cNvPr id="65" name="given">
            <a:extLst>
              <a:ext uri="{FF2B5EF4-FFF2-40B4-BE49-F238E27FC236}">
                <a16:creationId xmlns:a16="http://schemas.microsoft.com/office/drawing/2014/main" id="{8C8BC1F3-809A-A7CA-2718-631A925BF843}"/>
              </a:ext>
            </a:extLst>
          </p:cNvPr>
          <p:cNvSpPr/>
          <p:nvPr/>
        </p:nvSpPr>
        <p:spPr>
          <a:xfrm>
            <a:off x="914400" y="7772400"/>
            <a:ext cx="105283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GIVEN</a:t>
            </a:r>
          </a:p>
        </p:txBody>
      </p:sp>
      <p:sp>
        <p:nvSpPr>
          <p:cNvPr id="66" name="given">
            <a:extLst>
              <a:ext uri="{FF2B5EF4-FFF2-40B4-BE49-F238E27FC236}">
                <a16:creationId xmlns:a16="http://schemas.microsoft.com/office/drawing/2014/main" id="{AEA8C0C8-105D-92F2-7195-620C9ACE0CF1}"/>
              </a:ext>
            </a:extLst>
          </p:cNvPr>
          <p:cNvSpPr/>
          <p:nvPr/>
        </p:nvSpPr>
        <p:spPr>
          <a:xfrm>
            <a:off x="914400" y="8355965"/>
            <a:ext cx="118745" cy="118745"/>
          </a:xfrm>
          <a:prstGeom prst="rect">
            <a:avLst/>
          </a:prstGeom>
          <a:solidFill>
            <a:srgbClr val="1F6F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given">
            <a:extLst>
              <a:ext uri="{FF2B5EF4-FFF2-40B4-BE49-F238E27FC236}">
                <a16:creationId xmlns:a16="http://schemas.microsoft.com/office/drawing/2014/main" id="{4E114B2B-31D5-DDE1-1F3F-8565071C70A2}"/>
              </a:ext>
            </a:extLst>
          </p:cNvPr>
          <p:cNvSpPr txBox="1"/>
          <p:nvPr/>
        </p:nvSpPr>
        <p:spPr>
          <a:xfrm>
            <a:off x="1130300" y="8280400"/>
            <a:ext cx="7658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1F6FA8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1F6FA8"/>
                </a:solidFill>
                <a:latin typeface="DM Sans" pitchFamily="2" charset="0"/>
              </a:rPr>
              <a:t>DD</a:t>
            </a:r>
            <a:r>
              <a:rPr lang="en-US" sz="1700" b="1">
                <a:solidFill>
                  <a:srgbClr val="1F6FA8"/>
                </a:solidFill>
                <a:latin typeface="DM Sans" pitchFamily="2" charset="0"/>
              </a:rPr>
              <a:t> = 15 V</a:t>
            </a:r>
          </a:p>
        </p:txBody>
      </p:sp>
      <p:sp>
        <p:nvSpPr>
          <p:cNvPr id="68" name="given">
            <a:extLst>
              <a:ext uri="{FF2B5EF4-FFF2-40B4-BE49-F238E27FC236}">
                <a16:creationId xmlns:a16="http://schemas.microsoft.com/office/drawing/2014/main" id="{0099AF4C-61E3-DBB7-8038-4AE6C842F472}"/>
              </a:ext>
            </a:extLst>
          </p:cNvPr>
          <p:cNvSpPr/>
          <p:nvPr/>
        </p:nvSpPr>
        <p:spPr>
          <a:xfrm>
            <a:off x="914400" y="8642975"/>
            <a:ext cx="118745" cy="118744"/>
          </a:xfrm>
          <a:prstGeom prst="rect">
            <a:avLst/>
          </a:prstGeom>
          <a:solidFill>
            <a:srgbClr val="7A3E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given">
            <a:extLst>
              <a:ext uri="{FF2B5EF4-FFF2-40B4-BE49-F238E27FC236}">
                <a16:creationId xmlns:a16="http://schemas.microsoft.com/office/drawing/2014/main" id="{9A1B9359-F971-C7CA-ADF2-B670E6A0F4E3}"/>
              </a:ext>
            </a:extLst>
          </p:cNvPr>
          <p:cNvSpPr txBox="1"/>
          <p:nvPr/>
        </p:nvSpPr>
        <p:spPr>
          <a:xfrm>
            <a:off x="1130300" y="8567410"/>
            <a:ext cx="7658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7A3E9D"/>
                </a:solidFill>
                <a:latin typeface="DM Sans" pitchFamily="2" charset="0"/>
              </a:rPr>
              <a:t>G</a:t>
            </a:r>
            <a:r>
              <a:rPr lang="en-US" sz="1700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sz="1700" b="1">
                <a:solidFill>
                  <a:srgbClr val="7A3E9D"/>
                </a:solidFill>
              </a:rPr>
              <a:t>Ω</a:t>
            </a:r>
            <a:endParaRPr lang="en-US" sz="1700" b="1">
              <a:solidFill>
                <a:srgbClr val="7A3E9D"/>
              </a:solidFill>
              <a:latin typeface="DM Sans" pitchFamily="2" charset="0"/>
            </a:endParaRPr>
          </a:p>
        </p:txBody>
      </p:sp>
      <p:sp>
        <p:nvSpPr>
          <p:cNvPr id="70" name="given">
            <a:extLst>
              <a:ext uri="{FF2B5EF4-FFF2-40B4-BE49-F238E27FC236}">
                <a16:creationId xmlns:a16="http://schemas.microsoft.com/office/drawing/2014/main" id="{CE5E746D-F58B-A169-1DB7-946BA1023422}"/>
              </a:ext>
            </a:extLst>
          </p:cNvPr>
          <p:cNvSpPr/>
          <p:nvPr/>
        </p:nvSpPr>
        <p:spPr>
          <a:xfrm>
            <a:off x="914400" y="8929984"/>
            <a:ext cx="118745" cy="118745"/>
          </a:xfrm>
          <a:prstGeom prst="rect">
            <a:avLst/>
          </a:prstGeom>
          <a:solidFill>
            <a:srgbClr val="0E7C7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given">
            <a:extLst>
              <a:ext uri="{FF2B5EF4-FFF2-40B4-BE49-F238E27FC236}">
                <a16:creationId xmlns:a16="http://schemas.microsoft.com/office/drawing/2014/main" id="{0A931ED5-2E86-58B6-CF94-6AA488B08060}"/>
              </a:ext>
            </a:extLst>
          </p:cNvPr>
          <p:cNvSpPr txBox="1"/>
          <p:nvPr/>
        </p:nvSpPr>
        <p:spPr>
          <a:xfrm>
            <a:off x="1130300" y="8854419"/>
            <a:ext cx="7658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D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</a:t>
            </a:r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L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10 k</a:t>
            </a:r>
            <a:r>
              <a:rPr lang="el-GR" sz="1700" b="1">
                <a:solidFill>
                  <a:srgbClr val="0E7C7B"/>
                </a:solidFill>
              </a:rPr>
              <a:t>Ω</a:t>
            </a:r>
            <a:endParaRPr lang="en-US" sz="1700" b="1">
              <a:solidFill>
                <a:srgbClr val="0E7C7B"/>
              </a:solidFill>
              <a:latin typeface="DM Sans" pitchFamily="2" charset="0"/>
            </a:endParaRPr>
          </a:p>
        </p:txBody>
      </p:sp>
      <p:sp>
        <p:nvSpPr>
          <p:cNvPr id="72" name="given">
            <a:extLst>
              <a:ext uri="{FF2B5EF4-FFF2-40B4-BE49-F238E27FC236}">
                <a16:creationId xmlns:a16="http://schemas.microsoft.com/office/drawing/2014/main" id="{C1B8FA41-EC06-3C7E-C720-B673D0A9A228}"/>
              </a:ext>
            </a:extLst>
          </p:cNvPr>
          <p:cNvSpPr/>
          <p:nvPr/>
        </p:nvSpPr>
        <p:spPr>
          <a:xfrm>
            <a:off x="914400" y="9216994"/>
            <a:ext cx="118745" cy="118745"/>
          </a:xfrm>
          <a:prstGeom prst="rect">
            <a:avLst/>
          </a:prstGeom>
          <a:solidFill>
            <a:srgbClr val="B018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given">
            <a:extLst>
              <a:ext uri="{FF2B5EF4-FFF2-40B4-BE49-F238E27FC236}">
                <a16:creationId xmlns:a16="http://schemas.microsoft.com/office/drawing/2014/main" id="{0E0F8052-A274-5A07-BFB1-38BC33496949}"/>
              </a:ext>
            </a:extLst>
          </p:cNvPr>
          <p:cNvSpPr txBox="1"/>
          <p:nvPr/>
        </p:nvSpPr>
        <p:spPr>
          <a:xfrm>
            <a:off x="1130300" y="9141430"/>
            <a:ext cx="7658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B0186B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B0186B"/>
                </a:solidFill>
                <a:latin typeface="DM Sans" pitchFamily="2" charset="0"/>
              </a:rPr>
              <a:t>t</a:t>
            </a:r>
            <a:r>
              <a:rPr lang="en-US" sz="1700" b="1">
                <a:solidFill>
                  <a:srgbClr val="B0186B"/>
                </a:solidFill>
                <a:latin typeface="DM Sans" pitchFamily="2" charset="0"/>
              </a:rPr>
              <a:t> = 1.5 V,  k′</a:t>
            </a:r>
            <a:r>
              <a:rPr lang="en-US" sz="1700" b="1" baseline="-25000">
                <a:solidFill>
                  <a:srgbClr val="B0186B"/>
                </a:solidFill>
                <a:latin typeface="DM Sans" pitchFamily="2" charset="0"/>
              </a:rPr>
              <a:t>n</a:t>
            </a:r>
            <a:r>
              <a:rPr lang="en-US" sz="1700" b="1">
                <a:solidFill>
                  <a:srgbClr val="B0186B"/>
                </a:solidFill>
                <a:latin typeface="DM Sans" pitchFamily="2" charset="0"/>
              </a:rPr>
              <a:t>(W/L) = 0.25 mA/V²,  </a:t>
            </a:r>
            <a:r>
              <a:rPr lang="en-US" sz="1700" b="1" i="1">
                <a:solidFill>
                  <a:srgbClr val="B0186B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B0186B"/>
                </a:solidFill>
                <a:latin typeface="DM Sans" pitchFamily="2" charset="0"/>
              </a:rPr>
              <a:t>A</a:t>
            </a:r>
            <a:r>
              <a:rPr lang="en-US" sz="1700" b="1">
                <a:solidFill>
                  <a:srgbClr val="B0186B"/>
                </a:solidFill>
                <a:latin typeface="DM Sans" pitchFamily="2" charset="0"/>
              </a:rPr>
              <a:t> = 50 V</a:t>
            </a:r>
          </a:p>
        </p:txBody>
      </p:sp>
      <p:sp>
        <p:nvSpPr>
          <p:cNvPr id="74" name="question">
            <a:extLst>
              <a:ext uri="{FF2B5EF4-FFF2-40B4-BE49-F238E27FC236}">
                <a16:creationId xmlns:a16="http://schemas.microsoft.com/office/drawing/2014/main" id="{C46396DB-812C-8D5F-193F-F45ABB908137}"/>
              </a:ext>
            </a:extLst>
          </p:cNvPr>
          <p:cNvSpPr txBox="1"/>
          <p:nvPr/>
        </p:nvSpPr>
        <p:spPr>
          <a:xfrm>
            <a:off x="9169400" y="1904999"/>
            <a:ext cx="82042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 b="1">
                <a:solidFill>
                  <a:srgbClr val="15241D"/>
                </a:solidFill>
                <a:latin typeface="DM Sans" pitchFamily="2" charset="0"/>
              </a:rPr>
              <a:t>Find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the gain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A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=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o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/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and the input resistance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in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. First, the DC bias point.</a:t>
            </a:r>
          </a:p>
        </p:txBody>
      </p:sp>
      <p:sp>
        <p:nvSpPr>
          <p:cNvPr id="75" name="badge @1">
            <a:extLst>
              <a:ext uri="{FF2B5EF4-FFF2-40B4-BE49-F238E27FC236}">
                <a16:creationId xmlns:a16="http://schemas.microsoft.com/office/drawing/2014/main" id="{ED093615-3194-8A1F-397B-3583631BD7DD}"/>
              </a:ext>
            </a:extLst>
          </p:cNvPr>
          <p:cNvSpPr/>
          <p:nvPr/>
        </p:nvSpPr>
        <p:spPr>
          <a:xfrm>
            <a:off x="9169400" y="28702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1</a:t>
            </a:r>
          </a:p>
        </p:txBody>
      </p:sp>
      <p:sp>
        <p:nvSpPr>
          <p:cNvPr id="76" name="step @1">
            <a:extLst>
              <a:ext uri="{FF2B5EF4-FFF2-40B4-BE49-F238E27FC236}">
                <a16:creationId xmlns:a16="http://schemas.microsoft.com/office/drawing/2014/main" id="{E48B04A0-26EC-CF77-AA67-E1E0F1E74478}"/>
              </a:ext>
            </a:extLst>
          </p:cNvPr>
          <p:cNvSpPr txBox="1"/>
          <p:nvPr/>
        </p:nvSpPr>
        <p:spPr>
          <a:xfrm>
            <a:off x="9753600" y="2857500"/>
            <a:ext cx="7620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Keep only the DC circuit</a:t>
            </a:r>
          </a:p>
        </p:txBody>
      </p:sp>
      <p:sp>
        <p:nvSpPr>
          <p:cNvPr id="77" name="note @1">
            <a:extLst>
              <a:ext uri="{FF2B5EF4-FFF2-40B4-BE49-F238E27FC236}">
                <a16:creationId xmlns:a16="http://schemas.microsoft.com/office/drawing/2014/main" id="{CF4E2793-547B-E57A-5623-59A4DDA72453}"/>
              </a:ext>
            </a:extLst>
          </p:cNvPr>
          <p:cNvSpPr txBox="1"/>
          <p:nvPr/>
        </p:nvSpPr>
        <p:spPr>
          <a:xfrm>
            <a:off x="9753600" y="3190677"/>
            <a:ext cx="7620000" cy="5232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Coupling capacitors are open circuits at DC, so 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, R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L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and the output terminal drop out.</a:t>
            </a:r>
          </a:p>
        </p:txBody>
      </p:sp>
      <p:sp>
        <p:nvSpPr>
          <p:cNvPr id="78" name="badge @2">
            <a:extLst>
              <a:ext uri="{FF2B5EF4-FFF2-40B4-BE49-F238E27FC236}">
                <a16:creationId xmlns:a16="http://schemas.microsoft.com/office/drawing/2014/main" id="{3A0F0B35-CCD6-191A-62D1-2DC8BEC103DF}"/>
              </a:ext>
            </a:extLst>
          </p:cNvPr>
          <p:cNvSpPr/>
          <p:nvPr/>
        </p:nvSpPr>
        <p:spPr>
          <a:xfrm>
            <a:off x="9169400" y="3904397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2</a:t>
            </a:r>
          </a:p>
        </p:txBody>
      </p:sp>
      <p:sp>
        <p:nvSpPr>
          <p:cNvPr id="79" name="step @2">
            <a:extLst>
              <a:ext uri="{FF2B5EF4-FFF2-40B4-BE49-F238E27FC236}">
                <a16:creationId xmlns:a16="http://schemas.microsoft.com/office/drawing/2014/main" id="{47D5D8F3-DEC8-8E58-84F4-529FB02691B4}"/>
              </a:ext>
            </a:extLst>
          </p:cNvPr>
          <p:cNvSpPr txBox="1"/>
          <p:nvPr/>
        </p:nvSpPr>
        <p:spPr>
          <a:xfrm>
            <a:off x="9753600" y="3891697"/>
            <a:ext cx="7620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Relate </a:t>
            </a:r>
            <a:r>
              <a:rPr lang="en-US" sz="2000" b="1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000" b="1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 to </a:t>
            </a:r>
            <a:r>
              <a:rPr lang="en-US" sz="2000" b="1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000" b="1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</a:p>
        </p:txBody>
      </p:sp>
      <p:sp>
        <p:nvSpPr>
          <p:cNvPr id="80" name="note @2">
            <a:extLst>
              <a:ext uri="{FF2B5EF4-FFF2-40B4-BE49-F238E27FC236}">
                <a16:creationId xmlns:a16="http://schemas.microsoft.com/office/drawing/2014/main" id="{11935E45-1606-9BA3-54E9-9E65B49A5BB5}"/>
              </a:ext>
            </a:extLst>
          </p:cNvPr>
          <p:cNvSpPr txBox="1"/>
          <p:nvPr/>
        </p:nvSpPr>
        <p:spPr>
          <a:xfrm>
            <a:off x="9753600" y="4224874"/>
            <a:ext cx="7620000" cy="5232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No gate current flows, so there is no drop across R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G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: 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G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= 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D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. With the source grounded, 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= 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DS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≥ 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GS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− 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: saturation is guaranteed.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" name="eq @2">
                <a:extLst>
                  <a:ext uri="{FF2B5EF4-FFF2-40B4-BE49-F238E27FC236}">
                    <a16:creationId xmlns:a16="http://schemas.microsoft.com/office/drawing/2014/main" id="{CD27F956-8CEF-7CBA-B443-284EFED2F73A}"/>
                  </a:ext>
                </a:extLst>
              </p:cNvPr>
              <p:cNvSpPr txBox="1"/>
              <p:nvPr/>
            </p:nvSpPr>
            <p:spPr>
              <a:xfrm>
                <a:off x="9753600" y="4773493"/>
                <a:ext cx="7620000" cy="4191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r>
                        <a:rPr lang="en-US" sz="2200" b="1">
                          <a:solidFill>
                            <a:srgbClr val="1F6FA8"/>
                          </a:solidFill>
                          <a:latin typeface="Cambria Math"/>
                          <a:cs typeface="Cambria Math"/>
                        </a:rPr>
                        <m:t>15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r>
                        <a:rPr lang="en-US" sz="2200" b="1">
                          <a:solidFill>
                            <a:srgbClr val="0E7C7B"/>
                          </a:solidFill>
                          <a:latin typeface="Cambria Math"/>
                          <a:cs typeface="Cambria Math"/>
                        </a:rPr>
                        <m:t>10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1" name="eq @2">
                <a:extLst>
                  <a:ext uri="{FF2B5EF4-FFF2-40B4-BE49-F238E27FC236}">
                    <a16:creationId xmlns:a16="http://schemas.microsoft.com/office/drawing/2014/main" id="{CD27F956-8CEF-7CBA-B443-284EFED2F7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3600" y="4773493"/>
                <a:ext cx="7620000" cy="419100"/>
              </a:xfrm>
              <a:prstGeom prst="rect">
                <a:avLst/>
              </a:prstGeom>
              <a:blipFill>
                <a:blip r:embed="rId2"/>
                <a:stretch>
                  <a:fillRect l="-1280"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badge @3">
            <a:extLst>
              <a:ext uri="{FF2B5EF4-FFF2-40B4-BE49-F238E27FC236}">
                <a16:creationId xmlns:a16="http://schemas.microsoft.com/office/drawing/2014/main" id="{4A8E72B6-09A5-B831-85E8-26C1AC7AA5BF}"/>
              </a:ext>
            </a:extLst>
          </p:cNvPr>
          <p:cNvSpPr/>
          <p:nvPr/>
        </p:nvSpPr>
        <p:spPr>
          <a:xfrm>
            <a:off x="9169400" y="5357694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3</a:t>
            </a:r>
          </a:p>
        </p:txBody>
      </p:sp>
      <p:sp>
        <p:nvSpPr>
          <p:cNvPr id="83" name="step @3">
            <a:extLst>
              <a:ext uri="{FF2B5EF4-FFF2-40B4-BE49-F238E27FC236}">
                <a16:creationId xmlns:a16="http://schemas.microsoft.com/office/drawing/2014/main" id="{EA802626-15B8-4060-3AB8-E7641333B8D6}"/>
              </a:ext>
            </a:extLst>
          </p:cNvPr>
          <p:cNvSpPr txBox="1"/>
          <p:nvPr/>
        </p:nvSpPr>
        <p:spPr>
          <a:xfrm>
            <a:off x="9753600" y="5344994"/>
            <a:ext cx="7620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Solve for the bias current (</a:t>
            </a:r>
            <a:r>
              <a:rPr lang="en-US" sz="2000" b="1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000" b="1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 in mA)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4" name="eq @3">
                <a:extLst>
                  <a:ext uri="{FF2B5EF4-FFF2-40B4-BE49-F238E27FC236}">
                    <a16:creationId xmlns:a16="http://schemas.microsoft.com/office/drawing/2014/main" id="{E854DCC7-5903-1D4D-7B06-3B6F3AD3A83B}"/>
                  </a:ext>
                </a:extLst>
              </p:cNvPr>
              <p:cNvSpPr txBox="1"/>
              <p:nvPr/>
            </p:nvSpPr>
            <p:spPr>
              <a:xfrm>
                <a:off x="9753600" y="5678170"/>
                <a:ext cx="7620000" cy="64262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r>
                        <a:rPr lang="en-US" sz="2200" b="1">
                          <a:solidFill>
                            <a:srgbClr val="B0186B"/>
                          </a:solidFill>
                          <a:latin typeface="Cambria Math"/>
                          <a:cs typeface="Cambria Math"/>
                        </a:rPr>
                        <m:t>0.25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)(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r>
                        <a:rPr lang="en-US" sz="2200" b="1">
                          <a:solidFill>
                            <a:srgbClr val="B0186B"/>
                          </a:solidFill>
                          <a:latin typeface="Cambria Math"/>
                          <a:cs typeface="Cambria Math"/>
                        </a:rPr>
                        <m:t>1.5</m:t>
                      </m:r>
                      <m:sSup>
                        <m:sSup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4" name="eq @3">
                <a:extLst>
                  <a:ext uri="{FF2B5EF4-FFF2-40B4-BE49-F238E27FC236}">
                    <a16:creationId xmlns:a16="http://schemas.microsoft.com/office/drawing/2014/main" id="{E854DCC7-5903-1D4D-7B06-3B6F3AD3A8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3600" y="5678170"/>
                <a:ext cx="7620000" cy="6426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5" name="eq @3">
                <a:extLst>
                  <a:ext uri="{FF2B5EF4-FFF2-40B4-BE49-F238E27FC236}">
                    <a16:creationId xmlns:a16="http://schemas.microsoft.com/office/drawing/2014/main" id="{9FE8B238-F37D-8CB9-1A6A-009A72C766F9}"/>
                  </a:ext>
                </a:extLst>
              </p:cNvPr>
              <p:cNvSpPr txBox="1"/>
              <p:nvPr/>
            </p:nvSpPr>
            <p:spPr>
              <a:xfrm>
                <a:off x="9753600" y="6320790"/>
                <a:ext cx="7620000" cy="4191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12.5</m:t>
                      </m:r>
                      <m:sSubSup>
                        <m:sSubSup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  <m:sup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−34.75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+22.78=0 ⇒ 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=1.06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or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 1.72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5" name="eq @3">
                <a:extLst>
                  <a:ext uri="{FF2B5EF4-FFF2-40B4-BE49-F238E27FC236}">
                    <a16:creationId xmlns:a16="http://schemas.microsoft.com/office/drawing/2014/main" id="{9FE8B238-F37D-8CB9-1A6A-009A72C76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3600" y="6320790"/>
                <a:ext cx="7620000" cy="419100"/>
              </a:xfrm>
              <a:prstGeom prst="rect">
                <a:avLst/>
              </a:prstGeom>
              <a:blipFill>
                <a:blip r:embed="rId4"/>
                <a:stretch>
                  <a:fillRect l="-1280" b="-2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then @3">
            <a:extLst>
              <a:ext uri="{FF2B5EF4-FFF2-40B4-BE49-F238E27FC236}">
                <a16:creationId xmlns:a16="http://schemas.microsoft.com/office/drawing/2014/main" id="{6A0BD9F0-6343-6361-5226-AADCCA94321A}"/>
              </a:ext>
            </a:extLst>
          </p:cNvPr>
          <p:cNvSpPr txBox="1"/>
          <p:nvPr/>
        </p:nvSpPr>
        <p:spPr>
          <a:xfrm>
            <a:off x="9753600" y="6739891"/>
            <a:ext cx="7620000" cy="5847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1.72 mA gives </a:t>
            </a:r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−2.21 V &lt; </a:t>
            </a:r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: reject. So </a:t>
            </a:r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</a:t>
            </a:r>
            <a:r>
              <a:rPr lang="en-US" sz="1900" b="1">
                <a:solidFill>
                  <a:srgbClr val="15241D"/>
                </a:solidFill>
                <a:latin typeface="DM Sans" pitchFamily="2" charset="0"/>
              </a:rPr>
              <a:t>1.06 mA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and </a:t>
            </a:r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</a:t>
            </a:r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 = </a:t>
            </a:r>
            <a:r>
              <a:rPr lang="en-US" sz="1900" b="1">
                <a:solidFill>
                  <a:srgbClr val="15241D"/>
                </a:solidFill>
                <a:latin typeface="DM Sans" pitchFamily="2" charset="0"/>
              </a:rPr>
              <a:t>4.41 V</a:t>
            </a:r>
            <a:r>
              <a:rPr lang="en-US" sz="19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87" name="chrome page">
            <a:extLst>
              <a:ext uri="{FF2B5EF4-FFF2-40B4-BE49-F238E27FC236}">
                <a16:creationId xmlns:a16="http://schemas.microsoft.com/office/drawing/2014/main" id="{F26C4E08-47D7-A35D-61E1-4E13A1321D46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chrome page">
            <a:extLst>
              <a:ext uri="{FF2B5EF4-FFF2-40B4-BE49-F238E27FC236}">
                <a16:creationId xmlns:a16="http://schemas.microsoft.com/office/drawing/2014/main" id="{9273E988-9FD0-F9FF-10C6-953487C2B97C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238627874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 2: gain and input resi s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18B97D1-CEF7-D0FF-8AA1-DE3707F98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Example 2: gain and input resistance (2 of 2)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92877BD3-F32A-8DD1-7749-432B2E53D498}"/>
              </a:ext>
            </a:extLst>
          </p:cNvPr>
          <p:cNvSpPr/>
          <p:nvPr/>
        </p:nvSpPr>
        <p:spPr>
          <a:xfrm>
            <a:off x="914400" y="279400"/>
            <a:ext cx="377698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CB20353B-E37D-88C6-40A1-94220C33C391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E607418D-7F33-2DB5-797A-7E1E862EC6E9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circuit card">
            <a:extLst>
              <a:ext uri="{FF2B5EF4-FFF2-40B4-BE49-F238E27FC236}">
                <a16:creationId xmlns:a16="http://schemas.microsoft.com/office/drawing/2014/main" id="{94FC7923-A57B-BA2A-6973-885F97612F83}"/>
              </a:ext>
            </a:extLst>
          </p:cNvPr>
          <p:cNvSpPr/>
          <p:nvPr/>
        </p:nvSpPr>
        <p:spPr>
          <a:xfrm>
            <a:off x="914400" y="1905000"/>
            <a:ext cx="7874000" cy="5715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F4E34EFB-81A3-E3B2-3136-C82F71C77D6D}"/>
              </a:ext>
            </a:extLst>
          </p:cNvPr>
          <p:cNvSpPr/>
          <p:nvPr/>
        </p:nvSpPr>
        <p:spPr>
          <a:xfrm>
            <a:off x="914400" y="1892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kt">
            <a:extLst>
              <a:ext uri="{FF2B5EF4-FFF2-40B4-BE49-F238E27FC236}">
                <a16:creationId xmlns:a16="http://schemas.microsoft.com/office/drawing/2014/main" id="{BF35BB08-15AA-BDB3-9B15-58B3A98FFE60}"/>
              </a:ext>
            </a:extLst>
          </p:cNvPr>
          <p:cNvCxnSpPr/>
          <p:nvPr/>
        </p:nvCxnSpPr>
        <p:spPr>
          <a:xfrm>
            <a:off x="4724400" y="50769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kt">
            <a:extLst>
              <a:ext uri="{FF2B5EF4-FFF2-40B4-BE49-F238E27FC236}">
                <a16:creationId xmlns:a16="http://schemas.microsoft.com/office/drawing/2014/main" id="{DDCD36F3-5452-FBC1-6FA6-D26BF9710EA0}"/>
              </a:ext>
            </a:extLst>
          </p:cNvPr>
          <p:cNvCxnSpPr/>
          <p:nvPr/>
        </p:nvCxnSpPr>
        <p:spPr>
          <a:xfrm>
            <a:off x="4851400" y="4927600"/>
            <a:ext cx="0" cy="1066800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kt">
            <a:extLst>
              <a:ext uri="{FF2B5EF4-FFF2-40B4-BE49-F238E27FC236}">
                <a16:creationId xmlns:a16="http://schemas.microsoft.com/office/drawing/2014/main" id="{061FB374-1D01-D8DC-460C-A76F3B7678F8}"/>
              </a:ext>
            </a:extLst>
          </p:cNvPr>
          <p:cNvCxnSpPr/>
          <p:nvPr/>
        </p:nvCxnSpPr>
        <p:spPr>
          <a:xfrm>
            <a:off x="4851400" y="50292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kt">
            <a:extLst>
              <a:ext uri="{FF2B5EF4-FFF2-40B4-BE49-F238E27FC236}">
                <a16:creationId xmlns:a16="http://schemas.microsoft.com/office/drawing/2014/main" id="{F5D7E194-A230-D291-51BA-7C42C6E218F5}"/>
              </a:ext>
            </a:extLst>
          </p:cNvPr>
          <p:cNvCxnSpPr/>
          <p:nvPr/>
        </p:nvCxnSpPr>
        <p:spPr>
          <a:xfrm>
            <a:off x="4851400" y="58928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kt">
            <a:extLst>
              <a:ext uri="{FF2B5EF4-FFF2-40B4-BE49-F238E27FC236}">
                <a16:creationId xmlns:a16="http://schemas.microsoft.com/office/drawing/2014/main" id="{C13B3EE1-7013-32E2-CDA9-A45AC32EBB00}"/>
              </a:ext>
            </a:extLst>
          </p:cNvPr>
          <p:cNvCxnSpPr/>
          <p:nvPr/>
        </p:nvCxnSpPr>
        <p:spPr>
          <a:xfrm>
            <a:off x="5153660" y="5892800"/>
            <a:ext cx="12954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kt">
            <a:extLst>
              <a:ext uri="{FF2B5EF4-FFF2-40B4-BE49-F238E27FC236}">
                <a16:creationId xmlns:a16="http://schemas.microsoft.com/office/drawing/2014/main" id="{E07DF5A2-D53F-806F-5FE7-58FC7CC84203}"/>
              </a:ext>
            </a:extLst>
          </p:cNvPr>
          <p:cNvSpPr/>
          <p:nvPr/>
        </p:nvSpPr>
        <p:spPr>
          <a:xfrm>
            <a:off x="5213350" y="2343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 label">
            <a:extLst>
              <a:ext uri="{FF2B5EF4-FFF2-40B4-BE49-F238E27FC236}">
                <a16:creationId xmlns:a16="http://schemas.microsoft.com/office/drawing/2014/main" id="{87EFD2A3-12F7-8E34-D6A5-B70CDF23801F}"/>
              </a:ext>
            </a:extLst>
          </p:cNvPr>
          <p:cNvSpPr txBox="1"/>
          <p:nvPr/>
        </p:nvSpPr>
        <p:spPr>
          <a:xfrm>
            <a:off x="5461000" y="2251074"/>
            <a:ext cx="2794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b="1">
                <a:solidFill>
                  <a:srgbClr val="1F6FA8"/>
                </a:solidFill>
                <a:latin typeface="DM Sans" pitchFamily="2" charset="0"/>
              </a:rPr>
              <a:t>+</a:t>
            </a:r>
            <a:r>
              <a:rPr lang="en-US" sz="1700" b="1" i="1">
                <a:solidFill>
                  <a:srgbClr val="1F6FA8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1F6FA8"/>
                </a:solidFill>
                <a:latin typeface="DM Sans" pitchFamily="2" charset="0"/>
              </a:rPr>
              <a:t>DD</a:t>
            </a:r>
            <a:r>
              <a:rPr lang="en-US" sz="1700" b="1">
                <a:solidFill>
                  <a:srgbClr val="1F6FA8"/>
                </a:solidFill>
                <a:latin typeface="DM Sans" pitchFamily="2" charset="0"/>
              </a:rPr>
              <a:t> = 15 V</a:t>
            </a:r>
          </a:p>
        </p:txBody>
      </p:sp>
      <p:sp>
        <p:nvSpPr>
          <p:cNvPr id="15" name="ckt">
            <a:extLst>
              <a:ext uri="{FF2B5EF4-FFF2-40B4-BE49-F238E27FC236}">
                <a16:creationId xmlns:a16="http://schemas.microsoft.com/office/drawing/2014/main" id="{E952BDB8-7ACE-2943-6BEF-C8244374AA86}"/>
              </a:ext>
            </a:extLst>
          </p:cNvPr>
          <p:cNvSpPr/>
          <p:nvPr/>
        </p:nvSpPr>
        <p:spPr>
          <a:xfrm>
            <a:off x="5156200" y="2482850"/>
            <a:ext cx="254001" cy="1581151"/>
          </a:xfrm>
          <a:custGeom>
            <a:avLst/>
            <a:gdLst/>
            <a:ahLst/>
            <a:cxnLst/>
            <a:rect l="0" t="0" r="0" b="0"/>
            <a:pathLst>
              <a:path w="254001" h="1581151">
                <a:moveTo>
                  <a:pt x="127000" y="0"/>
                </a:moveTo>
                <a:lnTo>
                  <a:pt x="127000" y="422275"/>
                </a:lnTo>
                <a:lnTo>
                  <a:pt x="0" y="483658"/>
                </a:lnTo>
                <a:lnTo>
                  <a:pt x="254000" y="606425"/>
                </a:lnTo>
                <a:lnTo>
                  <a:pt x="0" y="729192"/>
                </a:lnTo>
                <a:lnTo>
                  <a:pt x="254000" y="851958"/>
                </a:lnTo>
                <a:lnTo>
                  <a:pt x="0" y="974725"/>
                </a:lnTo>
                <a:lnTo>
                  <a:pt x="254000" y="1097492"/>
                </a:lnTo>
                <a:lnTo>
                  <a:pt x="127000" y="1158875"/>
                </a:lnTo>
                <a:lnTo>
                  <a:pt x="127000" y="158115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kt">
            <a:extLst>
              <a:ext uri="{FF2B5EF4-FFF2-40B4-BE49-F238E27FC236}">
                <a16:creationId xmlns:a16="http://schemas.microsoft.com/office/drawing/2014/main" id="{AE5A86A4-0EA0-EC0F-792C-395E61227CF1}"/>
              </a:ext>
            </a:extLst>
          </p:cNvPr>
          <p:cNvSpPr/>
          <p:nvPr/>
        </p:nvSpPr>
        <p:spPr>
          <a:xfrm>
            <a:off x="5226050" y="4006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kt label">
            <a:extLst>
              <a:ext uri="{FF2B5EF4-FFF2-40B4-BE49-F238E27FC236}">
                <a16:creationId xmlns:a16="http://schemas.microsoft.com/office/drawing/2014/main" id="{1EC0AEE8-80CB-6873-D3B0-188D78119D2A}"/>
              </a:ext>
            </a:extLst>
          </p:cNvPr>
          <p:cNvSpPr txBox="1"/>
          <p:nvPr/>
        </p:nvSpPr>
        <p:spPr>
          <a:xfrm>
            <a:off x="5486400" y="3127374"/>
            <a:ext cx="2794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D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10 k</a:t>
            </a:r>
            <a:r>
              <a:rPr lang="el-GR" sz="1700" b="1">
                <a:solidFill>
                  <a:srgbClr val="0E7C7B"/>
                </a:solidFill>
              </a:rPr>
              <a:t>Ω</a:t>
            </a:r>
            <a:endParaRPr lang="en-US" sz="1700" b="1">
              <a:solidFill>
                <a:srgbClr val="0E7C7B"/>
              </a:solidFill>
              <a:latin typeface="DM Sans" pitchFamily="2" charset="0"/>
            </a:endParaRPr>
          </a:p>
        </p:txBody>
      </p:sp>
      <p:cxnSp>
        <p:nvCxnSpPr>
          <p:cNvPr id="18" name="ckt">
            <a:extLst>
              <a:ext uri="{FF2B5EF4-FFF2-40B4-BE49-F238E27FC236}">
                <a16:creationId xmlns:a16="http://schemas.microsoft.com/office/drawing/2014/main" id="{8F3A1A52-E7E4-535E-5292-06A8E8F50DDC}"/>
              </a:ext>
            </a:extLst>
          </p:cNvPr>
          <p:cNvCxnSpPr/>
          <p:nvPr/>
        </p:nvCxnSpPr>
        <p:spPr>
          <a:xfrm>
            <a:off x="5283200" y="4064000"/>
            <a:ext cx="0" cy="9652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kt">
            <a:extLst>
              <a:ext uri="{FF2B5EF4-FFF2-40B4-BE49-F238E27FC236}">
                <a16:creationId xmlns:a16="http://schemas.microsoft.com/office/drawing/2014/main" id="{BAFF801E-5124-AE56-382B-566A299CDF5A}"/>
              </a:ext>
            </a:extLst>
          </p:cNvPr>
          <p:cNvCxnSpPr/>
          <p:nvPr/>
        </p:nvCxnSpPr>
        <p:spPr>
          <a:xfrm>
            <a:off x="5283200" y="5892800"/>
            <a:ext cx="0" cy="14732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kt">
            <a:extLst>
              <a:ext uri="{FF2B5EF4-FFF2-40B4-BE49-F238E27FC236}">
                <a16:creationId xmlns:a16="http://schemas.microsoft.com/office/drawing/2014/main" id="{D327BABE-B4AF-9B7A-E6BE-F26F978CAE5A}"/>
              </a:ext>
            </a:extLst>
          </p:cNvPr>
          <p:cNvCxnSpPr/>
          <p:nvPr/>
        </p:nvCxnSpPr>
        <p:spPr>
          <a:xfrm>
            <a:off x="5283200" y="73660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kt">
            <a:extLst>
              <a:ext uri="{FF2B5EF4-FFF2-40B4-BE49-F238E27FC236}">
                <a16:creationId xmlns:a16="http://schemas.microsoft.com/office/drawing/2014/main" id="{2517BAAD-FADA-2893-8C16-4A0090E58E44}"/>
              </a:ext>
            </a:extLst>
          </p:cNvPr>
          <p:cNvCxnSpPr/>
          <p:nvPr/>
        </p:nvCxnSpPr>
        <p:spPr>
          <a:xfrm>
            <a:off x="5092700" y="75184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kt">
            <a:extLst>
              <a:ext uri="{FF2B5EF4-FFF2-40B4-BE49-F238E27FC236}">
                <a16:creationId xmlns:a16="http://schemas.microsoft.com/office/drawing/2014/main" id="{F4B54E95-1C39-DE3E-EFE8-D19C0A2C10DF}"/>
              </a:ext>
            </a:extLst>
          </p:cNvPr>
          <p:cNvCxnSpPr/>
          <p:nvPr/>
        </p:nvCxnSpPr>
        <p:spPr>
          <a:xfrm>
            <a:off x="5162550" y="75882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kt">
            <a:extLst>
              <a:ext uri="{FF2B5EF4-FFF2-40B4-BE49-F238E27FC236}">
                <a16:creationId xmlns:a16="http://schemas.microsoft.com/office/drawing/2014/main" id="{318E2BCE-B30E-7C4E-8711-DC145C936DED}"/>
              </a:ext>
            </a:extLst>
          </p:cNvPr>
          <p:cNvCxnSpPr/>
          <p:nvPr/>
        </p:nvCxnSpPr>
        <p:spPr>
          <a:xfrm>
            <a:off x="5232400" y="76581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kt">
            <a:extLst>
              <a:ext uri="{FF2B5EF4-FFF2-40B4-BE49-F238E27FC236}">
                <a16:creationId xmlns:a16="http://schemas.microsoft.com/office/drawing/2014/main" id="{A9E4A9B8-5BEB-59F6-6313-F97F8C5DB04E}"/>
              </a:ext>
            </a:extLst>
          </p:cNvPr>
          <p:cNvCxnSpPr/>
          <p:nvPr/>
        </p:nvCxnSpPr>
        <p:spPr>
          <a:xfrm flipH="1">
            <a:off x="3835400" y="4064000"/>
            <a:ext cx="1447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kt">
            <a:extLst>
              <a:ext uri="{FF2B5EF4-FFF2-40B4-BE49-F238E27FC236}">
                <a16:creationId xmlns:a16="http://schemas.microsoft.com/office/drawing/2014/main" id="{237719FA-EC59-1653-7841-410F2AEE85E3}"/>
              </a:ext>
            </a:extLst>
          </p:cNvPr>
          <p:cNvSpPr/>
          <p:nvPr/>
        </p:nvSpPr>
        <p:spPr>
          <a:xfrm>
            <a:off x="3708400" y="4064000"/>
            <a:ext cx="254001" cy="1397001"/>
          </a:xfrm>
          <a:custGeom>
            <a:avLst/>
            <a:gdLst/>
            <a:ahLst/>
            <a:cxnLst/>
            <a:rect l="0" t="0" r="0" b="0"/>
            <a:pathLst>
              <a:path w="254001" h="1397001">
                <a:moveTo>
                  <a:pt x="127000" y="0"/>
                </a:moveTo>
                <a:lnTo>
                  <a:pt x="127000" y="330200"/>
                </a:lnTo>
                <a:lnTo>
                  <a:pt x="0" y="391583"/>
                </a:lnTo>
                <a:lnTo>
                  <a:pt x="254000" y="514350"/>
                </a:lnTo>
                <a:lnTo>
                  <a:pt x="0" y="637117"/>
                </a:lnTo>
                <a:lnTo>
                  <a:pt x="254000" y="759883"/>
                </a:lnTo>
                <a:lnTo>
                  <a:pt x="0" y="882650"/>
                </a:lnTo>
                <a:lnTo>
                  <a:pt x="254000" y="1005417"/>
                </a:lnTo>
                <a:lnTo>
                  <a:pt x="127000" y="1066800"/>
                </a:lnTo>
                <a:lnTo>
                  <a:pt x="127000" y="13970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kt">
            <a:extLst>
              <a:ext uri="{FF2B5EF4-FFF2-40B4-BE49-F238E27FC236}">
                <a16:creationId xmlns:a16="http://schemas.microsoft.com/office/drawing/2014/main" id="{8FD4AB62-1697-3619-7A8A-C2E668EEC77C}"/>
              </a:ext>
            </a:extLst>
          </p:cNvPr>
          <p:cNvSpPr/>
          <p:nvPr/>
        </p:nvSpPr>
        <p:spPr>
          <a:xfrm>
            <a:off x="3778250" y="5403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ckt label">
            <a:extLst>
              <a:ext uri="{FF2B5EF4-FFF2-40B4-BE49-F238E27FC236}">
                <a16:creationId xmlns:a16="http://schemas.microsoft.com/office/drawing/2014/main" id="{EA304126-E505-0055-FF40-39A301370D89}"/>
              </a:ext>
            </a:extLst>
          </p:cNvPr>
          <p:cNvSpPr txBox="1"/>
          <p:nvPr/>
        </p:nvSpPr>
        <p:spPr>
          <a:xfrm>
            <a:off x="838200" y="4600574"/>
            <a:ext cx="2794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700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7A3E9D"/>
                </a:solidFill>
                <a:latin typeface="DM Sans" pitchFamily="2" charset="0"/>
              </a:rPr>
              <a:t>G</a:t>
            </a:r>
            <a:r>
              <a:rPr lang="en-US" sz="1700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sz="1700" b="1">
                <a:solidFill>
                  <a:srgbClr val="7A3E9D"/>
                </a:solidFill>
              </a:rPr>
              <a:t>Ω</a:t>
            </a:r>
            <a:endParaRPr lang="en-US" sz="1700" b="1">
              <a:solidFill>
                <a:srgbClr val="7A3E9D"/>
              </a:solidFill>
              <a:latin typeface="DM Sans" pitchFamily="2" charset="0"/>
            </a:endParaRPr>
          </a:p>
        </p:txBody>
      </p:sp>
      <p:cxnSp>
        <p:nvCxnSpPr>
          <p:cNvPr id="28" name="ckt">
            <a:extLst>
              <a:ext uri="{FF2B5EF4-FFF2-40B4-BE49-F238E27FC236}">
                <a16:creationId xmlns:a16="http://schemas.microsoft.com/office/drawing/2014/main" id="{020152DD-7FF0-D954-F299-CEED466804BE}"/>
              </a:ext>
            </a:extLst>
          </p:cNvPr>
          <p:cNvCxnSpPr/>
          <p:nvPr/>
        </p:nvCxnSpPr>
        <p:spPr>
          <a:xfrm>
            <a:off x="3835400" y="5461000"/>
            <a:ext cx="889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kt">
            <a:extLst>
              <a:ext uri="{FF2B5EF4-FFF2-40B4-BE49-F238E27FC236}">
                <a16:creationId xmlns:a16="http://schemas.microsoft.com/office/drawing/2014/main" id="{A0A73344-E2F8-584A-9C47-E19C2204D83F}"/>
              </a:ext>
            </a:extLst>
          </p:cNvPr>
          <p:cNvCxnSpPr/>
          <p:nvPr/>
        </p:nvCxnSpPr>
        <p:spPr>
          <a:xfrm>
            <a:off x="2565400" y="5461000"/>
            <a:ext cx="5715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kt">
            <a:extLst>
              <a:ext uri="{FF2B5EF4-FFF2-40B4-BE49-F238E27FC236}">
                <a16:creationId xmlns:a16="http://schemas.microsoft.com/office/drawing/2014/main" id="{E0383F93-9E9E-62DA-64C2-753AE9205754}"/>
              </a:ext>
            </a:extLst>
          </p:cNvPr>
          <p:cNvCxnSpPr/>
          <p:nvPr/>
        </p:nvCxnSpPr>
        <p:spPr>
          <a:xfrm>
            <a:off x="3263900" y="5461000"/>
            <a:ext cx="5715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kt">
            <a:extLst>
              <a:ext uri="{FF2B5EF4-FFF2-40B4-BE49-F238E27FC236}">
                <a16:creationId xmlns:a16="http://schemas.microsoft.com/office/drawing/2014/main" id="{7A667AC4-9C23-5C89-3885-FDC8472045A2}"/>
              </a:ext>
            </a:extLst>
          </p:cNvPr>
          <p:cNvCxnSpPr/>
          <p:nvPr/>
        </p:nvCxnSpPr>
        <p:spPr>
          <a:xfrm flipV="1">
            <a:off x="3136900" y="5270500"/>
            <a:ext cx="0" cy="381000"/>
          </a:xfrm>
          <a:prstGeom prst="line">
            <a:avLst/>
          </a:prstGeom>
          <a:ln w="381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kt">
            <a:extLst>
              <a:ext uri="{FF2B5EF4-FFF2-40B4-BE49-F238E27FC236}">
                <a16:creationId xmlns:a16="http://schemas.microsoft.com/office/drawing/2014/main" id="{CF95AC39-B505-27DF-DCA4-76C92BE17BCC}"/>
              </a:ext>
            </a:extLst>
          </p:cNvPr>
          <p:cNvCxnSpPr/>
          <p:nvPr/>
        </p:nvCxnSpPr>
        <p:spPr>
          <a:xfrm flipV="1">
            <a:off x="3263900" y="5270500"/>
            <a:ext cx="0" cy="381000"/>
          </a:xfrm>
          <a:prstGeom prst="line">
            <a:avLst/>
          </a:prstGeom>
          <a:ln w="381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kt">
            <a:extLst>
              <a:ext uri="{FF2B5EF4-FFF2-40B4-BE49-F238E27FC236}">
                <a16:creationId xmlns:a16="http://schemas.microsoft.com/office/drawing/2014/main" id="{9A191574-82E9-C5FF-2007-71969E3E2CDA}"/>
              </a:ext>
            </a:extLst>
          </p:cNvPr>
          <p:cNvCxnSpPr/>
          <p:nvPr/>
        </p:nvCxnSpPr>
        <p:spPr>
          <a:xfrm>
            <a:off x="1930400" y="5461000"/>
            <a:ext cx="635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kt">
            <a:extLst>
              <a:ext uri="{FF2B5EF4-FFF2-40B4-BE49-F238E27FC236}">
                <a16:creationId xmlns:a16="http://schemas.microsoft.com/office/drawing/2014/main" id="{0A4F5BE4-562E-7026-8EF1-568B9CF4A9B3}"/>
              </a:ext>
            </a:extLst>
          </p:cNvPr>
          <p:cNvSpPr/>
          <p:nvPr/>
        </p:nvSpPr>
        <p:spPr>
          <a:xfrm>
            <a:off x="1873250" y="5403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ckt">
            <a:extLst>
              <a:ext uri="{FF2B5EF4-FFF2-40B4-BE49-F238E27FC236}">
                <a16:creationId xmlns:a16="http://schemas.microsoft.com/office/drawing/2014/main" id="{03C91D34-C50A-FBB7-9F2D-E352E9F6B0E1}"/>
              </a:ext>
            </a:extLst>
          </p:cNvPr>
          <p:cNvCxnSpPr/>
          <p:nvPr/>
        </p:nvCxnSpPr>
        <p:spPr>
          <a:xfrm>
            <a:off x="1930400" y="5461000"/>
            <a:ext cx="0" cy="6731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kt">
            <a:extLst>
              <a:ext uri="{FF2B5EF4-FFF2-40B4-BE49-F238E27FC236}">
                <a16:creationId xmlns:a16="http://schemas.microsoft.com/office/drawing/2014/main" id="{00074B07-C0C2-B948-ACD8-8339F0D4EF6B}"/>
              </a:ext>
            </a:extLst>
          </p:cNvPr>
          <p:cNvCxnSpPr/>
          <p:nvPr/>
        </p:nvCxnSpPr>
        <p:spPr>
          <a:xfrm>
            <a:off x="1930400" y="6692900"/>
            <a:ext cx="0" cy="6731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kt">
            <a:extLst>
              <a:ext uri="{FF2B5EF4-FFF2-40B4-BE49-F238E27FC236}">
                <a16:creationId xmlns:a16="http://schemas.microsoft.com/office/drawing/2014/main" id="{B3B83B80-CFF1-2AB7-F70D-FCDCC2026209}"/>
              </a:ext>
            </a:extLst>
          </p:cNvPr>
          <p:cNvSpPr/>
          <p:nvPr/>
        </p:nvSpPr>
        <p:spPr>
          <a:xfrm>
            <a:off x="1651000" y="6134100"/>
            <a:ext cx="558800" cy="558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kt">
            <a:extLst>
              <a:ext uri="{FF2B5EF4-FFF2-40B4-BE49-F238E27FC236}">
                <a16:creationId xmlns:a16="http://schemas.microsoft.com/office/drawing/2014/main" id="{C703B5C1-593B-7F9F-04C9-26D424579BCD}"/>
              </a:ext>
            </a:extLst>
          </p:cNvPr>
          <p:cNvSpPr/>
          <p:nvPr/>
        </p:nvSpPr>
        <p:spPr>
          <a:xfrm>
            <a:off x="1762760" y="6315710"/>
            <a:ext cx="335281" cy="195581"/>
          </a:xfrm>
          <a:custGeom>
            <a:avLst/>
            <a:gdLst/>
            <a:ahLst/>
            <a:cxnLst/>
            <a:rect l="0" t="0" r="0" b="0"/>
            <a:pathLst>
              <a:path w="335281" h="195581">
                <a:moveTo>
                  <a:pt x="0" y="97790"/>
                </a:moveTo>
                <a:lnTo>
                  <a:pt x="20955" y="60367"/>
                </a:lnTo>
                <a:lnTo>
                  <a:pt x="41910" y="28642"/>
                </a:lnTo>
                <a:lnTo>
                  <a:pt x="62865" y="7444"/>
                </a:lnTo>
                <a:lnTo>
                  <a:pt x="83820" y="0"/>
                </a:lnTo>
                <a:lnTo>
                  <a:pt x="104775" y="7444"/>
                </a:lnTo>
                <a:lnTo>
                  <a:pt x="125730" y="28642"/>
                </a:lnTo>
                <a:lnTo>
                  <a:pt x="146685" y="60367"/>
                </a:lnTo>
                <a:lnTo>
                  <a:pt x="167640" y="97790"/>
                </a:lnTo>
                <a:lnTo>
                  <a:pt x="188595" y="135213"/>
                </a:lnTo>
                <a:lnTo>
                  <a:pt x="209550" y="166938"/>
                </a:lnTo>
                <a:lnTo>
                  <a:pt x="230505" y="188136"/>
                </a:lnTo>
                <a:lnTo>
                  <a:pt x="251460" y="195580"/>
                </a:lnTo>
                <a:lnTo>
                  <a:pt x="272415" y="188136"/>
                </a:lnTo>
                <a:lnTo>
                  <a:pt x="293370" y="166938"/>
                </a:lnTo>
                <a:lnTo>
                  <a:pt x="314325" y="135213"/>
                </a:lnTo>
                <a:lnTo>
                  <a:pt x="335280" y="97790"/>
                </a:lnTo>
              </a:path>
            </a:pathLst>
          </a:custGeom>
          <a:ln w="222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ckt">
            <a:extLst>
              <a:ext uri="{FF2B5EF4-FFF2-40B4-BE49-F238E27FC236}">
                <a16:creationId xmlns:a16="http://schemas.microsoft.com/office/drawing/2014/main" id="{61CBE484-5733-83B7-3D00-0F1E612F7499}"/>
              </a:ext>
            </a:extLst>
          </p:cNvPr>
          <p:cNvSpPr txBox="1"/>
          <p:nvPr/>
        </p:nvSpPr>
        <p:spPr>
          <a:xfrm>
            <a:off x="1981200" y="5854699"/>
            <a:ext cx="25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15241D"/>
                </a:solidFill>
                <a:latin typeface="DM Sans" pitchFamily="2" charset="0"/>
              </a:rPr>
              <a:t>+</a:t>
            </a:r>
          </a:p>
        </p:txBody>
      </p:sp>
      <p:cxnSp>
        <p:nvCxnSpPr>
          <p:cNvPr id="40" name="ckt">
            <a:extLst>
              <a:ext uri="{FF2B5EF4-FFF2-40B4-BE49-F238E27FC236}">
                <a16:creationId xmlns:a16="http://schemas.microsoft.com/office/drawing/2014/main" id="{4D2C9377-2934-7081-48BC-E69FDEF6C2E7}"/>
              </a:ext>
            </a:extLst>
          </p:cNvPr>
          <p:cNvCxnSpPr/>
          <p:nvPr/>
        </p:nvCxnSpPr>
        <p:spPr>
          <a:xfrm>
            <a:off x="1930400" y="73660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kt">
            <a:extLst>
              <a:ext uri="{FF2B5EF4-FFF2-40B4-BE49-F238E27FC236}">
                <a16:creationId xmlns:a16="http://schemas.microsoft.com/office/drawing/2014/main" id="{92EB3F6A-3CC3-6ED8-3859-36F44A59DE43}"/>
              </a:ext>
            </a:extLst>
          </p:cNvPr>
          <p:cNvCxnSpPr/>
          <p:nvPr/>
        </p:nvCxnSpPr>
        <p:spPr>
          <a:xfrm>
            <a:off x="1739900" y="75184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kt">
            <a:extLst>
              <a:ext uri="{FF2B5EF4-FFF2-40B4-BE49-F238E27FC236}">
                <a16:creationId xmlns:a16="http://schemas.microsoft.com/office/drawing/2014/main" id="{59E17134-C26F-91DD-B004-892C0FA5C2E5}"/>
              </a:ext>
            </a:extLst>
          </p:cNvPr>
          <p:cNvCxnSpPr/>
          <p:nvPr/>
        </p:nvCxnSpPr>
        <p:spPr>
          <a:xfrm>
            <a:off x="1809750" y="75882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kt">
            <a:extLst>
              <a:ext uri="{FF2B5EF4-FFF2-40B4-BE49-F238E27FC236}">
                <a16:creationId xmlns:a16="http://schemas.microsoft.com/office/drawing/2014/main" id="{94A52A7D-142C-3632-C20F-45E6EB799AFD}"/>
              </a:ext>
            </a:extLst>
          </p:cNvPr>
          <p:cNvCxnSpPr/>
          <p:nvPr/>
        </p:nvCxnSpPr>
        <p:spPr>
          <a:xfrm>
            <a:off x="1879600" y="76581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kt label">
            <a:extLst>
              <a:ext uri="{FF2B5EF4-FFF2-40B4-BE49-F238E27FC236}">
                <a16:creationId xmlns:a16="http://schemas.microsoft.com/office/drawing/2014/main" id="{39D641CF-5538-8005-3978-F7E814720BEF}"/>
              </a:ext>
            </a:extLst>
          </p:cNvPr>
          <p:cNvSpPr txBox="1"/>
          <p:nvPr/>
        </p:nvSpPr>
        <p:spPr>
          <a:xfrm>
            <a:off x="787400" y="6232524"/>
            <a:ext cx="762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i</a:t>
            </a:r>
          </a:p>
        </p:txBody>
      </p:sp>
      <p:cxnSp>
        <p:nvCxnSpPr>
          <p:cNvPr id="45" name="ckt">
            <a:extLst>
              <a:ext uri="{FF2B5EF4-FFF2-40B4-BE49-F238E27FC236}">
                <a16:creationId xmlns:a16="http://schemas.microsoft.com/office/drawing/2014/main" id="{9452A0A3-395D-9D21-E896-7E1FC4C44796}"/>
              </a:ext>
            </a:extLst>
          </p:cNvPr>
          <p:cNvCxnSpPr/>
          <p:nvPr/>
        </p:nvCxnSpPr>
        <p:spPr>
          <a:xfrm>
            <a:off x="2032000" y="6350000"/>
            <a:ext cx="635000" cy="0"/>
          </a:xfrm>
          <a:prstGeom prst="line">
            <a:avLst/>
          </a:prstGeom>
          <a:ln w="22225">
            <a:solidFill>
              <a:srgbClr val="4D5B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kt label">
            <a:extLst>
              <a:ext uri="{FF2B5EF4-FFF2-40B4-BE49-F238E27FC236}">
                <a16:creationId xmlns:a16="http://schemas.microsoft.com/office/drawing/2014/main" id="{6C680F71-8CA2-84C6-2953-EC172F8BE5AD}"/>
              </a:ext>
            </a:extLst>
          </p:cNvPr>
          <p:cNvSpPr txBox="1"/>
          <p:nvPr/>
        </p:nvSpPr>
        <p:spPr>
          <a:xfrm>
            <a:off x="2743200" y="6188074"/>
            <a:ext cx="1016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in</a:t>
            </a:r>
          </a:p>
        </p:txBody>
      </p:sp>
      <p:cxnSp>
        <p:nvCxnSpPr>
          <p:cNvPr id="47" name="ckt">
            <a:extLst>
              <a:ext uri="{FF2B5EF4-FFF2-40B4-BE49-F238E27FC236}">
                <a16:creationId xmlns:a16="http://schemas.microsoft.com/office/drawing/2014/main" id="{08CBB490-C2C4-2DAE-0639-40AE7A19B151}"/>
              </a:ext>
            </a:extLst>
          </p:cNvPr>
          <p:cNvCxnSpPr/>
          <p:nvPr/>
        </p:nvCxnSpPr>
        <p:spPr>
          <a:xfrm>
            <a:off x="5283200" y="4064000"/>
            <a:ext cx="508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kt">
            <a:extLst>
              <a:ext uri="{FF2B5EF4-FFF2-40B4-BE49-F238E27FC236}">
                <a16:creationId xmlns:a16="http://schemas.microsoft.com/office/drawing/2014/main" id="{D2716202-6AED-7863-D340-0D57162EC7D8}"/>
              </a:ext>
            </a:extLst>
          </p:cNvPr>
          <p:cNvCxnSpPr/>
          <p:nvPr/>
        </p:nvCxnSpPr>
        <p:spPr>
          <a:xfrm>
            <a:off x="5791200" y="40640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kt">
            <a:extLst>
              <a:ext uri="{FF2B5EF4-FFF2-40B4-BE49-F238E27FC236}">
                <a16:creationId xmlns:a16="http://schemas.microsoft.com/office/drawing/2014/main" id="{B078C913-650B-409C-1ED2-00B3A491870E}"/>
              </a:ext>
            </a:extLst>
          </p:cNvPr>
          <p:cNvCxnSpPr/>
          <p:nvPr/>
        </p:nvCxnSpPr>
        <p:spPr>
          <a:xfrm>
            <a:off x="6299200" y="40640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kt">
            <a:extLst>
              <a:ext uri="{FF2B5EF4-FFF2-40B4-BE49-F238E27FC236}">
                <a16:creationId xmlns:a16="http://schemas.microsoft.com/office/drawing/2014/main" id="{BD35087F-9BE8-C354-BC13-B1469DF9204B}"/>
              </a:ext>
            </a:extLst>
          </p:cNvPr>
          <p:cNvCxnSpPr/>
          <p:nvPr/>
        </p:nvCxnSpPr>
        <p:spPr>
          <a:xfrm flipV="1">
            <a:off x="6172200" y="3873500"/>
            <a:ext cx="0" cy="381000"/>
          </a:xfrm>
          <a:prstGeom prst="line">
            <a:avLst/>
          </a:prstGeom>
          <a:ln w="381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kt">
            <a:extLst>
              <a:ext uri="{FF2B5EF4-FFF2-40B4-BE49-F238E27FC236}">
                <a16:creationId xmlns:a16="http://schemas.microsoft.com/office/drawing/2014/main" id="{9E05DEF3-967D-522B-7BC0-9A0C3C2CEF66}"/>
              </a:ext>
            </a:extLst>
          </p:cNvPr>
          <p:cNvCxnSpPr/>
          <p:nvPr/>
        </p:nvCxnSpPr>
        <p:spPr>
          <a:xfrm flipV="1">
            <a:off x="6299200" y="3873500"/>
            <a:ext cx="0" cy="381000"/>
          </a:xfrm>
          <a:prstGeom prst="line">
            <a:avLst/>
          </a:prstGeom>
          <a:ln w="381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kt">
            <a:extLst>
              <a:ext uri="{FF2B5EF4-FFF2-40B4-BE49-F238E27FC236}">
                <a16:creationId xmlns:a16="http://schemas.microsoft.com/office/drawing/2014/main" id="{8B77297F-52FB-D582-5710-62B03B10BE50}"/>
              </a:ext>
            </a:extLst>
          </p:cNvPr>
          <p:cNvCxnSpPr/>
          <p:nvPr/>
        </p:nvCxnSpPr>
        <p:spPr>
          <a:xfrm>
            <a:off x="6680200" y="4064000"/>
            <a:ext cx="635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ckt">
            <a:extLst>
              <a:ext uri="{FF2B5EF4-FFF2-40B4-BE49-F238E27FC236}">
                <a16:creationId xmlns:a16="http://schemas.microsoft.com/office/drawing/2014/main" id="{BF5CB40A-EF1D-E13F-3FA1-8FF334EEDB9A}"/>
              </a:ext>
            </a:extLst>
          </p:cNvPr>
          <p:cNvSpPr/>
          <p:nvPr/>
        </p:nvSpPr>
        <p:spPr>
          <a:xfrm>
            <a:off x="7258050" y="4006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kt">
            <a:extLst>
              <a:ext uri="{FF2B5EF4-FFF2-40B4-BE49-F238E27FC236}">
                <a16:creationId xmlns:a16="http://schemas.microsoft.com/office/drawing/2014/main" id="{0372E37E-2080-28E2-FC4C-2579389D7437}"/>
              </a:ext>
            </a:extLst>
          </p:cNvPr>
          <p:cNvSpPr/>
          <p:nvPr/>
        </p:nvSpPr>
        <p:spPr>
          <a:xfrm>
            <a:off x="7188200" y="4064000"/>
            <a:ext cx="254001" cy="3302001"/>
          </a:xfrm>
          <a:custGeom>
            <a:avLst/>
            <a:gdLst/>
            <a:ahLst/>
            <a:cxnLst/>
            <a:rect l="0" t="0" r="0" b="0"/>
            <a:pathLst>
              <a:path w="254001" h="3302001">
                <a:moveTo>
                  <a:pt x="127000" y="0"/>
                </a:moveTo>
                <a:lnTo>
                  <a:pt x="127000" y="1282700"/>
                </a:lnTo>
                <a:lnTo>
                  <a:pt x="0" y="1344083"/>
                </a:lnTo>
                <a:lnTo>
                  <a:pt x="254000" y="1466850"/>
                </a:lnTo>
                <a:lnTo>
                  <a:pt x="0" y="1589617"/>
                </a:lnTo>
                <a:lnTo>
                  <a:pt x="254000" y="1712383"/>
                </a:lnTo>
                <a:lnTo>
                  <a:pt x="0" y="1835150"/>
                </a:lnTo>
                <a:lnTo>
                  <a:pt x="254000" y="1957917"/>
                </a:lnTo>
                <a:lnTo>
                  <a:pt x="127000" y="2019300"/>
                </a:lnTo>
                <a:lnTo>
                  <a:pt x="127000" y="33020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ckt">
            <a:extLst>
              <a:ext uri="{FF2B5EF4-FFF2-40B4-BE49-F238E27FC236}">
                <a16:creationId xmlns:a16="http://schemas.microsoft.com/office/drawing/2014/main" id="{9AF21892-F690-69E2-C289-E667998AE6B2}"/>
              </a:ext>
            </a:extLst>
          </p:cNvPr>
          <p:cNvCxnSpPr/>
          <p:nvPr/>
        </p:nvCxnSpPr>
        <p:spPr>
          <a:xfrm>
            <a:off x="7315200" y="73660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kt">
            <a:extLst>
              <a:ext uri="{FF2B5EF4-FFF2-40B4-BE49-F238E27FC236}">
                <a16:creationId xmlns:a16="http://schemas.microsoft.com/office/drawing/2014/main" id="{8F7F4C08-9481-2E70-CE97-A62C4B90DC67}"/>
              </a:ext>
            </a:extLst>
          </p:cNvPr>
          <p:cNvCxnSpPr/>
          <p:nvPr/>
        </p:nvCxnSpPr>
        <p:spPr>
          <a:xfrm>
            <a:off x="7124700" y="75184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kt">
            <a:extLst>
              <a:ext uri="{FF2B5EF4-FFF2-40B4-BE49-F238E27FC236}">
                <a16:creationId xmlns:a16="http://schemas.microsoft.com/office/drawing/2014/main" id="{74766C07-6025-38D6-B205-DC2E9CDD6D33}"/>
              </a:ext>
            </a:extLst>
          </p:cNvPr>
          <p:cNvCxnSpPr/>
          <p:nvPr/>
        </p:nvCxnSpPr>
        <p:spPr>
          <a:xfrm>
            <a:off x="7194550" y="75882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kt">
            <a:extLst>
              <a:ext uri="{FF2B5EF4-FFF2-40B4-BE49-F238E27FC236}">
                <a16:creationId xmlns:a16="http://schemas.microsoft.com/office/drawing/2014/main" id="{D428F5C0-C008-A735-8EC4-AC189167BFD9}"/>
              </a:ext>
            </a:extLst>
          </p:cNvPr>
          <p:cNvCxnSpPr/>
          <p:nvPr/>
        </p:nvCxnSpPr>
        <p:spPr>
          <a:xfrm>
            <a:off x="7264400" y="76581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kt label">
            <a:extLst>
              <a:ext uri="{FF2B5EF4-FFF2-40B4-BE49-F238E27FC236}">
                <a16:creationId xmlns:a16="http://schemas.microsoft.com/office/drawing/2014/main" id="{9448BF18-201A-6A6A-4C12-2D26DB17BA19}"/>
              </a:ext>
            </a:extLst>
          </p:cNvPr>
          <p:cNvSpPr txBox="1"/>
          <p:nvPr/>
        </p:nvSpPr>
        <p:spPr>
          <a:xfrm>
            <a:off x="5461000" y="6061074"/>
            <a:ext cx="1651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L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10 k</a:t>
            </a:r>
            <a:r>
              <a:rPr lang="el-GR" sz="1700" b="1">
                <a:solidFill>
                  <a:srgbClr val="0E7C7B"/>
                </a:solidFill>
              </a:rPr>
              <a:t>Ω</a:t>
            </a:r>
            <a:endParaRPr lang="en-US" sz="1700" b="1">
              <a:solidFill>
                <a:srgbClr val="0E7C7B"/>
              </a:solidFill>
              <a:latin typeface="DM Sans" pitchFamily="2" charset="0"/>
            </a:endParaRPr>
          </a:p>
        </p:txBody>
      </p:sp>
      <p:cxnSp>
        <p:nvCxnSpPr>
          <p:cNvPr id="60" name="ckt">
            <a:extLst>
              <a:ext uri="{FF2B5EF4-FFF2-40B4-BE49-F238E27FC236}">
                <a16:creationId xmlns:a16="http://schemas.microsoft.com/office/drawing/2014/main" id="{FE946E9E-7BEA-FBBC-F5D2-369D04E833B7}"/>
              </a:ext>
            </a:extLst>
          </p:cNvPr>
          <p:cNvCxnSpPr/>
          <p:nvPr/>
        </p:nvCxnSpPr>
        <p:spPr>
          <a:xfrm>
            <a:off x="7315200" y="4064000"/>
            <a:ext cx="558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kt">
            <a:extLst>
              <a:ext uri="{FF2B5EF4-FFF2-40B4-BE49-F238E27FC236}">
                <a16:creationId xmlns:a16="http://schemas.microsoft.com/office/drawing/2014/main" id="{FCB782D8-864E-8CF5-A07E-C26125CBFAFB}"/>
              </a:ext>
            </a:extLst>
          </p:cNvPr>
          <p:cNvSpPr/>
          <p:nvPr/>
        </p:nvSpPr>
        <p:spPr>
          <a:xfrm>
            <a:off x="7880350" y="3994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kt label">
            <a:extLst>
              <a:ext uri="{FF2B5EF4-FFF2-40B4-BE49-F238E27FC236}">
                <a16:creationId xmlns:a16="http://schemas.microsoft.com/office/drawing/2014/main" id="{C9605B99-DD98-1ECB-2C94-E31D898F1F82}"/>
              </a:ext>
            </a:extLst>
          </p:cNvPr>
          <p:cNvSpPr txBox="1"/>
          <p:nvPr/>
        </p:nvSpPr>
        <p:spPr>
          <a:xfrm>
            <a:off x="8102600" y="3883024"/>
            <a:ext cx="635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o</a:t>
            </a:r>
          </a:p>
        </p:txBody>
      </p:sp>
      <p:sp>
        <p:nvSpPr>
          <p:cNvPr id="63" name="ckt label">
            <a:extLst>
              <a:ext uri="{FF2B5EF4-FFF2-40B4-BE49-F238E27FC236}">
                <a16:creationId xmlns:a16="http://schemas.microsoft.com/office/drawing/2014/main" id="{A6C4AF44-260D-CFBD-FC10-DBA7B3886D9C}"/>
              </a:ext>
            </a:extLst>
          </p:cNvPr>
          <p:cNvSpPr txBox="1"/>
          <p:nvPr/>
        </p:nvSpPr>
        <p:spPr>
          <a:xfrm>
            <a:off x="5854700" y="3479799"/>
            <a:ext cx="76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 i="1">
                <a:solidFill>
                  <a:srgbClr val="4D5B54"/>
                </a:solidFill>
                <a:latin typeface="DM Sans" pitchFamily="2" charset="0"/>
              </a:rPr>
              <a:t>C</a:t>
            </a:r>
            <a:r>
              <a:rPr lang="en-US" sz="1600" i="1" baseline="-25000">
                <a:solidFill>
                  <a:srgbClr val="4D5B54"/>
                </a:solidFill>
                <a:latin typeface="DM Sans" pitchFamily="2" charset="0"/>
              </a:rPr>
              <a:t>C</a:t>
            </a:r>
          </a:p>
        </p:txBody>
      </p:sp>
      <p:sp>
        <p:nvSpPr>
          <p:cNvPr id="64" name="ckt label">
            <a:extLst>
              <a:ext uri="{FF2B5EF4-FFF2-40B4-BE49-F238E27FC236}">
                <a16:creationId xmlns:a16="http://schemas.microsoft.com/office/drawing/2014/main" id="{59E1D89F-9765-D55F-1704-C9D9033DBD79}"/>
              </a:ext>
            </a:extLst>
          </p:cNvPr>
          <p:cNvSpPr txBox="1"/>
          <p:nvPr/>
        </p:nvSpPr>
        <p:spPr>
          <a:xfrm>
            <a:off x="2819400" y="5740399"/>
            <a:ext cx="76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 i="1">
                <a:solidFill>
                  <a:srgbClr val="4D5B54"/>
                </a:solidFill>
                <a:latin typeface="DM Sans" pitchFamily="2" charset="0"/>
              </a:rPr>
              <a:t>C</a:t>
            </a:r>
            <a:r>
              <a:rPr lang="en-US" sz="1600" i="1" baseline="-25000">
                <a:solidFill>
                  <a:srgbClr val="4D5B54"/>
                </a:solidFill>
                <a:latin typeface="DM Sans" pitchFamily="2" charset="0"/>
              </a:rPr>
              <a:t>C</a:t>
            </a:r>
          </a:p>
        </p:txBody>
      </p:sp>
      <p:sp>
        <p:nvSpPr>
          <p:cNvPr id="65" name="given">
            <a:extLst>
              <a:ext uri="{FF2B5EF4-FFF2-40B4-BE49-F238E27FC236}">
                <a16:creationId xmlns:a16="http://schemas.microsoft.com/office/drawing/2014/main" id="{B83F3439-DA11-140D-FFC2-BD85860A1FA7}"/>
              </a:ext>
            </a:extLst>
          </p:cNvPr>
          <p:cNvSpPr/>
          <p:nvPr/>
        </p:nvSpPr>
        <p:spPr>
          <a:xfrm>
            <a:off x="914400" y="7772400"/>
            <a:ext cx="105283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GIVEN</a:t>
            </a:r>
          </a:p>
        </p:txBody>
      </p:sp>
      <p:sp>
        <p:nvSpPr>
          <p:cNvPr id="66" name="given">
            <a:extLst>
              <a:ext uri="{FF2B5EF4-FFF2-40B4-BE49-F238E27FC236}">
                <a16:creationId xmlns:a16="http://schemas.microsoft.com/office/drawing/2014/main" id="{A35B2E42-DC42-47CA-E090-0D7CE5397E0E}"/>
              </a:ext>
            </a:extLst>
          </p:cNvPr>
          <p:cNvSpPr/>
          <p:nvPr/>
        </p:nvSpPr>
        <p:spPr>
          <a:xfrm>
            <a:off x="914400" y="8355965"/>
            <a:ext cx="118745" cy="118745"/>
          </a:xfrm>
          <a:prstGeom prst="rect">
            <a:avLst/>
          </a:prstGeom>
          <a:solidFill>
            <a:srgbClr val="1F6F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given">
            <a:extLst>
              <a:ext uri="{FF2B5EF4-FFF2-40B4-BE49-F238E27FC236}">
                <a16:creationId xmlns:a16="http://schemas.microsoft.com/office/drawing/2014/main" id="{23134F2F-B032-20F6-27BC-AC5EB717799C}"/>
              </a:ext>
            </a:extLst>
          </p:cNvPr>
          <p:cNvSpPr txBox="1"/>
          <p:nvPr/>
        </p:nvSpPr>
        <p:spPr>
          <a:xfrm>
            <a:off x="1130300" y="8280400"/>
            <a:ext cx="7658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1F6FA8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1F6FA8"/>
                </a:solidFill>
                <a:latin typeface="DM Sans" pitchFamily="2" charset="0"/>
              </a:rPr>
              <a:t>DD</a:t>
            </a:r>
            <a:r>
              <a:rPr lang="en-US" sz="1700" b="1">
                <a:solidFill>
                  <a:srgbClr val="1F6FA8"/>
                </a:solidFill>
                <a:latin typeface="DM Sans" pitchFamily="2" charset="0"/>
              </a:rPr>
              <a:t> = 15 V</a:t>
            </a:r>
          </a:p>
        </p:txBody>
      </p:sp>
      <p:sp>
        <p:nvSpPr>
          <p:cNvPr id="68" name="given">
            <a:extLst>
              <a:ext uri="{FF2B5EF4-FFF2-40B4-BE49-F238E27FC236}">
                <a16:creationId xmlns:a16="http://schemas.microsoft.com/office/drawing/2014/main" id="{989D3651-6190-4AA6-44B8-7B1C7EF8BDFA}"/>
              </a:ext>
            </a:extLst>
          </p:cNvPr>
          <p:cNvSpPr/>
          <p:nvPr/>
        </p:nvSpPr>
        <p:spPr>
          <a:xfrm>
            <a:off x="914400" y="8642975"/>
            <a:ext cx="118745" cy="118744"/>
          </a:xfrm>
          <a:prstGeom prst="rect">
            <a:avLst/>
          </a:prstGeom>
          <a:solidFill>
            <a:srgbClr val="7A3E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given">
            <a:extLst>
              <a:ext uri="{FF2B5EF4-FFF2-40B4-BE49-F238E27FC236}">
                <a16:creationId xmlns:a16="http://schemas.microsoft.com/office/drawing/2014/main" id="{DD80FD70-D59E-DFBC-E8C7-9489F38CFD8C}"/>
              </a:ext>
            </a:extLst>
          </p:cNvPr>
          <p:cNvSpPr txBox="1"/>
          <p:nvPr/>
        </p:nvSpPr>
        <p:spPr>
          <a:xfrm>
            <a:off x="1130300" y="8567410"/>
            <a:ext cx="7658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7A3E9D"/>
                </a:solidFill>
                <a:latin typeface="DM Sans" pitchFamily="2" charset="0"/>
              </a:rPr>
              <a:t>G</a:t>
            </a:r>
            <a:r>
              <a:rPr lang="en-US" sz="1700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sz="1700" b="1">
                <a:solidFill>
                  <a:srgbClr val="7A3E9D"/>
                </a:solidFill>
              </a:rPr>
              <a:t>Ω</a:t>
            </a:r>
            <a:endParaRPr lang="en-US" sz="1700" b="1">
              <a:solidFill>
                <a:srgbClr val="7A3E9D"/>
              </a:solidFill>
              <a:latin typeface="DM Sans" pitchFamily="2" charset="0"/>
            </a:endParaRPr>
          </a:p>
        </p:txBody>
      </p:sp>
      <p:sp>
        <p:nvSpPr>
          <p:cNvPr id="70" name="given">
            <a:extLst>
              <a:ext uri="{FF2B5EF4-FFF2-40B4-BE49-F238E27FC236}">
                <a16:creationId xmlns:a16="http://schemas.microsoft.com/office/drawing/2014/main" id="{6F0155CC-F056-E541-EC38-BEA86A4ED927}"/>
              </a:ext>
            </a:extLst>
          </p:cNvPr>
          <p:cNvSpPr/>
          <p:nvPr/>
        </p:nvSpPr>
        <p:spPr>
          <a:xfrm>
            <a:off x="914400" y="8929984"/>
            <a:ext cx="118745" cy="118745"/>
          </a:xfrm>
          <a:prstGeom prst="rect">
            <a:avLst/>
          </a:prstGeom>
          <a:solidFill>
            <a:srgbClr val="0E7C7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given">
            <a:extLst>
              <a:ext uri="{FF2B5EF4-FFF2-40B4-BE49-F238E27FC236}">
                <a16:creationId xmlns:a16="http://schemas.microsoft.com/office/drawing/2014/main" id="{2DD41F46-2D8F-62D6-9B5E-36EF996C9971}"/>
              </a:ext>
            </a:extLst>
          </p:cNvPr>
          <p:cNvSpPr txBox="1"/>
          <p:nvPr/>
        </p:nvSpPr>
        <p:spPr>
          <a:xfrm>
            <a:off x="1130300" y="8854419"/>
            <a:ext cx="7658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D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</a:t>
            </a:r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L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10 k</a:t>
            </a:r>
            <a:r>
              <a:rPr lang="el-GR" sz="1700" b="1">
                <a:solidFill>
                  <a:srgbClr val="0E7C7B"/>
                </a:solidFill>
              </a:rPr>
              <a:t>Ω</a:t>
            </a:r>
            <a:endParaRPr lang="en-US" sz="1700" b="1">
              <a:solidFill>
                <a:srgbClr val="0E7C7B"/>
              </a:solidFill>
              <a:latin typeface="DM Sans" pitchFamily="2" charset="0"/>
            </a:endParaRPr>
          </a:p>
        </p:txBody>
      </p:sp>
      <p:sp>
        <p:nvSpPr>
          <p:cNvPr id="72" name="given">
            <a:extLst>
              <a:ext uri="{FF2B5EF4-FFF2-40B4-BE49-F238E27FC236}">
                <a16:creationId xmlns:a16="http://schemas.microsoft.com/office/drawing/2014/main" id="{B4BAA38B-5748-7BD6-5704-4916D61B157F}"/>
              </a:ext>
            </a:extLst>
          </p:cNvPr>
          <p:cNvSpPr/>
          <p:nvPr/>
        </p:nvSpPr>
        <p:spPr>
          <a:xfrm>
            <a:off x="914400" y="9216994"/>
            <a:ext cx="118745" cy="118745"/>
          </a:xfrm>
          <a:prstGeom prst="rect">
            <a:avLst/>
          </a:prstGeom>
          <a:solidFill>
            <a:srgbClr val="B018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given">
            <a:extLst>
              <a:ext uri="{FF2B5EF4-FFF2-40B4-BE49-F238E27FC236}">
                <a16:creationId xmlns:a16="http://schemas.microsoft.com/office/drawing/2014/main" id="{47E26FBC-3164-ACC3-85C9-51B6FB25D122}"/>
              </a:ext>
            </a:extLst>
          </p:cNvPr>
          <p:cNvSpPr txBox="1"/>
          <p:nvPr/>
        </p:nvSpPr>
        <p:spPr>
          <a:xfrm>
            <a:off x="1130300" y="9141430"/>
            <a:ext cx="7658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B0186B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B0186B"/>
                </a:solidFill>
                <a:latin typeface="DM Sans" pitchFamily="2" charset="0"/>
              </a:rPr>
              <a:t>t</a:t>
            </a:r>
            <a:r>
              <a:rPr lang="en-US" sz="1700" b="1">
                <a:solidFill>
                  <a:srgbClr val="B0186B"/>
                </a:solidFill>
                <a:latin typeface="DM Sans" pitchFamily="2" charset="0"/>
              </a:rPr>
              <a:t> = 1.5 V,  k′</a:t>
            </a:r>
            <a:r>
              <a:rPr lang="en-US" sz="1700" b="1" baseline="-25000">
                <a:solidFill>
                  <a:srgbClr val="B0186B"/>
                </a:solidFill>
                <a:latin typeface="DM Sans" pitchFamily="2" charset="0"/>
              </a:rPr>
              <a:t>n</a:t>
            </a:r>
            <a:r>
              <a:rPr lang="en-US" sz="1700" b="1">
                <a:solidFill>
                  <a:srgbClr val="B0186B"/>
                </a:solidFill>
                <a:latin typeface="DM Sans" pitchFamily="2" charset="0"/>
              </a:rPr>
              <a:t>(W/L) = 0.25 mA/V²,  </a:t>
            </a:r>
            <a:r>
              <a:rPr lang="en-US" sz="1700" b="1" i="1">
                <a:solidFill>
                  <a:srgbClr val="B0186B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B0186B"/>
                </a:solidFill>
                <a:latin typeface="DM Sans" pitchFamily="2" charset="0"/>
              </a:rPr>
              <a:t>A</a:t>
            </a:r>
            <a:r>
              <a:rPr lang="en-US" sz="1700" b="1">
                <a:solidFill>
                  <a:srgbClr val="B0186B"/>
                </a:solidFill>
                <a:latin typeface="DM Sans" pitchFamily="2" charset="0"/>
              </a:rPr>
              <a:t> = 50 V</a:t>
            </a:r>
          </a:p>
        </p:txBody>
      </p:sp>
      <p:sp>
        <p:nvSpPr>
          <p:cNvPr id="74" name="badge @1">
            <a:extLst>
              <a:ext uri="{FF2B5EF4-FFF2-40B4-BE49-F238E27FC236}">
                <a16:creationId xmlns:a16="http://schemas.microsoft.com/office/drawing/2014/main" id="{DA063CD4-4C31-E10B-3F33-AACC1861D685}"/>
              </a:ext>
            </a:extLst>
          </p:cNvPr>
          <p:cNvSpPr/>
          <p:nvPr/>
        </p:nvSpPr>
        <p:spPr>
          <a:xfrm>
            <a:off x="9169400" y="19177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4</a:t>
            </a:r>
          </a:p>
        </p:txBody>
      </p:sp>
      <p:sp>
        <p:nvSpPr>
          <p:cNvPr id="75" name="step @1">
            <a:extLst>
              <a:ext uri="{FF2B5EF4-FFF2-40B4-BE49-F238E27FC236}">
                <a16:creationId xmlns:a16="http://schemas.microsoft.com/office/drawing/2014/main" id="{C0A3F475-A876-E1F2-C842-540B0AE3B9F8}"/>
              </a:ext>
            </a:extLst>
          </p:cNvPr>
          <p:cNvSpPr txBox="1"/>
          <p:nvPr/>
        </p:nvSpPr>
        <p:spPr>
          <a:xfrm>
            <a:off x="9753600" y="1905000"/>
            <a:ext cx="7620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Small-signal parameters at the bias point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eq @1">
                <a:extLst>
                  <a:ext uri="{FF2B5EF4-FFF2-40B4-BE49-F238E27FC236}">
                    <a16:creationId xmlns:a16="http://schemas.microsoft.com/office/drawing/2014/main" id="{17AF139B-C0DE-D599-AD4D-AE5801DBA9D1}"/>
                  </a:ext>
                </a:extLst>
              </p:cNvPr>
              <p:cNvSpPr txBox="1"/>
              <p:nvPr/>
            </p:nvSpPr>
            <p:spPr>
              <a:xfrm>
                <a:off x="9753600" y="2238176"/>
                <a:ext cx="7620000" cy="64262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𝑚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)=</m:t>
                      </m:r>
                      <m:r>
                        <a:rPr lang="en-US" sz="2200" b="1">
                          <a:solidFill>
                            <a:srgbClr val="B0186B"/>
                          </a:solidFill>
                          <a:latin typeface="Cambria Math"/>
                          <a:cs typeface="Cambria Math"/>
                        </a:rPr>
                        <m:t>0.25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(4.41−</m:t>
                      </m:r>
                      <m:r>
                        <a:rPr lang="en-US" sz="2200" b="1">
                          <a:solidFill>
                            <a:srgbClr val="B0186B"/>
                          </a:solidFill>
                          <a:latin typeface="Cambria Math"/>
                          <a:cs typeface="Cambria Math"/>
                        </a:rPr>
                        <m:t>1.5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)=0.728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6" name="eq @1">
                <a:extLst>
                  <a:ext uri="{FF2B5EF4-FFF2-40B4-BE49-F238E27FC236}">
                    <a16:creationId xmlns:a16="http://schemas.microsoft.com/office/drawing/2014/main" id="{17AF139B-C0DE-D599-AD4D-AE5801DBA9D1}"/>
                  </a:ext>
                </a:extLst>
              </p:cNvPr>
              <p:cNvSpPr txBox="1"/>
              <p:nvPr/>
            </p:nvSpPr>
            <p:spPr>
              <a:xfrm>
                <a:off x="9753600" y="2238176"/>
                <a:ext cx="7620000" cy="64262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g_m = \textcolor{#B0186B}{k_n^{\prime}\frac{W}{L}}\,(V_{GS}-\textcolor{#B0186B}{V_t}) = \textcolor{#B0186B}{0.25}\,(4.41-\textcolor{#B0186B}{1.5}) = 0.728\ \mathrm{mA/V}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eq @1">
                <a:extLst>
                  <a:ext uri="{FF2B5EF4-FFF2-40B4-BE49-F238E27FC236}">
                    <a16:creationId xmlns:a16="http://schemas.microsoft.com/office/drawing/2014/main" id="{2C01B15B-87EF-3983-7F62-4299903D92E1}"/>
                  </a:ext>
                </a:extLst>
              </p:cNvPr>
              <p:cNvSpPr txBox="1"/>
              <p:nvPr/>
            </p:nvSpPr>
            <p:spPr>
              <a:xfrm>
                <a:off x="9753600" y="2880796"/>
                <a:ext cx="7620000" cy="64262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𝑜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200" b="0" i="1">
                              <a:solidFill>
                                <a:srgbClr val="15241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200" b="1">
                                  <a:solidFill>
                                    <a:srgbClr val="B0186B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200" b="1">
                                  <a:solidFill>
                                    <a:srgbClr val="B0186B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200" b="1">
                                  <a:solidFill>
                                    <a:srgbClr val="B0186B"/>
                                  </a:solidFill>
                                  <a:latin typeface="Cambria Math"/>
                                  <a:cs typeface="Cambria Math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2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2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2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𝐷</m:t>
                              </m:r>
                            </m:sub>
                          </m:sSub>
                        </m:den>
                      </m:f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50</m:t>
                          </m:r>
                        </m:num>
                        <m:den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1.06</m:t>
                          </m:r>
                        </m:den>
                      </m:f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=47.2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k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𝛺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7" name="eq @1">
                <a:extLst>
                  <a:ext uri="{FF2B5EF4-FFF2-40B4-BE49-F238E27FC236}">
                    <a16:creationId xmlns:a16="http://schemas.microsoft.com/office/drawing/2014/main" id="{2C01B15B-87EF-3983-7F62-4299903D92E1}"/>
                  </a:ext>
                </a:extLst>
              </p:cNvPr>
              <p:cNvSpPr txBox="1"/>
              <p:nvPr/>
            </p:nvSpPr>
            <p:spPr>
              <a:xfrm>
                <a:off x="9753600" y="2880796"/>
                <a:ext cx="7620000" cy="64262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r_o = \frac{\textcolor{#B0186B}{V_A}}{I_D} = \frac{\textcolor{#B0186B}{50}}{1.06} = 47.2\ \mathrm{k}\Omega</a:t>
                </a:r>
              </a:p>
            </p:txBody>
          </p:sp>
        </mc:Fallback>
      </mc:AlternateContent>
      <p:sp>
        <p:nvSpPr>
          <p:cNvPr id="93" name="chrome page">
            <a:extLst>
              <a:ext uri="{FF2B5EF4-FFF2-40B4-BE49-F238E27FC236}">
                <a16:creationId xmlns:a16="http://schemas.microsoft.com/office/drawing/2014/main" id="{42AC9121-C530-5EA3-DD67-6C6224888331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chrome page">
            <a:extLst>
              <a:ext uri="{FF2B5EF4-FFF2-40B4-BE49-F238E27FC236}">
                <a16:creationId xmlns:a16="http://schemas.microsoft.com/office/drawing/2014/main" id="{BB2738C7-972A-7B9B-CB5F-7A02F5B3D7AD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66</a:t>
            </a:r>
          </a:p>
        </p:txBody>
      </p:sp>
    </p:spTree>
    <p:extLst>
      <p:ext uri="{BB962C8B-B14F-4D97-AF65-F5344CB8AC3E}">
        <p14:creationId xmlns:p14="http://schemas.microsoft.com/office/powerpoint/2010/main" val="372089505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 2: gain and input resi s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18B97D1-CEF7-D0FF-8AA1-DE3707F98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Example 2: gain and input resistance (2 of 2)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92877BD3-F32A-8DD1-7749-432B2E53D498}"/>
              </a:ext>
            </a:extLst>
          </p:cNvPr>
          <p:cNvSpPr/>
          <p:nvPr/>
        </p:nvSpPr>
        <p:spPr>
          <a:xfrm>
            <a:off x="914400" y="279400"/>
            <a:ext cx="377698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CB20353B-E37D-88C6-40A1-94220C33C391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E607418D-7F33-2DB5-797A-7E1E862EC6E9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circuit card">
            <a:extLst>
              <a:ext uri="{FF2B5EF4-FFF2-40B4-BE49-F238E27FC236}">
                <a16:creationId xmlns:a16="http://schemas.microsoft.com/office/drawing/2014/main" id="{94FC7923-A57B-BA2A-6973-885F97612F83}"/>
              </a:ext>
            </a:extLst>
          </p:cNvPr>
          <p:cNvSpPr/>
          <p:nvPr/>
        </p:nvSpPr>
        <p:spPr>
          <a:xfrm>
            <a:off x="914400" y="1905000"/>
            <a:ext cx="7874000" cy="5715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F4E34EFB-81A3-E3B2-3136-C82F71C77D6D}"/>
              </a:ext>
            </a:extLst>
          </p:cNvPr>
          <p:cNvSpPr/>
          <p:nvPr/>
        </p:nvSpPr>
        <p:spPr>
          <a:xfrm>
            <a:off x="914400" y="1892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kt">
            <a:extLst>
              <a:ext uri="{FF2B5EF4-FFF2-40B4-BE49-F238E27FC236}">
                <a16:creationId xmlns:a16="http://schemas.microsoft.com/office/drawing/2014/main" id="{BF35BB08-15AA-BDB3-9B15-58B3A98FFE60}"/>
              </a:ext>
            </a:extLst>
          </p:cNvPr>
          <p:cNvCxnSpPr/>
          <p:nvPr/>
        </p:nvCxnSpPr>
        <p:spPr>
          <a:xfrm>
            <a:off x="4724400" y="50769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kt">
            <a:extLst>
              <a:ext uri="{FF2B5EF4-FFF2-40B4-BE49-F238E27FC236}">
                <a16:creationId xmlns:a16="http://schemas.microsoft.com/office/drawing/2014/main" id="{DDCD36F3-5452-FBC1-6FA6-D26BF9710EA0}"/>
              </a:ext>
            </a:extLst>
          </p:cNvPr>
          <p:cNvCxnSpPr/>
          <p:nvPr/>
        </p:nvCxnSpPr>
        <p:spPr>
          <a:xfrm>
            <a:off x="4851400" y="4927600"/>
            <a:ext cx="0" cy="1066800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kt">
            <a:extLst>
              <a:ext uri="{FF2B5EF4-FFF2-40B4-BE49-F238E27FC236}">
                <a16:creationId xmlns:a16="http://schemas.microsoft.com/office/drawing/2014/main" id="{061FB374-1D01-D8DC-460C-A76F3B7678F8}"/>
              </a:ext>
            </a:extLst>
          </p:cNvPr>
          <p:cNvCxnSpPr/>
          <p:nvPr/>
        </p:nvCxnSpPr>
        <p:spPr>
          <a:xfrm>
            <a:off x="4851400" y="50292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kt">
            <a:extLst>
              <a:ext uri="{FF2B5EF4-FFF2-40B4-BE49-F238E27FC236}">
                <a16:creationId xmlns:a16="http://schemas.microsoft.com/office/drawing/2014/main" id="{F5D7E194-A230-D291-51BA-7C42C6E218F5}"/>
              </a:ext>
            </a:extLst>
          </p:cNvPr>
          <p:cNvCxnSpPr/>
          <p:nvPr/>
        </p:nvCxnSpPr>
        <p:spPr>
          <a:xfrm>
            <a:off x="4851400" y="58928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kt">
            <a:extLst>
              <a:ext uri="{FF2B5EF4-FFF2-40B4-BE49-F238E27FC236}">
                <a16:creationId xmlns:a16="http://schemas.microsoft.com/office/drawing/2014/main" id="{C13B3EE1-7013-32E2-CDA9-A45AC32EBB00}"/>
              </a:ext>
            </a:extLst>
          </p:cNvPr>
          <p:cNvCxnSpPr/>
          <p:nvPr/>
        </p:nvCxnSpPr>
        <p:spPr>
          <a:xfrm>
            <a:off x="5153660" y="5892800"/>
            <a:ext cx="12954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kt">
            <a:extLst>
              <a:ext uri="{FF2B5EF4-FFF2-40B4-BE49-F238E27FC236}">
                <a16:creationId xmlns:a16="http://schemas.microsoft.com/office/drawing/2014/main" id="{E07DF5A2-D53F-806F-5FE7-58FC7CC84203}"/>
              </a:ext>
            </a:extLst>
          </p:cNvPr>
          <p:cNvSpPr/>
          <p:nvPr/>
        </p:nvSpPr>
        <p:spPr>
          <a:xfrm>
            <a:off x="5213350" y="2343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 label">
            <a:extLst>
              <a:ext uri="{FF2B5EF4-FFF2-40B4-BE49-F238E27FC236}">
                <a16:creationId xmlns:a16="http://schemas.microsoft.com/office/drawing/2014/main" id="{87EFD2A3-12F7-8E34-D6A5-B70CDF23801F}"/>
              </a:ext>
            </a:extLst>
          </p:cNvPr>
          <p:cNvSpPr txBox="1"/>
          <p:nvPr/>
        </p:nvSpPr>
        <p:spPr>
          <a:xfrm>
            <a:off x="5461000" y="2251074"/>
            <a:ext cx="2794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b="1">
                <a:solidFill>
                  <a:srgbClr val="1F6FA8"/>
                </a:solidFill>
                <a:latin typeface="DM Sans" pitchFamily="2" charset="0"/>
              </a:rPr>
              <a:t>+</a:t>
            </a:r>
            <a:r>
              <a:rPr lang="en-US" sz="1700" b="1" i="1">
                <a:solidFill>
                  <a:srgbClr val="1F6FA8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1F6FA8"/>
                </a:solidFill>
                <a:latin typeface="DM Sans" pitchFamily="2" charset="0"/>
              </a:rPr>
              <a:t>DD</a:t>
            </a:r>
            <a:r>
              <a:rPr lang="en-US" sz="1700" b="1">
                <a:solidFill>
                  <a:srgbClr val="1F6FA8"/>
                </a:solidFill>
                <a:latin typeface="DM Sans" pitchFamily="2" charset="0"/>
              </a:rPr>
              <a:t> = 15 V</a:t>
            </a:r>
          </a:p>
        </p:txBody>
      </p:sp>
      <p:sp>
        <p:nvSpPr>
          <p:cNvPr id="15" name="ckt">
            <a:extLst>
              <a:ext uri="{FF2B5EF4-FFF2-40B4-BE49-F238E27FC236}">
                <a16:creationId xmlns:a16="http://schemas.microsoft.com/office/drawing/2014/main" id="{E952BDB8-7ACE-2943-6BEF-C8244374AA86}"/>
              </a:ext>
            </a:extLst>
          </p:cNvPr>
          <p:cNvSpPr/>
          <p:nvPr/>
        </p:nvSpPr>
        <p:spPr>
          <a:xfrm>
            <a:off x="5156200" y="2482850"/>
            <a:ext cx="254001" cy="1581151"/>
          </a:xfrm>
          <a:custGeom>
            <a:avLst/>
            <a:gdLst/>
            <a:ahLst/>
            <a:cxnLst/>
            <a:rect l="0" t="0" r="0" b="0"/>
            <a:pathLst>
              <a:path w="254001" h="1581151">
                <a:moveTo>
                  <a:pt x="127000" y="0"/>
                </a:moveTo>
                <a:lnTo>
                  <a:pt x="127000" y="422275"/>
                </a:lnTo>
                <a:lnTo>
                  <a:pt x="0" y="483658"/>
                </a:lnTo>
                <a:lnTo>
                  <a:pt x="254000" y="606425"/>
                </a:lnTo>
                <a:lnTo>
                  <a:pt x="0" y="729192"/>
                </a:lnTo>
                <a:lnTo>
                  <a:pt x="254000" y="851958"/>
                </a:lnTo>
                <a:lnTo>
                  <a:pt x="0" y="974725"/>
                </a:lnTo>
                <a:lnTo>
                  <a:pt x="254000" y="1097492"/>
                </a:lnTo>
                <a:lnTo>
                  <a:pt x="127000" y="1158875"/>
                </a:lnTo>
                <a:lnTo>
                  <a:pt x="127000" y="158115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kt">
            <a:extLst>
              <a:ext uri="{FF2B5EF4-FFF2-40B4-BE49-F238E27FC236}">
                <a16:creationId xmlns:a16="http://schemas.microsoft.com/office/drawing/2014/main" id="{AE5A86A4-0EA0-EC0F-792C-395E61227CF1}"/>
              </a:ext>
            </a:extLst>
          </p:cNvPr>
          <p:cNvSpPr/>
          <p:nvPr/>
        </p:nvSpPr>
        <p:spPr>
          <a:xfrm>
            <a:off x="5226050" y="4006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kt label">
            <a:extLst>
              <a:ext uri="{FF2B5EF4-FFF2-40B4-BE49-F238E27FC236}">
                <a16:creationId xmlns:a16="http://schemas.microsoft.com/office/drawing/2014/main" id="{1EC0AEE8-80CB-6873-D3B0-188D78119D2A}"/>
              </a:ext>
            </a:extLst>
          </p:cNvPr>
          <p:cNvSpPr txBox="1"/>
          <p:nvPr/>
        </p:nvSpPr>
        <p:spPr>
          <a:xfrm>
            <a:off x="5486400" y="3127374"/>
            <a:ext cx="2794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D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10 k</a:t>
            </a:r>
            <a:r>
              <a:rPr lang="el-GR" sz="1700" b="1">
                <a:solidFill>
                  <a:srgbClr val="0E7C7B"/>
                </a:solidFill>
              </a:rPr>
              <a:t>Ω</a:t>
            </a:r>
            <a:endParaRPr lang="en-US" sz="1700" b="1">
              <a:solidFill>
                <a:srgbClr val="0E7C7B"/>
              </a:solidFill>
              <a:latin typeface="DM Sans" pitchFamily="2" charset="0"/>
            </a:endParaRPr>
          </a:p>
        </p:txBody>
      </p:sp>
      <p:cxnSp>
        <p:nvCxnSpPr>
          <p:cNvPr id="18" name="ckt">
            <a:extLst>
              <a:ext uri="{FF2B5EF4-FFF2-40B4-BE49-F238E27FC236}">
                <a16:creationId xmlns:a16="http://schemas.microsoft.com/office/drawing/2014/main" id="{8F3A1A52-E7E4-535E-5292-06A8E8F50DDC}"/>
              </a:ext>
            </a:extLst>
          </p:cNvPr>
          <p:cNvCxnSpPr/>
          <p:nvPr/>
        </p:nvCxnSpPr>
        <p:spPr>
          <a:xfrm>
            <a:off x="5283200" y="4064000"/>
            <a:ext cx="0" cy="9652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kt">
            <a:extLst>
              <a:ext uri="{FF2B5EF4-FFF2-40B4-BE49-F238E27FC236}">
                <a16:creationId xmlns:a16="http://schemas.microsoft.com/office/drawing/2014/main" id="{BAFF801E-5124-AE56-382B-566A299CDF5A}"/>
              </a:ext>
            </a:extLst>
          </p:cNvPr>
          <p:cNvCxnSpPr/>
          <p:nvPr/>
        </p:nvCxnSpPr>
        <p:spPr>
          <a:xfrm>
            <a:off x="5283200" y="5892800"/>
            <a:ext cx="0" cy="14732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kt">
            <a:extLst>
              <a:ext uri="{FF2B5EF4-FFF2-40B4-BE49-F238E27FC236}">
                <a16:creationId xmlns:a16="http://schemas.microsoft.com/office/drawing/2014/main" id="{D327BABE-B4AF-9B7A-E6BE-F26F978CAE5A}"/>
              </a:ext>
            </a:extLst>
          </p:cNvPr>
          <p:cNvCxnSpPr/>
          <p:nvPr/>
        </p:nvCxnSpPr>
        <p:spPr>
          <a:xfrm>
            <a:off x="5283200" y="73660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kt">
            <a:extLst>
              <a:ext uri="{FF2B5EF4-FFF2-40B4-BE49-F238E27FC236}">
                <a16:creationId xmlns:a16="http://schemas.microsoft.com/office/drawing/2014/main" id="{2517BAAD-FADA-2893-8C16-4A0090E58E44}"/>
              </a:ext>
            </a:extLst>
          </p:cNvPr>
          <p:cNvCxnSpPr/>
          <p:nvPr/>
        </p:nvCxnSpPr>
        <p:spPr>
          <a:xfrm>
            <a:off x="5092700" y="75184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kt">
            <a:extLst>
              <a:ext uri="{FF2B5EF4-FFF2-40B4-BE49-F238E27FC236}">
                <a16:creationId xmlns:a16="http://schemas.microsoft.com/office/drawing/2014/main" id="{F4B54E95-1C39-DE3E-EFE8-D19C0A2C10DF}"/>
              </a:ext>
            </a:extLst>
          </p:cNvPr>
          <p:cNvCxnSpPr/>
          <p:nvPr/>
        </p:nvCxnSpPr>
        <p:spPr>
          <a:xfrm>
            <a:off x="5162550" y="75882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kt">
            <a:extLst>
              <a:ext uri="{FF2B5EF4-FFF2-40B4-BE49-F238E27FC236}">
                <a16:creationId xmlns:a16="http://schemas.microsoft.com/office/drawing/2014/main" id="{318E2BCE-B30E-7C4E-8711-DC145C936DED}"/>
              </a:ext>
            </a:extLst>
          </p:cNvPr>
          <p:cNvCxnSpPr/>
          <p:nvPr/>
        </p:nvCxnSpPr>
        <p:spPr>
          <a:xfrm>
            <a:off x="5232400" y="76581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kt">
            <a:extLst>
              <a:ext uri="{FF2B5EF4-FFF2-40B4-BE49-F238E27FC236}">
                <a16:creationId xmlns:a16="http://schemas.microsoft.com/office/drawing/2014/main" id="{A9E4A9B8-5BEB-59F6-6313-F97F8C5DB04E}"/>
              </a:ext>
            </a:extLst>
          </p:cNvPr>
          <p:cNvCxnSpPr/>
          <p:nvPr/>
        </p:nvCxnSpPr>
        <p:spPr>
          <a:xfrm flipH="1">
            <a:off x="3835400" y="4064000"/>
            <a:ext cx="1447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kt">
            <a:extLst>
              <a:ext uri="{FF2B5EF4-FFF2-40B4-BE49-F238E27FC236}">
                <a16:creationId xmlns:a16="http://schemas.microsoft.com/office/drawing/2014/main" id="{237719FA-EC59-1653-7841-410F2AEE85E3}"/>
              </a:ext>
            </a:extLst>
          </p:cNvPr>
          <p:cNvSpPr/>
          <p:nvPr/>
        </p:nvSpPr>
        <p:spPr>
          <a:xfrm>
            <a:off x="3708400" y="4064000"/>
            <a:ext cx="254001" cy="1397001"/>
          </a:xfrm>
          <a:custGeom>
            <a:avLst/>
            <a:gdLst/>
            <a:ahLst/>
            <a:cxnLst/>
            <a:rect l="0" t="0" r="0" b="0"/>
            <a:pathLst>
              <a:path w="254001" h="1397001">
                <a:moveTo>
                  <a:pt x="127000" y="0"/>
                </a:moveTo>
                <a:lnTo>
                  <a:pt x="127000" y="330200"/>
                </a:lnTo>
                <a:lnTo>
                  <a:pt x="0" y="391583"/>
                </a:lnTo>
                <a:lnTo>
                  <a:pt x="254000" y="514350"/>
                </a:lnTo>
                <a:lnTo>
                  <a:pt x="0" y="637117"/>
                </a:lnTo>
                <a:lnTo>
                  <a:pt x="254000" y="759883"/>
                </a:lnTo>
                <a:lnTo>
                  <a:pt x="0" y="882650"/>
                </a:lnTo>
                <a:lnTo>
                  <a:pt x="254000" y="1005417"/>
                </a:lnTo>
                <a:lnTo>
                  <a:pt x="127000" y="1066800"/>
                </a:lnTo>
                <a:lnTo>
                  <a:pt x="127000" y="13970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kt">
            <a:extLst>
              <a:ext uri="{FF2B5EF4-FFF2-40B4-BE49-F238E27FC236}">
                <a16:creationId xmlns:a16="http://schemas.microsoft.com/office/drawing/2014/main" id="{8FD4AB62-1697-3619-7A8A-C2E668EEC77C}"/>
              </a:ext>
            </a:extLst>
          </p:cNvPr>
          <p:cNvSpPr/>
          <p:nvPr/>
        </p:nvSpPr>
        <p:spPr>
          <a:xfrm>
            <a:off x="3778250" y="5403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ckt label">
            <a:extLst>
              <a:ext uri="{FF2B5EF4-FFF2-40B4-BE49-F238E27FC236}">
                <a16:creationId xmlns:a16="http://schemas.microsoft.com/office/drawing/2014/main" id="{EA304126-E505-0055-FF40-39A301370D89}"/>
              </a:ext>
            </a:extLst>
          </p:cNvPr>
          <p:cNvSpPr txBox="1"/>
          <p:nvPr/>
        </p:nvSpPr>
        <p:spPr>
          <a:xfrm>
            <a:off x="838200" y="4600574"/>
            <a:ext cx="2794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700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7A3E9D"/>
                </a:solidFill>
                <a:latin typeface="DM Sans" pitchFamily="2" charset="0"/>
              </a:rPr>
              <a:t>G</a:t>
            </a:r>
            <a:r>
              <a:rPr lang="en-US" sz="1700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sz="1700" b="1">
                <a:solidFill>
                  <a:srgbClr val="7A3E9D"/>
                </a:solidFill>
              </a:rPr>
              <a:t>Ω</a:t>
            </a:r>
            <a:endParaRPr lang="en-US" sz="1700" b="1">
              <a:solidFill>
                <a:srgbClr val="7A3E9D"/>
              </a:solidFill>
              <a:latin typeface="DM Sans" pitchFamily="2" charset="0"/>
            </a:endParaRPr>
          </a:p>
        </p:txBody>
      </p:sp>
      <p:cxnSp>
        <p:nvCxnSpPr>
          <p:cNvPr id="28" name="ckt">
            <a:extLst>
              <a:ext uri="{FF2B5EF4-FFF2-40B4-BE49-F238E27FC236}">
                <a16:creationId xmlns:a16="http://schemas.microsoft.com/office/drawing/2014/main" id="{020152DD-7FF0-D954-F299-CEED466804BE}"/>
              </a:ext>
            </a:extLst>
          </p:cNvPr>
          <p:cNvCxnSpPr/>
          <p:nvPr/>
        </p:nvCxnSpPr>
        <p:spPr>
          <a:xfrm>
            <a:off x="3835400" y="5461000"/>
            <a:ext cx="889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kt">
            <a:extLst>
              <a:ext uri="{FF2B5EF4-FFF2-40B4-BE49-F238E27FC236}">
                <a16:creationId xmlns:a16="http://schemas.microsoft.com/office/drawing/2014/main" id="{A0A73344-E2F8-584A-9C47-E19C2204D83F}"/>
              </a:ext>
            </a:extLst>
          </p:cNvPr>
          <p:cNvCxnSpPr/>
          <p:nvPr/>
        </p:nvCxnSpPr>
        <p:spPr>
          <a:xfrm>
            <a:off x="2565400" y="5461000"/>
            <a:ext cx="5715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kt">
            <a:extLst>
              <a:ext uri="{FF2B5EF4-FFF2-40B4-BE49-F238E27FC236}">
                <a16:creationId xmlns:a16="http://schemas.microsoft.com/office/drawing/2014/main" id="{E0383F93-9E9E-62DA-64C2-753AE9205754}"/>
              </a:ext>
            </a:extLst>
          </p:cNvPr>
          <p:cNvCxnSpPr/>
          <p:nvPr/>
        </p:nvCxnSpPr>
        <p:spPr>
          <a:xfrm>
            <a:off x="3263900" y="5461000"/>
            <a:ext cx="5715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kt">
            <a:extLst>
              <a:ext uri="{FF2B5EF4-FFF2-40B4-BE49-F238E27FC236}">
                <a16:creationId xmlns:a16="http://schemas.microsoft.com/office/drawing/2014/main" id="{7A667AC4-9C23-5C89-3885-FDC8472045A2}"/>
              </a:ext>
            </a:extLst>
          </p:cNvPr>
          <p:cNvCxnSpPr/>
          <p:nvPr/>
        </p:nvCxnSpPr>
        <p:spPr>
          <a:xfrm flipV="1">
            <a:off x="3136900" y="5270500"/>
            <a:ext cx="0" cy="381000"/>
          </a:xfrm>
          <a:prstGeom prst="line">
            <a:avLst/>
          </a:prstGeom>
          <a:ln w="381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kt">
            <a:extLst>
              <a:ext uri="{FF2B5EF4-FFF2-40B4-BE49-F238E27FC236}">
                <a16:creationId xmlns:a16="http://schemas.microsoft.com/office/drawing/2014/main" id="{CF95AC39-B505-27DF-DCA4-76C92BE17BCC}"/>
              </a:ext>
            </a:extLst>
          </p:cNvPr>
          <p:cNvCxnSpPr/>
          <p:nvPr/>
        </p:nvCxnSpPr>
        <p:spPr>
          <a:xfrm flipV="1">
            <a:off x="3263900" y="5270500"/>
            <a:ext cx="0" cy="381000"/>
          </a:xfrm>
          <a:prstGeom prst="line">
            <a:avLst/>
          </a:prstGeom>
          <a:ln w="381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kt">
            <a:extLst>
              <a:ext uri="{FF2B5EF4-FFF2-40B4-BE49-F238E27FC236}">
                <a16:creationId xmlns:a16="http://schemas.microsoft.com/office/drawing/2014/main" id="{9A191574-82E9-C5FF-2007-71969E3E2CDA}"/>
              </a:ext>
            </a:extLst>
          </p:cNvPr>
          <p:cNvCxnSpPr/>
          <p:nvPr/>
        </p:nvCxnSpPr>
        <p:spPr>
          <a:xfrm>
            <a:off x="1930400" y="5461000"/>
            <a:ext cx="635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kt">
            <a:extLst>
              <a:ext uri="{FF2B5EF4-FFF2-40B4-BE49-F238E27FC236}">
                <a16:creationId xmlns:a16="http://schemas.microsoft.com/office/drawing/2014/main" id="{0A4F5BE4-562E-7026-8EF1-568B9CF4A9B3}"/>
              </a:ext>
            </a:extLst>
          </p:cNvPr>
          <p:cNvSpPr/>
          <p:nvPr/>
        </p:nvSpPr>
        <p:spPr>
          <a:xfrm>
            <a:off x="1873250" y="5403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ckt">
            <a:extLst>
              <a:ext uri="{FF2B5EF4-FFF2-40B4-BE49-F238E27FC236}">
                <a16:creationId xmlns:a16="http://schemas.microsoft.com/office/drawing/2014/main" id="{03C91D34-C50A-FBB7-9F2D-E352E9F6B0E1}"/>
              </a:ext>
            </a:extLst>
          </p:cNvPr>
          <p:cNvCxnSpPr/>
          <p:nvPr/>
        </p:nvCxnSpPr>
        <p:spPr>
          <a:xfrm>
            <a:off x="1930400" y="5461000"/>
            <a:ext cx="0" cy="6731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kt">
            <a:extLst>
              <a:ext uri="{FF2B5EF4-FFF2-40B4-BE49-F238E27FC236}">
                <a16:creationId xmlns:a16="http://schemas.microsoft.com/office/drawing/2014/main" id="{00074B07-C0C2-B948-ACD8-8339F0D4EF6B}"/>
              </a:ext>
            </a:extLst>
          </p:cNvPr>
          <p:cNvCxnSpPr/>
          <p:nvPr/>
        </p:nvCxnSpPr>
        <p:spPr>
          <a:xfrm>
            <a:off x="1930400" y="6692900"/>
            <a:ext cx="0" cy="6731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kt">
            <a:extLst>
              <a:ext uri="{FF2B5EF4-FFF2-40B4-BE49-F238E27FC236}">
                <a16:creationId xmlns:a16="http://schemas.microsoft.com/office/drawing/2014/main" id="{B3B83B80-CFF1-2AB7-F70D-FCDCC2026209}"/>
              </a:ext>
            </a:extLst>
          </p:cNvPr>
          <p:cNvSpPr/>
          <p:nvPr/>
        </p:nvSpPr>
        <p:spPr>
          <a:xfrm>
            <a:off x="1651000" y="6134100"/>
            <a:ext cx="558800" cy="558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kt">
            <a:extLst>
              <a:ext uri="{FF2B5EF4-FFF2-40B4-BE49-F238E27FC236}">
                <a16:creationId xmlns:a16="http://schemas.microsoft.com/office/drawing/2014/main" id="{C703B5C1-593B-7F9F-04C9-26D424579BCD}"/>
              </a:ext>
            </a:extLst>
          </p:cNvPr>
          <p:cNvSpPr/>
          <p:nvPr/>
        </p:nvSpPr>
        <p:spPr>
          <a:xfrm>
            <a:off x="1762760" y="6315710"/>
            <a:ext cx="335281" cy="195581"/>
          </a:xfrm>
          <a:custGeom>
            <a:avLst/>
            <a:gdLst/>
            <a:ahLst/>
            <a:cxnLst/>
            <a:rect l="0" t="0" r="0" b="0"/>
            <a:pathLst>
              <a:path w="335281" h="195581">
                <a:moveTo>
                  <a:pt x="0" y="97790"/>
                </a:moveTo>
                <a:lnTo>
                  <a:pt x="20955" y="60367"/>
                </a:lnTo>
                <a:lnTo>
                  <a:pt x="41910" y="28642"/>
                </a:lnTo>
                <a:lnTo>
                  <a:pt x="62865" y="7444"/>
                </a:lnTo>
                <a:lnTo>
                  <a:pt x="83820" y="0"/>
                </a:lnTo>
                <a:lnTo>
                  <a:pt x="104775" y="7444"/>
                </a:lnTo>
                <a:lnTo>
                  <a:pt x="125730" y="28642"/>
                </a:lnTo>
                <a:lnTo>
                  <a:pt x="146685" y="60367"/>
                </a:lnTo>
                <a:lnTo>
                  <a:pt x="167640" y="97790"/>
                </a:lnTo>
                <a:lnTo>
                  <a:pt x="188595" y="135213"/>
                </a:lnTo>
                <a:lnTo>
                  <a:pt x="209550" y="166938"/>
                </a:lnTo>
                <a:lnTo>
                  <a:pt x="230505" y="188136"/>
                </a:lnTo>
                <a:lnTo>
                  <a:pt x="251460" y="195580"/>
                </a:lnTo>
                <a:lnTo>
                  <a:pt x="272415" y="188136"/>
                </a:lnTo>
                <a:lnTo>
                  <a:pt x="293370" y="166938"/>
                </a:lnTo>
                <a:lnTo>
                  <a:pt x="314325" y="135213"/>
                </a:lnTo>
                <a:lnTo>
                  <a:pt x="335280" y="97790"/>
                </a:lnTo>
              </a:path>
            </a:pathLst>
          </a:custGeom>
          <a:ln w="222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ckt">
            <a:extLst>
              <a:ext uri="{FF2B5EF4-FFF2-40B4-BE49-F238E27FC236}">
                <a16:creationId xmlns:a16="http://schemas.microsoft.com/office/drawing/2014/main" id="{61CBE484-5733-83B7-3D00-0F1E612F7499}"/>
              </a:ext>
            </a:extLst>
          </p:cNvPr>
          <p:cNvSpPr txBox="1"/>
          <p:nvPr/>
        </p:nvSpPr>
        <p:spPr>
          <a:xfrm>
            <a:off x="1981200" y="5854699"/>
            <a:ext cx="25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15241D"/>
                </a:solidFill>
                <a:latin typeface="DM Sans" pitchFamily="2" charset="0"/>
              </a:rPr>
              <a:t>+</a:t>
            </a:r>
          </a:p>
        </p:txBody>
      </p:sp>
      <p:cxnSp>
        <p:nvCxnSpPr>
          <p:cNvPr id="40" name="ckt">
            <a:extLst>
              <a:ext uri="{FF2B5EF4-FFF2-40B4-BE49-F238E27FC236}">
                <a16:creationId xmlns:a16="http://schemas.microsoft.com/office/drawing/2014/main" id="{4D2C9377-2934-7081-48BC-E69FDEF6C2E7}"/>
              </a:ext>
            </a:extLst>
          </p:cNvPr>
          <p:cNvCxnSpPr/>
          <p:nvPr/>
        </p:nvCxnSpPr>
        <p:spPr>
          <a:xfrm>
            <a:off x="1930400" y="73660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kt">
            <a:extLst>
              <a:ext uri="{FF2B5EF4-FFF2-40B4-BE49-F238E27FC236}">
                <a16:creationId xmlns:a16="http://schemas.microsoft.com/office/drawing/2014/main" id="{92EB3F6A-3CC3-6ED8-3859-36F44A59DE43}"/>
              </a:ext>
            </a:extLst>
          </p:cNvPr>
          <p:cNvCxnSpPr/>
          <p:nvPr/>
        </p:nvCxnSpPr>
        <p:spPr>
          <a:xfrm>
            <a:off x="1739900" y="75184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kt">
            <a:extLst>
              <a:ext uri="{FF2B5EF4-FFF2-40B4-BE49-F238E27FC236}">
                <a16:creationId xmlns:a16="http://schemas.microsoft.com/office/drawing/2014/main" id="{59E17134-C26F-91DD-B004-892C0FA5C2E5}"/>
              </a:ext>
            </a:extLst>
          </p:cNvPr>
          <p:cNvCxnSpPr/>
          <p:nvPr/>
        </p:nvCxnSpPr>
        <p:spPr>
          <a:xfrm>
            <a:off x="1809750" y="75882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kt">
            <a:extLst>
              <a:ext uri="{FF2B5EF4-FFF2-40B4-BE49-F238E27FC236}">
                <a16:creationId xmlns:a16="http://schemas.microsoft.com/office/drawing/2014/main" id="{94A52A7D-142C-3632-C20F-45E6EB799AFD}"/>
              </a:ext>
            </a:extLst>
          </p:cNvPr>
          <p:cNvCxnSpPr/>
          <p:nvPr/>
        </p:nvCxnSpPr>
        <p:spPr>
          <a:xfrm>
            <a:off x="1879600" y="76581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kt label">
            <a:extLst>
              <a:ext uri="{FF2B5EF4-FFF2-40B4-BE49-F238E27FC236}">
                <a16:creationId xmlns:a16="http://schemas.microsoft.com/office/drawing/2014/main" id="{39D641CF-5538-8005-3978-F7E814720BEF}"/>
              </a:ext>
            </a:extLst>
          </p:cNvPr>
          <p:cNvSpPr txBox="1"/>
          <p:nvPr/>
        </p:nvSpPr>
        <p:spPr>
          <a:xfrm>
            <a:off x="787400" y="6232524"/>
            <a:ext cx="762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i</a:t>
            </a:r>
          </a:p>
        </p:txBody>
      </p:sp>
      <p:cxnSp>
        <p:nvCxnSpPr>
          <p:cNvPr id="45" name="ckt">
            <a:extLst>
              <a:ext uri="{FF2B5EF4-FFF2-40B4-BE49-F238E27FC236}">
                <a16:creationId xmlns:a16="http://schemas.microsoft.com/office/drawing/2014/main" id="{9452A0A3-395D-9D21-E896-7E1FC4C44796}"/>
              </a:ext>
            </a:extLst>
          </p:cNvPr>
          <p:cNvCxnSpPr/>
          <p:nvPr/>
        </p:nvCxnSpPr>
        <p:spPr>
          <a:xfrm>
            <a:off x="2032000" y="6350000"/>
            <a:ext cx="635000" cy="0"/>
          </a:xfrm>
          <a:prstGeom prst="line">
            <a:avLst/>
          </a:prstGeom>
          <a:ln w="22225">
            <a:solidFill>
              <a:srgbClr val="4D5B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kt label">
            <a:extLst>
              <a:ext uri="{FF2B5EF4-FFF2-40B4-BE49-F238E27FC236}">
                <a16:creationId xmlns:a16="http://schemas.microsoft.com/office/drawing/2014/main" id="{6C680F71-8CA2-84C6-2953-EC172F8BE5AD}"/>
              </a:ext>
            </a:extLst>
          </p:cNvPr>
          <p:cNvSpPr txBox="1"/>
          <p:nvPr/>
        </p:nvSpPr>
        <p:spPr>
          <a:xfrm>
            <a:off x="2743200" y="6188074"/>
            <a:ext cx="1016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in</a:t>
            </a:r>
          </a:p>
        </p:txBody>
      </p:sp>
      <p:cxnSp>
        <p:nvCxnSpPr>
          <p:cNvPr id="47" name="ckt">
            <a:extLst>
              <a:ext uri="{FF2B5EF4-FFF2-40B4-BE49-F238E27FC236}">
                <a16:creationId xmlns:a16="http://schemas.microsoft.com/office/drawing/2014/main" id="{08CBB490-C2C4-2DAE-0639-40AE7A19B151}"/>
              </a:ext>
            </a:extLst>
          </p:cNvPr>
          <p:cNvCxnSpPr/>
          <p:nvPr/>
        </p:nvCxnSpPr>
        <p:spPr>
          <a:xfrm>
            <a:off x="5283200" y="4064000"/>
            <a:ext cx="508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kt">
            <a:extLst>
              <a:ext uri="{FF2B5EF4-FFF2-40B4-BE49-F238E27FC236}">
                <a16:creationId xmlns:a16="http://schemas.microsoft.com/office/drawing/2014/main" id="{D2716202-6AED-7863-D340-0D57162EC7D8}"/>
              </a:ext>
            </a:extLst>
          </p:cNvPr>
          <p:cNvCxnSpPr/>
          <p:nvPr/>
        </p:nvCxnSpPr>
        <p:spPr>
          <a:xfrm>
            <a:off x="5791200" y="40640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kt">
            <a:extLst>
              <a:ext uri="{FF2B5EF4-FFF2-40B4-BE49-F238E27FC236}">
                <a16:creationId xmlns:a16="http://schemas.microsoft.com/office/drawing/2014/main" id="{B078C913-650B-409C-1ED2-00B3A491870E}"/>
              </a:ext>
            </a:extLst>
          </p:cNvPr>
          <p:cNvCxnSpPr/>
          <p:nvPr/>
        </p:nvCxnSpPr>
        <p:spPr>
          <a:xfrm>
            <a:off x="6299200" y="40640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kt">
            <a:extLst>
              <a:ext uri="{FF2B5EF4-FFF2-40B4-BE49-F238E27FC236}">
                <a16:creationId xmlns:a16="http://schemas.microsoft.com/office/drawing/2014/main" id="{BD35087F-9BE8-C354-BC13-B1469DF9204B}"/>
              </a:ext>
            </a:extLst>
          </p:cNvPr>
          <p:cNvCxnSpPr/>
          <p:nvPr/>
        </p:nvCxnSpPr>
        <p:spPr>
          <a:xfrm flipV="1">
            <a:off x="6172200" y="3873500"/>
            <a:ext cx="0" cy="381000"/>
          </a:xfrm>
          <a:prstGeom prst="line">
            <a:avLst/>
          </a:prstGeom>
          <a:ln w="381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kt">
            <a:extLst>
              <a:ext uri="{FF2B5EF4-FFF2-40B4-BE49-F238E27FC236}">
                <a16:creationId xmlns:a16="http://schemas.microsoft.com/office/drawing/2014/main" id="{9E05DEF3-967D-522B-7BC0-9A0C3C2CEF66}"/>
              </a:ext>
            </a:extLst>
          </p:cNvPr>
          <p:cNvCxnSpPr/>
          <p:nvPr/>
        </p:nvCxnSpPr>
        <p:spPr>
          <a:xfrm flipV="1">
            <a:off x="6299200" y="3873500"/>
            <a:ext cx="0" cy="381000"/>
          </a:xfrm>
          <a:prstGeom prst="line">
            <a:avLst/>
          </a:prstGeom>
          <a:ln w="381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kt">
            <a:extLst>
              <a:ext uri="{FF2B5EF4-FFF2-40B4-BE49-F238E27FC236}">
                <a16:creationId xmlns:a16="http://schemas.microsoft.com/office/drawing/2014/main" id="{8B77297F-52FB-D582-5710-62B03B10BE50}"/>
              </a:ext>
            </a:extLst>
          </p:cNvPr>
          <p:cNvCxnSpPr/>
          <p:nvPr/>
        </p:nvCxnSpPr>
        <p:spPr>
          <a:xfrm>
            <a:off x="6680200" y="4064000"/>
            <a:ext cx="635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ckt">
            <a:extLst>
              <a:ext uri="{FF2B5EF4-FFF2-40B4-BE49-F238E27FC236}">
                <a16:creationId xmlns:a16="http://schemas.microsoft.com/office/drawing/2014/main" id="{BF5CB40A-EF1D-E13F-3FA1-8FF334EEDB9A}"/>
              </a:ext>
            </a:extLst>
          </p:cNvPr>
          <p:cNvSpPr/>
          <p:nvPr/>
        </p:nvSpPr>
        <p:spPr>
          <a:xfrm>
            <a:off x="7258050" y="4006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kt">
            <a:extLst>
              <a:ext uri="{FF2B5EF4-FFF2-40B4-BE49-F238E27FC236}">
                <a16:creationId xmlns:a16="http://schemas.microsoft.com/office/drawing/2014/main" id="{0372E37E-2080-28E2-FC4C-2579389D7437}"/>
              </a:ext>
            </a:extLst>
          </p:cNvPr>
          <p:cNvSpPr/>
          <p:nvPr/>
        </p:nvSpPr>
        <p:spPr>
          <a:xfrm>
            <a:off x="7188200" y="4064000"/>
            <a:ext cx="254001" cy="3302001"/>
          </a:xfrm>
          <a:custGeom>
            <a:avLst/>
            <a:gdLst/>
            <a:ahLst/>
            <a:cxnLst/>
            <a:rect l="0" t="0" r="0" b="0"/>
            <a:pathLst>
              <a:path w="254001" h="3302001">
                <a:moveTo>
                  <a:pt x="127000" y="0"/>
                </a:moveTo>
                <a:lnTo>
                  <a:pt x="127000" y="1282700"/>
                </a:lnTo>
                <a:lnTo>
                  <a:pt x="0" y="1344083"/>
                </a:lnTo>
                <a:lnTo>
                  <a:pt x="254000" y="1466850"/>
                </a:lnTo>
                <a:lnTo>
                  <a:pt x="0" y="1589617"/>
                </a:lnTo>
                <a:lnTo>
                  <a:pt x="254000" y="1712383"/>
                </a:lnTo>
                <a:lnTo>
                  <a:pt x="0" y="1835150"/>
                </a:lnTo>
                <a:lnTo>
                  <a:pt x="254000" y="1957917"/>
                </a:lnTo>
                <a:lnTo>
                  <a:pt x="127000" y="2019300"/>
                </a:lnTo>
                <a:lnTo>
                  <a:pt x="127000" y="33020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ckt">
            <a:extLst>
              <a:ext uri="{FF2B5EF4-FFF2-40B4-BE49-F238E27FC236}">
                <a16:creationId xmlns:a16="http://schemas.microsoft.com/office/drawing/2014/main" id="{9AF21892-F690-69E2-C289-E667998AE6B2}"/>
              </a:ext>
            </a:extLst>
          </p:cNvPr>
          <p:cNvCxnSpPr/>
          <p:nvPr/>
        </p:nvCxnSpPr>
        <p:spPr>
          <a:xfrm>
            <a:off x="7315200" y="73660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kt">
            <a:extLst>
              <a:ext uri="{FF2B5EF4-FFF2-40B4-BE49-F238E27FC236}">
                <a16:creationId xmlns:a16="http://schemas.microsoft.com/office/drawing/2014/main" id="{8F7F4C08-9481-2E70-CE97-A62C4B90DC67}"/>
              </a:ext>
            </a:extLst>
          </p:cNvPr>
          <p:cNvCxnSpPr/>
          <p:nvPr/>
        </p:nvCxnSpPr>
        <p:spPr>
          <a:xfrm>
            <a:off x="7124700" y="75184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kt">
            <a:extLst>
              <a:ext uri="{FF2B5EF4-FFF2-40B4-BE49-F238E27FC236}">
                <a16:creationId xmlns:a16="http://schemas.microsoft.com/office/drawing/2014/main" id="{74766C07-6025-38D6-B205-DC2E9CDD6D33}"/>
              </a:ext>
            </a:extLst>
          </p:cNvPr>
          <p:cNvCxnSpPr/>
          <p:nvPr/>
        </p:nvCxnSpPr>
        <p:spPr>
          <a:xfrm>
            <a:off x="7194550" y="75882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kt">
            <a:extLst>
              <a:ext uri="{FF2B5EF4-FFF2-40B4-BE49-F238E27FC236}">
                <a16:creationId xmlns:a16="http://schemas.microsoft.com/office/drawing/2014/main" id="{D428F5C0-C008-A735-8EC4-AC189167BFD9}"/>
              </a:ext>
            </a:extLst>
          </p:cNvPr>
          <p:cNvCxnSpPr/>
          <p:nvPr/>
        </p:nvCxnSpPr>
        <p:spPr>
          <a:xfrm>
            <a:off x="7264400" y="76581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kt label">
            <a:extLst>
              <a:ext uri="{FF2B5EF4-FFF2-40B4-BE49-F238E27FC236}">
                <a16:creationId xmlns:a16="http://schemas.microsoft.com/office/drawing/2014/main" id="{9448BF18-201A-6A6A-4C12-2D26DB17BA19}"/>
              </a:ext>
            </a:extLst>
          </p:cNvPr>
          <p:cNvSpPr txBox="1"/>
          <p:nvPr/>
        </p:nvSpPr>
        <p:spPr>
          <a:xfrm>
            <a:off x="5461000" y="6061074"/>
            <a:ext cx="1651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L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10 k</a:t>
            </a:r>
            <a:r>
              <a:rPr lang="el-GR" sz="1700" b="1">
                <a:solidFill>
                  <a:srgbClr val="0E7C7B"/>
                </a:solidFill>
              </a:rPr>
              <a:t>Ω</a:t>
            </a:r>
            <a:endParaRPr lang="en-US" sz="1700" b="1">
              <a:solidFill>
                <a:srgbClr val="0E7C7B"/>
              </a:solidFill>
              <a:latin typeface="DM Sans" pitchFamily="2" charset="0"/>
            </a:endParaRPr>
          </a:p>
        </p:txBody>
      </p:sp>
      <p:cxnSp>
        <p:nvCxnSpPr>
          <p:cNvPr id="60" name="ckt">
            <a:extLst>
              <a:ext uri="{FF2B5EF4-FFF2-40B4-BE49-F238E27FC236}">
                <a16:creationId xmlns:a16="http://schemas.microsoft.com/office/drawing/2014/main" id="{FE946E9E-7BEA-FBBC-F5D2-369D04E833B7}"/>
              </a:ext>
            </a:extLst>
          </p:cNvPr>
          <p:cNvCxnSpPr/>
          <p:nvPr/>
        </p:nvCxnSpPr>
        <p:spPr>
          <a:xfrm>
            <a:off x="7315200" y="4064000"/>
            <a:ext cx="558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kt">
            <a:extLst>
              <a:ext uri="{FF2B5EF4-FFF2-40B4-BE49-F238E27FC236}">
                <a16:creationId xmlns:a16="http://schemas.microsoft.com/office/drawing/2014/main" id="{FCB782D8-864E-8CF5-A07E-C26125CBFAFB}"/>
              </a:ext>
            </a:extLst>
          </p:cNvPr>
          <p:cNvSpPr/>
          <p:nvPr/>
        </p:nvSpPr>
        <p:spPr>
          <a:xfrm>
            <a:off x="7880350" y="3994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kt label">
            <a:extLst>
              <a:ext uri="{FF2B5EF4-FFF2-40B4-BE49-F238E27FC236}">
                <a16:creationId xmlns:a16="http://schemas.microsoft.com/office/drawing/2014/main" id="{C9605B99-DD98-1ECB-2C94-E31D898F1F82}"/>
              </a:ext>
            </a:extLst>
          </p:cNvPr>
          <p:cNvSpPr txBox="1"/>
          <p:nvPr/>
        </p:nvSpPr>
        <p:spPr>
          <a:xfrm>
            <a:off x="8102600" y="3883024"/>
            <a:ext cx="635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o</a:t>
            </a:r>
          </a:p>
        </p:txBody>
      </p:sp>
      <p:sp>
        <p:nvSpPr>
          <p:cNvPr id="63" name="ckt label">
            <a:extLst>
              <a:ext uri="{FF2B5EF4-FFF2-40B4-BE49-F238E27FC236}">
                <a16:creationId xmlns:a16="http://schemas.microsoft.com/office/drawing/2014/main" id="{A6C4AF44-260D-CFBD-FC10-DBA7B3886D9C}"/>
              </a:ext>
            </a:extLst>
          </p:cNvPr>
          <p:cNvSpPr txBox="1"/>
          <p:nvPr/>
        </p:nvSpPr>
        <p:spPr>
          <a:xfrm>
            <a:off x="5854700" y="3479799"/>
            <a:ext cx="76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 i="1">
                <a:solidFill>
                  <a:srgbClr val="4D5B54"/>
                </a:solidFill>
                <a:latin typeface="DM Sans" pitchFamily="2" charset="0"/>
              </a:rPr>
              <a:t>C</a:t>
            </a:r>
            <a:r>
              <a:rPr lang="en-US" sz="1600" i="1" baseline="-25000">
                <a:solidFill>
                  <a:srgbClr val="4D5B54"/>
                </a:solidFill>
                <a:latin typeface="DM Sans" pitchFamily="2" charset="0"/>
              </a:rPr>
              <a:t>C</a:t>
            </a:r>
          </a:p>
        </p:txBody>
      </p:sp>
      <p:sp>
        <p:nvSpPr>
          <p:cNvPr id="64" name="ckt label">
            <a:extLst>
              <a:ext uri="{FF2B5EF4-FFF2-40B4-BE49-F238E27FC236}">
                <a16:creationId xmlns:a16="http://schemas.microsoft.com/office/drawing/2014/main" id="{59E1D89F-9765-D55F-1704-C9D9033DBD79}"/>
              </a:ext>
            </a:extLst>
          </p:cNvPr>
          <p:cNvSpPr txBox="1"/>
          <p:nvPr/>
        </p:nvSpPr>
        <p:spPr>
          <a:xfrm>
            <a:off x="2819400" y="5740399"/>
            <a:ext cx="76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 i="1">
                <a:solidFill>
                  <a:srgbClr val="4D5B54"/>
                </a:solidFill>
                <a:latin typeface="DM Sans" pitchFamily="2" charset="0"/>
              </a:rPr>
              <a:t>C</a:t>
            </a:r>
            <a:r>
              <a:rPr lang="en-US" sz="1600" i="1" baseline="-25000">
                <a:solidFill>
                  <a:srgbClr val="4D5B54"/>
                </a:solidFill>
                <a:latin typeface="DM Sans" pitchFamily="2" charset="0"/>
              </a:rPr>
              <a:t>C</a:t>
            </a:r>
          </a:p>
        </p:txBody>
      </p:sp>
      <p:sp>
        <p:nvSpPr>
          <p:cNvPr id="65" name="given">
            <a:extLst>
              <a:ext uri="{FF2B5EF4-FFF2-40B4-BE49-F238E27FC236}">
                <a16:creationId xmlns:a16="http://schemas.microsoft.com/office/drawing/2014/main" id="{B83F3439-DA11-140D-FFC2-BD85860A1FA7}"/>
              </a:ext>
            </a:extLst>
          </p:cNvPr>
          <p:cNvSpPr/>
          <p:nvPr/>
        </p:nvSpPr>
        <p:spPr>
          <a:xfrm>
            <a:off x="914400" y="7772400"/>
            <a:ext cx="105283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GIVEN</a:t>
            </a:r>
          </a:p>
        </p:txBody>
      </p:sp>
      <p:sp>
        <p:nvSpPr>
          <p:cNvPr id="66" name="given">
            <a:extLst>
              <a:ext uri="{FF2B5EF4-FFF2-40B4-BE49-F238E27FC236}">
                <a16:creationId xmlns:a16="http://schemas.microsoft.com/office/drawing/2014/main" id="{A35B2E42-DC42-47CA-E090-0D7CE5397E0E}"/>
              </a:ext>
            </a:extLst>
          </p:cNvPr>
          <p:cNvSpPr/>
          <p:nvPr/>
        </p:nvSpPr>
        <p:spPr>
          <a:xfrm>
            <a:off x="914400" y="8355965"/>
            <a:ext cx="118745" cy="118745"/>
          </a:xfrm>
          <a:prstGeom prst="rect">
            <a:avLst/>
          </a:prstGeom>
          <a:solidFill>
            <a:srgbClr val="1F6F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given">
            <a:extLst>
              <a:ext uri="{FF2B5EF4-FFF2-40B4-BE49-F238E27FC236}">
                <a16:creationId xmlns:a16="http://schemas.microsoft.com/office/drawing/2014/main" id="{23134F2F-B032-20F6-27BC-AC5EB717799C}"/>
              </a:ext>
            </a:extLst>
          </p:cNvPr>
          <p:cNvSpPr txBox="1"/>
          <p:nvPr/>
        </p:nvSpPr>
        <p:spPr>
          <a:xfrm>
            <a:off x="1130300" y="8280400"/>
            <a:ext cx="7658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1F6FA8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1F6FA8"/>
                </a:solidFill>
                <a:latin typeface="DM Sans" pitchFamily="2" charset="0"/>
              </a:rPr>
              <a:t>DD</a:t>
            </a:r>
            <a:r>
              <a:rPr lang="en-US" sz="1700" b="1">
                <a:solidFill>
                  <a:srgbClr val="1F6FA8"/>
                </a:solidFill>
                <a:latin typeface="DM Sans" pitchFamily="2" charset="0"/>
              </a:rPr>
              <a:t> = 15 V</a:t>
            </a:r>
          </a:p>
        </p:txBody>
      </p:sp>
      <p:sp>
        <p:nvSpPr>
          <p:cNvPr id="68" name="given">
            <a:extLst>
              <a:ext uri="{FF2B5EF4-FFF2-40B4-BE49-F238E27FC236}">
                <a16:creationId xmlns:a16="http://schemas.microsoft.com/office/drawing/2014/main" id="{989D3651-6190-4AA6-44B8-7B1C7EF8BDFA}"/>
              </a:ext>
            </a:extLst>
          </p:cNvPr>
          <p:cNvSpPr/>
          <p:nvPr/>
        </p:nvSpPr>
        <p:spPr>
          <a:xfrm>
            <a:off x="914400" y="8642975"/>
            <a:ext cx="118745" cy="118744"/>
          </a:xfrm>
          <a:prstGeom prst="rect">
            <a:avLst/>
          </a:prstGeom>
          <a:solidFill>
            <a:srgbClr val="7A3E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given">
            <a:extLst>
              <a:ext uri="{FF2B5EF4-FFF2-40B4-BE49-F238E27FC236}">
                <a16:creationId xmlns:a16="http://schemas.microsoft.com/office/drawing/2014/main" id="{DD80FD70-D59E-DFBC-E8C7-9489F38CFD8C}"/>
              </a:ext>
            </a:extLst>
          </p:cNvPr>
          <p:cNvSpPr txBox="1"/>
          <p:nvPr/>
        </p:nvSpPr>
        <p:spPr>
          <a:xfrm>
            <a:off x="1130300" y="8567410"/>
            <a:ext cx="7658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7A3E9D"/>
                </a:solidFill>
                <a:latin typeface="DM Sans" pitchFamily="2" charset="0"/>
              </a:rPr>
              <a:t>G</a:t>
            </a:r>
            <a:r>
              <a:rPr lang="en-US" sz="1700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sz="1700" b="1">
                <a:solidFill>
                  <a:srgbClr val="7A3E9D"/>
                </a:solidFill>
              </a:rPr>
              <a:t>Ω</a:t>
            </a:r>
            <a:endParaRPr lang="en-US" sz="1700" b="1">
              <a:solidFill>
                <a:srgbClr val="7A3E9D"/>
              </a:solidFill>
              <a:latin typeface="DM Sans" pitchFamily="2" charset="0"/>
            </a:endParaRPr>
          </a:p>
        </p:txBody>
      </p:sp>
      <p:sp>
        <p:nvSpPr>
          <p:cNvPr id="70" name="given">
            <a:extLst>
              <a:ext uri="{FF2B5EF4-FFF2-40B4-BE49-F238E27FC236}">
                <a16:creationId xmlns:a16="http://schemas.microsoft.com/office/drawing/2014/main" id="{6F0155CC-F056-E541-EC38-BEA86A4ED927}"/>
              </a:ext>
            </a:extLst>
          </p:cNvPr>
          <p:cNvSpPr/>
          <p:nvPr/>
        </p:nvSpPr>
        <p:spPr>
          <a:xfrm>
            <a:off x="914400" y="8929984"/>
            <a:ext cx="118745" cy="118745"/>
          </a:xfrm>
          <a:prstGeom prst="rect">
            <a:avLst/>
          </a:prstGeom>
          <a:solidFill>
            <a:srgbClr val="0E7C7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given">
            <a:extLst>
              <a:ext uri="{FF2B5EF4-FFF2-40B4-BE49-F238E27FC236}">
                <a16:creationId xmlns:a16="http://schemas.microsoft.com/office/drawing/2014/main" id="{2DD41F46-2D8F-62D6-9B5E-36EF996C9971}"/>
              </a:ext>
            </a:extLst>
          </p:cNvPr>
          <p:cNvSpPr txBox="1"/>
          <p:nvPr/>
        </p:nvSpPr>
        <p:spPr>
          <a:xfrm>
            <a:off x="1130300" y="8854419"/>
            <a:ext cx="7658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D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</a:t>
            </a:r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L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10 k</a:t>
            </a:r>
            <a:r>
              <a:rPr lang="el-GR" sz="1700" b="1">
                <a:solidFill>
                  <a:srgbClr val="0E7C7B"/>
                </a:solidFill>
              </a:rPr>
              <a:t>Ω</a:t>
            </a:r>
            <a:endParaRPr lang="en-US" sz="1700" b="1">
              <a:solidFill>
                <a:srgbClr val="0E7C7B"/>
              </a:solidFill>
              <a:latin typeface="DM Sans" pitchFamily="2" charset="0"/>
            </a:endParaRPr>
          </a:p>
        </p:txBody>
      </p:sp>
      <p:sp>
        <p:nvSpPr>
          <p:cNvPr id="72" name="given">
            <a:extLst>
              <a:ext uri="{FF2B5EF4-FFF2-40B4-BE49-F238E27FC236}">
                <a16:creationId xmlns:a16="http://schemas.microsoft.com/office/drawing/2014/main" id="{B4BAA38B-5748-7BD6-5704-4916D61B157F}"/>
              </a:ext>
            </a:extLst>
          </p:cNvPr>
          <p:cNvSpPr/>
          <p:nvPr/>
        </p:nvSpPr>
        <p:spPr>
          <a:xfrm>
            <a:off x="914400" y="9216994"/>
            <a:ext cx="118745" cy="118745"/>
          </a:xfrm>
          <a:prstGeom prst="rect">
            <a:avLst/>
          </a:prstGeom>
          <a:solidFill>
            <a:srgbClr val="B018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given">
            <a:extLst>
              <a:ext uri="{FF2B5EF4-FFF2-40B4-BE49-F238E27FC236}">
                <a16:creationId xmlns:a16="http://schemas.microsoft.com/office/drawing/2014/main" id="{47E26FBC-3164-ACC3-85C9-51B6FB25D122}"/>
              </a:ext>
            </a:extLst>
          </p:cNvPr>
          <p:cNvSpPr txBox="1"/>
          <p:nvPr/>
        </p:nvSpPr>
        <p:spPr>
          <a:xfrm>
            <a:off x="1130300" y="9141430"/>
            <a:ext cx="7658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B0186B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B0186B"/>
                </a:solidFill>
                <a:latin typeface="DM Sans" pitchFamily="2" charset="0"/>
              </a:rPr>
              <a:t>t</a:t>
            </a:r>
            <a:r>
              <a:rPr lang="en-US" sz="1700" b="1">
                <a:solidFill>
                  <a:srgbClr val="B0186B"/>
                </a:solidFill>
                <a:latin typeface="DM Sans" pitchFamily="2" charset="0"/>
              </a:rPr>
              <a:t> = 1.5 V,  k′</a:t>
            </a:r>
            <a:r>
              <a:rPr lang="en-US" sz="1700" b="1" baseline="-25000">
                <a:solidFill>
                  <a:srgbClr val="B0186B"/>
                </a:solidFill>
                <a:latin typeface="DM Sans" pitchFamily="2" charset="0"/>
              </a:rPr>
              <a:t>n</a:t>
            </a:r>
            <a:r>
              <a:rPr lang="en-US" sz="1700" b="1">
                <a:solidFill>
                  <a:srgbClr val="B0186B"/>
                </a:solidFill>
                <a:latin typeface="DM Sans" pitchFamily="2" charset="0"/>
              </a:rPr>
              <a:t>(W/L) = 0.25 mA/V²,  </a:t>
            </a:r>
            <a:r>
              <a:rPr lang="en-US" sz="1700" b="1" i="1">
                <a:solidFill>
                  <a:srgbClr val="B0186B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B0186B"/>
                </a:solidFill>
                <a:latin typeface="DM Sans" pitchFamily="2" charset="0"/>
              </a:rPr>
              <a:t>A</a:t>
            </a:r>
            <a:r>
              <a:rPr lang="en-US" sz="1700" b="1">
                <a:solidFill>
                  <a:srgbClr val="B0186B"/>
                </a:solidFill>
                <a:latin typeface="DM Sans" pitchFamily="2" charset="0"/>
              </a:rPr>
              <a:t> = 50 V</a:t>
            </a:r>
          </a:p>
        </p:txBody>
      </p:sp>
      <p:sp>
        <p:nvSpPr>
          <p:cNvPr id="74" name="badge @1">
            <a:extLst>
              <a:ext uri="{FF2B5EF4-FFF2-40B4-BE49-F238E27FC236}">
                <a16:creationId xmlns:a16="http://schemas.microsoft.com/office/drawing/2014/main" id="{DA063CD4-4C31-E10B-3F33-AACC1861D685}"/>
              </a:ext>
            </a:extLst>
          </p:cNvPr>
          <p:cNvSpPr/>
          <p:nvPr/>
        </p:nvSpPr>
        <p:spPr>
          <a:xfrm>
            <a:off x="9169400" y="19177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4</a:t>
            </a:r>
          </a:p>
        </p:txBody>
      </p:sp>
      <p:sp>
        <p:nvSpPr>
          <p:cNvPr id="75" name="step @1">
            <a:extLst>
              <a:ext uri="{FF2B5EF4-FFF2-40B4-BE49-F238E27FC236}">
                <a16:creationId xmlns:a16="http://schemas.microsoft.com/office/drawing/2014/main" id="{C0A3F475-A876-E1F2-C842-540B0AE3B9F8}"/>
              </a:ext>
            </a:extLst>
          </p:cNvPr>
          <p:cNvSpPr txBox="1"/>
          <p:nvPr/>
        </p:nvSpPr>
        <p:spPr>
          <a:xfrm>
            <a:off x="9753600" y="1905000"/>
            <a:ext cx="7620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Small-signal parameters at the bias point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eq @1">
                <a:extLst>
                  <a:ext uri="{FF2B5EF4-FFF2-40B4-BE49-F238E27FC236}">
                    <a16:creationId xmlns:a16="http://schemas.microsoft.com/office/drawing/2014/main" id="{17AF139B-C0DE-D599-AD4D-AE5801DBA9D1}"/>
                  </a:ext>
                </a:extLst>
              </p:cNvPr>
              <p:cNvSpPr txBox="1"/>
              <p:nvPr/>
            </p:nvSpPr>
            <p:spPr>
              <a:xfrm>
                <a:off x="9753600" y="2238176"/>
                <a:ext cx="7620000" cy="64262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𝑚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)=</m:t>
                      </m:r>
                      <m:r>
                        <a:rPr lang="en-US" sz="2200" b="1">
                          <a:solidFill>
                            <a:srgbClr val="B0186B"/>
                          </a:solidFill>
                          <a:latin typeface="Cambria Math"/>
                          <a:cs typeface="Cambria Math"/>
                        </a:rPr>
                        <m:t>0.25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(4.41−</m:t>
                      </m:r>
                      <m:r>
                        <a:rPr lang="en-US" sz="2200" b="1">
                          <a:solidFill>
                            <a:srgbClr val="B0186B"/>
                          </a:solidFill>
                          <a:latin typeface="Cambria Math"/>
                          <a:cs typeface="Cambria Math"/>
                        </a:rPr>
                        <m:t>1.5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)=0.728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76" name="eq @1">
                <a:extLst>
                  <a:ext uri="{FF2B5EF4-FFF2-40B4-BE49-F238E27FC236}">
                    <a16:creationId xmlns:a16="http://schemas.microsoft.com/office/drawing/2014/main" id="{17AF139B-C0DE-D599-AD4D-AE5801DBA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3600" y="2238176"/>
                <a:ext cx="7620000" cy="6426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eq @1">
                <a:extLst>
                  <a:ext uri="{FF2B5EF4-FFF2-40B4-BE49-F238E27FC236}">
                    <a16:creationId xmlns:a16="http://schemas.microsoft.com/office/drawing/2014/main" id="{2C01B15B-87EF-3983-7F62-4299903D92E1}"/>
                  </a:ext>
                </a:extLst>
              </p:cNvPr>
              <p:cNvSpPr txBox="1"/>
              <p:nvPr/>
            </p:nvSpPr>
            <p:spPr>
              <a:xfrm>
                <a:off x="9753600" y="2880796"/>
                <a:ext cx="7620000" cy="64262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𝑜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200" b="1" i="1">
                              <a:solidFill>
                                <a:srgbClr val="B0186B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200" b="1">
                                  <a:solidFill>
                                    <a:srgbClr val="B0186B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200" b="1">
                                  <a:solidFill>
                                    <a:srgbClr val="B0186B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200" b="1">
                                  <a:solidFill>
                                    <a:srgbClr val="B0186B"/>
                                  </a:solidFill>
                                  <a:latin typeface="Cambria Math"/>
                                  <a:cs typeface="Cambria Math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2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2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2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𝐷</m:t>
                              </m:r>
                            </m:sub>
                          </m:sSub>
                        </m:den>
                      </m:f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50</m:t>
                          </m:r>
                        </m:num>
                        <m:den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1.06</m:t>
                          </m:r>
                        </m:den>
                      </m:f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=47.2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k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𝛺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77" name="eq @1">
                <a:extLst>
                  <a:ext uri="{FF2B5EF4-FFF2-40B4-BE49-F238E27FC236}">
                    <a16:creationId xmlns:a16="http://schemas.microsoft.com/office/drawing/2014/main" id="{2C01B15B-87EF-3983-7F62-4299903D9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3600" y="2880796"/>
                <a:ext cx="7620000" cy="642620"/>
              </a:xfrm>
              <a:prstGeom prst="rect">
                <a:avLst/>
              </a:prstGeom>
              <a:blipFill>
                <a:blip r:embed="rId3"/>
                <a:stretch>
                  <a:fillRect b="-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badge @2">
            <a:extLst>
              <a:ext uri="{FF2B5EF4-FFF2-40B4-BE49-F238E27FC236}">
                <a16:creationId xmlns:a16="http://schemas.microsoft.com/office/drawing/2014/main" id="{23B112A5-8F98-DC09-ED3F-81EC8661CCA5}"/>
              </a:ext>
            </a:extLst>
          </p:cNvPr>
          <p:cNvSpPr/>
          <p:nvPr/>
        </p:nvSpPr>
        <p:spPr>
          <a:xfrm>
            <a:off x="9169400" y="3663117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5</a:t>
            </a:r>
          </a:p>
        </p:txBody>
      </p:sp>
      <p:sp>
        <p:nvSpPr>
          <p:cNvPr id="79" name="step @2">
            <a:extLst>
              <a:ext uri="{FF2B5EF4-FFF2-40B4-BE49-F238E27FC236}">
                <a16:creationId xmlns:a16="http://schemas.microsoft.com/office/drawing/2014/main" id="{8FF67B2A-B905-BC60-2537-0BDE0D170B9D}"/>
              </a:ext>
            </a:extLst>
          </p:cNvPr>
          <p:cNvSpPr txBox="1"/>
          <p:nvPr/>
        </p:nvSpPr>
        <p:spPr>
          <a:xfrm>
            <a:off x="9753600" y="3650417"/>
            <a:ext cx="7620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Find the load seen by the drain</a:t>
            </a:r>
          </a:p>
        </p:txBody>
      </p:sp>
      <p:sp>
        <p:nvSpPr>
          <p:cNvPr id="80" name="note @2">
            <a:extLst>
              <a:ext uri="{FF2B5EF4-FFF2-40B4-BE49-F238E27FC236}">
                <a16:creationId xmlns:a16="http://schemas.microsoft.com/office/drawing/2014/main" id="{15614BF7-AC4B-4E9C-6602-E2BBCE15E0D4}"/>
              </a:ext>
            </a:extLst>
          </p:cNvPr>
          <p:cNvSpPr txBox="1"/>
          <p:nvPr/>
        </p:nvSpPr>
        <p:spPr>
          <a:xfrm>
            <a:off x="9753600" y="3983594"/>
            <a:ext cx="7620000" cy="5232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Capacitors are shorts for the signal. R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G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is so large that its signal current is negligible.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" name="eq @2">
                <a:extLst>
                  <a:ext uri="{FF2B5EF4-FFF2-40B4-BE49-F238E27FC236}">
                    <a16:creationId xmlns:a16="http://schemas.microsoft.com/office/drawing/2014/main" id="{C4E6AC4C-B128-4FE3-029C-9402FAF54B88}"/>
                  </a:ext>
                </a:extLst>
              </p:cNvPr>
              <p:cNvSpPr txBox="1"/>
              <p:nvPr/>
            </p:nvSpPr>
            <p:spPr>
              <a:xfrm>
                <a:off x="9753600" y="4532213"/>
                <a:ext cx="7620000" cy="4191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2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‖</m:t>
                      </m:r>
                      <m:sSub>
                        <m:sSubPr>
                          <m:ctrlPr>
                            <a:rPr lang="en-US" sz="22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2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‖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𝑜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r>
                        <a:rPr lang="en-US" sz="2200" b="1">
                          <a:solidFill>
                            <a:srgbClr val="0E7C7B"/>
                          </a:solidFill>
                          <a:latin typeface="Cambria Math"/>
                          <a:cs typeface="Cambria Math"/>
                        </a:rPr>
                        <m:t>10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‖</m:t>
                      </m:r>
                      <m:r>
                        <a:rPr lang="en-US" sz="2200" b="1">
                          <a:solidFill>
                            <a:srgbClr val="0E7C7B"/>
                          </a:solidFill>
                          <a:latin typeface="Cambria Math"/>
                          <a:cs typeface="Cambria Math"/>
                        </a:rPr>
                        <m:t>10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‖47.2=4.52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k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𝛺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1" name="eq @2">
                <a:extLst>
                  <a:ext uri="{FF2B5EF4-FFF2-40B4-BE49-F238E27FC236}">
                    <a16:creationId xmlns:a16="http://schemas.microsoft.com/office/drawing/2014/main" id="{C4E6AC4C-B128-4FE3-029C-9402FAF54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3600" y="4532213"/>
                <a:ext cx="7620000" cy="419100"/>
              </a:xfrm>
              <a:prstGeom prst="rect">
                <a:avLst/>
              </a:prstGeom>
              <a:blipFill>
                <a:blip r:embed="rId4"/>
                <a:stretch>
                  <a:fillRect l="-1280" b="-188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chrome page">
            <a:extLst>
              <a:ext uri="{FF2B5EF4-FFF2-40B4-BE49-F238E27FC236}">
                <a16:creationId xmlns:a16="http://schemas.microsoft.com/office/drawing/2014/main" id="{7163CCEA-754F-C292-A870-C0905360FE37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chrome page">
            <a:extLst>
              <a:ext uri="{FF2B5EF4-FFF2-40B4-BE49-F238E27FC236}">
                <a16:creationId xmlns:a16="http://schemas.microsoft.com/office/drawing/2014/main" id="{C2087D49-5D37-0D71-78B3-075D0BF6C8CD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67</a:t>
            </a:r>
          </a:p>
        </p:txBody>
      </p:sp>
    </p:spTree>
    <p:extLst>
      <p:ext uri="{BB962C8B-B14F-4D97-AF65-F5344CB8AC3E}">
        <p14:creationId xmlns:p14="http://schemas.microsoft.com/office/powerpoint/2010/main" val="33107026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 2: gain and input resi s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18B97D1-CEF7-D0FF-8AA1-DE3707F98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Example 2: gain and input resistance (2 of 2)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92877BD3-F32A-8DD1-7749-432B2E53D498}"/>
              </a:ext>
            </a:extLst>
          </p:cNvPr>
          <p:cNvSpPr/>
          <p:nvPr/>
        </p:nvSpPr>
        <p:spPr>
          <a:xfrm>
            <a:off x="914400" y="279400"/>
            <a:ext cx="377698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CB20353B-E37D-88C6-40A1-94220C33C391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E607418D-7F33-2DB5-797A-7E1E862EC6E9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circuit card">
            <a:extLst>
              <a:ext uri="{FF2B5EF4-FFF2-40B4-BE49-F238E27FC236}">
                <a16:creationId xmlns:a16="http://schemas.microsoft.com/office/drawing/2014/main" id="{94FC7923-A57B-BA2A-6973-885F97612F83}"/>
              </a:ext>
            </a:extLst>
          </p:cNvPr>
          <p:cNvSpPr/>
          <p:nvPr/>
        </p:nvSpPr>
        <p:spPr>
          <a:xfrm>
            <a:off x="914400" y="1905000"/>
            <a:ext cx="7874000" cy="5715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F4E34EFB-81A3-E3B2-3136-C82F71C77D6D}"/>
              </a:ext>
            </a:extLst>
          </p:cNvPr>
          <p:cNvSpPr/>
          <p:nvPr/>
        </p:nvSpPr>
        <p:spPr>
          <a:xfrm>
            <a:off x="914400" y="1892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kt">
            <a:extLst>
              <a:ext uri="{FF2B5EF4-FFF2-40B4-BE49-F238E27FC236}">
                <a16:creationId xmlns:a16="http://schemas.microsoft.com/office/drawing/2014/main" id="{BF35BB08-15AA-BDB3-9B15-58B3A98FFE60}"/>
              </a:ext>
            </a:extLst>
          </p:cNvPr>
          <p:cNvCxnSpPr/>
          <p:nvPr/>
        </p:nvCxnSpPr>
        <p:spPr>
          <a:xfrm>
            <a:off x="4724400" y="50769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kt">
            <a:extLst>
              <a:ext uri="{FF2B5EF4-FFF2-40B4-BE49-F238E27FC236}">
                <a16:creationId xmlns:a16="http://schemas.microsoft.com/office/drawing/2014/main" id="{DDCD36F3-5452-FBC1-6FA6-D26BF9710EA0}"/>
              </a:ext>
            </a:extLst>
          </p:cNvPr>
          <p:cNvCxnSpPr/>
          <p:nvPr/>
        </p:nvCxnSpPr>
        <p:spPr>
          <a:xfrm>
            <a:off x="4851400" y="4927600"/>
            <a:ext cx="0" cy="1066800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kt">
            <a:extLst>
              <a:ext uri="{FF2B5EF4-FFF2-40B4-BE49-F238E27FC236}">
                <a16:creationId xmlns:a16="http://schemas.microsoft.com/office/drawing/2014/main" id="{061FB374-1D01-D8DC-460C-A76F3B7678F8}"/>
              </a:ext>
            </a:extLst>
          </p:cNvPr>
          <p:cNvCxnSpPr/>
          <p:nvPr/>
        </p:nvCxnSpPr>
        <p:spPr>
          <a:xfrm>
            <a:off x="4851400" y="50292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kt">
            <a:extLst>
              <a:ext uri="{FF2B5EF4-FFF2-40B4-BE49-F238E27FC236}">
                <a16:creationId xmlns:a16="http://schemas.microsoft.com/office/drawing/2014/main" id="{F5D7E194-A230-D291-51BA-7C42C6E218F5}"/>
              </a:ext>
            </a:extLst>
          </p:cNvPr>
          <p:cNvCxnSpPr/>
          <p:nvPr/>
        </p:nvCxnSpPr>
        <p:spPr>
          <a:xfrm>
            <a:off x="4851400" y="58928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kt">
            <a:extLst>
              <a:ext uri="{FF2B5EF4-FFF2-40B4-BE49-F238E27FC236}">
                <a16:creationId xmlns:a16="http://schemas.microsoft.com/office/drawing/2014/main" id="{C13B3EE1-7013-32E2-CDA9-A45AC32EBB00}"/>
              </a:ext>
            </a:extLst>
          </p:cNvPr>
          <p:cNvCxnSpPr/>
          <p:nvPr/>
        </p:nvCxnSpPr>
        <p:spPr>
          <a:xfrm>
            <a:off x="5153660" y="5892800"/>
            <a:ext cx="12954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kt">
            <a:extLst>
              <a:ext uri="{FF2B5EF4-FFF2-40B4-BE49-F238E27FC236}">
                <a16:creationId xmlns:a16="http://schemas.microsoft.com/office/drawing/2014/main" id="{E07DF5A2-D53F-806F-5FE7-58FC7CC84203}"/>
              </a:ext>
            </a:extLst>
          </p:cNvPr>
          <p:cNvSpPr/>
          <p:nvPr/>
        </p:nvSpPr>
        <p:spPr>
          <a:xfrm>
            <a:off x="5213350" y="2343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 label">
            <a:extLst>
              <a:ext uri="{FF2B5EF4-FFF2-40B4-BE49-F238E27FC236}">
                <a16:creationId xmlns:a16="http://schemas.microsoft.com/office/drawing/2014/main" id="{87EFD2A3-12F7-8E34-D6A5-B70CDF23801F}"/>
              </a:ext>
            </a:extLst>
          </p:cNvPr>
          <p:cNvSpPr txBox="1"/>
          <p:nvPr/>
        </p:nvSpPr>
        <p:spPr>
          <a:xfrm>
            <a:off x="5461000" y="2251074"/>
            <a:ext cx="2794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b="1">
                <a:solidFill>
                  <a:srgbClr val="1F6FA8"/>
                </a:solidFill>
                <a:latin typeface="DM Sans" pitchFamily="2" charset="0"/>
              </a:rPr>
              <a:t>+</a:t>
            </a:r>
            <a:r>
              <a:rPr lang="en-US" sz="1700" b="1" i="1">
                <a:solidFill>
                  <a:srgbClr val="1F6FA8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1F6FA8"/>
                </a:solidFill>
                <a:latin typeface="DM Sans" pitchFamily="2" charset="0"/>
              </a:rPr>
              <a:t>DD</a:t>
            </a:r>
            <a:r>
              <a:rPr lang="en-US" sz="1700" b="1">
                <a:solidFill>
                  <a:srgbClr val="1F6FA8"/>
                </a:solidFill>
                <a:latin typeface="DM Sans" pitchFamily="2" charset="0"/>
              </a:rPr>
              <a:t> = 15 V</a:t>
            </a:r>
          </a:p>
        </p:txBody>
      </p:sp>
      <p:sp>
        <p:nvSpPr>
          <p:cNvPr id="15" name="ckt">
            <a:extLst>
              <a:ext uri="{FF2B5EF4-FFF2-40B4-BE49-F238E27FC236}">
                <a16:creationId xmlns:a16="http://schemas.microsoft.com/office/drawing/2014/main" id="{E952BDB8-7ACE-2943-6BEF-C8244374AA86}"/>
              </a:ext>
            </a:extLst>
          </p:cNvPr>
          <p:cNvSpPr/>
          <p:nvPr/>
        </p:nvSpPr>
        <p:spPr>
          <a:xfrm>
            <a:off x="5156200" y="2482850"/>
            <a:ext cx="254001" cy="1581151"/>
          </a:xfrm>
          <a:custGeom>
            <a:avLst/>
            <a:gdLst/>
            <a:ahLst/>
            <a:cxnLst/>
            <a:rect l="0" t="0" r="0" b="0"/>
            <a:pathLst>
              <a:path w="254001" h="1581151">
                <a:moveTo>
                  <a:pt x="127000" y="0"/>
                </a:moveTo>
                <a:lnTo>
                  <a:pt x="127000" y="422275"/>
                </a:lnTo>
                <a:lnTo>
                  <a:pt x="0" y="483658"/>
                </a:lnTo>
                <a:lnTo>
                  <a:pt x="254000" y="606425"/>
                </a:lnTo>
                <a:lnTo>
                  <a:pt x="0" y="729192"/>
                </a:lnTo>
                <a:lnTo>
                  <a:pt x="254000" y="851958"/>
                </a:lnTo>
                <a:lnTo>
                  <a:pt x="0" y="974725"/>
                </a:lnTo>
                <a:lnTo>
                  <a:pt x="254000" y="1097492"/>
                </a:lnTo>
                <a:lnTo>
                  <a:pt x="127000" y="1158875"/>
                </a:lnTo>
                <a:lnTo>
                  <a:pt x="127000" y="158115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kt">
            <a:extLst>
              <a:ext uri="{FF2B5EF4-FFF2-40B4-BE49-F238E27FC236}">
                <a16:creationId xmlns:a16="http://schemas.microsoft.com/office/drawing/2014/main" id="{AE5A86A4-0EA0-EC0F-792C-395E61227CF1}"/>
              </a:ext>
            </a:extLst>
          </p:cNvPr>
          <p:cNvSpPr/>
          <p:nvPr/>
        </p:nvSpPr>
        <p:spPr>
          <a:xfrm>
            <a:off x="5226050" y="4006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kt label">
            <a:extLst>
              <a:ext uri="{FF2B5EF4-FFF2-40B4-BE49-F238E27FC236}">
                <a16:creationId xmlns:a16="http://schemas.microsoft.com/office/drawing/2014/main" id="{1EC0AEE8-80CB-6873-D3B0-188D78119D2A}"/>
              </a:ext>
            </a:extLst>
          </p:cNvPr>
          <p:cNvSpPr txBox="1"/>
          <p:nvPr/>
        </p:nvSpPr>
        <p:spPr>
          <a:xfrm>
            <a:off x="5486400" y="3127374"/>
            <a:ext cx="2794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D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10 k</a:t>
            </a:r>
            <a:r>
              <a:rPr lang="el-GR" sz="1700" b="1">
                <a:solidFill>
                  <a:srgbClr val="0E7C7B"/>
                </a:solidFill>
              </a:rPr>
              <a:t>Ω</a:t>
            </a:r>
            <a:endParaRPr lang="en-US" sz="1700" b="1">
              <a:solidFill>
                <a:srgbClr val="0E7C7B"/>
              </a:solidFill>
              <a:latin typeface="DM Sans" pitchFamily="2" charset="0"/>
            </a:endParaRPr>
          </a:p>
        </p:txBody>
      </p:sp>
      <p:cxnSp>
        <p:nvCxnSpPr>
          <p:cNvPr id="18" name="ckt">
            <a:extLst>
              <a:ext uri="{FF2B5EF4-FFF2-40B4-BE49-F238E27FC236}">
                <a16:creationId xmlns:a16="http://schemas.microsoft.com/office/drawing/2014/main" id="{8F3A1A52-E7E4-535E-5292-06A8E8F50DDC}"/>
              </a:ext>
            </a:extLst>
          </p:cNvPr>
          <p:cNvCxnSpPr/>
          <p:nvPr/>
        </p:nvCxnSpPr>
        <p:spPr>
          <a:xfrm>
            <a:off x="5283200" y="4064000"/>
            <a:ext cx="0" cy="9652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kt">
            <a:extLst>
              <a:ext uri="{FF2B5EF4-FFF2-40B4-BE49-F238E27FC236}">
                <a16:creationId xmlns:a16="http://schemas.microsoft.com/office/drawing/2014/main" id="{BAFF801E-5124-AE56-382B-566A299CDF5A}"/>
              </a:ext>
            </a:extLst>
          </p:cNvPr>
          <p:cNvCxnSpPr/>
          <p:nvPr/>
        </p:nvCxnSpPr>
        <p:spPr>
          <a:xfrm>
            <a:off x="5283200" y="5892800"/>
            <a:ext cx="0" cy="14732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kt">
            <a:extLst>
              <a:ext uri="{FF2B5EF4-FFF2-40B4-BE49-F238E27FC236}">
                <a16:creationId xmlns:a16="http://schemas.microsoft.com/office/drawing/2014/main" id="{D327BABE-B4AF-9B7A-E6BE-F26F978CAE5A}"/>
              </a:ext>
            </a:extLst>
          </p:cNvPr>
          <p:cNvCxnSpPr/>
          <p:nvPr/>
        </p:nvCxnSpPr>
        <p:spPr>
          <a:xfrm>
            <a:off x="5283200" y="73660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kt">
            <a:extLst>
              <a:ext uri="{FF2B5EF4-FFF2-40B4-BE49-F238E27FC236}">
                <a16:creationId xmlns:a16="http://schemas.microsoft.com/office/drawing/2014/main" id="{2517BAAD-FADA-2893-8C16-4A0090E58E44}"/>
              </a:ext>
            </a:extLst>
          </p:cNvPr>
          <p:cNvCxnSpPr/>
          <p:nvPr/>
        </p:nvCxnSpPr>
        <p:spPr>
          <a:xfrm>
            <a:off x="5092700" y="75184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kt">
            <a:extLst>
              <a:ext uri="{FF2B5EF4-FFF2-40B4-BE49-F238E27FC236}">
                <a16:creationId xmlns:a16="http://schemas.microsoft.com/office/drawing/2014/main" id="{F4B54E95-1C39-DE3E-EFE8-D19C0A2C10DF}"/>
              </a:ext>
            </a:extLst>
          </p:cNvPr>
          <p:cNvCxnSpPr/>
          <p:nvPr/>
        </p:nvCxnSpPr>
        <p:spPr>
          <a:xfrm>
            <a:off x="5162550" y="75882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kt">
            <a:extLst>
              <a:ext uri="{FF2B5EF4-FFF2-40B4-BE49-F238E27FC236}">
                <a16:creationId xmlns:a16="http://schemas.microsoft.com/office/drawing/2014/main" id="{318E2BCE-B30E-7C4E-8711-DC145C936DED}"/>
              </a:ext>
            </a:extLst>
          </p:cNvPr>
          <p:cNvCxnSpPr/>
          <p:nvPr/>
        </p:nvCxnSpPr>
        <p:spPr>
          <a:xfrm>
            <a:off x="5232400" y="76581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kt">
            <a:extLst>
              <a:ext uri="{FF2B5EF4-FFF2-40B4-BE49-F238E27FC236}">
                <a16:creationId xmlns:a16="http://schemas.microsoft.com/office/drawing/2014/main" id="{A9E4A9B8-5BEB-59F6-6313-F97F8C5DB04E}"/>
              </a:ext>
            </a:extLst>
          </p:cNvPr>
          <p:cNvCxnSpPr/>
          <p:nvPr/>
        </p:nvCxnSpPr>
        <p:spPr>
          <a:xfrm flipH="1">
            <a:off x="3835400" y="4064000"/>
            <a:ext cx="1447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kt">
            <a:extLst>
              <a:ext uri="{FF2B5EF4-FFF2-40B4-BE49-F238E27FC236}">
                <a16:creationId xmlns:a16="http://schemas.microsoft.com/office/drawing/2014/main" id="{237719FA-EC59-1653-7841-410F2AEE85E3}"/>
              </a:ext>
            </a:extLst>
          </p:cNvPr>
          <p:cNvSpPr/>
          <p:nvPr/>
        </p:nvSpPr>
        <p:spPr>
          <a:xfrm>
            <a:off x="3708400" y="4064000"/>
            <a:ext cx="254001" cy="1397001"/>
          </a:xfrm>
          <a:custGeom>
            <a:avLst/>
            <a:gdLst/>
            <a:ahLst/>
            <a:cxnLst/>
            <a:rect l="0" t="0" r="0" b="0"/>
            <a:pathLst>
              <a:path w="254001" h="1397001">
                <a:moveTo>
                  <a:pt x="127000" y="0"/>
                </a:moveTo>
                <a:lnTo>
                  <a:pt x="127000" y="330200"/>
                </a:lnTo>
                <a:lnTo>
                  <a:pt x="0" y="391583"/>
                </a:lnTo>
                <a:lnTo>
                  <a:pt x="254000" y="514350"/>
                </a:lnTo>
                <a:lnTo>
                  <a:pt x="0" y="637117"/>
                </a:lnTo>
                <a:lnTo>
                  <a:pt x="254000" y="759883"/>
                </a:lnTo>
                <a:lnTo>
                  <a:pt x="0" y="882650"/>
                </a:lnTo>
                <a:lnTo>
                  <a:pt x="254000" y="1005417"/>
                </a:lnTo>
                <a:lnTo>
                  <a:pt x="127000" y="1066800"/>
                </a:lnTo>
                <a:lnTo>
                  <a:pt x="127000" y="13970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kt">
            <a:extLst>
              <a:ext uri="{FF2B5EF4-FFF2-40B4-BE49-F238E27FC236}">
                <a16:creationId xmlns:a16="http://schemas.microsoft.com/office/drawing/2014/main" id="{8FD4AB62-1697-3619-7A8A-C2E668EEC77C}"/>
              </a:ext>
            </a:extLst>
          </p:cNvPr>
          <p:cNvSpPr/>
          <p:nvPr/>
        </p:nvSpPr>
        <p:spPr>
          <a:xfrm>
            <a:off x="3778250" y="5403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ckt label">
            <a:extLst>
              <a:ext uri="{FF2B5EF4-FFF2-40B4-BE49-F238E27FC236}">
                <a16:creationId xmlns:a16="http://schemas.microsoft.com/office/drawing/2014/main" id="{EA304126-E505-0055-FF40-39A301370D89}"/>
              </a:ext>
            </a:extLst>
          </p:cNvPr>
          <p:cNvSpPr txBox="1"/>
          <p:nvPr/>
        </p:nvSpPr>
        <p:spPr>
          <a:xfrm>
            <a:off x="838200" y="4600574"/>
            <a:ext cx="2794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700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7A3E9D"/>
                </a:solidFill>
                <a:latin typeface="DM Sans" pitchFamily="2" charset="0"/>
              </a:rPr>
              <a:t>G</a:t>
            </a:r>
            <a:r>
              <a:rPr lang="en-US" sz="1700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sz="1700" b="1">
                <a:solidFill>
                  <a:srgbClr val="7A3E9D"/>
                </a:solidFill>
              </a:rPr>
              <a:t>Ω</a:t>
            </a:r>
            <a:endParaRPr lang="en-US" sz="1700" b="1">
              <a:solidFill>
                <a:srgbClr val="7A3E9D"/>
              </a:solidFill>
              <a:latin typeface="DM Sans" pitchFamily="2" charset="0"/>
            </a:endParaRPr>
          </a:p>
        </p:txBody>
      </p:sp>
      <p:cxnSp>
        <p:nvCxnSpPr>
          <p:cNvPr id="28" name="ckt">
            <a:extLst>
              <a:ext uri="{FF2B5EF4-FFF2-40B4-BE49-F238E27FC236}">
                <a16:creationId xmlns:a16="http://schemas.microsoft.com/office/drawing/2014/main" id="{020152DD-7FF0-D954-F299-CEED466804BE}"/>
              </a:ext>
            </a:extLst>
          </p:cNvPr>
          <p:cNvCxnSpPr/>
          <p:nvPr/>
        </p:nvCxnSpPr>
        <p:spPr>
          <a:xfrm>
            <a:off x="3835400" y="5461000"/>
            <a:ext cx="889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kt">
            <a:extLst>
              <a:ext uri="{FF2B5EF4-FFF2-40B4-BE49-F238E27FC236}">
                <a16:creationId xmlns:a16="http://schemas.microsoft.com/office/drawing/2014/main" id="{A0A73344-E2F8-584A-9C47-E19C2204D83F}"/>
              </a:ext>
            </a:extLst>
          </p:cNvPr>
          <p:cNvCxnSpPr/>
          <p:nvPr/>
        </p:nvCxnSpPr>
        <p:spPr>
          <a:xfrm>
            <a:off x="2565400" y="5461000"/>
            <a:ext cx="5715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kt">
            <a:extLst>
              <a:ext uri="{FF2B5EF4-FFF2-40B4-BE49-F238E27FC236}">
                <a16:creationId xmlns:a16="http://schemas.microsoft.com/office/drawing/2014/main" id="{E0383F93-9E9E-62DA-64C2-753AE9205754}"/>
              </a:ext>
            </a:extLst>
          </p:cNvPr>
          <p:cNvCxnSpPr/>
          <p:nvPr/>
        </p:nvCxnSpPr>
        <p:spPr>
          <a:xfrm>
            <a:off x="3263900" y="5461000"/>
            <a:ext cx="5715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kt">
            <a:extLst>
              <a:ext uri="{FF2B5EF4-FFF2-40B4-BE49-F238E27FC236}">
                <a16:creationId xmlns:a16="http://schemas.microsoft.com/office/drawing/2014/main" id="{7A667AC4-9C23-5C89-3885-FDC8472045A2}"/>
              </a:ext>
            </a:extLst>
          </p:cNvPr>
          <p:cNvCxnSpPr/>
          <p:nvPr/>
        </p:nvCxnSpPr>
        <p:spPr>
          <a:xfrm flipV="1">
            <a:off x="3136900" y="5270500"/>
            <a:ext cx="0" cy="381000"/>
          </a:xfrm>
          <a:prstGeom prst="line">
            <a:avLst/>
          </a:prstGeom>
          <a:ln w="381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kt">
            <a:extLst>
              <a:ext uri="{FF2B5EF4-FFF2-40B4-BE49-F238E27FC236}">
                <a16:creationId xmlns:a16="http://schemas.microsoft.com/office/drawing/2014/main" id="{CF95AC39-B505-27DF-DCA4-76C92BE17BCC}"/>
              </a:ext>
            </a:extLst>
          </p:cNvPr>
          <p:cNvCxnSpPr/>
          <p:nvPr/>
        </p:nvCxnSpPr>
        <p:spPr>
          <a:xfrm flipV="1">
            <a:off x="3263900" y="5270500"/>
            <a:ext cx="0" cy="381000"/>
          </a:xfrm>
          <a:prstGeom prst="line">
            <a:avLst/>
          </a:prstGeom>
          <a:ln w="381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kt">
            <a:extLst>
              <a:ext uri="{FF2B5EF4-FFF2-40B4-BE49-F238E27FC236}">
                <a16:creationId xmlns:a16="http://schemas.microsoft.com/office/drawing/2014/main" id="{9A191574-82E9-C5FF-2007-71969E3E2CDA}"/>
              </a:ext>
            </a:extLst>
          </p:cNvPr>
          <p:cNvCxnSpPr/>
          <p:nvPr/>
        </p:nvCxnSpPr>
        <p:spPr>
          <a:xfrm>
            <a:off x="1930400" y="5461000"/>
            <a:ext cx="635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kt">
            <a:extLst>
              <a:ext uri="{FF2B5EF4-FFF2-40B4-BE49-F238E27FC236}">
                <a16:creationId xmlns:a16="http://schemas.microsoft.com/office/drawing/2014/main" id="{0A4F5BE4-562E-7026-8EF1-568B9CF4A9B3}"/>
              </a:ext>
            </a:extLst>
          </p:cNvPr>
          <p:cNvSpPr/>
          <p:nvPr/>
        </p:nvSpPr>
        <p:spPr>
          <a:xfrm>
            <a:off x="1873250" y="5403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ckt">
            <a:extLst>
              <a:ext uri="{FF2B5EF4-FFF2-40B4-BE49-F238E27FC236}">
                <a16:creationId xmlns:a16="http://schemas.microsoft.com/office/drawing/2014/main" id="{03C91D34-C50A-FBB7-9F2D-E352E9F6B0E1}"/>
              </a:ext>
            </a:extLst>
          </p:cNvPr>
          <p:cNvCxnSpPr/>
          <p:nvPr/>
        </p:nvCxnSpPr>
        <p:spPr>
          <a:xfrm>
            <a:off x="1930400" y="5461000"/>
            <a:ext cx="0" cy="6731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kt">
            <a:extLst>
              <a:ext uri="{FF2B5EF4-FFF2-40B4-BE49-F238E27FC236}">
                <a16:creationId xmlns:a16="http://schemas.microsoft.com/office/drawing/2014/main" id="{00074B07-C0C2-B948-ACD8-8339F0D4EF6B}"/>
              </a:ext>
            </a:extLst>
          </p:cNvPr>
          <p:cNvCxnSpPr/>
          <p:nvPr/>
        </p:nvCxnSpPr>
        <p:spPr>
          <a:xfrm>
            <a:off x="1930400" y="6692900"/>
            <a:ext cx="0" cy="6731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kt">
            <a:extLst>
              <a:ext uri="{FF2B5EF4-FFF2-40B4-BE49-F238E27FC236}">
                <a16:creationId xmlns:a16="http://schemas.microsoft.com/office/drawing/2014/main" id="{B3B83B80-CFF1-2AB7-F70D-FCDCC2026209}"/>
              </a:ext>
            </a:extLst>
          </p:cNvPr>
          <p:cNvSpPr/>
          <p:nvPr/>
        </p:nvSpPr>
        <p:spPr>
          <a:xfrm>
            <a:off x="1651000" y="6134100"/>
            <a:ext cx="558800" cy="558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kt">
            <a:extLst>
              <a:ext uri="{FF2B5EF4-FFF2-40B4-BE49-F238E27FC236}">
                <a16:creationId xmlns:a16="http://schemas.microsoft.com/office/drawing/2014/main" id="{C703B5C1-593B-7F9F-04C9-26D424579BCD}"/>
              </a:ext>
            </a:extLst>
          </p:cNvPr>
          <p:cNvSpPr/>
          <p:nvPr/>
        </p:nvSpPr>
        <p:spPr>
          <a:xfrm>
            <a:off x="1762760" y="6315710"/>
            <a:ext cx="335281" cy="195581"/>
          </a:xfrm>
          <a:custGeom>
            <a:avLst/>
            <a:gdLst/>
            <a:ahLst/>
            <a:cxnLst/>
            <a:rect l="0" t="0" r="0" b="0"/>
            <a:pathLst>
              <a:path w="335281" h="195581">
                <a:moveTo>
                  <a:pt x="0" y="97790"/>
                </a:moveTo>
                <a:lnTo>
                  <a:pt x="20955" y="60367"/>
                </a:lnTo>
                <a:lnTo>
                  <a:pt x="41910" y="28642"/>
                </a:lnTo>
                <a:lnTo>
                  <a:pt x="62865" y="7444"/>
                </a:lnTo>
                <a:lnTo>
                  <a:pt x="83820" y="0"/>
                </a:lnTo>
                <a:lnTo>
                  <a:pt x="104775" y="7444"/>
                </a:lnTo>
                <a:lnTo>
                  <a:pt x="125730" y="28642"/>
                </a:lnTo>
                <a:lnTo>
                  <a:pt x="146685" y="60367"/>
                </a:lnTo>
                <a:lnTo>
                  <a:pt x="167640" y="97790"/>
                </a:lnTo>
                <a:lnTo>
                  <a:pt x="188595" y="135213"/>
                </a:lnTo>
                <a:lnTo>
                  <a:pt x="209550" y="166938"/>
                </a:lnTo>
                <a:lnTo>
                  <a:pt x="230505" y="188136"/>
                </a:lnTo>
                <a:lnTo>
                  <a:pt x="251460" y="195580"/>
                </a:lnTo>
                <a:lnTo>
                  <a:pt x="272415" y="188136"/>
                </a:lnTo>
                <a:lnTo>
                  <a:pt x="293370" y="166938"/>
                </a:lnTo>
                <a:lnTo>
                  <a:pt x="314325" y="135213"/>
                </a:lnTo>
                <a:lnTo>
                  <a:pt x="335280" y="97790"/>
                </a:lnTo>
              </a:path>
            </a:pathLst>
          </a:custGeom>
          <a:ln w="222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ckt">
            <a:extLst>
              <a:ext uri="{FF2B5EF4-FFF2-40B4-BE49-F238E27FC236}">
                <a16:creationId xmlns:a16="http://schemas.microsoft.com/office/drawing/2014/main" id="{61CBE484-5733-83B7-3D00-0F1E612F7499}"/>
              </a:ext>
            </a:extLst>
          </p:cNvPr>
          <p:cNvSpPr txBox="1"/>
          <p:nvPr/>
        </p:nvSpPr>
        <p:spPr>
          <a:xfrm>
            <a:off x="1981200" y="5854699"/>
            <a:ext cx="25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15241D"/>
                </a:solidFill>
                <a:latin typeface="DM Sans" pitchFamily="2" charset="0"/>
              </a:rPr>
              <a:t>+</a:t>
            </a:r>
          </a:p>
        </p:txBody>
      </p:sp>
      <p:cxnSp>
        <p:nvCxnSpPr>
          <p:cNvPr id="40" name="ckt">
            <a:extLst>
              <a:ext uri="{FF2B5EF4-FFF2-40B4-BE49-F238E27FC236}">
                <a16:creationId xmlns:a16="http://schemas.microsoft.com/office/drawing/2014/main" id="{4D2C9377-2934-7081-48BC-E69FDEF6C2E7}"/>
              </a:ext>
            </a:extLst>
          </p:cNvPr>
          <p:cNvCxnSpPr/>
          <p:nvPr/>
        </p:nvCxnSpPr>
        <p:spPr>
          <a:xfrm>
            <a:off x="1930400" y="73660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kt">
            <a:extLst>
              <a:ext uri="{FF2B5EF4-FFF2-40B4-BE49-F238E27FC236}">
                <a16:creationId xmlns:a16="http://schemas.microsoft.com/office/drawing/2014/main" id="{92EB3F6A-3CC3-6ED8-3859-36F44A59DE43}"/>
              </a:ext>
            </a:extLst>
          </p:cNvPr>
          <p:cNvCxnSpPr/>
          <p:nvPr/>
        </p:nvCxnSpPr>
        <p:spPr>
          <a:xfrm>
            <a:off x="1739900" y="75184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kt">
            <a:extLst>
              <a:ext uri="{FF2B5EF4-FFF2-40B4-BE49-F238E27FC236}">
                <a16:creationId xmlns:a16="http://schemas.microsoft.com/office/drawing/2014/main" id="{59E17134-C26F-91DD-B004-892C0FA5C2E5}"/>
              </a:ext>
            </a:extLst>
          </p:cNvPr>
          <p:cNvCxnSpPr/>
          <p:nvPr/>
        </p:nvCxnSpPr>
        <p:spPr>
          <a:xfrm>
            <a:off x="1809750" y="75882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kt">
            <a:extLst>
              <a:ext uri="{FF2B5EF4-FFF2-40B4-BE49-F238E27FC236}">
                <a16:creationId xmlns:a16="http://schemas.microsoft.com/office/drawing/2014/main" id="{94A52A7D-142C-3632-C20F-45E6EB799AFD}"/>
              </a:ext>
            </a:extLst>
          </p:cNvPr>
          <p:cNvCxnSpPr/>
          <p:nvPr/>
        </p:nvCxnSpPr>
        <p:spPr>
          <a:xfrm>
            <a:off x="1879600" y="76581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kt label">
            <a:extLst>
              <a:ext uri="{FF2B5EF4-FFF2-40B4-BE49-F238E27FC236}">
                <a16:creationId xmlns:a16="http://schemas.microsoft.com/office/drawing/2014/main" id="{39D641CF-5538-8005-3978-F7E814720BEF}"/>
              </a:ext>
            </a:extLst>
          </p:cNvPr>
          <p:cNvSpPr txBox="1"/>
          <p:nvPr/>
        </p:nvSpPr>
        <p:spPr>
          <a:xfrm>
            <a:off x="787400" y="6232524"/>
            <a:ext cx="762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i</a:t>
            </a:r>
          </a:p>
        </p:txBody>
      </p:sp>
      <p:cxnSp>
        <p:nvCxnSpPr>
          <p:cNvPr id="45" name="ckt">
            <a:extLst>
              <a:ext uri="{FF2B5EF4-FFF2-40B4-BE49-F238E27FC236}">
                <a16:creationId xmlns:a16="http://schemas.microsoft.com/office/drawing/2014/main" id="{9452A0A3-395D-9D21-E896-7E1FC4C44796}"/>
              </a:ext>
            </a:extLst>
          </p:cNvPr>
          <p:cNvCxnSpPr/>
          <p:nvPr/>
        </p:nvCxnSpPr>
        <p:spPr>
          <a:xfrm>
            <a:off x="2032000" y="6350000"/>
            <a:ext cx="635000" cy="0"/>
          </a:xfrm>
          <a:prstGeom prst="line">
            <a:avLst/>
          </a:prstGeom>
          <a:ln w="22225">
            <a:solidFill>
              <a:srgbClr val="4D5B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kt label">
            <a:extLst>
              <a:ext uri="{FF2B5EF4-FFF2-40B4-BE49-F238E27FC236}">
                <a16:creationId xmlns:a16="http://schemas.microsoft.com/office/drawing/2014/main" id="{6C680F71-8CA2-84C6-2953-EC172F8BE5AD}"/>
              </a:ext>
            </a:extLst>
          </p:cNvPr>
          <p:cNvSpPr txBox="1"/>
          <p:nvPr/>
        </p:nvSpPr>
        <p:spPr>
          <a:xfrm>
            <a:off x="2743200" y="6188074"/>
            <a:ext cx="1016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in</a:t>
            </a:r>
          </a:p>
        </p:txBody>
      </p:sp>
      <p:cxnSp>
        <p:nvCxnSpPr>
          <p:cNvPr id="47" name="ckt">
            <a:extLst>
              <a:ext uri="{FF2B5EF4-FFF2-40B4-BE49-F238E27FC236}">
                <a16:creationId xmlns:a16="http://schemas.microsoft.com/office/drawing/2014/main" id="{08CBB490-C2C4-2DAE-0639-40AE7A19B151}"/>
              </a:ext>
            </a:extLst>
          </p:cNvPr>
          <p:cNvCxnSpPr/>
          <p:nvPr/>
        </p:nvCxnSpPr>
        <p:spPr>
          <a:xfrm>
            <a:off x="5283200" y="4064000"/>
            <a:ext cx="508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kt">
            <a:extLst>
              <a:ext uri="{FF2B5EF4-FFF2-40B4-BE49-F238E27FC236}">
                <a16:creationId xmlns:a16="http://schemas.microsoft.com/office/drawing/2014/main" id="{D2716202-6AED-7863-D340-0D57162EC7D8}"/>
              </a:ext>
            </a:extLst>
          </p:cNvPr>
          <p:cNvCxnSpPr/>
          <p:nvPr/>
        </p:nvCxnSpPr>
        <p:spPr>
          <a:xfrm>
            <a:off x="5791200" y="40640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kt">
            <a:extLst>
              <a:ext uri="{FF2B5EF4-FFF2-40B4-BE49-F238E27FC236}">
                <a16:creationId xmlns:a16="http://schemas.microsoft.com/office/drawing/2014/main" id="{B078C913-650B-409C-1ED2-00B3A491870E}"/>
              </a:ext>
            </a:extLst>
          </p:cNvPr>
          <p:cNvCxnSpPr/>
          <p:nvPr/>
        </p:nvCxnSpPr>
        <p:spPr>
          <a:xfrm>
            <a:off x="6299200" y="40640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kt">
            <a:extLst>
              <a:ext uri="{FF2B5EF4-FFF2-40B4-BE49-F238E27FC236}">
                <a16:creationId xmlns:a16="http://schemas.microsoft.com/office/drawing/2014/main" id="{BD35087F-9BE8-C354-BC13-B1469DF9204B}"/>
              </a:ext>
            </a:extLst>
          </p:cNvPr>
          <p:cNvCxnSpPr/>
          <p:nvPr/>
        </p:nvCxnSpPr>
        <p:spPr>
          <a:xfrm flipV="1">
            <a:off x="6172200" y="3873500"/>
            <a:ext cx="0" cy="381000"/>
          </a:xfrm>
          <a:prstGeom prst="line">
            <a:avLst/>
          </a:prstGeom>
          <a:ln w="381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kt">
            <a:extLst>
              <a:ext uri="{FF2B5EF4-FFF2-40B4-BE49-F238E27FC236}">
                <a16:creationId xmlns:a16="http://schemas.microsoft.com/office/drawing/2014/main" id="{9E05DEF3-967D-522B-7BC0-9A0C3C2CEF66}"/>
              </a:ext>
            </a:extLst>
          </p:cNvPr>
          <p:cNvCxnSpPr/>
          <p:nvPr/>
        </p:nvCxnSpPr>
        <p:spPr>
          <a:xfrm flipV="1">
            <a:off x="6299200" y="3873500"/>
            <a:ext cx="0" cy="381000"/>
          </a:xfrm>
          <a:prstGeom prst="line">
            <a:avLst/>
          </a:prstGeom>
          <a:ln w="381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kt">
            <a:extLst>
              <a:ext uri="{FF2B5EF4-FFF2-40B4-BE49-F238E27FC236}">
                <a16:creationId xmlns:a16="http://schemas.microsoft.com/office/drawing/2014/main" id="{8B77297F-52FB-D582-5710-62B03B10BE50}"/>
              </a:ext>
            </a:extLst>
          </p:cNvPr>
          <p:cNvCxnSpPr/>
          <p:nvPr/>
        </p:nvCxnSpPr>
        <p:spPr>
          <a:xfrm>
            <a:off x="6680200" y="4064000"/>
            <a:ext cx="635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ckt">
            <a:extLst>
              <a:ext uri="{FF2B5EF4-FFF2-40B4-BE49-F238E27FC236}">
                <a16:creationId xmlns:a16="http://schemas.microsoft.com/office/drawing/2014/main" id="{BF5CB40A-EF1D-E13F-3FA1-8FF334EEDB9A}"/>
              </a:ext>
            </a:extLst>
          </p:cNvPr>
          <p:cNvSpPr/>
          <p:nvPr/>
        </p:nvSpPr>
        <p:spPr>
          <a:xfrm>
            <a:off x="7258050" y="4006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kt">
            <a:extLst>
              <a:ext uri="{FF2B5EF4-FFF2-40B4-BE49-F238E27FC236}">
                <a16:creationId xmlns:a16="http://schemas.microsoft.com/office/drawing/2014/main" id="{0372E37E-2080-28E2-FC4C-2579389D7437}"/>
              </a:ext>
            </a:extLst>
          </p:cNvPr>
          <p:cNvSpPr/>
          <p:nvPr/>
        </p:nvSpPr>
        <p:spPr>
          <a:xfrm>
            <a:off x="7188200" y="4064000"/>
            <a:ext cx="254001" cy="3302001"/>
          </a:xfrm>
          <a:custGeom>
            <a:avLst/>
            <a:gdLst/>
            <a:ahLst/>
            <a:cxnLst/>
            <a:rect l="0" t="0" r="0" b="0"/>
            <a:pathLst>
              <a:path w="254001" h="3302001">
                <a:moveTo>
                  <a:pt x="127000" y="0"/>
                </a:moveTo>
                <a:lnTo>
                  <a:pt x="127000" y="1282700"/>
                </a:lnTo>
                <a:lnTo>
                  <a:pt x="0" y="1344083"/>
                </a:lnTo>
                <a:lnTo>
                  <a:pt x="254000" y="1466850"/>
                </a:lnTo>
                <a:lnTo>
                  <a:pt x="0" y="1589617"/>
                </a:lnTo>
                <a:lnTo>
                  <a:pt x="254000" y="1712383"/>
                </a:lnTo>
                <a:lnTo>
                  <a:pt x="0" y="1835150"/>
                </a:lnTo>
                <a:lnTo>
                  <a:pt x="254000" y="1957917"/>
                </a:lnTo>
                <a:lnTo>
                  <a:pt x="127000" y="2019300"/>
                </a:lnTo>
                <a:lnTo>
                  <a:pt x="127000" y="33020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ckt">
            <a:extLst>
              <a:ext uri="{FF2B5EF4-FFF2-40B4-BE49-F238E27FC236}">
                <a16:creationId xmlns:a16="http://schemas.microsoft.com/office/drawing/2014/main" id="{9AF21892-F690-69E2-C289-E667998AE6B2}"/>
              </a:ext>
            </a:extLst>
          </p:cNvPr>
          <p:cNvCxnSpPr/>
          <p:nvPr/>
        </p:nvCxnSpPr>
        <p:spPr>
          <a:xfrm>
            <a:off x="7315200" y="73660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kt">
            <a:extLst>
              <a:ext uri="{FF2B5EF4-FFF2-40B4-BE49-F238E27FC236}">
                <a16:creationId xmlns:a16="http://schemas.microsoft.com/office/drawing/2014/main" id="{8F7F4C08-9481-2E70-CE97-A62C4B90DC67}"/>
              </a:ext>
            </a:extLst>
          </p:cNvPr>
          <p:cNvCxnSpPr/>
          <p:nvPr/>
        </p:nvCxnSpPr>
        <p:spPr>
          <a:xfrm>
            <a:off x="7124700" y="75184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kt">
            <a:extLst>
              <a:ext uri="{FF2B5EF4-FFF2-40B4-BE49-F238E27FC236}">
                <a16:creationId xmlns:a16="http://schemas.microsoft.com/office/drawing/2014/main" id="{74766C07-6025-38D6-B205-DC2E9CDD6D33}"/>
              </a:ext>
            </a:extLst>
          </p:cNvPr>
          <p:cNvCxnSpPr/>
          <p:nvPr/>
        </p:nvCxnSpPr>
        <p:spPr>
          <a:xfrm>
            <a:off x="7194550" y="75882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kt">
            <a:extLst>
              <a:ext uri="{FF2B5EF4-FFF2-40B4-BE49-F238E27FC236}">
                <a16:creationId xmlns:a16="http://schemas.microsoft.com/office/drawing/2014/main" id="{D428F5C0-C008-A735-8EC4-AC189167BFD9}"/>
              </a:ext>
            </a:extLst>
          </p:cNvPr>
          <p:cNvCxnSpPr/>
          <p:nvPr/>
        </p:nvCxnSpPr>
        <p:spPr>
          <a:xfrm>
            <a:off x="7264400" y="76581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kt label">
            <a:extLst>
              <a:ext uri="{FF2B5EF4-FFF2-40B4-BE49-F238E27FC236}">
                <a16:creationId xmlns:a16="http://schemas.microsoft.com/office/drawing/2014/main" id="{9448BF18-201A-6A6A-4C12-2D26DB17BA19}"/>
              </a:ext>
            </a:extLst>
          </p:cNvPr>
          <p:cNvSpPr txBox="1"/>
          <p:nvPr/>
        </p:nvSpPr>
        <p:spPr>
          <a:xfrm>
            <a:off x="5461000" y="6061074"/>
            <a:ext cx="1651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L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10 k</a:t>
            </a:r>
            <a:r>
              <a:rPr lang="el-GR" sz="1700" b="1">
                <a:solidFill>
                  <a:srgbClr val="0E7C7B"/>
                </a:solidFill>
              </a:rPr>
              <a:t>Ω</a:t>
            </a:r>
            <a:endParaRPr lang="en-US" sz="1700" b="1">
              <a:solidFill>
                <a:srgbClr val="0E7C7B"/>
              </a:solidFill>
              <a:latin typeface="DM Sans" pitchFamily="2" charset="0"/>
            </a:endParaRPr>
          </a:p>
        </p:txBody>
      </p:sp>
      <p:cxnSp>
        <p:nvCxnSpPr>
          <p:cNvPr id="60" name="ckt">
            <a:extLst>
              <a:ext uri="{FF2B5EF4-FFF2-40B4-BE49-F238E27FC236}">
                <a16:creationId xmlns:a16="http://schemas.microsoft.com/office/drawing/2014/main" id="{FE946E9E-7BEA-FBBC-F5D2-369D04E833B7}"/>
              </a:ext>
            </a:extLst>
          </p:cNvPr>
          <p:cNvCxnSpPr/>
          <p:nvPr/>
        </p:nvCxnSpPr>
        <p:spPr>
          <a:xfrm>
            <a:off x="7315200" y="4064000"/>
            <a:ext cx="558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kt">
            <a:extLst>
              <a:ext uri="{FF2B5EF4-FFF2-40B4-BE49-F238E27FC236}">
                <a16:creationId xmlns:a16="http://schemas.microsoft.com/office/drawing/2014/main" id="{FCB782D8-864E-8CF5-A07E-C26125CBFAFB}"/>
              </a:ext>
            </a:extLst>
          </p:cNvPr>
          <p:cNvSpPr/>
          <p:nvPr/>
        </p:nvSpPr>
        <p:spPr>
          <a:xfrm>
            <a:off x="7880350" y="3994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kt label">
            <a:extLst>
              <a:ext uri="{FF2B5EF4-FFF2-40B4-BE49-F238E27FC236}">
                <a16:creationId xmlns:a16="http://schemas.microsoft.com/office/drawing/2014/main" id="{C9605B99-DD98-1ECB-2C94-E31D898F1F82}"/>
              </a:ext>
            </a:extLst>
          </p:cNvPr>
          <p:cNvSpPr txBox="1"/>
          <p:nvPr/>
        </p:nvSpPr>
        <p:spPr>
          <a:xfrm>
            <a:off x="8102600" y="3883024"/>
            <a:ext cx="635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o</a:t>
            </a:r>
          </a:p>
        </p:txBody>
      </p:sp>
      <p:sp>
        <p:nvSpPr>
          <p:cNvPr id="63" name="ckt label">
            <a:extLst>
              <a:ext uri="{FF2B5EF4-FFF2-40B4-BE49-F238E27FC236}">
                <a16:creationId xmlns:a16="http://schemas.microsoft.com/office/drawing/2014/main" id="{A6C4AF44-260D-CFBD-FC10-DBA7B3886D9C}"/>
              </a:ext>
            </a:extLst>
          </p:cNvPr>
          <p:cNvSpPr txBox="1"/>
          <p:nvPr/>
        </p:nvSpPr>
        <p:spPr>
          <a:xfrm>
            <a:off x="5854700" y="3479799"/>
            <a:ext cx="76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 i="1">
                <a:solidFill>
                  <a:srgbClr val="4D5B54"/>
                </a:solidFill>
                <a:latin typeface="DM Sans" pitchFamily="2" charset="0"/>
              </a:rPr>
              <a:t>C</a:t>
            </a:r>
            <a:r>
              <a:rPr lang="en-US" sz="1600" i="1" baseline="-25000">
                <a:solidFill>
                  <a:srgbClr val="4D5B54"/>
                </a:solidFill>
                <a:latin typeface="DM Sans" pitchFamily="2" charset="0"/>
              </a:rPr>
              <a:t>C</a:t>
            </a:r>
          </a:p>
        </p:txBody>
      </p:sp>
      <p:sp>
        <p:nvSpPr>
          <p:cNvPr id="64" name="ckt label">
            <a:extLst>
              <a:ext uri="{FF2B5EF4-FFF2-40B4-BE49-F238E27FC236}">
                <a16:creationId xmlns:a16="http://schemas.microsoft.com/office/drawing/2014/main" id="{59E1D89F-9765-D55F-1704-C9D9033DBD79}"/>
              </a:ext>
            </a:extLst>
          </p:cNvPr>
          <p:cNvSpPr txBox="1"/>
          <p:nvPr/>
        </p:nvSpPr>
        <p:spPr>
          <a:xfrm>
            <a:off x="2819400" y="5740399"/>
            <a:ext cx="76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 i="1">
                <a:solidFill>
                  <a:srgbClr val="4D5B54"/>
                </a:solidFill>
                <a:latin typeface="DM Sans" pitchFamily="2" charset="0"/>
              </a:rPr>
              <a:t>C</a:t>
            </a:r>
            <a:r>
              <a:rPr lang="en-US" sz="1600" i="1" baseline="-25000">
                <a:solidFill>
                  <a:srgbClr val="4D5B54"/>
                </a:solidFill>
                <a:latin typeface="DM Sans" pitchFamily="2" charset="0"/>
              </a:rPr>
              <a:t>C</a:t>
            </a:r>
          </a:p>
        </p:txBody>
      </p:sp>
      <p:sp>
        <p:nvSpPr>
          <p:cNvPr id="65" name="given">
            <a:extLst>
              <a:ext uri="{FF2B5EF4-FFF2-40B4-BE49-F238E27FC236}">
                <a16:creationId xmlns:a16="http://schemas.microsoft.com/office/drawing/2014/main" id="{B83F3439-DA11-140D-FFC2-BD85860A1FA7}"/>
              </a:ext>
            </a:extLst>
          </p:cNvPr>
          <p:cNvSpPr/>
          <p:nvPr/>
        </p:nvSpPr>
        <p:spPr>
          <a:xfrm>
            <a:off x="914400" y="7772400"/>
            <a:ext cx="105283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GIVEN</a:t>
            </a:r>
          </a:p>
        </p:txBody>
      </p:sp>
      <p:sp>
        <p:nvSpPr>
          <p:cNvPr id="66" name="given">
            <a:extLst>
              <a:ext uri="{FF2B5EF4-FFF2-40B4-BE49-F238E27FC236}">
                <a16:creationId xmlns:a16="http://schemas.microsoft.com/office/drawing/2014/main" id="{A35B2E42-DC42-47CA-E090-0D7CE5397E0E}"/>
              </a:ext>
            </a:extLst>
          </p:cNvPr>
          <p:cNvSpPr/>
          <p:nvPr/>
        </p:nvSpPr>
        <p:spPr>
          <a:xfrm>
            <a:off x="914400" y="8355965"/>
            <a:ext cx="118745" cy="118745"/>
          </a:xfrm>
          <a:prstGeom prst="rect">
            <a:avLst/>
          </a:prstGeom>
          <a:solidFill>
            <a:srgbClr val="1F6F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given">
            <a:extLst>
              <a:ext uri="{FF2B5EF4-FFF2-40B4-BE49-F238E27FC236}">
                <a16:creationId xmlns:a16="http://schemas.microsoft.com/office/drawing/2014/main" id="{23134F2F-B032-20F6-27BC-AC5EB717799C}"/>
              </a:ext>
            </a:extLst>
          </p:cNvPr>
          <p:cNvSpPr txBox="1"/>
          <p:nvPr/>
        </p:nvSpPr>
        <p:spPr>
          <a:xfrm>
            <a:off x="1130300" y="8280400"/>
            <a:ext cx="7658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1F6FA8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1F6FA8"/>
                </a:solidFill>
                <a:latin typeface="DM Sans" pitchFamily="2" charset="0"/>
              </a:rPr>
              <a:t>DD</a:t>
            </a:r>
            <a:r>
              <a:rPr lang="en-US" sz="1700" b="1">
                <a:solidFill>
                  <a:srgbClr val="1F6FA8"/>
                </a:solidFill>
                <a:latin typeface="DM Sans" pitchFamily="2" charset="0"/>
              </a:rPr>
              <a:t> = 15 V</a:t>
            </a:r>
          </a:p>
        </p:txBody>
      </p:sp>
      <p:sp>
        <p:nvSpPr>
          <p:cNvPr id="68" name="given">
            <a:extLst>
              <a:ext uri="{FF2B5EF4-FFF2-40B4-BE49-F238E27FC236}">
                <a16:creationId xmlns:a16="http://schemas.microsoft.com/office/drawing/2014/main" id="{989D3651-6190-4AA6-44B8-7B1C7EF8BDFA}"/>
              </a:ext>
            </a:extLst>
          </p:cNvPr>
          <p:cNvSpPr/>
          <p:nvPr/>
        </p:nvSpPr>
        <p:spPr>
          <a:xfrm>
            <a:off x="914400" y="8642975"/>
            <a:ext cx="118745" cy="118744"/>
          </a:xfrm>
          <a:prstGeom prst="rect">
            <a:avLst/>
          </a:prstGeom>
          <a:solidFill>
            <a:srgbClr val="7A3E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given">
            <a:extLst>
              <a:ext uri="{FF2B5EF4-FFF2-40B4-BE49-F238E27FC236}">
                <a16:creationId xmlns:a16="http://schemas.microsoft.com/office/drawing/2014/main" id="{DD80FD70-D59E-DFBC-E8C7-9489F38CFD8C}"/>
              </a:ext>
            </a:extLst>
          </p:cNvPr>
          <p:cNvSpPr txBox="1"/>
          <p:nvPr/>
        </p:nvSpPr>
        <p:spPr>
          <a:xfrm>
            <a:off x="1130300" y="8567410"/>
            <a:ext cx="7658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7A3E9D"/>
                </a:solidFill>
                <a:latin typeface="DM Sans" pitchFamily="2" charset="0"/>
              </a:rPr>
              <a:t>G</a:t>
            </a:r>
            <a:r>
              <a:rPr lang="en-US" sz="1700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sz="1700" b="1">
                <a:solidFill>
                  <a:srgbClr val="7A3E9D"/>
                </a:solidFill>
              </a:rPr>
              <a:t>Ω</a:t>
            </a:r>
            <a:endParaRPr lang="en-US" sz="1700" b="1">
              <a:solidFill>
                <a:srgbClr val="7A3E9D"/>
              </a:solidFill>
              <a:latin typeface="DM Sans" pitchFamily="2" charset="0"/>
            </a:endParaRPr>
          </a:p>
        </p:txBody>
      </p:sp>
      <p:sp>
        <p:nvSpPr>
          <p:cNvPr id="70" name="given">
            <a:extLst>
              <a:ext uri="{FF2B5EF4-FFF2-40B4-BE49-F238E27FC236}">
                <a16:creationId xmlns:a16="http://schemas.microsoft.com/office/drawing/2014/main" id="{6F0155CC-F056-E541-EC38-BEA86A4ED927}"/>
              </a:ext>
            </a:extLst>
          </p:cNvPr>
          <p:cNvSpPr/>
          <p:nvPr/>
        </p:nvSpPr>
        <p:spPr>
          <a:xfrm>
            <a:off x="914400" y="8929984"/>
            <a:ext cx="118745" cy="118745"/>
          </a:xfrm>
          <a:prstGeom prst="rect">
            <a:avLst/>
          </a:prstGeom>
          <a:solidFill>
            <a:srgbClr val="0E7C7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given">
            <a:extLst>
              <a:ext uri="{FF2B5EF4-FFF2-40B4-BE49-F238E27FC236}">
                <a16:creationId xmlns:a16="http://schemas.microsoft.com/office/drawing/2014/main" id="{2DD41F46-2D8F-62D6-9B5E-36EF996C9971}"/>
              </a:ext>
            </a:extLst>
          </p:cNvPr>
          <p:cNvSpPr txBox="1"/>
          <p:nvPr/>
        </p:nvSpPr>
        <p:spPr>
          <a:xfrm>
            <a:off x="1130300" y="8854419"/>
            <a:ext cx="7658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D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</a:t>
            </a:r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L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10 k</a:t>
            </a:r>
            <a:r>
              <a:rPr lang="el-GR" sz="1700" b="1">
                <a:solidFill>
                  <a:srgbClr val="0E7C7B"/>
                </a:solidFill>
              </a:rPr>
              <a:t>Ω</a:t>
            </a:r>
            <a:endParaRPr lang="en-US" sz="1700" b="1">
              <a:solidFill>
                <a:srgbClr val="0E7C7B"/>
              </a:solidFill>
              <a:latin typeface="DM Sans" pitchFamily="2" charset="0"/>
            </a:endParaRPr>
          </a:p>
        </p:txBody>
      </p:sp>
      <p:sp>
        <p:nvSpPr>
          <p:cNvPr id="72" name="given">
            <a:extLst>
              <a:ext uri="{FF2B5EF4-FFF2-40B4-BE49-F238E27FC236}">
                <a16:creationId xmlns:a16="http://schemas.microsoft.com/office/drawing/2014/main" id="{B4BAA38B-5748-7BD6-5704-4916D61B157F}"/>
              </a:ext>
            </a:extLst>
          </p:cNvPr>
          <p:cNvSpPr/>
          <p:nvPr/>
        </p:nvSpPr>
        <p:spPr>
          <a:xfrm>
            <a:off x="914400" y="9216994"/>
            <a:ext cx="118745" cy="118745"/>
          </a:xfrm>
          <a:prstGeom prst="rect">
            <a:avLst/>
          </a:prstGeom>
          <a:solidFill>
            <a:srgbClr val="B018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given">
            <a:extLst>
              <a:ext uri="{FF2B5EF4-FFF2-40B4-BE49-F238E27FC236}">
                <a16:creationId xmlns:a16="http://schemas.microsoft.com/office/drawing/2014/main" id="{47E26FBC-3164-ACC3-85C9-51B6FB25D122}"/>
              </a:ext>
            </a:extLst>
          </p:cNvPr>
          <p:cNvSpPr txBox="1"/>
          <p:nvPr/>
        </p:nvSpPr>
        <p:spPr>
          <a:xfrm>
            <a:off x="1130300" y="9141430"/>
            <a:ext cx="7658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B0186B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B0186B"/>
                </a:solidFill>
                <a:latin typeface="DM Sans" pitchFamily="2" charset="0"/>
              </a:rPr>
              <a:t>t</a:t>
            </a:r>
            <a:r>
              <a:rPr lang="en-US" sz="1700" b="1">
                <a:solidFill>
                  <a:srgbClr val="B0186B"/>
                </a:solidFill>
                <a:latin typeface="DM Sans" pitchFamily="2" charset="0"/>
              </a:rPr>
              <a:t> = 1.5 V,  k′</a:t>
            </a:r>
            <a:r>
              <a:rPr lang="en-US" sz="1700" b="1" baseline="-25000">
                <a:solidFill>
                  <a:srgbClr val="B0186B"/>
                </a:solidFill>
                <a:latin typeface="DM Sans" pitchFamily="2" charset="0"/>
              </a:rPr>
              <a:t>n</a:t>
            </a:r>
            <a:r>
              <a:rPr lang="en-US" sz="1700" b="1">
                <a:solidFill>
                  <a:srgbClr val="B0186B"/>
                </a:solidFill>
                <a:latin typeface="DM Sans" pitchFamily="2" charset="0"/>
              </a:rPr>
              <a:t>(W/L) = 0.25 mA/V²,  </a:t>
            </a:r>
            <a:r>
              <a:rPr lang="en-US" sz="1700" b="1" i="1">
                <a:solidFill>
                  <a:srgbClr val="B0186B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B0186B"/>
                </a:solidFill>
                <a:latin typeface="DM Sans" pitchFamily="2" charset="0"/>
              </a:rPr>
              <a:t>A</a:t>
            </a:r>
            <a:r>
              <a:rPr lang="en-US" sz="1700" b="1">
                <a:solidFill>
                  <a:srgbClr val="B0186B"/>
                </a:solidFill>
                <a:latin typeface="DM Sans" pitchFamily="2" charset="0"/>
              </a:rPr>
              <a:t> = 50 V</a:t>
            </a:r>
          </a:p>
        </p:txBody>
      </p:sp>
      <p:sp>
        <p:nvSpPr>
          <p:cNvPr id="74" name="badge @1">
            <a:extLst>
              <a:ext uri="{FF2B5EF4-FFF2-40B4-BE49-F238E27FC236}">
                <a16:creationId xmlns:a16="http://schemas.microsoft.com/office/drawing/2014/main" id="{DA063CD4-4C31-E10B-3F33-AACC1861D685}"/>
              </a:ext>
            </a:extLst>
          </p:cNvPr>
          <p:cNvSpPr/>
          <p:nvPr/>
        </p:nvSpPr>
        <p:spPr>
          <a:xfrm>
            <a:off x="9169400" y="19177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4</a:t>
            </a:r>
          </a:p>
        </p:txBody>
      </p:sp>
      <p:sp>
        <p:nvSpPr>
          <p:cNvPr id="75" name="step @1">
            <a:extLst>
              <a:ext uri="{FF2B5EF4-FFF2-40B4-BE49-F238E27FC236}">
                <a16:creationId xmlns:a16="http://schemas.microsoft.com/office/drawing/2014/main" id="{C0A3F475-A876-E1F2-C842-540B0AE3B9F8}"/>
              </a:ext>
            </a:extLst>
          </p:cNvPr>
          <p:cNvSpPr txBox="1"/>
          <p:nvPr/>
        </p:nvSpPr>
        <p:spPr>
          <a:xfrm>
            <a:off x="9753600" y="1905000"/>
            <a:ext cx="7620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Small-signal parameters at the bias point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eq @1">
                <a:extLst>
                  <a:ext uri="{FF2B5EF4-FFF2-40B4-BE49-F238E27FC236}">
                    <a16:creationId xmlns:a16="http://schemas.microsoft.com/office/drawing/2014/main" id="{17AF139B-C0DE-D599-AD4D-AE5801DBA9D1}"/>
                  </a:ext>
                </a:extLst>
              </p:cNvPr>
              <p:cNvSpPr txBox="1"/>
              <p:nvPr/>
            </p:nvSpPr>
            <p:spPr>
              <a:xfrm>
                <a:off x="9753600" y="2238176"/>
                <a:ext cx="7620000" cy="64262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𝑚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)=</m:t>
                      </m:r>
                      <m:r>
                        <a:rPr lang="en-US" sz="2200" b="1">
                          <a:solidFill>
                            <a:srgbClr val="B0186B"/>
                          </a:solidFill>
                          <a:latin typeface="Cambria Math"/>
                          <a:cs typeface="Cambria Math"/>
                        </a:rPr>
                        <m:t>0.25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(4.41−</m:t>
                      </m:r>
                      <m:r>
                        <a:rPr lang="en-US" sz="2200" b="1">
                          <a:solidFill>
                            <a:srgbClr val="B0186B"/>
                          </a:solidFill>
                          <a:latin typeface="Cambria Math"/>
                          <a:cs typeface="Cambria Math"/>
                        </a:rPr>
                        <m:t>1.5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)=0.728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76" name="eq @1">
                <a:extLst>
                  <a:ext uri="{FF2B5EF4-FFF2-40B4-BE49-F238E27FC236}">
                    <a16:creationId xmlns:a16="http://schemas.microsoft.com/office/drawing/2014/main" id="{17AF139B-C0DE-D599-AD4D-AE5801DBA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3600" y="2238176"/>
                <a:ext cx="7620000" cy="6426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eq @1">
                <a:extLst>
                  <a:ext uri="{FF2B5EF4-FFF2-40B4-BE49-F238E27FC236}">
                    <a16:creationId xmlns:a16="http://schemas.microsoft.com/office/drawing/2014/main" id="{2C01B15B-87EF-3983-7F62-4299903D92E1}"/>
                  </a:ext>
                </a:extLst>
              </p:cNvPr>
              <p:cNvSpPr txBox="1"/>
              <p:nvPr/>
            </p:nvSpPr>
            <p:spPr>
              <a:xfrm>
                <a:off x="9753600" y="2880796"/>
                <a:ext cx="7620000" cy="64262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𝑜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200" b="1" i="1">
                              <a:solidFill>
                                <a:srgbClr val="B0186B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200" b="1">
                                  <a:solidFill>
                                    <a:srgbClr val="B0186B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200" b="1">
                                  <a:solidFill>
                                    <a:srgbClr val="B0186B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200" b="1">
                                  <a:solidFill>
                                    <a:srgbClr val="B0186B"/>
                                  </a:solidFill>
                                  <a:latin typeface="Cambria Math"/>
                                  <a:cs typeface="Cambria Math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2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2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2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𝐷</m:t>
                              </m:r>
                            </m:sub>
                          </m:sSub>
                        </m:den>
                      </m:f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50</m:t>
                          </m:r>
                        </m:num>
                        <m:den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1.06</m:t>
                          </m:r>
                        </m:den>
                      </m:f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=47.2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k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𝛺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77" name="eq @1">
                <a:extLst>
                  <a:ext uri="{FF2B5EF4-FFF2-40B4-BE49-F238E27FC236}">
                    <a16:creationId xmlns:a16="http://schemas.microsoft.com/office/drawing/2014/main" id="{2C01B15B-87EF-3983-7F62-4299903D9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3600" y="2880796"/>
                <a:ext cx="7620000" cy="642620"/>
              </a:xfrm>
              <a:prstGeom prst="rect">
                <a:avLst/>
              </a:prstGeom>
              <a:blipFill>
                <a:blip r:embed="rId3"/>
                <a:stretch>
                  <a:fillRect b="-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badge @2">
            <a:extLst>
              <a:ext uri="{FF2B5EF4-FFF2-40B4-BE49-F238E27FC236}">
                <a16:creationId xmlns:a16="http://schemas.microsoft.com/office/drawing/2014/main" id="{23B112A5-8F98-DC09-ED3F-81EC8661CCA5}"/>
              </a:ext>
            </a:extLst>
          </p:cNvPr>
          <p:cNvSpPr/>
          <p:nvPr/>
        </p:nvSpPr>
        <p:spPr>
          <a:xfrm>
            <a:off x="9169400" y="3663117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5</a:t>
            </a:r>
          </a:p>
        </p:txBody>
      </p:sp>
      <p:sp>
        <p:nvSpPr>
          <p:cNvPr id="79" name="step @2">
            <a:extLst>
              <a:ext uri="{FF2B5EF4-FFF2-40B4-BE49-F238E27FC236}">
                <a16:creationId xmlns:a16="http://schemas.microsoft.com/office/drawing/2014/main" id="{8FF67B2A-B905-BC60-2537-0BDE0D170B9D}"/>
              </a:ext>
            </a:extLst>
          </p:cNvPr>
          <p:cNvSpPr txBox="1"/>
          <p:nvPr/>
        </p:nvSpPr>
        <p:spPr>
          <a:xfrm>
            <a:off x="9753600" y="3650417"/>
            <a:ext cx="7620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Find the load seen by the drain</a:t>
            </a:r>
          </a:p>
        </p:txBody>
      </p:sp>
      <p:sp>
        <p:nvSpPr>
          <p:cNvPr id="80" name="note @2">
            <a:extLst>
              <a:ext uri="{FF2B5EF4-FFF2-40B4-BE49-F238E27FC236}">
                <a16:creationId xmlns:a16="http://schemas.microsoft.com/office/drawing/2014/main" id="{15614BF7-AC4B-4E9C-6602-E2BBCE15E0D4}"/>
              </a:ext>
            </a:extLst>
          </p:cNvPr>
          <p:cNvSpPr txBox="1"/>
          <p:nvPr/>
        </p:nvSpPr>
        <p:spPr>
          <a:xfrm>
            <a:off x="9753600" y="3983594"/>
            <a:ext cx="7620000" cy="5232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Capacitors are shorts for the signal. R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G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is so large that its signal current is negligible.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" name="eq @2">
                <a:extLst>
                  <a:ext uri="{FF2B5EF4-FFF2-40B4-BE49-F238E27FC236}">
                    <a16:creationId xmlns:a16="http://schemas.microsoft.com/office/drawing/2014/main" id="{C4E6AC4C-B128-4FE3-029C-9402FAF54B88}"/>
                  </a:ext>
                </a:extLst>
              </p:cNvPr>
              <p:cNvSpPr txBox="1"/>
              <p:nvPr/>
            </p:nvSpPr>
            <p:spPr>
              <a:xfrm>
                <a:off x="9753600" y="4532213"/>
                <a:ext cx="7620000" cy="4191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2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‖</m:t>
                      </m:r>
                      <m:sSub>
                        <m:sSubPr>
                          <m:ctrlPr>
                            <a:rPr lang="en-US" sz="22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2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‖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𝑜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r>
                        <a:rPr lang="en-US" sz="2200" b="1">
                          <a:solidFill>
                            <a:srgbClr val="0E7C7B"/>
                          </a:solidFill>
                          <a:latin typeface="Cambria Math"/>
                          <a:cs typeface="Cambria Math"/>
                        </a:rPr>
                        <m:t>10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‖</m:t>
                      </m:r>
                      <m:r>
                        <a:rPr lang="en-US" sz="2200" b="1">
                          <a:solidFill>
                            <a:srgbClr val="0E7C7B"/>
                          </a:solidFill>
                          <a:latin typeface="Cambria Math"/>
                          <a:cs typeface="Cambria Math"/>
                        </a:rPr>
                        <m:t>10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‖47.2=4.52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k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𝛺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1" name="eq @2">
                <a:extLst>
                  <a:ext uri="{FF2B5EF4-FFF2-40B4-BE49-F238E27FC236}">
                    <a16:creationId xmlns:a16="http://schemas.microsoft.com/office/drawing/2014/main" id="{C4E6AC4C-B128-4FE3-029C-9402FAF54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3600" y="4532213"/>
                <a:ext cx="7620000" cy="419100"/>
              </a:xfrm>
              <a:prstGeom prst="rect">
                <a:avLst/>
              </a:prstGeom>
              <a:blipFill>
                <a:blip r:embed="rId4"/>
                <a:stretch>
                  <a:fillRect l="-1280" b="-188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badge @3">
            <a:extLst>
              <a:ext uri="{FF2B5EF4-FFF2-40B4-BE49-F238E27FC236}">
                <a16:creationId xmlns:a16="http://schemas.microsoft.com/office/drawing/2014/main" id="{9B614797-B637-FB02-9E7B-3C71C6AEBDA0}"/>
              </a:ext>
            </a:extLst>
          </p:cNvPr>
          <p:cNvSpPr/>
          <p:nvPr/>
        </p:nvSpPr>
        <p:spPr>
          <a:xfrm>
            <a:off x="9169400" y="5091014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6</a:t>
            </a:r>
          </a:p>
        </p:txBody>
      </p:sp>
      <p:sp>
        <p:nvSpPr>
          <p:cNvPr id="83" name="step @3">
            <a:extLst>
              <a:ext uri="{FF2B5EF4-FFF2-40B4-BE49-F238E27FC236}">
                <a16:creationId xmlns:a16="http://schemas.microsoft.com/office/drawing/2014/main" id="{76F80F09-4EBB-A1C5-CFAD-97C9D59ACFCC}"/>
              </a:ext>
            </a:extLst>
          </p:cNvPr>
          <p:cNvSpPr txBox="1"/>
          <p:nvPr/>
        </p:nvSpPr>
        <p:spPr>
          <a:xfrm>
            <a:off x="9753600" y="5078314"/>
            <a:ext cx="7620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Voltage gain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4" name="eq @3">
                <a:extLst>
                  <a:ext uri="{FF2B5EF4-FFF2-40B4-BE49-F238E27FC236}">
                    <a16:creationId xmlns:a16="http://schemas.microsoft.com/office/drawing/2014/main" id="{280C7270-7ED5-BD7D-45F7-58015C8B9B07}"/>
                  </a:ext>
                </a:extLst>
              </p:cNvPr>
              <p:cNvSpPr txBox="1"/>
              <p:nvPr/>
            </p:nvSpPr>
            <p:spPr>
              <a:xfrm>
                <a:off x="9753600" y="5411490"/>
                <a:ext cx="7620000" cy="64262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200" b="0" i="1">
                              <a:solidFill>
                                <a:srgbClr val="15241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2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2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2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2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2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2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≈−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𝑚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‖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‖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𝑜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)=−0.728×4.52=−3.29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4" name="eq @3">
                <a:extLst>
                  <a:ext uri="{FF2B5EF4-FFF2-40B4-BE49-F238E27FC236}">
                    <a16:creationId xmlns:a16="http://schemas.microsoft.com/office/drawing/2014/main" id="{280C7270-7ED5-BD7D-45F7-58015C8B9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3600" y="5411490"/>
                <a:ext cx="7620000" cy="642620"/>
              </a:xfrm>
              <a:prstGeom prst="rect">
                <a:avLst/>
              </a:prstGeom>
              <a:blipFill>
                <a:blip r:embed="rId5"/>
                <a:stretch>
                  <a:fillRect l="-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chrome page">
            <a:extLst>
              <a:ext uri="{FF2B5EF4-FFF2-40B4-BE49-F238E27FC236}">
                <a16:creationId xmlns:a16="http://schemas.microsoft.com/office/drawing/2014/main" id="{6377468B-7132-704E-94AA-CB753BFEA9B5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chrome page">
            <a:extLst>
              <a:ext uri="{FF2B5EF4-FFF2-40B4-BE49-F238E27FC236}">
                <a16:creationId xmlns:a16="http://schemas.microsoft.com/office/drawing/2014/main" id="{23E8A6B0-0031-6E0A-B869-242C9A088604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68</a:t>
            </a:r>
          </a:p>
        </p:txBody>
      </p:sp>
    </p:spTree>
    <p:extLst>
      <p:ext uri="{BB962C8B-B14F-4D97-AF65-F5344CB8AC3E}">
        <p14:creationId xmlns:p14="http://schemas.microsoft.com/office/powerpoint/2010/main" val="84967075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ample 2: gain and input resi s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18B97D1-CEF7-D0FF-8AA1-DE3707F98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Example 2: gain and input resistance (2 of 2)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92877BD3-F32A-8DD1-7749-432B2E53D498}"/>
              </a:ext>
            </a:extLst>
          </p:cNvPr>
          <p:cNvSpPr/>
          <p:nvPr/>
        </p:nvSpPr>
        <p:spPr>
          <a:xfrm>
            <a:off x="914400" y="279400"/>
            <a:ext cx="377698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4 · THE MOSFET AS AN AMPLIFIER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CB20353B-E37D-88C6-40A1-94220C33C391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E607418D-7F33-2DB5-797A-7E1E862EC6E9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circuit card">
            <a:extLst>
              <a:ext uri="{FF2B5EF4-FFF2-40B4-BE49-F238E27FC236}">
                <a16:creationId xmlns:a16="http://schemas.microsoft.com/office/drawing/2014/main" id="{94FC7923-A57B-BA2A-6973-885F97612F83}"/>
              </a:ext>
            </a:extLst>
          </p:cNvPr>
          <p:cNvSpPr/>
          <p:nvPr/>
        </p:nvSpPr>
        <p:spPr>
          <a:xfrm>
            <a:off x="914400" y="1905000"/>
            <a:ext cx="7874000" cy="5715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ircuit card">
            <a:extLst>
              <a:ext uri="{FF2B5EF4-FFF2-40B4-BE49-F238E27FC236}">
                <a16:creationId xmlns:a16="http://schemas.microsoft.com/office/drawing/2014/main" id="{F4E34EFB-81A3-E3B2-3136-C82F71C77D6D}"/>
              </a:ext>
            </a:extLst>
          </p:cNvPr>
          <p:cNvSpPr/>
          <p:nvPr/>
        </p:nvSpPr>
        <p:spPr>
          <a:xfrm>
            <a:off x="914400" y="18923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kt">
            <a:extLst>
              <a:ext uri="{FF2B5EF4-FFF2-40B4-BE49-F238E27FC236}">
                <a16:creationId xmlns:a16="http://schemas.microsoft.com/office/drawing/2014/main" id="{BF35BB08-15AA-BDB3-9B15-58B3A98FFE60}"/>
              </a:ext>
            </a:extLst>
          </p:cNvPr>
          <p:cNvCxnSpPr/>
          <p:nvPr/>
        </p:nvCxnSpPr>
        <p:spPr>
          <a:xfrm>
            <a:off x="4724400" y="50769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kt">
            <a:extLst>
              <a:ext uri="{FF2B5EF4-FFF2-40B4-BE49-F238E27FC236}">
                <a16:creationId xmlns:a16="http://schemas.microsoft.com/office/drawing/2014/main" id="{DDCD36F3-5452-FBC1-6FA6-D26BF9710EA0}"/>
              </a:ext>
            </a:extLst>
          </p:cNvPr>
          <p:cNvCxnSpPr/>
          <p:nvPr/>
        </p:nvCxnSpPr>
        <p:spPr>
          <a:xfrm>
            <a:off x="4851400" y="4927600"/>
            <a:ext cx="0" cy="1066800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kt">
            <a:extLst>
              <a:ext uri="{FF2B5EF4-FFF2-40B4-BE49-F238E27FC236}">
                <a16:creationId xmlns:a16="http://schemas.microsoft.com/office/drawing/2014/main" id="{061FB374-1D01-D8DC-460C-A76F3B7678F8}"/>
              </a:ext>
            </a:extLst>
          </p:cNvPr>
          <p:cNvCxnSpPr/>
          <p:nvPr/>
        </p:nvCxnSpPr>
        <p:spPr>
          <a:xfrm>
            <a:off x="4851400" y="50292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kt">
            <a:extLst>
              <a:ext uri="{FF2B5EF4-FFF2-40B4-BE49-F238E27FC236}">
                <a16:creationId xmlns:a16="http://schemas.microsoft.com/office/drawing/2014/main" id="{F5D7E194-A230-D291-51BA-7C42C6E218F5}"/>
              </a:ext>
            </a:extLst>
          </p:cNvPr>
          <p:cNvCxnSpPr/>
          <p:nvPr/>
        </p:nvCxnSpPr>
        <p:spPr>
          <a:xfrm>
            <a:off x="4851400" y="58928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kt">
            <a:extLst>
              <a:ext uri="{FF2B5EF4-FFF2-40B4-BE49-F238E27FC236}">
                <a16:creationId xmlns:a16="http://schemas.microsoft.com/office/drawing/2014/main" id="{C13B3EE1-7013-32E2-CDA9-A45AC32EBB00}"/>
              </a:ext>
            </a:extLst>
          </p:cNvPr>
          <p:cNvCxnSpPr/>
          <p:nvPr/>
        </p:nvCxnSpPr>
        <p:spPr>
          <a:xfrm>
            <a:off x="5153660" y="5892800"/>
            <a:ext cx="12954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kt">
            <a:extLst>
              <a:ext uri="{FF2B5EF4-FFF2-40B4-BE49-F238E27FC236}">
                <a16:creationId xmlns:a16="http://schemas.microsoft.com/office/drawing/2014/main" id="{E07DF5A2-D53F-806F-5FE7-58FC7CC84203}"/>
              </a:ext>
            </a:extLst>
          </p:cNvPr>
          <p:cNvSpPr/>
          <p:nvPr/>
        </p:nvSpPr>
        <p:spPr>
          <a:xfrm>
            <a:off x="5213350" y="2343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 label">
            <a:extLst>
              <a:ext uri="{FF2B5EF4-FFF2-40B4-BE49-F238E27FC236}">
                <a16:creationId xmlns:a16="http://schemas.microsoft.com/office/drawing/2014/main" id="{87EFD2A3-12F7-8E34-D6A5-B70CDF23801F}"/>
              </a:ext>
            </a:extLst>
          </p:cNvPr>
          <p:cNvSpPr txBox="1"/>
          <p:nvPr/>
        </p:nvSpPr>
        <p:spPr>
          <a:xfrm>
            <a:off x="5461000" y="2251074"/>
            <a:ext cx="2794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b="1">
                <a:solidFill>
                  <a:srgbClr val="1F6FA8"/>
                </a:solidFill>
                <a:latin typeface="DM Sans" pitchFamily="2" charset="0"/>
              </a:rPr>
              <a:t>+</a:t>
            </a:r>
            <a:r>
              <a:rPr lang="en-US" sz="1700" b="1" i="1">
                <a:solidFill>
                  <a:srgbClr val="1F6FA8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1F6FA8"/>
                </a:solidFill>
                <a:latin typeface="DM Sans" pitchFamily="2" charset="0"/>
              </a:rPr>
              <a:t>DD</a:t>
            </a:r>
            <a:r>
              <a:rPr lang="en-US" sz="1700" b="1">
                <a:solidFill>
                  <a:srgbClr val="1F6FA8"/>
                </a:solidFill>
                <a:latin typeface="DM Sans" pitchFamily="2" charset="0"/>
              </a:rPr>
              <a:t> = 15 V</a:t>
            </a:r>
          </a:p>
        </p:txBody>
      </p:sp>
      <p:sp>
        <p:nvSpPr>
          <p:cNvPr id="15" name="ckt">
            <a:extLst>
              <a:ext uri="{FF2B5EF4-FFF2-40B4-BE49-F238E27FC236}">
                <a16:creationId xmlns:a16="http://schemas.microsoft.com/office/drawing/2014/main" id="{E952BDB8-7ACE-2943-6BEF-C8244374AA86}"/>
              </a:ext>
            </a:extLst>
          </p:cNvPr>
          <p:cNvSpPr/>
          <p:nvPr/>
        </p:nvSpPr>
        <p:spPr>
          <a:xfrm>
            <a:off x="5156200" y="2482850"/>
            <a:ext cx="254001" cy="1581151"/>
          </a:xfrm>
          <a:custGeom>
            <a:avLst/>
            <a:gdLst/>
            <a:ahLst/>
            <a:cxnLst/>
            <a:rect l="0" t="0" r="0" b="0"/>
            <a:pathLst>
              <a:path w="254001" h="1581151">
                <a:moveTo>
                  <a:pt x="127000" y="0"/>
                </a:moveTo>
                <a:lnTo>
                  <a:pt x="127000" y="422275"/>
                </a:lnTo>
                <a:lnTo>
                  <a:pt x="0" y="483658"/>
                </a:lnTo>
                <a:lnTo>
                  <a:pt x="254000" y="606425"/>
                </a:lnTo>
                <a:lnTo>
                  <a:pt x="0" y="729192"/>
                </a:lnTo>
                <a:lnTo>
                  <a:pt x="254000" y="851958"/>
                </a:lnTo>
                <a:lnTo>
                  <a:pt x="0" y="974725"/>
                </a:lnTo>
                <a:lnTo>
                  <a:pt x="254000" y="1097492"/>
                </a:lnTo>
                <a:lnTo>
                  <a:pt x="127000" y="1158875"/>
                </a:lnTo>
                <a:lnTo>
                  <a:pt x="127000" y="158115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kt">
            <a:extLst>
              <a:ext uri="{FF2B5EF4-FFF2-40B4-BE49-F238E27FC236}">
                <a16:creationId xmlns:a16="http://schemas.microsoft.com/office/drawing/2014/main" id="{AE5A86A4-0EA0-EC0F-792C-395E61227CF1}"/>
              </a:ext>
            </a:extLst>
          </p:cNvPr>
          <p:cNvSpPr/>
          <p:nvPr/>
        </p:nvSpPr>
        <p:spPr>
          <a:xfrm>
            <a:off x="5226050" y="4006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kt label">
            <a:extLst>
              <a:ext uri="{FF2B5EF4-FFF2-40B4-BE49-F238E27FC236}">
                <a16:creationId xmlns:a16="http://schemas.microsoft.com/office/drawing/2014/main" id="{1EC0AEE8-80CB-6873-D3B0-188D78119D2A}"/>
              </a:ext>
            </a:extLst>
          </p:cNvPr>
          <p:cNvSpPr txBox="1"/>
          <p:nvPr/>
        </p:nvSpPr>
        <p:spPr>
          <a:xfrm>
            <a:off x="5486400" y="3127374"/>
            <a:ext cx="2794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D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10 k</a:t>
            </a:r>
            <a:r>
              <a:rPr lang="el-GR" sz="1700" b="1">
                <a:solidFill>
                  <a:srgbClr val="0E7C7B"/>
                </a:solidFill>
              </a:rPr>
              <a:t>Ω</a:t>
            </a:r>
            <a:endParaRPr lang="en-US" sz="1700" b="1">
              <a:solidFill>
                <a:srgbClr val="0E7C7B"/>
              </a:solidFill>
              <a:latin typeface="DM Sans" pitchFamily="2" charset="0"/>
            </a:endParaRPr>
          </a:p>
        </p:txBody>
      </p:sp>
      <p:cxnSp>
        <p:nvCxnSpPr>
          <p:cNvPr id="18" name="ckt">
            <a:extLst>
              <a:ext uri="{FF2B5EF4-FFF2-40B4-BE49-F238E27FC236}">
                <a16:creationId xmlns:a16="http://schemas.microsoft.com/office/drawing/2014/main" id="{8F3A1A52-E7E4-535E-5292-06A8E8F50DDC}"/>
              </a:ext>
            </a:extLst>
          </p:cNvPr>
          <p:cNvCxnSpPr/>
          <p:nvPr/>
        </p:nvCxnSpPr>
        <p:spPr>
          <a:xfrm>
            <a:off x="5283200" y="4064000"/>
            <a:ext cx="0" cy="9652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kt">
            <a:extLst>
              <a:ext uri="{FF2B5EF4-FFF2-40B4-BE49-F238E27FC236}">
                <a16:creationId xmlns:a16="http://schemas.microsoft.com/office/drawing/2014/main" id="{BAFF801E-5124-AE56-382B-566A299CDF5A}"/>
              </a:ext>
            </a:extLst>
          </p:cNvPr>
          <p:cNvCxnSpPr/>
          <p:nvPr/>
        </p:nvCxnSpPr>
        <p:spPr>
          <a:xfrm>
            <a:off x="5283200" y="5892800"/>
            <a:ext cx="0" cy="14732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kt">
            <a:extLst>
              <a:ext uri="{FF2B5EF4-FFF2-40B4-BE49-F238E27FC236}">
                <a16:creationId xmlns:a16="http://schemas.microsoft.com/office/drawing/2014/main" id="{D327BABE-B4AF-9B7A-E6BE-F26F978CAE5A}"/>
              </a:ext>
            </a:extLst>
          </p:cNvPr>
          <p:cNvCxnSpPr/>
          <p:nvPr/>
        </p:nvCxnSpPr>
        <p:spPr>
          <a:xfrm>
            <a:off x="5283200" y="73660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kt">
            <a:extLst>
              <a:ext uri="{FF2B5EF4-FFF2-40B4-BE49-F238E27FC236}">
                <a16:creationId xmlns:a16="http://schemas.microsoft.com/office/drawing/2014/main" id="{2517BAAD-FADA-2893-8C16-4A0090E58E44}"/>
              </a:ext>
            </a:extLst>
          </p:cNvPr>
          <p:cNvCxnSpPr/>
          <p:nvPr/>
        </p:nvCxnSpPr>
        <p:spPr>
          <a:xfrm>
            <a:off x="5092700" y="75184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kt">
            <a:extLst>
              <a:ext uri="{FF2B5EF4-FFF2-40B4-BE49-F238E27FC236}">
                <a16:creationId xmlns:a16="http://schemas.microsoft.com/office/drawing/2014/main" id="{F4B54E95-1C39-DE3E-EFE8-D19C0A2C10DF}"/>
              </a:ext>
            </a:extLst>
          </p:cNvPr>
          <p:cNvCxnSpPr/>
          <p:nvPr/>
        </p:nvCxnSpPr>
        <p:spPr>
          <a:xfrm>
            <a:off x="5162550" y="75882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kt">
            <a:extLst>
              <a:ext uri="{FF2B5EF4-FFF2-40B4-BE49-F238E27FC236}">
                <a16:creationId xmlns:a16="http://schemas.microsoft.com/office/drawing/2014/main" id="{318E2BCE-B30E-7C4E-8711-DC145C936DED}"/>
              </a:ext>
            </a:extLst>
          </p:cNvPr>
          <p:cNvCxnSpPr/>
          <p:nvPr/>
        </p:nvCxnSpPr>
        <p:spPr>
          <a:xfrm>
            <a:off x="5232400" y="76581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kt">
            <a:extLst>
              <a:ext uri="{FF2B5EF4-FFF2-40B4-BE49-F238E27FC236}">
                <a16:creationId xmlns:a16="http://schemas.microsoft.com/office/drawing/2014/main" id="{A9E4A9B8-5BEB-59F6-6313-F97F8C5DB04E}"/>
              </a:ext>
            </a:extLst>
          </p:cNvPr>
          <p:cNvCxnSpPr/>
          <p:nvPr/>
        </p:nvCxnSpPr>
        <p:spPr>
          <a:xfrm flipH="1">
            <a:off x="3835400" y="4064000"/>
            <a:ext cx="1447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kt">
            <a:extLst>
              <a:ext uri="{FF2B5EF4-FFF2-40B4-BE49-F238E27FC236}">
                <a16:creationId xmlns:a16="http://schemas.microsoft.com/office/drawing/2014/main" id="{237719FA-EC59-1653-7841-410F2AEE85E3}"/>
              </a:ext>
            </a:extLst>
          </p:cNvPr>
          <p:cNvSpPr/>
          <p:nvPr/>
        </p:nvSpPr>
        <p:spPr>
          <a:xfrm>
            <a:off x="3708400" y="4064000"/>
            <a:ext cx="254001" cy="1397001"/>
          </a:xfrm>
          <a:custGeom>
            <a:avLst/>
            <a:gdLst/>
            <a:ahLst/>
            <a:cxnLst/>
            <a:rect l="0" t="0" r="0" b="0"/>
            <a:pathLst>
              <a:path w="254001" h="1397001">
                <a:moveTo>
                  <a:pt x="127000" y="0"/>
                </a:moveTo>
                <a:lnTo>
                  <a:pt x="127000" y="330200"/>
                </a:lnTo>
                <a:lnTo>
                  <a:pt x="0" y="391583"/>
                </a:lnTo>
                <a:lnTo>
                  <a:pt x="254000" y="514350"/>
                </a:lnTo>
                <a:lnTo>
                  <a:pt x="0" y="637117"/>
                </a:lnTo>
                <a:lnTo>
                  <a:pt x="254000" y="759883"/>
                </a:lnTo>
                <a:lnTo>
                  <a:pt x="0" y="882650"/>
                </a:lnTo>
                <a:lnTo>
                  <a:pt x="254000" y="1005417"/>
                </a:lnTo>
                <a:lnTo>
                  <a:pt x="127000" y="1066800"/>
                </a:lnTo>
                <a:lnTo>
                  <a:pt x="127000" y="13970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kt">
            <a:extLst>
              <a:ext uri="{FF2B5EF4-FFF2-40B4-BE49-F238E27FC236}">
                <a16:creationId xmlns:a16="http://schemas.microsoft.com/office/drawing/2014/main" id="{8FD4AB62-1697-3619-7A8A-C2E668EEC77C}"/>
              </a:ext>
            </a:extLst>
          </p:cNvPr>
          <p:cNvSpPr/>
          <p:nvPr/>
        </p:nvSpPr>
        <p:spPr>
          <a:xfrm>
            <a:off x="3778250" y="5403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ckt label">
            <a:extLst>
              <a:ext uri="{FF2B5EF4-FFF2-40B4-BE49-F238E27FC236}">
                <a16:creationId xmlns:a16="http://schemas.microsoft.com/office/drawing/2014/main" id="{EA304126-E505-0055-FF40-39A301370D89}"/>
              </a:ext>
            </a:extLst>
          </p:cNvPr>
          <p:cNvSpPr txBox="1"/>
          <p:nvPr/>
        </p:nvSpPr>
        <p:spPr>
          <a:xfrm>
            <a:off x="838200" y="4600574"/>
            <a:ext cx="2794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700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7A3E9D"/>
                </a:solidFill>
                <a:latin typeface="DM Sans" pitchFamily="2" charset="0"/>
              </a:rPr>
              <a:t>G</a:t>
            </a:r>
            <a:r>
              <a:rPr lang="en-US" sz="1700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sz="1700" b="1">
                <a:solidFill>
                  <a:srgbClr val="7A3E9D"/>
                </a:solidFill>
              </a:rPr>
              <a:t>Ω</a:t>
            </a:r>
            <a:endParaRPr lang="en-US" sz="1700" b="1">
              <a:solidFill>
                <a:srgbClr val="7A3E9D"/>
              </a:solidFill>
              <a:latin typeface="DM Sans" pitchFamily="2" charset="0"/>
            </a:endParaRPr>
          </a:p>
        </p:txBody>
      </p:sp>
      <p:cxnSp>
        <p:nvCxnSpPr>
          <p:cNvPr id="28" name="ckt">
            <a:extLst>
              <a:ext uri="{FF2B5EF4-FFF2-40B4-BE49-F238E27FC236}">
                <a16:creationId xmlns:a16="http://schemas.microsoft.com/office/drawing/2014/main" id="{020152DD-7FF0-D954-F299-CEED466804BE}"/>
              </a:ext>
            </a:extLst>
          </p:cNvPr>
          <p:cNvCxnSpPr/>
          <p:nvPr/>
        </p:nvCxnSpPr>
        <p:spPr>
          <a:xfrm>
            <a:off x="3835400" y="5461000"/>
            <a:ext cx="889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kt">
            <a:extLst>
              <a:ext uri="{FF2B5EF4-FFF2-40B4-BE49-F238E27FC236}">
                <a16:creationId xmlns:a16="http://schemas.microsoft.com/office/drawing/2014/main" id="{A0A73344-E2F8-584A-9C47-E19C2204D83F}"/>
              </a:ext>
            </a:extLst>
          </p:cNvPr>
          <p:cNvCxnSpPr/>
          <p:nvPr/>
        </p:nvCxnSpPr>
        <p:spPr>
          <a:xfrm>
            <a:off x="2565400" y="5461000"/>
            <a:ext cx="5715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kt">
            <a:extLst>
              <a:ext uri="{FF2B5EF4-FFF2-40B4-BE49-F238E27FC236}">
                <a16:creationId xmlns:a16="http://schemas.microsoft.com/office/drawing/2014/main" id="{E0383F93-9E9E-62DA-64C2-753AE9205754}"/>
              </a:ext>
            </a:extLst>
          </p:cNvPr>
          <p:cNvCxnSpPr/>
          <p:nvPr/>
        </p:nvCxnSpPr>
        <p:spPr>
          <a:xfrm>
            <a:off x="3263900" y="5461000"/>
            <a:ext cx="5715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kt">
            <a:extLst>
              <a:ext uri="{FF2B5EF4-FFF2-40B4-BE49-F238E27FC236}">
                <a16:creationId xmlns:a16="http://schemas.microsoft.com/office/drawing/2014/main" id="{7A667AC4-9C23-5C89-3885-FDC8472045A2}"/>
              </a:ext>
            </a:extLst>
          </p:cNvPr>
          <p:cNvCxnSpPr/>
          <p:nvPr/>
        </p:nvCxnSpPr>
        <p:spPr>
          <a:xfrm flipV="1">
            <a:off x="3136900" y="5270500"/>
            <a:ext cx="0" cy="381000"/>
          </a:xfrm>
          <a:prstGeom prst="line">
            <a:avLst/>
          </a:prstGeom>
          <a:ln w="381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kt">
            <a:extLst>
              <a:ext uri="{FF2B5EF4-FFF2-40B4-BE49-F238E27FC236}">
                <a16:creationId xmlns:a16="http://schemas.microsoft.com/office/drawing/2014/main" id="{CF95AC39-B505-27DF-DCA4-76C92BE17BCC}"/>
              </a:ext>
            </a:extLst>
          </p:cNvPr>
          <p:cNvCxnSpPr/>
          <p:nvPr/>
        </p:nvCxnSpPr>
        <p:spPr>
          <a:xfrm flipV="1">
            <a:off x="3263900" y="5270500"/>
            <a:ext cx="0" cy="381000"/>
          </a:xfrm>
          <a:prstGeom prst="line">
            <a:avLst/>
          </a:prstGeom>
          <a:ln w="381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kt">
            <a:extLst>
              <a:ext uri="{FF2B5EF4-FFF2-40B4-BE49-F238E27FC236}">
                <a16:creationId xmlns:a16="http://schemas.microsoft.com/office/drawing/2014/main" id="{9A191574-82E9-C5FF-2007-71969E3E2CDA}"/>
              </a:ext>
            </a:extLst>
          </p:cNvPr>
          <p:cNvCxnSpPr/>
          <p:nvPr/>
        </p:nvCxnSpPr>
        <p:spPr>
          <a:xfrm>
            <a:off x="1930400" y="5461000"/>
            <a:ext cx="635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kt">
            <a:extLst>
              <a:ext uri="{FF2B5EF4-FFF2-40B4-BE49-F238E27FC236}">
                <a16:creationId xmlns:a16="http://schemas.microsoft.com/office/drawing/2014/main" id="{0A4F5BE4-562E-7026-8EF1-568B9CF4A9B3}"/>
              </a:ext>
            </a:extLst>
          </p:cNvPr>
          <p:cNvSpPr/>
          <p:nvPr/>
        </p:nvSpPr>
        <p:spPr>
          <a:xfrm>
            <a:off x="1873250" y="5403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ckt">
            <a:extLst>
              <a:ext uri="{FF2B5EF4-FFF2-40B4-BE49-F238E27FC236}">
                <a16:creationId xmlns:a16="http://schemas.microsoft.com/office/drawing/2014/main" id="{03C91D34-C50A-FBB7-9F2D-E352E9F6B0E1}"/>
              </a:ext>
            </a:extLst>
          </p:cNvPr>
          <p:cNvCxnSpPr/>
          <p:nvPr/>
        </p:nvCxnSpPr>
        <p:spPr>
          <a:xfrm>
            <a:off x="1930400" y="5461000"/>
            <a:ext cx="0" cy="6731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kt">
            <a:extLst>
              <a:ext uri="{FF2B5EF4-FFF2-40B4-BE49-F238E27FC236}">
                <a16:creationId xmlns:a16="http://schemas.microsoft.com/office/drawing/2014/main" id="{00074B07-C0C2-B948-ACD8-8339F0D4EF6B}"/>
              </a:ext>
            </a:extLst>
          </p:cNvPr>
          <p:cNvCxnSpPr/>
          <p:nvPr/>
        </p:nvCxnSpPr>
        <p:spPr>
          <a:xfrm>
            <a:off x="1930400" y="6692900"/>
            <a:ext cx="0" cy="6731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kt">
            <a:extLst>
              <a:ext uri="{FF2B5EF4-FFF2-40B4-BE49-F238E27FC236}">
                <a16:creationId xmlns:a16="http://schemas.microsoft.com/office/drawing/2014/main" id="{B3B83B80-CFF1-2AB7-F70D-FCDCC2026209}"/>
              </a:ext>
            </a:extLst>
          </p:cNvPr>
          <p:cNvSpPr/>
          <p:nvPr/>
        </p:nvSpPr>
        <p:spPr>
          <a:xfrm>
            <a:off x="1651000" y="6134100"/>
            <a:ext cx="558800" cy="558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kt">
            <a:extLst>
              <a:ext uri="{FF2B5EF4-FFF2-40B4-BE49-F238E27FC236}">
                <a16:creationId xmlns:a16="http://schemas.microsoft.com/office/drawing/2014/main" id="{C703B5C1-593B-7F9F-04C9-26D424579BCD}"/>
              </a:ext>
            </a:extLst>
          </p:cNvPr>
          <p:cNvSpPr/>
          <p:nvPr/>
        </p:nvSpPr>
        <p:spPr>
          <a:xfrm>
            <a:off x="1762760" y="6315710"/>
            <a:ext cx="335281" cy="195581"/>
          </a:xfrm>
          <a:custGeom>
            <a:avLst/>
            <a:gdLst/>
            <a:ahLst/>
            <a:cxnLst/>
            <a:rect l="0" t="0" r="0" b="0"/>
            <a:pathLst>
              <a:path w="335281" h="195581">
                <a:moveTo>
                  <a:pt x="0" y="97790"/>
                </a:moveTo>
                <a:lnTo>
                  <a:pt x="20955" y="60367"/>
                </a:lnTo>
                <a:lnTo>
                  <a:pt x="41910" y="28642"/>
                </a:lnTo>
                <a:lnTo>
                  <a:pt x="62865" y="7444"/>
                </a:lnTo>
                <a:lnTo>
                  <a:pt x="83820" y="0"/>
                </a:lnTo>
                <a:lnTo>
                  <a:pt x="104775" y="7444"/>
                </a:lnTo>
                <a:lnTo>
                  <a:pt x="125730" y="28642"/>
                </a:lnTo>
                <a:lnTo>
                  <a:pt x="146685" y="60367"/>
                </a:lnTo>
                <a:lnTo>
                  <a:pt x="167640" y="97790"/>
                </a:lnTo>
                <a:lnTo>
                  <a:pt x="188595" y="135213"/>
                </a:lnTo>
                <a:lnTo>
                  <a:pt x="209550" y="166938"/>
                </a:lnTo>
                <a:lnTo>
                  <a:pt x="230505" y="188136"/>
                </a:lnTo>
                <a:lnTo>
                  <a:pt x="251460" y="195580"/>
                </a:lnTo>
                <a:lnTo>
                  <a:pt x="272415" y="188136"/>
                </a:lnTo>
                <a:lnTo>
                  <a:pt x="293370" y="166938"/>
                </a:lnTo>
                <a:lnTo>
                  <a:pt x="314325" y="135213"/>
                </a:lnTo>
                <a:lnTo>
                  <a:pt x="335280" y="97790"/>
                </a:lnTo>
              </a:path>
            </a:pathLst>
          </a:custGeom>
          <a:ln w="222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ckt">
            <a:extLst>
              <a:ext uri="{FF2B5EF4-FFF2-40B4-BE49-F238E27FC236}">
                <a16:creationId xmlns:a16="http://schemas.microsoft.com/office/drawing/2014/main" id="{61CBE484-5733-83B7-3D00-0F1E612F7499}"/>
              </a:ext>
            </a:extLst>
          </p:cNvPr>
          <p:cNvSpPr txBox="1"/>
          <p:nvPr/>
        </p:nvSpPr>
        <p:spPr>
          <a:xfrm>
            <a:off x="1981200" y="5854699"/>
            <a:ext cx="254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>
                <a:solidFill>
                  <a:srgbClr val="15241D"/>
                </a:solidFill>
                <a:latin typeface="DM Sans" pitchFamily="2" charset="0"/>
              </a:rPr>
              <a:t>+</a:t>
            </a:r>
          </a:p>
        </p:txBody>
      </p:sp>
      <p:cxnSp>
        <p:nvCxnSpPr>
          <p:cNvPr id="40" name="ckt">
            <a:extLst>
              <a:ext uri="{FF2B5EF4-FFF2-40B4-BE49-F238E27FC236}">
                <a16:creationId xmlns:a16="http://schemas.microsoft.com/office/drawing/2014/main" id="{4D2C9377-2934-7081-48BC-E69FDEF6C2E7}"/>
              </a:ext>
            </a:extLst>
          </p:cNvPr>
          <p:cNvCxnSpPr/>
          <p:nvPr/>
        </p:nvCxnSpPr>
        <p:spPr>
          <a:xfrm>
            <a:off x="1930400" y="73660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kt">
            <a:extLst>
              <a:ext uri="{FF2B5EF4-FFF2-40B4-BE49-F238E27FC236}">
                <a16:creationId xmlns:a16="http://schemas.microsoft.com/office/drawing/2014/main" id="{92EB3F6A-3CC3-6ED8-3859-36F44A59DE43}"/>
              </a:ext>
            </a:extLst>
          </p:cNvPr>
          <p:cNvCxnSpPr/>
          <p:nvPr/>
        </p:nvCxnSpPr>
        <p:spPr>
          <a:xfrm>
            <a:off x="1739900" y="75184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kt">
            <a:extLst>
              <a:ext uri="{FF2B5EF4-FFF2-40B4-BE49-F238E27FC236}">
                <a16:creationId xmlns:a16="http://schemas.microsoft.com/office/drawing/2014/main" id="{59E17134-C26F-91DD-B004-892C0FA5C2E5}"/>
              </a:ext>
            </a:extLst>
          </p:cNvPr>
          <p:cNvCxnSpPr/>
          <p:nvPr/>
        </p:nvCxnSpPr>
        <p:spPr>
          <a:xfrm>
            <a:off x="1809750" y="75882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kt">
            <a:extLst>
              <a:ext uri="{FF2B5EF4-FFF2-40B4-BE49-F238E27FC236}">
                <a16:creationId xmlns:a16="http://schemas.microsoft.com/office/drawing/2014/main" id="{94A52A7D-142C-3632-C20F-45E6EB799AFD}"/>
              </a:ext>
            </a:extLst>
          </p:cNvPr>
          <p:cNvCxnSpPr/>
          <p:nvPr/>
        </p:nvCxnSpPr>
        <p:spPr>
          <a:xfrm>
            <a:off x="1879600" y="76581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kt label">
            <a:extLst>
              <a:ext uri="{FF2B5EF4-FFF2-40B4-BE49-F238E27FC236}">
                <a16:creationId xmlns:a16="http://schemas.microsoft.com/office/drawing/2014/main" id="{39D641CF-5538-8005-3978-F7E814720BEF}"/>
              </a:ext>
            </a:extLst>
          </p:cNvPr>
          <p:cNvSpPr txBox="1"/>
          <p:nvPr/>
        </p:nvSpPr>
        <p:spPr>
          <a:xfrm>
            <a:off x="787400" y="6232524"/>
            <a:ext cx="762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i</a:t>
            </a:r>
          </a:p>
        </p:txBody>
      </p:sp>
      <p:cxnSp>
        <p:nvCxnSpPr>
          <p:cNvPr id="45" name="ckt">
            <a:extLst>
              <a:ext uri="{FF2B5EF4-FFF2-40B4-BE49-F238E27FC236}">
                <a16:creationId xmlns:a16="http://schemas.microsoft.com/office/drawing/2014/main" id="{9452A0A3-395D-9D21-E896-7E1FC4C44796}"/>
              </a:ext>
            </a:extLst>
          </p:cNvPr>
          <p:cNvCxnSpPr/>
          <p:nvPr/>
        </p:nvCxnSpPr>
        <p:spPr>
          <a:xfrm>
            <a:off x="2032000" y="6350000"/>
            <a:ext cx="635000" cy="0"/>
          </a:xfrm>
          <a:prstGeom prst="line">
            <a:avLst/>
          </a:prstGeom>
          <a:ln w="22225">
            <a:solidFill>
              <a:srgbClr val="4D5B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kt label">
            <a:extLst>
              <a:ext uri="{FF2B5EF4-FFF2-40B4-BE49-F238E27FC236}">
                <a16:creationId xmlns:a16="http://schemas.microsoft.com/office/drawing/2014/main" id="{6C680F71-8CA2-84C6-2953-EC172F8BE5AD}"/>
              </a:ext>
            </a:extLst>
          </p:cNvPr>
          <p:cNvSpPr txBox="1"/>
          <p:nvPr/>
        </p:nvSpPr>
        <p:spPr>
          <a:xfrm>
            <a:off x="2743200" y="6188074"/>
            <a:ext cx="1016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in</a:t>
            </a:r>
          </a:p>
        </p:txBody>
      </p:sp>
      <p:cxnSp>
        <p:nvCxnSpPr>
          <p:cNvPr id="47" name="ckt">
            <a:extLst>
              <a:ext uri="{FF2B5EF4-FFF2-40B4-BE49-F238E27FC236}">
                <a16:creationId xmlns:a16="http://schemas.microsoft.com/office/drawing/2014/main" id="{08CBB490-C2C4-2DAE-0639-40AE7A19B151}"/>
              </a:ext>
            </a:extLst>
          </p:cNvPr>
          <p:cNvCxnSpPr/>
          <p:nvPr/>
        </p:nvCxnSpPr>
        <p:spPr>
          <a:xfrm>
            <a:off x="5283200" y="4064000"/>
            <a:ext cx="508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kt">
            <a:extLst>
              <a:ext uri="{FF2B5EF4-FFF2-40B4-BE49-F238E27FC236}">
                <a16:creationId xmlns:a16="http://schemas.microsoft.com/office/drawing/2014/main" id="{D2716202-6AED-7863-D340-0D57162EC7D8}"/>
              </a:ext>
            </a:extLst>
          </p:cNvPr>
          <p:cNvCxnSpPr/>
          <p:nvPr/>
        </p:nvCxnSpPr>
        <p:spPr>
          <a:xfrm>
            <a:off x="5791200" y="40640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kt">
            <a:extLst>
              <a:ext uri="{FF2B5EF4-FFF2-40B4-BE49-F238E27FC236}">
                <a16:creationId xmlns:a16="http://schemas.microsoft.com/office/drawing/2014/main" id="{B078C913-650B-409C-1ED2-00B3A491870E}"/>
              </a:ext>
            </a:extLst>
          </p:cNvPr>
          <p:cNvCxnSpPr/>
          <p:nvPr/>
        </p:nvCxnSpPr>
        <p:spPr>
          <a:xfrm>
            <a:off x="6299200" y="40640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kt">
            <a:extLst>
              <a:ext uri="{FF2B5EF4-FFF2-40B4-BE49-F238E27FC236}">
                <a16:creationId xmlns:a16="http://schemas.microsoft.com/office/drawing/2014/main" id="{BD35087F-9BE8-C354-BC13-B1469DF9204B}"/>
              </a:ext>
            </a:extLst>
          </p:cNvPr>
          <p:cNvCxnSpPr/>
          <p:nvPr/>
        </p:nvCxnSpPr>
        <p:spPr>
          <a:xfrm flipV="1">
            <a:off x="6172200" y="3873500"/>
            <a:ext cx="0" cy="381000"/>
          </a:xfrm>
          <a:prstGeom prst="line">
            <a:avLst/>
          </a:prstGeom>
          <a:ln w="381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kt">
            <a:extLst>
              <a:ext uri="{FF2B5EF4-FFF2-40B4-BE49-F238E27FC236}">
                <a16:creationId xmlns:a16="http://schemas.microsoft.com/office/drawing/2014/main" id="{9E05DEF3-967D-522B-7BC0-9A0C3C2CEF66}"/>
              </a:ext>
            </a:extLst>
          </p:cNvPr>
          <p:cNvCxnSpPr/>
          <p:nvPr/>
        </p:nvCxnSpPr>
        <p:spPr>
          <a:xfrm flipV="1">
            <a:off x="6299200" y="3873500"/>
            <a:ext cx="0" cy="381000"/>
          </a:xfrm>
          <a:prstGeom prst="line">
            <a:avLst/>
          </a:prstGeom>
          <a:ln w="381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kt">
            <a:extLst>
              <a:ext uri="{FF2B5EF4-FFF2-40B4-BE49-F238E27FC236}">
                <a16:creationId xmlns:a16="http://schemas.microsoft.com/office/drawing/2014/main" id="{8B77297F-52FB-D582-5710-62B03B10BE50}"/>
              </a:ext>
            </a:extLst>
          </p:cNvPr>
          <p:cNvCxnSpPr/>
          <p:nvPr/>
        </p:nvCxnSpPr>
        <p:spPr>
          <a:xfrm>
            <a:off x="6680200" y="4064000"/>
            <a:ext cx="635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ckt">
            <a:extLst>
              <a:ext uri="{FF2B5EF4-FFF2-40B4-BE49-F238E27FC236}">
                <a16:creationId xmlns:a16="http://schemas.microsoft.com/office/drawing/2014/main" id="{BF5CB40A-EF1D-E13F-3FA1-8FF334EEDB9A}"/>
              </a:ext>
            </a:extLst>
          </p:cNvPr>
          <p:cNvSpPr/>
          <p:nvPr/>
        </p:nvSpPr>
        <p:spPr>
          <a:xfrm>
            <a:off x="7258050" y="4006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kt">
            <a:extLst>
              <a:ext uri="{FF2B5EF4-FFF2-40B4-BE49-F238E27FC236}">
                <a16:creationId xmlns:a16="http://schemas.microsoft.com/office/drawing/2014/main" id="{0372E37E-2080-28E2-FC4C-2579389D7437}"/>
              </a:ext>
            </a:extLst>
          </p:cNvPr>
          <p:cNvSpPr/>
          <p:nvPr/>
        </p:nvSpPr>
        <p:spPr>
          <a:xfrm>
            <a:off x="7188200" y="4064000"/>
            <a:ext cx="254001" cy="3302001"/>
          </a:xfrm>
          <a:custGeom>
            <a:avLst/>
            <a:gdLst/>
            <a:ahLst/>
            <a:cxnLst/>
            <a:rect l="0" t="0" r="0" b="0"/>
            <a:pathLst>
              <a:path w="254001" h="3302001">
                <a:moveTo>
                  <a:pt x="127000" y="0"/>
                </a:moveTo>
                <a:lnTo>
                  <a:pt x="127000" y="1282700"/>
                </a:lnTo>
                <a:lnTo>
                  <a:pt x="0" y="1344083"/>
                </a:lnTo>
                <a:lnTo>
                  <a:pt x="254000" y="1466850"/>
                </a:lnTo>
                <a:lnTo>
                  <a:pt x="0" y="1589617"/>
                </a:lnTo>
                <a:lnTo>
                  <a:pt x="254000" y="1712383"/>
                </a:lnTo>
                <a:lnTo>
                  <a:pt x="0" y="1835150"/>
                </a:lnTo>
                <a:lnTo>
                  <a:pt x="254000" y="1957917"/>
                </a:lnTo>
                <a:lnTo>
                  <a:pt x="127000" y="2019300"/>
                </a:lnTo>
                <a:lnTo>
                  <a:pt x="127000" y="330200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ckt">
            <a:extLst>
              <a:ext uri="{FF2B5EF4-FFF2-40B4-BE49-F238E27FC236}">
                <a16:creationId xmlns:a16="http://schemas.microsoft.com/office/drawing/2014/main" id="{9AF21892-F690-69E2-C289-E667998AE6B2}"/>
              </a:ext>
            </a:extLst>
          </p:cNvPr>
          <p:cNvCxnSpPr/>
          <p:nvPr/>
        </p:nvCxnSpPr>
        <p:spPr>
          <a:xfrm>
            <a:off x="7315200" y="73660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kt">
            <a:extLst>
              <a:ext uri="{FF2B5EF4-FFF2-40B4-BE49-F238E27FC236}">
                <a16:creationId xmlns:a16="http://schemas.microsoft.com/office/drawing/2014/main" id="{8F7F4C08-9481-2E70-CE97-A62C4B90DC67}"/>
              </a:ext>
            </a:extLst>
          </p:cNvPr>
          <p:cNvCxnSpPr/>
          <p:nvPr/>
        </p:nvCxnSpPr>
        <p:spPr>
          <a:xfrm>
            <a:off x="7124700" y="75184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kt">
            <a:extLst>
              <a:ext uri="{FF2B5EF4-FFF2-40B4-BE49-F238E27FC236}">
                <a16:creationId xmlns:a16="http://schemas.microsoft.com/office/drawing/2014/main" id="{74766C07-6025-38D6-B205-DC2E9CDD6D33}"/>
              </a:ext>
            </a:extLst>
          </p:cNvPr>
          <p:cNvCxnSpPr/>
          <p:nvPr/>
        </p:nvCxnSpPr>
        <p:spPr>
          <a:xfrm>
            <a:off x="7194550" y="75882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kt">
            <a:extLst>
              <a:ext uri="{FF2B5EF4-FFF2-40B4-BE49-F238E27FC236}">
                <a16:creationId xmlns:a16="http://schemas.microsoft.com/office/drawing/2014/main" id="{D428F5C0-C008-A735-8EC4-AC189167BFD9}"/>
              </a:ext>
            </a:extLst>
          </p:cNvPr>
          <p:cNvCxnSpPr/>
          <p:nvPr/>
        </p:nvCxnSpPr>
        <p:spPr>
          <a:xfrm>
            <a:off x="7264400" y="76581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kt label">
            <a:extLst>
              <a:ext uri="{FF2B5EF4-FFF2-40B4-BE49-F238E27FC236}">
                <a16:creationId xmlns:a16="http://schemas.microsoft.com/office/drawing/2014/main" id="{9448BF18-201A-6A6A-4C12-2D26DB17BA19}"/>
              </a:ext>
            </a:extLst>
          </p:cNvPr>
          <p:cNvSpPr txBox="1"/>
          <p:nvPr/>
        </p:nvSpPr>
        <p:spPr>
          <a:xfrm>
            <a:off x="5461000" y="6061074"/>
            <a:ext cx="1651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L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10 k</a:t>
            </a:r>
            <a:r>
              <a:rPr lang="el-GR" sz="1700" b="1">
                <a:solidFill>
                  <a:srgbClr val="0E7C7B"/>
                </a:solidFill>
              </a:rPr>
              <a:t>Ω</a:t>
            </a:r>
            <a:endParaRPr lang="en-US" sz="1700" b="1">
              <a:solidFill>
                <a:srgbClr val="0E7C7B"/>
              </a:solidFill>
              <a:latin typeface="DM Sans" pitchFamily="2" charset="0"/>
            </a:endParaRPr>
          </a:p>
        </p:txBody>
      </p:sp>
      <p:cxnSp>
        <p:nvCxnSpPr>
          <p:cNvPr id="60" name="ckt">
            <a:extLst>
              <a:ext uri="{FF2B5EF4-FFF2-40B4-BE49-F238E27FC236}">
                <a16:creationId xmlns:a16="http://schemas.microsoft.com/office/drawing/2014/main" id="{FE946E9E-7BEA-FBBC-F5D2-369D04E833B7}"/>
              </a:ext>
            </a:extLst>
          </p:cNvPr>
          <p:cNvCxnSpPr/>
          <p:nvPr/>
        </p:nvCxnSpPr>
        <p:spPr>
          <a:xfrm>
            <a:off x="7315200" y="4064000"/>
            <a:ext cx="558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kt">
            <a:extLst>
              <a:ext uri="{FF2B5EF4-FFF2-40B4-BE49-F238E27FC236}">
                <a16:creationId xmlns:a16="http://schemas.microsoft.com/office/drawing/2014/main" id="{FCB782D8-864E-8CF5-A07E-C26125CBFAFB}"/>
              </a:ext>
            </a:extLst>
          </p:cNvPr>
          <p:cNvSpPr/>
          <p:nvPr/>
        </p:nvSpPr>
        <p:spPr>
          <a:xfrm>
            <a:off x="7880350" y="3994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kt label">
            <a:extLst>
              <a:ext uri="{FF2B5EF4-FFF2-40B4-BE49-F238E27FC236}">
                <a16:creationId xmlns:a16="http://schemas.microsoft.com/office/drawing/2014/main" id="{C9605B99-DD98-1ECB-2C94-E31D898F1F82}"/>
              </a:ext>
            </a:extLst>
          </p:cNvPr>
          <p:cNvSpPr txBox="1"/>
          <p:nvPr/>
        </p:nvSpPr>
        <p:spPr>
          <a:xfrm>
            <a:off x="8102600" y="3883024"/>
            <a:ext cx="635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o</a:t>
            </a:r>
          </a:p>
        </p:txBody>
      </p:sp>
      <p:sp>
        <p:nvSpPr>
          <p:cNvPr id="63" name="ckt label">
            <a:extLst>
              <a:ext uri="{FF2B5EF4-FFF2-40B4-BE49-F238E27FC236}">
                <a16:creationId xmlns:a16="http://schemas.microsoft.com/office/drawing/2014/main" id="{A6C4AF44-260D-CFBD-FC10-DBA7B3886D9C}"/>
              </a:ext>
            </a:extLst>
          </p:cNvPr>
          <p:cNvSpPr txBox="1"/>
          <p:nvPr/>
        </p:nvSpPr>
        <p:spPr>
          <a:xfrm>
            <a:off x="5854700" y="3479799"/>
            <a:ext cx="76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 i="1">
                <a:solidFill>
                  <a:srgbClr val="4D5B54"/>
                </a:solidFill>
                <a:latin typeface="DM Sans" pitchFamily="2" charset="0"/>
              </a:rPr>
              <a:t>C</a:t>
            </a:r>
            <a:r>
              <a:rPr lang="en-US" sz="1600" i="1" baseline="-25000">
                <a:solidFill>
                  <a:srgbClr val="4D5B54"/>
                </a:solidFill>
                <a:latin typeface="DM Sans" pitchFamily="2" charset="0"/>
              </a:rPr>
              <a:t>C</a:t>
            </a:r>
          </a:p>
        </p:txBody>
      </p:sp>
      <p:sp>
        <p:nvSpPr>
          <p:cNvPr id="64" name="ckt label">
            <a:extLst>
              <a:ext uri="{FF2B5EF4-FFF2-40B4-BE49-F238E27FC236}">
                <a16:creationId xmlns:a16="http://schemas.microsoft.com/office/drawing/2014/main" id="{59E1D89F-9765-D55F-1704-C9D9033DBD79}"/>
              </a:ext>
            </a:extLst>
          </p:cNvPr>
          <p:cNvSpPr txBox="1"/>
          <p:nvPr/>
        </p:nvSpPr>
        <p:spPr>
          <a:xfrm>
            <a:off x="2819400" y="5740399"/>
            <a:ext cx="762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600" i="1">
                <a:solidFill>
                  <a:srgbClr val="4D5B54"/>
                </a:solidFill>
                <a:latin typeface="DM Sans" pitchFamily="2" charset="0"/>
              </a:rPr>
              <a:t>C</a:t>
            </a:r>
            <a:r>
              <a:rPr lang="en-US" sz="1600" i="1" baseline="-25000">
                <a:solidFill>
                  <a:srgbClr val="4D5B54"/>
                </a:solidFill>
                <a:latin typeface="DM Sans" pitchFamily="2" charset="0"/>
              </a:rPr>
              <a:t>C</a:t>
            </a:r>
          </a:p>
        </p:txBody>
      </p:sp>
      <p:sp>
        <p:nvSpPr>
          <p:cNvPr id="65" name="given">
            <a:extLst>
              <a:ext uri="{FF2B5EF4-FFF2-40B4-BE49-F238E27FC236}">
                <a16:creationId xmlns:a16="http://schemas.microsoft.com/office/drawing/2014/main" id="{B83F3439-DA11-140D-FFC2-BD85860A1FA7}"/>
              </a:ext>
            </a:extLst>
          </p:cNvPr>
          <p:cNvSpPr/>
          <p:nvPr/>
        </p:nvSpPr>
        <p:spPr>
          <a:xfrm>
            <a:off x="914400" y="7772400"/>
            <a:ext cx="1052830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GIVEN</a:t>
            </a:r>
          </a:p>
        </p:txBody>
      </p:sp>
      <p:sp>
        <p:nvSpPr>
          <p:cNvPr id="66" name="given">
            <a:extLst>
              <a:ext uri="{FF2B5EF4-FFF2-40B4-BE49-F238E27FC236}">
                <a16:creationId xmlns:a16="http://schemas.microsoft.com/office/drawing/2014/main" id="{A35B2E42-DC42-47CA-E090-0D7CE5397E0E}"/>
              </a:ext>
            </a:extLst>
          </p:cNvPr>
          <p:cNvSpPr/>
          <p:nvPr/>
        </p:nvSpPr>
        <p:spPr>
          <a:xfrm>
            <a:off x="914400" y="8355965"/>
            <a:ext cx="118745" cy="118745"/>
          </a:xfrm>
          <a:prstGeom prst="rect">
            <a:avLst/>
          </a:prstGeom>
          <a:solidFill>
            <a:srgbClr val="1F6F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given">
            <a:extLst>
              <a:ext uri="{FF2B5EF4-FFF2-40B4-BE49-F238E27FC236}">
                <a16:creationId xmlns:a16="http://schemas.microsoft.com/office/drawing/2014/main" id="{23134F2F-B032-20F6-27BC-AC5EB717799C}"/>
              </a:ext>
            </a:extLst>
          </p:cNvPr>
          <p:cNvSpPr txBox="1"/>
          <p:nvPr/>
        </p:nvSpPr>
        <p:spPr>
          <a:xfrm>
            <a:off x="1130300" y="8280400"/>
            <a:ext cx="7658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1F6FA8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1F6FA8"/>
                </a:solidFill>
                <a:latin typeface="DM Sans" pitchFamily="2" charset="0"/>
              </a:rPr>
              <a:t>DD</a:t>
            </a:r>
            <a:r>
              <a:rPr lang="en-US" sz="1700" b="1">
                <a:solidFill>
                  <a:srgbClr val="1F6FA8"/>
                </a:solidFill>
                <a:latin typeface="DM Sans" pitchFamily="2" charset="0"/>
              </a:rPr>
              <a:t> = 15 V</a:t>
            </a:r>
          </a:p>
        </p:txBody>
      </p:sp>
      <p:sp>
        <p:nvSpPr>
          <p:cNvPr id="68" name="given">
            <a:extLst>
              <a:ext uri="{FF2B5EF4-FFF2-40B4-BE49-F238E27FC236}">
                <a16:creationId xmlns:a16="http://schemas.microsoft.com/office/drawing/2014/main" id="{989D3651-6190-4AA6-44B8-7B1C7EF8BDFA}"/>
              </a:ext>
            </a:extLst>
          </p:cNvPr>
          <p:cNvSpPr/>
          <p:nvPr/>
        </p:nvSpPr>
        <p:spPr>
          <a:xfrm>
            <a:off x="914400" y="8642975"/>
            <a:ext cx="118745" cy="118744"/>
          </a:xfrm>
          <a:prstGeom prst="rect">
            <a:avLst/>
          </a:prstGeom>
          <a:solidFill>
            <a:srgbClr val="7A3E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given">
            <a:extLst>
              <a:ext uri="{FF2B5EF4-FFF2-40B4-BE49-F238E27FC236}">
                <a16:creationId xmlns:a16="http://schemas.microsoft.com/office/drawing/2014/main" id="{DD80FD70-D59E-DFBC-E8C7-9489F38CFD8C}"/>
              </a:ext>
            </a:extLst>
          </p:cNvPr>
          <p:cNvSpPr txBox="1"/>
          <p:nvPr/>
        </p:nvSpPr>
        <p:spPr>
          <a:xfrm>
            <a:off x="1130300" y="8567410"/>
            <a:ext cx="7658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7A3E9D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7A3E9D"/>
                </a:solidFill>
                <a:latin typeface="DM Sans" pitchFamily="2" charset="0"/>
              </a:rPr>
              <a:t>G</a:t>
            </a:r>
            <a:r>
              <a:rPr lang="en-US" sz="1700" b="1">
                <a:solidFill>
                  <a:srgbClr val="7A3E9D"/>
                </a:solidFill>
                <a:latin typeface="DM Sans" pitchFamily="2" charset="0"/>
              </a:rPr>
              <a:t> = 10 M</a:t>
            </a:r>
            <a:r>
              <a:rPr lang="el-GR" sz="1700" b="1">
                <a:solidFill>
                  <a:srgbClr val="7A3E9D"/>
                </a:solidFill>
              </a:rPr>
              <a:t>Ω</a:t>
            </a:r>
            <a:endParaRPr lang="en-US" sz="1700" b="1">
              <a:solidFill>
                <a:srgbClr val="7A3E9D"/>
              </a:solidFill>
              <a:latin typeface="DM Sans" pitchFamily="2" charset="0"/>
            </a:endParaRPr>
          </a:p>
        </p:txBody>
      </p:sp>
      <p:sp>
        <p:nvSpPr>
          <p:cNvPr id="70" name="given">
            <a:extLst>
              <a:ext uri="{FF2B5EF4-FFF2-40B4-BE49-F238E27FC236}">
                <a16:creationId xmlns:a16="http://schemas.microsoft.com/office/drawing/2014/main" id="{6F0155CC-F056-E541-EC38-BEA86A4ED927}"/>
              </a:ext>
            </a:extLst>
          </p:cNvPr>
          <p:cNvSpPr/>
          <p:nvPr/>
        </p:nvSpPr>
        <p:spPr>
          <a:xfrm>
            <a:off x="914400" y="8929984"/>
            <a:ext cx="118745" cy="118745"/>
          </a:xfrm>
          <a:prstGeom prst="rect">
            <a:avLst/>
          </a:prstGeom>
          <a:solidFill>
            <a:srgbClr val="0E7C7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given">
            <a:extLst>
              <a:ext uri="{FF2B5EF4-FFF2-40B4-BE49-F238E27FC236}">
                <a16:creationId xmlns:a16="http://schemas.microsoft.com/office/drawing/2014/main" id="{2DD41F46-2D8F-62D6-9B5E-36EF996C9971}"/>
              </a:ext>
            </a:extLst>
          </p:cNvPr>
          <p:cNvSpPr txBox="1"/>
          <p:nvPr/>
        </p:nvSpPr>
        <p:spPr>
          <a:xfrm>
            <a:off x="1130300" y="8854419"/>
            <a:ext cx="7658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D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</a:t>
            </a:r>
            <a:r>
              <a:rPr lang="en-US" sz="1700" b="1" i="1">
                <a:solidFill>
                  <a:srgbClr val="0E7C7B"/>
                </a:solidFill>
                <a:latin typeface="DM Sans" pitchFamily="2" charset="0"/>
              </a:rPr>
              <a:t>R</a:t>
            </a:r>
            <a:r>
              <a:rPr lang="en-US" sz="1700" b="1" i="1" baseline="-25000">
                <a:solidFill>
                  <a:srgbClr val="0E7C7B"/>
                </a:solidFill>
                <a:latin typeface="DM Sans" pitchFamily="2" charset="0"/>
              </a:rPr>
              <a:t>L</a:t>
            </a:r>
            <a:r>
              <a:rPr lang="en-US" sz="1700" b="1">
                <a:solidFill>
                  <a:srgbClr val="0E7C7B"/>
                </a:solidFill>
                <a:latin typeface="DM Sans" pitchFamily="2" charset="0"/>
              </a:rPr>
              <a:t> = 10 k</a:t>
            </a:r>
            <a:r>
              <a:rPr lang="el-GR" sz="1700" b="1">
                <a:solidFill>
                  <a:srgbClr val="0E7C7B"/>
                </a:solidFill>
              </a:rPr>
              <a:t>Ω</a:t>
            </a:r>
            <a:endParaRPr lang="en-US" sz="1700" b="1">
              <a:solidFill>
                <a:srgbClr val="0E7C7B"/>
              </a:solidFill>
              <a:latin typeface="DM Sans" pitchFamily="2" charset="0"/>
            </a:endParaRPr>
          </a:p>
        </p:txBody>
      </p:sp>
      <p:sp>
        <p:nvSpPr>
          <p:cNvPr id="72" name="given">
            <a:extLst>
              <a:ext uri="{FF2B5EF4-FFF2-40B4-BE49-F238E27FC236}">
                <a16:creationId xmlns:a16="http://schemas.microsoft.com/office/drawing/2014/main" id="{B4BAA38B-5748-7BD6-5704-4916D61B157F}"/>
              </a:ext>
            </a:extLst>
          </p:cNvPr>
          <p:cNvSpPr/>
          <p:nvPr/>
        </p:nvSpPr>
        <p:spPr>
          <a:xfrm>
            <a:off x="914400" y="9216994"/>
            <a:ext cx="118745" cy="118745"/>
          </a:xfrm>
          <a:prstGeom prst="rect">
            <a:avLst/>
          </a:prstGeom>
          <a:solidFill>
            <a:srgbClr val="B0186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given">
            <a:extLst>
              <a:ext uri="{FF2B5EF4-FFF2-40B4-BE49-F238E27FC236}">
                <a16:creationId xmlns:a16="http://schemas.microsoft.com/office/drawing/2014/main" id="{47E26FBC-3164-ACC3-85C9-51B6FB25D122}"/>
              </a:ext>
            </a:extLst>
          </p:cNvPr>
          <p:cNvSpPr txBox="1"/>
          <p:nvPr/>
        </p:nvSpPr>
        <p:spPr>
          <a:xfrm>
            <a:off x="1130300" y="9141430"/>
            <a:ext cx="7658100" cy="26161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b="1" i="1">
                <a:solidFill>
                  <a:srgbClr val="B0186B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B0186B"/>
                </a:solidFill>
                <a:latin typeface="DM Sans" pitchFamily="2" charset="0"/>
              </a:rPr>
              <a:t>t</a:t>
            </a:r>
            <a:r>
              <a:rPr lang="en-US" sz="1700" b="1">
                <a:solidFill>
                  <a:srgbClr val="B0186B"/>
                </a:solidFill>
                <a:latin typeface="DM Sans" pitchFamily="2" charset="0"/>
              </a:rPr>
              <a:t> = 1.5 V,  k′</a:t>
            </a:r>
            <a:r>
              <a:rPr lang="en-US" sz="1700" b="1" baseline="-25000">
                <a:solidFill>
                  <a:srgbClr val="B0186B"/>
                </a:solidFill>
                <a:latin typeface="DM Sans" pitchFamily="2" charset="0"/>
              </a:rPr>
              <a:t>n</a:t>
            </a:r>
            <a:r>
              <a:rPr lang="en-US" sz="1700" b="1">
                <a:solidFill>
                  <a:srgbClr val="B0186B"/>
                </a:solidFill>
                <a:latin typeface="DM Sans" pitchFamily="2" charset="0"/>
              </a:rPr>
              <a:t>(W/L) = 0.25 mA/V²,  </a:t>
            </a:r>
            <a:r>
              <a:rPr lang="en-US" sz="1700" b="1" i="1">
                <a:solidFill>
                  <a:srgbClr val="B0186B"/>
                </a:solidFill>
                <a:latin typeface="DM Sans" pitchFamily="2" charset="0"/>
              </a:rPr>
              <a:t>V</a:t>
            </a:r>
            <a:r>
              <a:rPr lang="en-US" sz="1700" b="1" i="1" baseline="-25000">
                <a:solidFill>
                  <a:srgbClr val="B0186B"/>
                </a:solidFill>
                <a:latin typeface="DM Sans" pitchFamily="2" charset="0"/>
              </a:rPr>
              <a:t>A</a:t>
            </a:r>
            <a:r>
              <a:rPr lang="en-US" sz="1700" b="1">
                <a:solidFill>
                  <a:srgbClr val="B0186B"/>
                </a:solidFill>
                <a:latin typeface="DM Sans" pitchFamily="2" charset="0"/>
              </a:rPr>
              <a:t> = 50 V</a:t>
            </a:r>
          </a:p>
        </p:txBody>
      </p:sp>
      <p:sp>
        <p:nvSpPr>
          <p:cNvPr id="74" name="badge @1">
            <a:extLst>
              <a:ext uri="{FF2B5EF4-FFF2-40B4-BE49-F238E27FC236}">
                <a16:creationId xmlns:a16="http://schemas.microsoft.com/office/drawing/2014/main" id="{DA063CD4-4C31-E10B-3F33-AACC1861D685}"/>
              </a:ext>
            </a:extLst>
          </p:cNvPr>
          <p:cNvSpPr/>
          <p:nvPr/>
        </p:nvSpPr>
        <p:spPr>
          <a:xfrm>
            <a:off x="9169400" y="1917700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4</a:t>
            </a:r>
          </a:p>
        </p:txBody>
      </p:sp>
      <p:sp>
        <p:nvSpPr>
          <p:cNvPr id="75" name="step @1">
            <a:extLst>
              <a:ext uri="{FF2B5EF4-FFF2-40B4-BE49-F238E27FC236}">
                <a16:creationId xmlns:a16="http://schemas.microsoft.com/office/drawing/2014/main" id="{C0A3F475-A876-E1F2-C842-540B0AE3B9F8}"/>
              </a:ext>
            </a:extLst>
          </p:cNvPr>
          <p:cNvSpPr txBox="1"/>
          <p:nvPr/>
        </p:nvSpPr>
        <p:spPr>
          <a:xfrm>
            <a:off x="9753600" y="1905000"/>
            <a:ext cx="7620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Small-signal parameters at the bias point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eq @1">
                <a:extLst>
                  <a:ext uri="{FF2B5EF4-FFF2-40B4-BE49-F238E27FC236}">
                    <a16:creationId xmlns:a16="http://schemas.microsoft.com/office/drawing/2014/main" id="{17AF139B-C0DE-D599-AD4D-AE5801DBA9D1}"/>
                  </a:ext>
                </a:extLst>
              </p:cNvPr>
              <p:cNvSpPr txBox="1"/>
              <p:nvPr/>
            </p:nvSpPr>
            <p:spPr>
              <a:xfrm>
                <a:off x="9753600" y="2238176"/>
                <a:ext cx="7620000" cy="64262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𝑚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)=</m:t>
                      </m:r>
                      <m:r>
                        <a:rPr lang="en-US" sz="2200" b="1">
                          <a:solidFill>
                            <a:srgbClr val="B0186B"/>
                          </a:solidFill>
                          <a:latin typeface="Cambria Math"/>
                          <a:cs typeface="Cambria Math"/>
                        </a:rPr>
                        <m:t>0.25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(4.41−</m:t>
                      </m:r>
                      <m:r>
                        <a:rPr lang="en-US" sz="2200" b="1">
                          <a:solidFill>
                            <a:srgbClr val="B0186B"/>
                          </a:solidFill>
                          <a:latin typeface="Cambria Math"/>
                          <a:cs typeface="Cambria Math"/>
                        </a:rPr>
                        <m:t>1.5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)=0.728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mA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76" name="eq @1">
                <a:extLst>
                  <a:ext uri="{FF2B5EF4-FFF2-40B4-BE49-F238E27FC236}">
                    <a16:creationId xmlns:a16="http://schemas.microsoft.com/office/drawing/2014/main" id="{17AF139B-C0DE-D599-AD4D-AE5801DBA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3600" y="2238176"/>
                <a:ext cx="7620000" cy="6426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eq @1">
                <a:extLst>
                  <a:ext uri="{FF2B5EF4-FFF2-40B4-BE49-F238E27FC236}">
                    <a16:creationId xmlns:a16="http://schemas.microsoft.com/office/drawing/2014/main" id="{2C01B15B-87EF-3983-7F62-4299903D92E1}"/>
                  </a:ext>
                </a:extLst>
              </p:cNvPr>
              <p:cNvSpPr txBox="1"/>
              <p:nvPr/>
            </p:nvSpPr>
            <p:spPr>
              <a:xfrm>
                <a:off x="9753600" y="2880796"/>
                <a:ext cx="7620000" cy="64262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𝑜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200" b="1" i="1">
                              <a:solidFill>
                                <a:srgbClr val="B0186B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200" b="1">
                                  <a:solidFill>
                                    <a:srgbClr val="B0186B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200" b="1">
                                  <a:solidFill>
                                    <a:srgbClr val="B0186B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200" b="1">
                                  <a:solidFill>
                                    <a:srgbClr val="B0186B"/>
                                  </a:solidFill>
                                  <a:latin typeface="Cambria Math"/>
                                  <a:cs typeface="Cambria Math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2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2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2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𝐷</m:t>
                              </m:r>
                            </m:sub>
                          </m:sSub>
                        </m:den>
                      </m:f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200" b="1">
                              <a:solidFill>
                                <a:srgbClr val="B0186B"/>
                              </a:solidFill>
                              <a:latin typeface="Cambria Math"/>
                              <a:cs typeface="Cambria Math"/>
                            </a:rPr>
                            <m:t>50</m:t>
                          </m:r>
                        </m:num>
                        <m:den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1.06</m:t>
                          </m:r>
                        </m:den>
                      </m:f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=47.2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k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𝛺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77" name="eq @1">
                <a:extLst>
                  <a:ext uri="{FF2B5EF4-FFF2-40B4-BE49-F238E27FC236}">
                    <a16:creationId xmlns:a16="http://schemas.microsoft.com/office/drawing/2014/main" id="{2C01B15B-87EF-3983-7F62-4299903D9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3600" y="2880796"/>
                <a:ext cx="7620000" cy="642620"/>
              </a:xfrm>
              <a:prstGeom prst="rect">
                <a:avLst/>
              </a:prstGeom>
              <a:blipFill>
                <a:blip r:embed="rId3"/>
                <a:stretch>
                  <a:fillRect b="-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badge @2">
            <a:extLst>
              <a:ext uri="{FF2B5EF4-FFF2-40B4-BE49-F238E27FC236}">
                <a16:creationId xmlns:a16="http://schemas.microsoft.com/office/drawing/2014/main" id="{23B112A5-8F98-DC09-ED3F-81EC8661CCA5}"/>
              </a:ext>
            </a:extLst>
          </p:cNvPr>
          <p:cNvSpPr/>
          <p:nvPr/>
        </p:nvSpPr>
        <p:spPr>
          <a:xfrm>
            <a:off x="9169400" y="3663117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5</a:t>
            </a:r>
          </a:p>
        </p:txBody>
      </p:sp>
      <p:sp>
        <p:nvSpPr>
          <p:cNvPr id="79" name="step @2">
            <a:extLst>
              <a:ext uri="{FF2B5EF4-FFF2-40B4-BE49-F238E27FC236}">
                <a16:creationId xmlns:a16="http://schemas.microsoft.com/office/drawing/2014/main" id="{8FF67B2A-B905-BC60-2537-0BDE0D170B9D}"/>
              </a:ext>
            </a:extLst>
          </p:cNvPr>
          <p:cNvSpPr txBox="1"/>
          <p:nvPr/>
        </p:nvSpPr>
        <p:spPr>
          <a:xfrm>
            <a:off x="9753600" y="3650417"/>
            <a:ext cx="7620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Find the load seen by the drain</a:t>
            </a:r>
          </a:p>
        </p:txBody>
      </p:sp>
      <p:sp>
        <p:nvSpPr>
          <p:cNvPr id="80" name="note @2">
            <a:extLst>
              <a:ext uri="{FF2B5EF4-FFF2-40B4-BE49-F238E27FC236}">
                <a16:creationId xmlns:a16="http://schemas.microsoft.com/office/drawing/2014/main" id="{15614BF7-AC4B-4E9C-6602-E2BBCE15E0D4}"/>
              </a:ext>
            </a:extLst>
          </p:cNvPr>
          <p:cNvSpPr txBox="1"/>
          <p:nvPr/>
        </p:nvSpPr>
        <p:spPr>
          <a:xfrm>
            <a:off x="9753600" y="3983594"/>
            <a:ext cx="7620000" cy="5232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Capacitors are shorts for the signal. R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G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is so large that its signal current is negligible.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" name="eq @2">
                <a:extLst>
                  <a:ext uri="{FF2B5EF4-FFF2-40B4-BE49-F238E27FC236}">
                    <a16:creationId xmlns:a16="http://schemas.microsoft.com/office/drawing/2014/main" id="{C4E6AC4C-B128-4FE3-029C-9402FAF54B88}"/>
                  </a:ext>
                </a:extLst>
              </p:cNvPr>
              <p:cNvSpPr txBox="1"/>
              <p:nvPr/>
            </p:nvSpPr>
            <p:spPr>
              <a:xfrm>
                <a:off x="9753600" y="4532213"/>
                <a:ext cx="7620000" cy="4191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2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‖</m:t>
                      </m:r>
                      <m:sSub>
                        <m:sSubPr>
                          <m:ctrlPr>
                            <a:rPr lang="en-US" sz="22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200" b="1">
                              <a:solidFill>
                                <a:srgbClr val="0E7C7B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‖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𝑜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r>
                        <a:rPr lang="en-US" sz="2200" b="1">
                          <a:solidFill>
                            <a:srgbClr val="0E7C7B"/>
                          </a:solidFill>
                          <a:latin typeface="Cambria Math"/>
                          <a:cs typeface="Cambria Math"/>
                        </a:rPr>
                        <m:t>10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‖</m:t>
                      </m:r>
                      <m:r>
                        <a:rPr lang="en-US" sz="2200" b="1">
                          <a:solidFill>
                            <a:srgbClr val="0E7C7B"/>
                          </a:solidFill>
                          <a:latin typeface="Cambria Math"/>
                          <a:cs typeface="Cambria Math"/>
                        </a:rPr>
                        <m:t>10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‖47.2=4.52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k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𝛺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1" name="eq @2">
                <a:extLst>
                  <a:ext uri="{FF2B5EF4-FFF2-40B4-BE49-F238E27FC236}">
                    <a16:creationId xmlns:a16="http://schemas.microsoft.com/office/drawing/2014/main" id="{C4E6AC4C-B128-4FE3-029C-9402FAF54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3600" y="4532213"/>
                <a:ext cx="7620000" cy="419100"/>
              </a:xfrm>
              <a:prstGeom prst="rect">
                <a:avLst/>
              </a:prstGeom>
              <a:blipFill>
                <a:blip r:embed="rId4"/>
                <a:stretch>
                  <a:fillRect l="-1280" b="-188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badge @3">
            <a:extLst>
              <a:ext uri="{FF2B5EF4-FFF2-40B4-BE49-F238E27FC236}">
                <a16:creationId xmlns:a16="http://schemas.microsoft.com/office/drawing/2014/main" id="{9B614797-B637-FB02-9E7B-3C71C6AEBDA0}"/>
              </a:ext>
            </a:extLst>
          </p:cNvPr>
          <p:cNvSpPr/>
          <p:nvPr/>
        </p:nvSpPr>
        <p:spPr>
          <a:xfrm>
            <a:off x="9169400" y="5091014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6</a:t>
            </a:r>
          </a:p>
        </p:txBody>
      </p:sp>
      <p:sp>
        <p:nvSpPr>
          <p:cNvPr id="83" name="step @3">
            <a:extLst>
              <a:ext uri="{FF2B5EF4-FFF2-40B4-BE49-F238E27FC236}">
                <a16:creationId xmlns:a16="http://schemas.microsoft.com/office/drawing/2014/main" id="{76F80F09-4EBB-A1C5-CFAD-97C9D59ACFCC}"/>
              </a:ext>
            </a:extLst>
          </p:cNvPr>
          <p:cNvSpPr txBox="1"/>
          <p:nvPr/>
        </p:nvSpPr>
        <p:spPr>
          <a:xfrm>
            <a:off x="9753600" y="5078314"/>
            <a:ext cx="7620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Voltage gain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4" name="eq @3">
                <a:extLst>
                  <a:ext uri="{FF2B5EF4-FFF2-40B4-BE49-F238E27FC236}">
                    <a16:creationId xmlns:a16="http://schemas.microsoft.com/office/drawing/2014/main" id="{280C7270-7ED5-BD7D-45F7-58015C8B9B07}"/>
                  </a:ext>
                </a:extLst>
              </p:cNvPr>
              <p:cNvSpPr txBox="1"/>
              <p:nvPr/>
            </p:nvSpPr>
            <p:spPr>
              <a:xfrm>
                <a:off x="9753600" y="5411490"/>
                <a:ext cx="7620000" cy="64262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200" b="0" i="1">
                              <a:solidFill>
                                <a:srgbClr val="15241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2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2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2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2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2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2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≈−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𝑚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‖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‖</m:t>
                      </m:r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𝑟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𝑜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)=−0.728×4.52=−3.29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4" name="eq @3">
                <a:extLst>
                  <a:ext uri="{FF2B5EF4-FFF2-40B4-BE49-F238E27FC236}">
                    <a16:creationId xmlns:a16="http://schemas.microsoft.com/office/drawing/2014/main" id="{280C7270-7ED5-BD7D-45F7-58015C8B9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3600" y="5411490"/>
                <a:ext cx="7620000" cy="642620"/>
              </a:xfrm>
              <a:prstGeom prst="rect">
                <a:avLst/>
              </a:prstGeom>
              <a:blipFill>
                <a:blip r:embed="rId5"/>
                <a:stretch>
                  <a:fillRect l="-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badge @4">
            <a:extLst>
              <a:ext uri="{FF2B5EF4-FFF2-40B4-BE49-F238E27FC236}">
                <a16:creationId xmlns:a16="http://schemas.microsoft.com/office/drawing/2014/main" id="{88E5121A-67F9-2CE7-7B61-121816A9962B}"/>
              </a:ext>
            </a:extLst>
          </p:cNvPr>
          <p:cNvSpPr/>
          <p:nvPr/>
        </p:nvSpPr>
        <p:spPr>
          <a:xfrm>
            <a:off x="9169400" y="6193811"/>
            <a:ext cx="406400" cy="4064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DM Sans" pitchFamily="2" charset="0"/>
              </a:rPr>
              <a:t>7</a:t>
            </a:r>
          </a:p>
        </p:txBody>
      </p:sp>
      <p:sp>
        <p:nvSpPr>
          <p:cNvPr id="86" name="step @4">
            <a:extLst>
              <a:ext uri="{FF2B5EF4-FFF2-40B4-BE49-F238E27FC236}">
                <a16:creationId xmlns:a16="http://schemas.microsoft.com/office/drawing/2014/main" id="{B6C22F39-4D2A-793A-C2FF-B19F98FC6F3B}"/>
              </a:ext>
            </a:extLst>
          </p:cNvPr>
          <p:cNvSpPr txBox="1"/>
          <p:nvPr/>
        </p:nvSpPr>
        <p:spPr>
          <a:xfrm>
            <a:off x="9753600" y="6181111"/>
            <a:ext cx="76200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2000" b="1">
                <a:solidFill>
                  <a:srgbClr val="15241D"/>
                </a:solidFill>
                <a:latin typeface="DM Sans" pitchFamily="2" charset="0"/>
              </a:rPr>
              <a:t>Input resistance (Miller effect)</a:t>
            </a:r>
          </a:p>
        </p:txBody>
      </p:sp>
      <p:sp>
        <p:nvSpPr>
          <p:cNvPr id="87" name="note @4">
            <a:extLst>
              <a:ext uri="{FF2B5EF4-FFF2-40B4-BE49-F238E27FC236}">
                <a16:creationId xmlns:a16="http://schemas.microsoft.com/office/drawing/2014/main" id="{704955DB-EF29-C94C-EAED-ACA13E5D76AD}"/>
              </a:ext>
            </a:extLst>
          </p:cNvPr>
          <p:cNvSpPr txBox="1"/>
          <p:nvPr/>
        </p:nvSpPr>
        <p:spPr>
          <a:xfrm>
            <a:off x="9753600" y="6514288"/>
            <a:ext cx="7620000" cy="5232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R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G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joins input and output. The output swings by A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, so the current into R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G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is (1 − A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)v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/R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G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: the input sees R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G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 divided by (1 − A</a:t>
            </a:r>
            <a:r>
              <a:rPr lang="en-US" sz="1700" i="1" baseline="-25000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700" i="1">
                <a:solidFill>
                  <a:srgbClr val="4D5B54"/>
                </a:solidFill>
                <a:latin typeface="DM Sans" pitchFamily="2" charset="0"/>
              </a:rPr>
              <a:t>).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8" name="eq @4">
                <a:extLst>
                  <a:ext uri="{FF2B5EF4-FFF2-40B4-BE49-F238E27FC236}">
                    <a16:creationId xmlns:a16="http://schemas.microsoft.com/office/drawing/2014/main" id="{7B54508E-9456-FEA8-5C40-6648B077DE15}"/>
                  </a:ext>
                </a:extLst>
              </p:cNvPr>
              <p:cNvSpPr txBox="1"/>
              <p:nvPr/>
            </p:nvSpPr>
            <p:spPr>
              <a:xfrm>
                <a:off x="9753600" y="7062907"/>
                <a:ext cx="7620000" cy="64262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𝑖𝑛</m:t>
                          </m:r>
                        </m:sub>
                      </m:sSub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200" b="1" i="1">
                              <a:solidFill>
                                <a:srgbClr val="7A3E9D"/>
                              </a:solidFill>
                              <a:latin typeface="Cambria Math" panose="02040503050406030204" pitchFamily="18" charset="0"/>
                              <a:cs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2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2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200" b="1">
                                  <a:solidFill>
                                    <a:srgbClr val="7A3E9D"/>
                                  </a:solidFill>
                                  <a:latin typeface="Cambria Math"/>
                                  <a:cs typeface="Cambria Math"/>
                                </a:rPr>
                                <m:t>𝐺</m:t>
                              </m:r>
                            </m:sub>
                          </m:sSub>
                        </m:num>
                        <m:den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sz="22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2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2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sub>
                          </m:sSub>
                        </m:den>
                      </m:f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200" b="1">
                              <a:solidFill>
                                <a:srgbClr val="7A3E9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200" b="1">
                              <a:solidFill>
                                <a:srgbClr val="7A3E9D"/>
                              </a:solidFill>
                              <a:latin typeface="Cambria Math"/>
                              <a:cs typeface="Cambria Math"/>
                            </a:rPr>
                            <m:t>10</m:t>
                          </m:r>
                        </m:num>
                        <m:den>
                          <m:r>
                            <a:rPr lang="en-US" sz="22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1+3.29</m:t>
                          </m:r>
                        </m:den>
                      </m:f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=2.33 </m:t>
                      </m:r>
                      <m:r>
                        <m:rPr>
                          <m:sty m:val="p"/>
                        </m:rP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M</m:t>
                      </m:r>
                      <m:r>
                        <a:rPr lang="en-US" sz="22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𝛺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8" name="eq @4">
                <a:extLst>
                  <a:ext uri="{FF2B5EF4-FFF2-40B4-BE49-F238E27FC236}">
                    <a16:creationId xmlns:a16="http://schemas.microsoft.com/office/drawing/2014/main" id="{7B54508E-9456-FEA8-5C40-6648B077DE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3600" y="7062907"/>
                <a:ext cx="7620000" cy="642620"/>
              </a:xfrm>
              <a:prstGeom prst="rect">
                <a:avLst/>
              </a:prstGeom>
              <a:blipFill>
                <a:blip r:embed="rId6"/>
                <a:stretch>
                  <a:fillRect b="-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answer @4">
            <a:extLst>
              <a:ext uri="{FF2B5EF4-FFF2-40B4-BE49-F238E27FC236}">
                <a16:creationId xmlns:a16="http://schemas.microsoft.com/office/drawing/2014/main" id="{B3CE9752-9EC9-6D2A-FDA1-F4C01951521D}"/>
              </a:ext>
            </a:extLst>
          </p:cNvPr>
          <p:cNvSpPr/>
          <p:nvPr/>
        </p:nvSpPr>
        <p:spPr>
          <a:xfrm>
            <a:off x="9753600" y="7832527"/>
            <a:ext cx="2791460" cy="506731"/>
          </a:xfrm>
          <a:prstGeom prst="parallelogram">
            <a:avLst>
              <a:gd name="adj" fmla="val 30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answer @4">
            <a:extLst>
              <a:ext uri="{FF2B5EF4-FFF2-40B4-BE49-F238E27FC236}">
                <a16:creationId xmlns:a16="http://schemas.microsoft.com/office/drawing/2014/main" id="{4E8A587D-EFB6-2F18-16E0-F4F30C086B0E}"/>
              </a:ext>
            </a:extLst>
          </p:cNvPr>
          <p:cNvSpPr txBox="1"/>
          <p:nvPr/>
        </p:nvSpPr>
        <p:spPr>
          <a:xfrm>
            <a:off x="9753600" y="7832526"/>
            <a:ext cx="2791460" cy="50673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100" b="1" i="1">
                <a:solidFill>
                  <a:srgbClr val="FFFFFF"/>
                </a:solidFill>
                <a:latin typeface="DM Sans" pitchFamily="2" charset="0"/>
              </a:rPr>
              <a:t>A</a:t>
            </a:r>
            <a:r>
              <a:rPr lang="en-US" sz="2100" b="1" i="1" baseline="-25000">
                <a:solidFill>
                  <a:srgbClr val="FFFFFF"/>
                </a:solidFill>
                <a:latin typeface="DM Sans" pitchFamily="2" charset="0"/>
              </a:rPr>
              <a:t>v</a:t>
            </a:r>
            <a:r>
              <a:rPr lang="en-US" sz="2100" b="1">
                <a:solidFill>
                  <a:srgbClr val="FFFFFF"/>
                </a:solidFill>
                <a:latin typeface="DM Sans" pitchFamily="2" charset="0"/>
              </a:rPr>
              <a:t> ≈ −3.3 V/V</a:t>
            </a:r>
          </a:p>
        </p:txBody>
      </p:sp>
      <p:sp>
        <p:nvSpPr>
          <p:cNvPr id="91" name="answer @4">
            <a:extLst>
              <a:ext uri="{FF2B5EF4-FFF2-40B4-BE49-F238E27FC236}">
                <a16:creationId xmlns:a16="http://schemas.microsoft.com/office/drawing/2014/main" id="{98AE0522-7F24-5BA2-1CD3-8482E75351F6}"/>
              </a:ext>
            </a:extLst>
          </p:cNvPr>
          <p:cNvSpPr/>
          <p:nvPr/>
        </p:nvSpPr>
        <p:spPr>
          <a:xfrm>
            <a:off x="12773660" y="7832527"/>
            <a:ext cx="2791460" cy="506731"/>
          </a:xfrm>
          <a:prstGeom prst="parallelogram">
            <a:avLst>
              <a:gd name="adj" fmla="val 30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answer @4">
            <a:extLst>
              <a:ext uri="{FF2B5EF4-FFF2-40B4-BE49-F238E27FC236}">
                <a16:creationId xmlns:a16="http://schemas.microsoft.com/office/drawing/2014/main" id="{EBE9C850-96A6-6F29-584C-5359E40ECC77}"/>
              </a:ext>
            </a:extLst>
          </p:cNvPr>
          <p:cNvSpPr txBox="1"/>
          <p:nvPr/>
        </p:nvSpPr>
        <p:spPr>
          <a:xfrm>
            <a:off x="12773660" y="7832526"/>
            <a:ext cx="2791460" cy="50673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100" b="1" i="1">
                <a:solidFill>
                  <a:srgbClr val="FFFFFF"/>
                </a:solidFill>
                <a:latin typeface="DM Sans" pitchFamily="2" charset="0"/>
              </a:rPr>
              <a:t>R</a:t>
            </a:r>
            <a:r>
              <a:rPr lang="en-US" sz="2100" b="1" i="1" baseline="-25000">
                <a:solidFill>
                  <a:srgbClr val="FFFFFF"/>
                </a:solidFill>
                <a:latin typeface="DM Sans" pitchFamily="2" charset="0"/>
              </a:rPr>
              <a:t>in</a:t>
            </a:r>
            <a:r>
              <a:rPr lang="en-US" sz="2100" b="1">
                <a:solidFill>
                  <a:srgbClr val="FFFFFF"/>
                </a:solidFill>
                <a:latin typeface="DM Sans" pitchFamily="2" charset="0"/>
              </a:rPr>
              <a:t> = 2.33 M</a:t>
            </a:r>
            <a:r>
              <a:rPr lang="el-GR" sz="2100" b="1">
                <a:solidFill>
                  <a:srgbClr val="FFFFFF"/>
                </a:solidFill>
              </a:rPr>
              <a:t>Ω</a:t>
            </a:r>
            <a:endParaRPr lang="en-US" sz="2100" b="1">
              <a:solidFill>
                <a:srgbClr val="FFFFFF"/>
              </a:solidFill>
              <a:latin typeface="DM Sans" pitchFamily="2" charset="0"/>
            </a:endParaRPr>
          </a:p>
        </p:txBody>
      </p:sp>
      <p:sp>
        <p:nvSpPr>
          <p:cNvPr id="93" name="chrome page">
            <a:extLst>
              <a:ext uri="{FF2B5EF4-FFF2-40B4-BE49-F238E27FC236}">
                <a16:creationId xmlns:a16="http://schemas.microsoft.com/office/drawing/2014/main" id="{B986F894-F215-F33B-12EE-BD86C7073891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chrome page">
            <a:extLst>
              <a:ext uri="{FF2B5EF4-FFF2-40B4-BE49-F238E27FC236}">
                <a16:creationId xmlns:a16="http://schemas.microsoft.com/office/drawing/2014/main" id="{D87B4236-A6B4-35A5-AC52-87161F70BF8D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69</a:t>
            </a:r>
          </a:p>
        </p:txBody>
      </p:sp>
    </p:spTree>
    <p:extLst>
      <p:ext uri="{BB962C8B-B14F-4D97-AF65-F5344CB8AC3E}">
        <p14:creationId xmlns:p14="http://schemas.microsoft.com/office/powerpoint/2010/main" val="91421541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ction #nochrome s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4678A65-66EC-63D7-AA5B-48EFE17D9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4191000"/>
            <a:ext cx="10414000" cy="1397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9600">
                <a:solidFill>
                  <a:srgbClr val="15241D"/>
                </a:solidFill>
                <a:latin typeface="Bebas Neue" panose="020B0606020202050201" pitchFamily="34" charset="0"/>
              </a:rPr>
              <a:t>The MOSFET as a switch</a:t>
            </a:r>
          </a:p>
        </p:txBody>
      </p:sp>
      <p:sp>
        <p:nvSpPr>
          <p:cNvPr id="3" name="geo">
            <a:extLst>
              <a:ext uri="{FF2B5EF4-FFF2-40B4-BE49-F238E27FC236}">
                <a16:creationId xmlns:a16="http://schemas.microsoft.com/office/drawing/2014/main" id="{52E8CA76-3232-F516-B79E-7C392D71F59C}"/>
              </a:ext>
            </a:extLst>
          </p:cNvPr>
          <p:cNvSpPr/>
          <p:nvPr/>
        </p:nvSpPr>
        <p:spPr>
          <a:xfrm>
            <a:off x="-635000" y="0"/>
            <a:ext cx="3810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eo">
            <a:extLst>
              <a:ext uri="{FF2B5EF4-FFF2-40B4-BE49-F238E27FC236}">
                <a16:creationId xmlns:a16="http://schemas.microsoft.com/office/drawing/2014/main" id="{1CCE7A6C-39EE-D521-F4C4-C9B3BD7A331B}"/>
              </a:ext>
            </a:extLst>
          </p:cNvPr>
          <p:cNvSpPr/>
          <p:nvPr/>
        </p:nvSpPr>
        <p:spPr>
          <a:xfrm>
            <a:off x="2946400" y="0"/>
            <a:ext cx="889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eo">
            <a:extLst>
              <a:ext uri="{FF2B5EF4-FFF2-40B4-BE49-F238E27FC236}">
                <a16:creationId xmlns:a16="http://schemas.microsoft.com/office/drawing/2014/main" id="{61951345-1092-A4FB-457A-7DFFA77E6509}"/>
              </a:ext>
            </a:extLst>
          </p:cNvPr>
          <p:cNvSpPr/>
          <p:nvPr/>
        </p:nvSpPr>
        <p:spPr>
          <a:xfrm>
            <a:off x="3810000" y="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eo">
            <a:extLst>
              <a:ext uri="{FF2B5EF4-FFF2-40B4-BE49-F238E27FC236}">
                <a16:creationId xmlns:a16="http://schemas.microsoft.com/office/drawing/2014/main" id="{AC20A3BD-EF1E-4FB5-6BBE-3314F4ED092D}"/>
              </a:ext>
            </a:extLst>
          </p:cNvPr>
          <p:cNvSpPr/>
          <p:nvPr/>
        </p:nvSpPr>
        <p:spPr>
          <a:xfrm>
            <a:off x="15875000" y="0"/>
            <a:ext cx="3175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eo">
            <a:extLst>
              <a:ext uri="{FF2B5EF4-FFF2-40B4-BE49-F238E27FC236}">
                <a16:creationId xmlns:a16="http://schemas.microsoft.com/office/drawing/2014/main" id="{1A1502E5-585A-3F59-5B6E-455E3A79A5B4}"/>
              </a:ext>
            </a:extLst>
          </p:cNvPr>
          <p:cNvSpPr/>
          <p:nvPr/>
        </p:nvSpPr>
        <p:spPr>
          <a:xfrm>
            <a:off x="-635000" y="9575800"/>
            <a:ext cx="2540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geo">
            <a:extLst>
              <a:ext uri="{FF2B5EF4-FFF2-40B4-BE49-F238E27FC236}">
                <a16:creationId xmlns:a16="http://schemas.microsoft.com/office/drawing/2014/main" id="{3AADE93A-D42B-ECA5-6D9A-9C8CA5A75D06}"/>
              </a:ext>
            </a:extLst>
          </p:cNvPr>
          <p:cNvSpPr/>
          <p:nvPr/>
        </p:nvSpPr>
        <p:spPr>
          <a:xfrm>
            <a:off x="1905000" y="1010920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eo">
            <a:extLst>
              <a:ext uri="{FF2B5EF4-FFF2-40B4-BE49-F238E27FC236}">
                <a16:creationId xmlns:a16="http://schemas.microsoft.com/office/drawing/2014/main" id="{59977FA1-E2FE-8C97-A88A-17EFAD73E17E}"/>
              </a:ext>
            </a:extLst>
          </p:cNvPr>
          <p:cNvSpPr/>
          <p:nvPr/>
        </p:nvSpPr>
        <p:spPr>
          <a:xfrm>
            <a:off x="14986000" y="9575800"/>
            <a:ext cx="4064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eo">
            <a:extLst>
              <a:ext uri="{FF2B5EF4-FFF2-40B4-BE49-F238E27FC236}">
                <a16:creationId xmlns:a16="http://schemas.microsoft.com/office/drawing/2014/main" id="{0616C242-D92E-8359-6E49-5170E22D1EB8}"/>
              </a:ext>
            </a:extLst>
          </p:cNvPr>
          <p:cNvSpPr/>
          <p:nvPr/>
        </p:nvSpPr>
        <p:spPr>
          <a:xfrm>
            <a:off x="14097000" y="9575800"/>
            <a:ext cx="8128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numeral">
            <a:extLst>
              <a:ext uri="{FF2B5EF4-FFF2-40B4-BE49-F238E27FC236}">
                <a16:creationId xmlns:a16="http://schemas.microsoft.com/office/drawing/2014/main" id="{31C27BB3-A22B-3B7D-5D0F-BE5D5EA47603}"/>
              </a:ext>
            </a:extLst>
          </p:cNvPr>
          <p:cNvSpPr txBox="1"/>
          <p:nvPr/>
        </p:nvSpPr>
        <p:spPr>
          <a:xfrm>
            <a:off x="965200" y="1777999"/>
            <a:ext cx="5080000" cy="25400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 sz="20000">
                <a:solidFill>
                  <a:srgbClr val="145A43"/>
                </a:solidFill>
                <a:latin typeface="Bebas Neue" panose="020B0606020202050201" pitchFamily="34" charset="0"/>
              </a:rPr>
              <a:t>05</a:t>
            </a:r>
          </a:p>
        </p:txBody>
      </p:sp>
      <p:sp>
        <p:nvSpPr>
          <p:cNvPr id="12" name="item">
            <a:extLst>
              <a:ext uri="{FF2B5EF4-FFF2-40B4-BE49-F238E27FC236}">
                <a16:creationId xmlns:a16="http://schemas.microsoft.com/office/drawing/2014/main" id="{DEAA5888-086F-385B-CD2F-38C7ABC0109C}"/>
              </a:ext>
            </a:extLst>
          </p:cNvPr>
          <p:cNvSpPr txBox="1"/>
          <p:nvPr/>
        </p:nvSpPr>
        <p:spPr>
          <a:xfrm>
            <a:off x="1016000" y="58419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Cutoff: an open switch</a:t>
            </a:r>
          </a:p>
        </p:txBody>
      </p:sp>
      <p:sp>
        <p:nvSpPr>
          <p:cNvPr id="13" name="item">
            <a:extLst>
              <a:ext uri="{FF2B5EF4-FFF2-40B4-BE49-F238E27FC236}">
                <a16:creationId xmlns:a16="http://schemas.microsoft.com/office/drawing/2014/main" id="{BA6EACB7-45B0-9B9E-B375-17B85EE26242}"/>
              </a:ext>
            </a:extLst>
          </p:cNvPr>
          <p:cNvSpPr txBox="1"/>
          <p:nvPr/>
        </p:nvSpPr>
        <p:spPr>
          <a:xfrm>
            <a:off x="1016000" y="6375399"/>
            <a:ext cx="889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330200" indent="-330200">
              <a:buClr>
                <a:srgbClr val="145A43"/>
              </a:buClr>
              <a:buFont typeface="+mj-lt"/>
              <a:buChar char="■"/>
            </a:pPr>
            <a:r>
              <a:rPr lang="en-US" sz="2300">
                <a:solidFill>
                  <a:srgbClr val="4D5B54"/>
                </a:solidFill>
                <a:latin typeface="DM Sans" pitchFamily="2" charset="0"/>
              </a:rPr>
              <a:t>Deep triode: a closed switch</a:t>
            </a:r>
          </a:p>
        </p:txBody>
      </p:sp>
      <p:sp>
        <p:nvSpPr>
          <p:cNvPr id="14" name="map">
            <a:extLst>
              <a:ext uri="{FF2B5EF4-FFF2-40B4-BE49-F238E27FC236}">
                <a16:creationId xmlns:a16="http://schemas.microsoft.com/office/drawing/2014/main" id="{27FCA35F-074F-30F8-179E-B0C2D5BDFE90}"/>
              </a:ext>
            </a:extLst>
          </p:cNvPr>
          <p:cNvSpPr/>
          <p:nvPr/>
        </p:nvSpPr>
        <p:spPr>
          <a:xfrm>
            <a:off x="12192000" y="24130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1</a:t>
            </a:r>
          </a:p>
        </p:txBody>
      </p:sp>
      <p:sp>
        <p:nvSpPr>
          <p:cNvPr id="15" name="map">
            <a:extLst>
              <a:ext uri="{FF2B5EF4-FFF2-40B4-BE49-F238E27FC236}">
                <a16:creationId xmlns:a16="http://schemas.microsoft.com/office/drawing/2014/main" id="{B805CB79-10C8-3657-34D0-386357D4C986}"/>
              </a:ext>
            </a:extLst>
          </p:cNvPr>
          <p:cNvSpPr txBox="1"/>
          <p:nvPr/>
        </p:nvSpPr>
        <p:spPr>
          <a:xfrm>
            <a:off x="12827000" y="24129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Structure and operation</a:t>
            </a:r>
          </a:p>
        </p:txBody>
      </p:sp>
      <p:sp>
        <p:nvSpPr>
          <p:cNvPr id="16" name="map">
            <a:extLst>
              <a:ext uri="{FF2B5EF4-FFF2-40B4-BE49-F238E27FC236}">
                <a16:creationId xmlns:a16="http://schemas.microsoft.com/office/drawing/2014/main" id="{7A2927BB-2B3C-C07C-D1ED-B58C056A1AEB}"/>
              </a:ext>
            </a:extLst>
          </p:cNvPr>
          <p:cNvSpPr/>
          <p:nvPr/>
        </p:nvSpPr>
        <p:spPr>
          <a:xfrm>
            <a:off x="12192000" y="32258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2</a:t>
            </a:r>
          </a:p>
        </p:txBody>
      </p:sp>
      <p:sp>
        <p:nvSpPr>
          <p:cNvPr id="17" name="map">
            <a:extLst>
              <a:ext uri="{FF2B5EF4-FFF2-40B4-BE49-F238E27FC236}">
                <a16:creationId xmlns:a16="http://schemas.microsoft.com/office/drawing/2014/main" id="{DDF078D2-24F9-A9A4-FD5D-6DE3E34CB7FF}"/>
              </a:ext>
            </a:extLst>
          </p:cNvPr>
          <p:cNvSpPr txBox="1"/>
          <p:nvPr/>
        </p:nvSpPr>
        <p:spPr>
          <a:xfrm>
            <a:off x="12827000" y="32257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I–V characteristics</a:t>
            </a:r>
          </a:p>
        </p:txBody>
      </p:sp>
      <p:sp>
        <p:nvSpPr>
          <p:cNvPr id="18" name="map">
            <a:extLst>
              <a:ext uri="{FF2B5EF4-FFF2-40B4-BE49-F238E27FC236}">
                <a16:creationId xmlns:a16="http://schemas.microsoft.com/office/drawing/2014/main" id="{EA368147-84E7-BB4E-A256-3AC6598D39A6}"/>
              </a:ext>
            </a:extLst>
          </p:cNvPr>
          <p:cNvSpPr/>
          <p:nvPr/>
        </p:nvSpPr>
        <p:spPr>
          <a:xfrm>
            <a:off x="12192000" y="40386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3</a:t>
            </a:r>
          </a:p>
        </p:txBody>
      </p:sp>
      <p:sp>
        <p:nvSpPr>
          <p:cNvPr id="19" name="map">
            <a:extLst>
              <a:ext uri="{FF2B5EF4-FFF2-40B4-BE49-F238E27FC236}">
                <a16:creationId xmlns:a16="http://schemas.microsoft.com/office/drawing/2014/main" id="{3089FE91-A234-288F-8EC6-D7548A2CC3DB}"/>
              </a:ext>
            </a:extLst>
          </p:cNvPr>
          <p:cNvSpPr txBox="1"/>
          <p:nvPr/>
        </p:nvSpPr>
        <p:spPr>
          <a:xfrm>
            <a:off x="12827000" y="40385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MOSFETs in DC circuits</a:t>
            </a:r>
          </a:p>
        </p:txBody>
      </p:sp>
      <p:sp>
        <p:nvSpPr>
          <p:cNvPr id="20" name="map">
            <a:extLst>
              <a:ext uri="{FF2B5EF4-FFF2-40B4-BE49-F238E27FC236}">
                <a16:creationId xmlns:a16="http://schemas.microsoft.com/office/drawing/2014/main" id="{8BB85A05-0985-CB7F-335E-3F3DE177F334}"/>
              </a:ext>
            </a:extLst>
          </p:cNvPr>
          <p:cNvSpPr/>
          <p:nvPr/>
        </p:nvSpPr>
        <p:spPr>
          <a:xfrm>
            <a:off x="12192000" y="4851400"/>
            <a:ext cx="431800" cy="4318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A9B2AD"/>
                </a:solidFill>
                <a:latin typeface="Bebas Neue" panose="020B0606020202050201" pitchFamily="34" charset="0"/>
              </a:rPr>
              <a:t>4</a:t>
            </a:r>
          </a:p>
        </p:txBody>
      </p:sp>
      <p:sp>
        <p:nvSpPr>
          <p:cNvPr id="21" name="map">
            <a:extLst>
              <a:ext uri="{FF2B5EF4-FFF2-40B4-BE49-F238E27FC236}">
                <a16:creationId xmlns:a16="http://schemas.microsoft.com/office/drawing/2014/main" id="{60B55877-573A-6B76-8555-6558C65AD5B2}"/>
              </a:ext>
            </a:extLst>
          </p:cNvPr>
          <p:cNvSpPr txBox="1"/>
          <p:nvPr/>
        </p:nvSpPr>
        <p:spPr>
          <a:xfrm>
            <a:off x="12827000" y="48513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>
                <a:solidFill>
                  <a:srgbClr val="A9B2AD"/>
                </a:solidFill>
                <a:latin typeface="DM Sans" pitchFamily="2" charset="0"/>
              </a:rPr>
              <a:t>The MOSFET as an amplifier</a:t>
            </a:r>
          </a:p>
        </p:txBody>
      </p:sp>
      <p:sp>
        <p:nvSpPr>
          <p:cNvPr id="22" name="map">
            <a:extLst>
              <a:ext uri="{FF2B5EF4-FFF2-40B4-BE49-F238E27FC236}">
                <a16:creationId xmlns:a16="http://schemas.microsoft.com/office/drawing/2014/main" id="{72673D46-85DD-6860-302E-85AC2CD784FE}"/>
              </a:ext>
            </a:extLst>
          </p:cNvPr>
          <p:cNvSpPr/>
          <p:nvPr/>
        </p:nvSpPr>
        <p:spPr>
          <a:xfrm>
            <a:off x="12192000" y="5664200"/>
            <a:ext cx="431800" cy="431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200">
                <a:solidFill>
                  <a:srgbClr val="FFFFFF"/>
                </a:solidFill>
                <a:latin typeface="Bebas Neue" panose="020B0606020202050201" pitchFamily="34" charset="0"/>
              </a:rPr>
              <a:t>5</a:t>
            </a:r>
          </a:p>
        </p:txBody>
      </p:sp>
      <p:sp>
        <p:nvSpPr>
          <p:cNvPr id="23" name="map">
            <a:extLst>
              <a:ext uri="{FF2B5EF4-FFF2-40B4-BE49-F238E27FC236}">
                <a16:creationId xmlns:a16="http://schemas.microsoft.com/office/drawing/2014/main" id="{3CBDF68D-9EEC-2FCE-130E-EAAA40456BF3}"/>
              </a:ext>
            </a:extLst>
          </p:cNvPr>
          <p:cNvSpPr txBox="1"/>
          <p:nvPr/>
        </p:nvSpPr>
        <p:spPr>
          <a:xfrm>
            <a:off x="12827000" y="5664199"/>
            <a:ext cx="482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b="1">
                <a:solidFill>
                  <a:srgbClr val="15241D"/>
                </a:solidFill>
                <a:latin typeface="DM Sans" pitchFamily="2" charset="0"/>
              </a:rPr>
              <a:t>The MOSFET as a switch</a:t>
            </a:r>
          </a:p>
        </p:txBody>
      </p:sp>
    </p:spTree>
    <p:extLst>
      <p:ext uri="{BB962C8B-B14F-4D97-AF65-F5344CB8AC3E}">
        <p14:creationId xmlns:p14="http://schemas.microsoft.com/office/powerpoint/2010/main" val="42579323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MOSFET as a switch s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233A7CD-3EFF-2CBF-C967-941273086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The MOSFET as a switch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9BE2857B-B098-B63A-61E3-9BAD89822211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5 · THE MOSFET AS A SWITCH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5097A76C-BCF0-F191-760F-D1B50A930099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A05476F7-1535-FFA7-370D-69311A20F08E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drawing card">
            <a:extLst>
              <a:ext uri="{FF2B5EF4-FFF2-40B4-BE49-F238E27FC236}">
                <a16:creationId xmlns:a16="http://schemas.microsoft.com/office/drawing/2014/main" id="{DF6B0422-CE01-464D-4ABE-A926080A5C10}"/>
              </a:ext>
            </a:extLst>
          </p:cNvPr>
          <p:cNvSpPr/>
          <p:nvPr/>
        </p:nvSpPr>
        <p:spPr>
          <a:xfrm>
            <a:off x="914400" y="2222500"/>
            <a:ext cx="8890000" cy="5461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rawing card">
            <a:extLst>
              <a:ext uri="{FF2B5EF4-FFF2-40B4-BE49-F238E27FC236}">
                <a16:creationId xmlns:a16="http://schemas.microsoft.com/office/drawing/2014/main" id="{98F406EE-EBDE-0EE3-9AC4-ACBABED52868}"/>
              </a:ext>
            </a:extLst>
          </p:cNvPr>
          <p:cNvSpPr/>
          <p:nvPr/>
        </p:nvSpPr>
        <p:spPr>
          <a:xfrm>
            <a:off x="9144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kt">
            <a:extLst>
              <a:ext uri="{FF2B5EF4-FFF2-40B4-BE49-F238E27FC236}">
                <a16:creationId xmlns:a16="http://schemas.microsoft.com/office/drawing/2014/main" id="{80E30100-D59E-317E-C0F1-7EC091012711}"/>
              </a:ext>
            </a:extLst>
          </p:cNvPr>
          <p:cNvCxnSpPr/>
          <p:nvPr/>
        </p:nvCxnSpPr>
        <p:spPr>
          <a:xfrm>
            <a:off x="3200400" y="52674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kt">
            <a:extLst>
              <a:ext uri="{FF2B5EF4-FFF2-40B4-BE49-F238E27FC236}">
                <a16:creationId xmlns:a16="http://schemas.microsoft.com/office/drawing/2014/main" id="{5A81CEA0-F8F4-BA50-0D5C-673DB16857C6}"/>
              </a:ext>
            </a:extLst>
          </p:cNvPr>
          <p:cNvCxnSpPr/>
          <p:nvPr/>
        </p:nvCxnSpPr>
        <p:spPr>
          <a:xfrm>
            <a:off x="3327400" y="5118100"/>
            <a:ext cx="0" cy="1066800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kt">
            <a:extLst>
              <a:ext uri="{FF2B5EF4-FFF2-40B4-BE49-F238E27FC236}">
                <a16:creationId xmlns:a16="http://schemas.microsoft.com/office/drawing/2014/main" id="{90775AB7-C9EA-5A38-6641-39E1DD0E1DB1}"/>
              </a:ext>
            </a:extLst>
          </p:cNvPr>
          <p:cNvCxnSpPr/>
          <p:nvPr/>
        </p:nvCxnSpPr>
        <p:spPr>
          <a:xfrm>
            <a:off x="3327400" y="52197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kt">
            <a:extLst>
              <a:ext uri="{FF2B5EF4-FFF2-40B4-BE49-F238E27FC236}">
                <a16:creationId xmlns:a16="http://schemas.microsoft.com/office/drawing/2014/main" id="{28877953-1FEF-88DA-A447-6412C06BF746}"/>
              </a:ext>
            </a:extLst>
          </p:cNvPr>
          <p:cNvCxnSpPr/>
          <p:nvPr/>
        </p:nvCxnSpPr>
        <p:spPr>
          <a:xfrm>
            <a:off x="3327400" y="60833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kt">
            <a:extLst>
              <a:ext uri="{FF2B5EF4-FFF2-40B4-BE49-F238E27FC236}">
                <a16:creationId xmlns:a16="http://schemas.microsoft.com/office/drawing/2014/main" id="{F1C34410-0EBA-67AE-939A-4830247A6BD5}"/>
              </a:ext>
            </a:extLst>
          </p:cNvPr>
          <p:cNvCxnSpPr/>
          <p:nvPr/>
        </p:nvCxnSpPr>
        <p:spPr>
          <a:xfrm>
            <a:off x="3629660" y="6083300"/>
            <a:ext cx="12954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kt">
            <a:extLst>
              <a:ext uri="{FF2B5EF4-FFF2-40B4-BE49-F238E27FC236}">
                <a16:creationId xmlns:a16="http://schemas.microsoft.com/office/drawing/2014/main" id="{B6D23776-CF64-EE00-7B57-244D3B9AD331}"/>
              </a:ext>
            </a:extLst>
          </p:cNvPr>
          <p:cNvSpPr/>
          <p:nvPr/>
        </p:nvSpPr>
        <p:spPr>
          <a:xfrm>
            <a:off x="3689350" y="2978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 label">
            <a:extLst>
              <a:ext uri="{FF2B5EF4-FFF2-40B4-BE49-F238E27FC236}">
                <a16:creationId xmlns:a16="http://schemas.microsoft.com/office/drawing/2014/main" id="{AF573921-BC6F-089C-161B-1E9B648D7B71}"/>
              </a:ext>
            </a:extLst>
          </p:cNvPr>
          <p:cNvSpPr txBox="1"/>
          <p:nvPr/>
        </p:nvSpPr>
        <p:spPr>
          <a:xfrm>
            <a:off x="3937000" y="2867024"/>
            <a:ext cx="2794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DD</a:t>
            </a:r>
          </a:p>
        </p:txBody>
      </p:sp>
      <p:sp>
        <p:nvSpPr>
          <p:cNvPr id="15" name="ckt">
            <a:extLst>
              <a:ext uri="{FF2B5EF4-FFF2-40B4-BE49-F238E27FC236}">
                <a16:creationId xmlns:a16="http://schemas.microsoft.com/office/drawing/2014/main" id="{5ACB9E3F-25F5-48BD-4A91-6BCF724E3516}"/>
              </a:ext>
            </a:extLst>
          </p:cNvPr>
          <p:cNvSpPr/>
          <p:nvPr/>
        </p:nvSpPr>
        <p:spPr>
          <a:xfrm>
            <a:off x="3632200" y="3117850"/>
            <a:ext cx="254001" cy="1327151"/>
          </a:xfrm>
          <a:custGeom>
            <a:avLst/>
            <a:gdLst/>
            <a:ahLst/>
            <a:cxnLst/>
            <a:rect l="0" t="0" r="0" b="0"/>
            <a:pathLst>
              <a:path w="254001" h="1327151">
                <a:moveTo>
                  <a:pt x="127000" y="0"/>
                </a:moveTo>
                <a:lnTo>
                  <a:pt x="127000" y="295275"/>
                </a:lnTo>
                <a:lnTo>
                  <a:pt x="0" y="356658"/>
                </a:lnTo>
                <a:lnTo>
                  <a:pt x="254000" y="479425"/>
                </a:lnTo>
                <a:lnTo>
                  <a:pt x="0" y="602192"/>
                </a:lnTo>
                <a:lnTo>
                  <a:pt x="254000" y="724958"/>
                </a:lnTo>
                <a:lnTo>
                  <a:pt x="0" y="847725"/>
                </a:lnTo>
                <a:lnTo>
                  <a:pt x="254000" y="970492"/>
                </a:lnTo>
                <a:lnTo>
                  <a:pt x="127000" y="1031875"/>
                </a:lnTo>
                <a:lnTo>
                  <a:pt x="127000" y="132715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kt">
            <a:extLst>
              <a:ext uri="{FF2B5EF4-FFF2-40B4-BE49-F238E27FC236}">
                <a16:creationId xmlns:a16="http://schemas.microsoft.com/office/drawing/2014/main" id="{1C601434-FE72-E0A3-F023-9BE0FF42CD23}"/>
              </a:ext>
            </a:extLst>
          </p:cNvPr>
          <p:cNvSpPr/>
          <p:nvPr/>
        </p:nvSpPr>
        <p:spPr>
          <a:xfrm>
            <a:off x="3702050" y="4387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kt label">
            <a:extLst>
              <a:ext uri="{FF2B5EF4-FFF2-40B4-BE49-F238E27FC236}">
                <a16:creationId xmlns:a16="http://schemas.microsoft.com/office/drawing/2014/main" id="{890D6A5D-C13A-DA79-D229-E775D8E8B641}"/>
              </a:ext>
            </a:extLst>
          </p:cNvPr>
          <p:cNvSpPr txBox="1"/>
          <p:nvPr/>
        </p:nvSpPr>
        <p:spPr>
          <a:xfrm>
            <a:off x="3962400" y="3565524"/>
            <a:ext cx="2794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</a:p>
        </p:txBody>
      </p:sp>
      <p:cxnSp>
        <p:nvCxnSpPr>
          <p:cNvPr id="18" name="ckt">
            <a:extLst>
              <a:ext uri="{FF2B5EF4-FFF2-40B4-BE49-F238E27FC236}">
                <a16:creationId xmlns:a16="http://schemas.microsoft.com/office/drawing/2014/main" id="{2B93F246-7CC8-0158-1ABA-FE0BF3307253}"/>
              </a:ext>
            </a:extLst>
          </p:cNvPr>
          <p:cNvCxnSpPr/>
          <p:nvPr/>
        </p:nvCxnSpPr>
        <p:spPr>
          <a:xfrm>
            <a:off x="3759200" y="4445000"/>
            <a:ext cx="0" cy="7747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kt">
            <a:extLst>
              <a:ext uri="{FF2B5EF4-FFF2-40B4-BE49-F238E27FC236}">
                <a16:creationId xmlns:a16="http://schemas.microsoft.com/office/drawing/2014/main" id="{36DDD624-B7CA-093C-54E6-30FB44DCEB23}"/>
              </a:ext>
            </a:extLst>
          </p:cNvPr>
          <p:cNvCxnSpPr/>
          <p:nvPr/>
        </p:nvCxnSpPr>
        <p:spPr>
          <a:xfrm>
            <a:off x="3759200" y="4445000"/>
            <a:ext cx="762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kt">
            <a:extLst>
              <a:ext uri="{FF2B5EF4-FFF2-40B4-BE49-F238E27FC236}">
                <a16:creationId xmlns:a16="http://schemas.microsoft.com/office/drawing/2014/main" id="{312C4033-458A-9B70-FFBB-CEA7B29BBAA6}"/>
              </a:ext>
            </a:extLst>
          </p:cNvPr>
          <p:cNvSpPr/>
          <p:nvPr/>
        </p:nvSpPr>
        <p:spPr>
          <a:xfrm>
            <a:off x="4527550" y="4375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kt label">
            <a:extLst>
              <a:ext uri="{FF2B5EF4-FFF2-40B4-BE49-F238E27FC236}">
                <a16:creationId xmlns:a16="http://schemas.microsoft.com/office/drawing/2014/main" id="{295D04A4-FBEC-141F-AA8F-CF16EB118DB5}"/>
              </a:ext>
            </a:extLst>
          </p:cNvPr>
          <p:cNvSpPr txBox="1"/>
          <p:nvPr/>
        </p:nvSpPr>
        <p:spPr>
          <a:xfrm>
            <a:off x="4749800" y="4264024"/>
            <a:ext cx="762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O</a:t>
            </a:r>
          </a:p>
        </p:txBody>
      </p:sp>
      <p:cxnSp>
        <p:nvCxnSpPr>
          <p:cNvPr id="22" name="ckt">
            <a:extLst>
              <a:ext uri="{FF2B5EF4-FFF2-40B4-BE49-F238E27FC236}">
                <a16:creationId xmlns:a16="http://schemas.microsoft.com/office/drawing/2014/main" id="{5B4E7FF3-272B-AD27-8448-0BB978C5B279}"/>
              </a:ext>
            </a:extLst>
          </p:cNvPr>
          <p:cNvCxnSpPr/>
          <p:nvPr/>
        </p:nvCxnSpPr>
        <p:spPr>
          <a:xfrm>
            <a:off x="3759200" y="6083300"/>
            <a:ext cx="0" cy="7747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kt">
            <a:extLst>
              <a:ext uri="{FF2B5EF4-FFF2-40B4-BE49-F238E27FC236}">
                <a16:creationId xmlns:a16="http://schemas.microsoft.com/office/drawing/2014/main" id="{28220643-0F1E-0D0F-6BF4-2BA3D64DFD53}"/>
              </a:ext>
            </a:extLst>
          </p:cNvPr>
          <p:cNvCxnSpPr/>
          <p:nvPr/>
        </p:nvCxnSpPr>
        <p:spPr>
          <a:xfrm>
            <a:off x="3759200" y="68580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kt">
            <a:extLst>
              <a:ext uri="{FF2B5EF4-FFF2-40B4-BE49-F238E27FC236}">
                <a16:creationId xmlns:a16="http://schemas.microsoft.com/office/drawing/2014/main" id="{B51A3FED-D248-152E-27B5-8332882B9F3A}"/>
              </a:ext>
            </a:extLst>
          </p:cNvPr>
          <p:cNvCxnSpPr/>
          <p:nvPr/>
        </p:nvCxnSpPr>
        <p:spPr>
          <a:xfrm>
            <a:off x="3568700" y="70104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03F98432-E028-A266-498F-6B9789EAA758}"/>
              </a:ext>
            </a:extLst>
          </p:cNvPr>
          <p:cNvCxnSpPr/>
          <p:nvPr/>
        </p:nvCxnSpPr>
        <p:spPr>
          <a:xfrm>
            <a:off x="3638550" y="70802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0DED53D6-09B3-62A9-8F50-282A13EC7CC4}"/>
              </a:ext>
            </a:extLst>
          </p:cNvPr>
          <p:cNvCxnSpPr/>
          <p:nvPr/>
        </p:nvCxnSpPr>
        <p:spPr>
          <a:xfrm>
            <a:off x="3708400" y="71501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0B3F40E9-3967-A897-B197-C29164F049E9}"/>
              </a:ext>
            </a:extLst>
          </p:cNvPr>
          <p:cNvCxnSpPr/>
          <p:nvPr/>
        </p:nvCxnSpPr>
        <p:spPr>
          <a:xfrm>
            <a:off x="2184400" y="5651500"/>
            <a:ext cx="1016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kt">
            <a:extLst>
              <a:ext uri="{FF2B5EF4-FFF2-40B4-BE49-F238E27FC236}">
                <a16:creationId xmlns:a16="http://schemas.microsoft.com/office/drawing/2014/main" id="{A86078E8-1ABF-C7F1-256B-66C4DE052AE0}"/>
              </a:ext>
            </a:extLst>
          </p:cNvPr>
          <p:cNvSpPr/>
          <p:nvPr/>
        </p:nvSpPr>
        <p:spPr>
          <a:xfrm>
            <a:off x="2038350" y="55816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kt label">
            <a:extLst>
              <a:ext uri="{FF2B5EF4-FFF2-40B4-BE49-F238E27FC236}">
                <a16:creationId xmlns:a16="http://schemas.microsoft.com/office/drawing/2014/main" id="{77DEC24A-1118-561B-60C0-93FFDD24AB01}"/>
              </a:ext>
            </a:extLst>
          </p:cNvPr>
          <p:cNvSpPr txBox="1"/>
          <p:nvPr/>
        </p:nvSpPr>
        <p:spPr>
          <a:xfrm>
            <a:off x="1143000" y="5470524"/>
            <a:ext cx="762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I</a:t>
            </a:r>
          </a:p>
        </p:txBody>
      </p:sp>
      <p:sp>
        <p:nvSpPr>
          <p:cNvPr id="30" name="ckt label">
            <a:extLst>
              <a:ext uri="{FF2B5EF4-FFF2-40B4-BE49-F238E27FC236}">
                <a16:creationId xmlns:a16="http://schemas.microsoft.com/office/drawing/2014/main" id="{FF3628DE-95FD-9A7E-CD72-4D0E39FA1374}"/>
              </a:ext>
            </a:extLst>
          </p:cNvPr>
          <p:cNvSpPr txBox="1"/>
          <p:nvPr/>
        </p:nvSpPr>
        <p:spPr>
          <a:xfrm>
            <a:off x="5613400" y="4495799"/>
            <a:ext cx="762000" cy="914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4800">
                <a:solidFill>
                  <a:srgbClr val="15241D"/>
                </a:solidFill>
                <a:latin typeface="DM Sans" pitchFamily="2" charset="0"/>
              </a:rPr>
              <a:t>≡</a:t>
            </a:r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9B828C89-B862-9BCC-044D-A55F7A87E22E}"/>
              </a:ext>
            </a:extLst>
          </p:cNvPr>
          <p:cNvSpPr/>
          <p:nvPr/>
        </p:nvSpPr>
        <p:spPr>
          <a:xfrm>
            <a:off x="7702550" y="2978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kt label">
            <a:extLst>
              <a:ext uri="{FF2B5EF4-FFF2-40B4-BE49-F238E27FC236}">
                <a16:creationId xmlns:a16="http://schemas.microsoft.com/office/drawing/2014/main" id="{22AAC2DC-DB78-D81E-AD33-AF4433DB5E81}"/>
              </a:ext>
            </a:extLst>
          </p:cNvPr>
          <p:cNvSpPr txBox="1"/>
          <p:nvPr/>
        </p:nvSpPr>
        <p:spPr>
          <a:xfrm>
            <a:off x="7950200" y="2867024"/>
            <a:ext cx="2794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DD</a:t>
            </a:r>
          </a:p>
        </p:txBody>
      </p:sp>
      <p:sp>
        <p:nvSpPr>
          <p:cNvPr id="33" name="ckt">
            <a:extLst>
              <a:ext uri="{FF2B5EF4-FFF2-40B4-BE49-F238E27FC236}">
                <a16:creationId xmlns:a16="http://schemas.microsoft.com/office/drawing/2014/main" id="{B7AF1B8D-2C99-597C-2C9C-E4E37CBA1EE0}"/>
              </a:ext>
            </a:extLst>
          </p:cNvPr>
          <p:cNvSpPr/>
          <p:nvPr/>
        </p:nvSpPr>
        <p:spPr>
          <a:xfrm>
            <a:off x="7645400" y="3117850"/>
            <a:ext cx="254001" cy="1327151"/>
          </a:xfrm>
          <a:custGeom>
            <a:avLst/>
            <a:gdLst/>
            <a:ahLst/>
            <a:cxnLst/>
            <a:rect l="0" t="0" r="0" b="0"/>
            <a:pathLst>
              <a:path w="254001" h="1327151">
                <a:moveTo>
                  <a:pt x="127000" y="0"/>
                </a:moveTo>
                <a:lnTo>
                  <a:pt x="127000" y="295275"/>
                </a:lnTo>
                <a:lnTo>
                  <a:pt x="0" y="356658"/>
                </a:lnTo>
                <a:lnTo>
                  <a:pt x="254000" y="479425"/>
                </a:lnTo>
                <a:lnTo>
                  <a:pt x="0" y="602192"/>
                </a:lnTo>
                <a:lnTo>
                  <a:pt x="254000" y="724958"/>
                </a:lnTo>
                <a:lnTo>
                  <a:pt x="0" y="847725"/>
                </a:lnTo>
                <a:lnTo>
                  <a:pt x="254000" y="970492"/>
                </a:lnTo>
                <a:lnTo>
                  <a:pt x="127000" y="1031875"/>
                </a:lnTo>
                <a:lnTo>
                  <a:pt x="127000" y="132715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ckt">
            <a:extLst>
              <a:ext uri="{FF2B5EF4-FFF2-40B4-BE49-F238E27FC236}">
                <a16:creationId xmlns:a16="http://schemas.microsoft.com/office/drawing/2014/main" id="{5056261A-9CEF-CBC0-4A7E-2C3A62DA8BC8}"/>
              </a:ext>
            </a:extLst>
          </p:cNvPr>
          <p:cNvSpPr/>
          <p:nvPr/>
        </p:nvSpPr>
        <p:spPr>
          <a:xfrm>
            <a:off x="7715250" y="4387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ckt label">
            <a:extLst>
              <a:ext uri="{FF2B5EF4-FFF2-40B4-BE49-F238E27FC236}">
                <a16:creationId xmlns:a16="http://schemas.microsoft.com/office/drawing/2014/main" id="{528B84F7-11D2-DAF2-4BED-A8268D3EE5C6}"/>
              </a:ext>
            </a:extLst>
          </p:cNvPr>
          <p:cNvSpPr txBox="1"/>
          <p:nvPr/>
        </p:nvSpPr>
        <p:spPr>
          <a:xfrm>
            <a:off x="7975600" y="3565524"/>
            <a:ext cx="2794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</a:p>
        </p:txBody>
      </p:sp>
      <p:cxnSp>
        <p:nvCxnSpPr>
          <p:cNvPr id="36" name="ckt">
            <a:extLst>
              <a:ext uri="{FF2B5EF4-FFF2-40B4-BE49-F238E27FC236}">
                <a16:creationId xmlns:a16="http://schemas.microsoft.com/office/drawing/2014/main" id="{CB503F56-97C8-3884-6C98-7421505F6893}"/>
              </a:ext>
            </a:extLst>
          </p:cNvPr>
          <p:cNvCxnSpPr/>
          <p:nvPr/>
        </p:nvCxnSpPr>
        <p:spPr>
          <a:xfrm>
            <a:off x="7772400" y="4445000"/>
            <a:ext cx="762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kt">
            <a:extLst>
              <a:ext uri="{FF2B5EF4-FFF2-40B4-BE49-F238E27FC236}">
                <a16:creationId xmlns:a16="http://schemas.microsoft.com/office/drawing/2014/main" id="{62A3A85E-C57D-03C6-C2DC-F0D8FFC22DA9}"/>
              </a:ext>
            </a:extLst>
          </p:cNvPr>
          <p:cNvSpPr/>
          <p:nvPr/>
        </p:nvSpPr>
        <p:spPr>
          <a:xfrm>
            <a:off x="8540750" y="4375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kt label">
            <a:extLst>
              <a:ext uri="{FF2B5EF4-FFF2-40B4-BE49-F238E27FC236}">
                <a16:creationId xmlns:a16="http://schemas.microsoft.com/office/drawing/2014/main" id="{E0478EA4-E757-2E76-72C7-D609F91BEE22}"/>
              </a:ext>
            </a:extLst>
          </p:cNvPr>
          <p:cNvSpPr txBox="1"/>
          <p:nvPr/>
        </p:nvSpPr>
        <p:spPr>
          <a:xfrm>
            <a:off x="8763000" y="4264024"/>
            <a:ext cx="762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O</a:t>
            </a:r>
          </a:p>
        </p:txBody>
      </p:sp>
      <p:cxnSp>
        <p:nvCxnSpPr>
          <p:cNvPr id="39" name="ckt">
            <a:extLst>
              <a:ext uri="{FF2B5EF4-FFF2-40B4-BE49-F238E27FC236}">
                <a16:creationId xmlns:a16="http://schemas.microsoft.com/office/drawing/2014/main" id="{5067E42E-6071-DE96-7C28-0B9EBFD24561}"/>
              </a:ext>
            </a:extLst>
          </p:cNvPr>
          <p:cNvCxnSpPr/>
          <p:nvPr/>
        </p:nvCxnSpPr>
        <p:spPr>
          <a:xfrm>
            <a:off x="7772400" y="4445000"/>
            <a:ext cx="0" cy="7239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kt">
            <a:extLst>
              <a:ext uri="{FF2B5EF4-FFF2-40B4-BE49-F238E27FC236}">
                <a16:creationId xmlns:a16="http://schemas.microsoft.com/office/drawing/2014/main" id="{190ED6AB-FBD8-4A4E-0D61-8D2E54ED5FF6}"/>
              </a:ext>
            </a:extLst>
          </p:cNvPr>
          <p:cNvCxnSpPr/>
          <p:nvPr/>
        </p:nvCxnSpPr>
        <p:spPr>
          <a:xfrm>
            <a:off x="7772400" y="6134100"/>
            <a:ext cx="0" cy="7239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ckt">
            <a:extLst>
              <a:ext uri="{FF2B5EF4-FFF2-40B4-BE49-F238E27FC236}">
                <a16:creationId xmlns:a16="http://schemas.microsoft.com/office/drawing/2014/main" id="{A2BF57B7-0B49-648C-F9D6-B80D3F17B997}"/>
              </a:ext>
            </a:extLst>
          </p:cNvPr>
          <p:cNvSpPr/>
          <p:nvPr/>
        </p:nvSpPr>
        <p:spPr>
          <a:xfrm>
            <a:off x="7721600" y="5118100"/>
            <a:ext cx="101600" cy="1016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ckt">
            <a:extLst>
              <a:ext uri="{FF2B5EF4-FFF2-40B4-BE49-F238E27FC236}">
                <a16:creationId xmlns:a16="http://schemas.microsoft.com/office/drawing/2014/main" id="{6AF63B52-3ADE-ED0F-B12D-9D2F165037AA}"/>
              </a:ext>
            </a:extLst>
          </p:cNvPr>
          <p:cNvSpPr/>
          <p:nvPr/>
        </p:nvSpPr>
        <p:spPr>
          <a:xfrm>
            <a:off x="7721600" y="6083300"/>
            <a:ext cx="101600" cy="1016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ckt">
            <a:extLst>
              <a:ext uri="{FF2B5EF4-FFF2-40B4-BE49-F238E27FC236}">
                <a16:creationId xmlns:a16="http://schemas.microsoft.com/office/drawing/2014/main" id="{6502E6B9-2A11-9FF7-3CAC-01D089DA1291}"/>
              </a:ext>
            </a:extLst>
          </p:cNvPr>
          <p:cNvCxnSpPr/>
          <p:nvPr/>
        </p:nvCxnSpPr>
        <p:spPr>
          <a:xfrm flipH="1">
            <a:off x="7493000" y="5168900"/>
            <a:ext cx="279400" cy="868680"/>
          </a:xfrm>
          <a:prstGeom prst="line">
            <a:avLst/>
          </a:prstGeom>
          <a:ln w="3175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kt">
            <a:extLst>
              <a:ext uri="{FF2B5EF4-FFF2-40B4-BE49-F238E27FC236}">
                <a16:creationId xmlns:a16="http://schemas.microsoft.com/office/drawing/2014/main" id="{77F8365C-BD0A-FD8A-73E9-589E63955239}"/>
              </a:ext>
            </a:extLst>
          </p:cNvPr>
          <p:cNvCxnSpPr/>
          <p:nvPr/>
        </p:nvCxnSpPr>
        <p:spPr>
          <a:xfrm>
            <a:off x="7772400" y="68580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kt">
            <a:extLst>
              <a:ext uri="{FF2B5EF4-FFF2-40B4-BE49-F238E27FC236}">
                <a16:creationId xmlns:a16="http://schemas.microsoft.com/office/drawing/2014/main" id="{396EF30C-551A-B8A7-2517-E0519EFA3523}"/>
              </a:ext>
            </a:extLst>
          </p:cNvPr>
          <p:cNvCxnSpPr/>
          <p:nvPr/>
        </p:nvCxnSpPr>
        <p:spPr>
          <a:xfrm>
            <a:off x="7581900" y="70104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kt">
            <a:extLst>
              <a:ext uri="{FF2B5EF4-FFF2-40B4-BE49-F238E27FC236}">
                <a16:creationId xmlns:a16="http://schemas.microsoft.com/office/drawing/2014/main" id="{4BCD442E-8C81-12D6-98D2-70B3791EAEFB}"/>
              </a:ext>
            </a:extLst>
          </p:cNvPr>
          <p:cNvCxnSpPr/>
          <p:nvPr/>
        </p:nvCxnSpPr>
        <p:spPr>
          <a:xfrm>
            <a:off x="7651750" y="70802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kt">
            <a:extLst>
              <a:ext uri="{FF2B5EF4-FFF2-40B4-BE49-F238E27FC236}">
                <a16:creationId xmlns:a16="http://schemas.microsoft.com/office/drawing/2014/main" id="{59664BD0-67F7-1E9D-26C5-69CC1FD9C90D}"/>
              </a:ext>
            </a:extLst>
          </p:cNvPr>
          <p:cNvCxnSpPr/>
          <p:nvPr/>
        </p:nvCxnSpPr>
        <p:spPr>
          <a:xfrm>
            <a:off x="7721600" y="71501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kt label">
            <a:extLst>
              <a:ext uri="{FF2B5EF4-FFF2-40B4-BE49-F238E27FC236}">
                <a16:creationId xmlns:a16="http://schemas.microsoft.com/office/drawing/2014/main" id="{CC2FC103-5C3C-DA0D-3102-685A7A539D3C}"/>
              </a:ext>
            </a:extLst>
          </p:cNvPr>
          <p:cNvSpPr txBox="1"/>
          <p:nvPr/>
        </p:nvSpPr>
        <p:spPr>
          <a:xfrm>
            <a:off x="4902200" y="5499099"/>
            <a:ext cx="2540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600">
                <a:solidFill>
                  <a:srgbClr val="4D5B54"/>
                </a:solidFill>
                <a:latin typeface="DM Sans" pitchFamily="2" charset="0"/>
              </a:rPr>
              <a:t>open: </a:t>
            </a:r>
            <a:r>
              <a:rPr lang="en-US" sz="16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600" i="1" baseline="-25000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1600">
                <a:solidFill>
                  <a:srgbClr val="4D5B54"/>
                </a:solidFill>
                <a:latin typeface="DM Sans" pitchFamily="2" charset="0"/>
              </a:rPr>
              <a:t> &lt; </a:t>
            </a:r>
            <a:r>
              <a:rPr lang="en-US" sz="16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6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</a:p>
          <a:p>
            <a:pPr algn="r"/>
            <a:r>
              <a:rPr lang="en-US" sz="1600">
                <a:solidFill>
                  <a:srgbClr val="4D5B54"/>
                </a:solidFill>
                <a:latin typeface="DM Sans" pitchFamily="2" charset="0"/>
              </a:rPr>
              <a:t>closed: </a:t>
            </a:r>
            <a:r>
              <a:rPr lang="en-US" sz="16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600" i="1" baseline="-25000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1600">
                <a:solidFill>
                  <a:srgbClr val="4D5B54"/>
                </a:solidFill>
                <a:latin typeface="DM Sans" pitchFamily="2" charset="0"/>
              </a:rPr>
              <a:t> high</a:t>
            </a:r>
          </a:p>
        </p:txBody>
      </p:sp>
      <p:sp>
        <p:nvSpPr>
          <p:cNvPr id="49" name="point @1">
            <a:extLst>
              <a:ext uri="{FF2B5EF4-FFF2-40B4-BE49-F238E27FC236}">
                <a16:creationId xmlns:a16="http://schemas.microsoft.com/office/drawing/2014/main" id="{362A5D62-0242-E499-D7B5-0250D956F012}"/>
              </a:ext>
            </a:extLst>
          </p:cNvPr>
          <p:cNvSpPr txBox="1"/>
          <p:nvPr/>
        </p:nvSpPr>
        <p:spPr>
          <a:xfrm>
            <a:off x="10287000" y="2413000"/>
            <a:ext cx="7086600" cy="37875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: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cutoff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 The switch is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open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and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= 0.</a:t>
            </a:r>
          </a:p>
        </p:txBody>
      </p:sp>
      <p:sp>
        <p:nvSpPr>
          <p:cNvPr id="52" name="chrome page">
            <a:extLst>
              <a:ext uri="{FF2B5EF4-FFF2-40B4-BE49-F238E27FC236}">
                <a16:creationId xmlns:a16="http://schemas.microsoft.com/office/drawing/2014/main" id="{C6EF0F42-3FB3-5946-7C3B-37B4AE9A186C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hrome page">
            <a:extLst>
              <a:ext uri="{FF2B5EF4-FFF2-40B4-BE49-F238E27FC236}">
                <a16:creationId xmlns:a16="http://schemas.microsoft.com/office/drawing/2014/main" id="{1AE1C10A-70C2-E73D-EC68-28FC620F90F0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71</a:t>
            </a:r>
          </a:p>
        </p:txBody>
      </p:sp>
    </p:spTree>
    <p:extLst>
      <p:ext uri="{BB962C8B-B14F-4D97-AF65-F5344CB8AC3E}">
        <p14:creationId xmlns:p14="http://schemas.microsoft.com/office/powerpoint/2010/main" val="425211770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MOSFET as a switch s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233A7CD-3EFF-2CBF-C967-941273086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The MOSFET as a switch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9BE2857B-B098-B63A-61E3-9BAD89822211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5 · THE MOSFET AS A SWITCH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5097A76C-BCF0-F191-760F-D1B50A930099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A05476F7-1535-FFA7-370D-69311A20F08E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drawing card">
            <a:extLst>
              <a:ext uri="{FF2B5EF4-FFF2-40B4-BE49-F238E27FC236}">
                <a16:creationId xmlns:a16="http://schemas.microsoft.com/office/drawing/2014/main" id="{DF6B0422-CE01-464D-4ABE-A926080A5C10}"/>
              </a:ext>
            </a:extLst>
          </p:cNvPr>
          <p:cNvSpPr/>
          <p:nvPr/>
        </p:nvSpPr>
        <p:spPr>
          <a:xfrm>
            <a:off x="914400" y="2222500"/>
            <a:ext cx="8890000" cy="5461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rawing card">
            <a:extLst>
              <a:ext uri="{FF2B5EF4-FFF2-40B4-BE49-F238E27FC236}">
                <a16:creationId xmlns:a16="http://schemas.microsoft.com/office/drawing/2014/main" id="{98F406EE-EBDE-0EE3-9AC4-ACBABED52868}"/>
              </a:ext>
            </a:extLst>
          </p:cNvPr>
          <p:cNvSpPr/>
          <p:nvPr/>
        </p:nvSpPr>
        <p:spPr>
          <a:xfrm>
            <a:off x="9144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kt">
            <a:extLst>
              <a:ext uri="{FF2B5EF4-FFF2-40B4-BE49-F238E27FC236}">
                <a16:creationId xmlns:a16="http://schemas.microsoft.com/office/drawing/2014/main" id="{80E30100-D59E-317E-C0F1-7EC091012711}"/>
              </a:ext>
            </a:extLst>
          </p:cNvPr>
          <p:cNvCxnSpPr/>
          <p:nvPr/>
        </p:nvCxnSpPr>
        <p:spPr>
          <a:xfrm>
            <a:off x="3200400" y="52674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kt">
            <a:extLst>
              <a:ext uri="{FF2B5EF4-FFF2-40B4-BE49-F238E27FC236}">
                <a16:creationId xmlns:a16="http://schemas.microsoft.com/office/drawing/2014/main" id="{5A81CEA0-F8F4-BA50-0D5C-673DB16857C6}"/>
              </a:ext>
            </a:extLst>
          </p:cNvPr>
          <p:cNvCxnSpPr/>
          <p:nvPr/>
        </p:nvCxnSpPr>
        <p:spPr>
          <a:xfrm>
            <a:off x="3327400" y="5118100"/>
            <a:ext cx="0" cy="1066800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kt">
            <a:extLst>
              <a:ext uri="{FF2B5EF4-FFF2-40B4-BE49-F238E27FC236}">
                <a16:creationId xmlns:a16="http://schemas.microsoft.com/office/drawing/2014/main" id="{90775AB7-C9EA-5A38-6641-39E1DD0E1DB1}"/>
              </a:ext>
            </a:extLst>
          </p:cNvPr>
          <p:cNvCxnSpPr/>
          <p:nvPr/>
        </p:nvCxnSpPr>
        <p:spPr>
          <a:xfrm>
            <a:off x="3327400" y="52197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kt">
            <a:extLst>
              <a:ext uri="{FF2B5EF4-FFF2-40B4-BE49-F238E27FC236}">
                <a16:creationId xmlns:a16="http://schemas.microsoft.com/office/drawing/2014/main" id="{28877953-1FEF-88DA-A447-6412C06BF746}"/>
              </a:ext>
            </a:extLst>
          </p:cNvPr>
          <p:cNvCxnSpPr/>
          <p:nvPr/>
        </p:nvCxnSpPr>
        <p:spPr>
          <a:xfrm>
            <a:off x="3327400" y="60833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kt">
            <a:extLst>
              <a:ext uri="{FF2B5EF4-FFF2-40B4-BE49-F238E27FC236}">
                <a16:creationId xmlns:a16="http://schemas.microsoft.com/office/drawing/2014/main" id="{F1C34410-0EBA-67AE-939A-4830247A6BD5}"/>
              </a:ext>
            </a:extLst>
          </p:cNvPr>
          <p:cNvCxnSpPr/>
          <p:nvPr/>
        </p:nvCxnSpPr>
        <p:spPr>
          <a:xfrm>
            <a:off x="3629660" y="6083300"/>
            <a:ext cx="12954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kt">
            <a:extLst>
              <a:ext uri="{FF2B5EF4-FFF2-40B4-BE49-F238E27FC236}">
                <a16:creationId xmlns:a16="http://schemas.microsoft.com/office/drawing/2014/main" id="{B6D23776-CF64-EE00-7B57-244D3B9AD331}"/>
              </a:ext>
            </a:extLst>
          </p:cNvPr>
          <p:cNvSpPr/>
          <p:nvPr/>
        </p:nvSpPr>
        <p:spPr>
          <a:xfrm>
            <a:off x="3689350" y="2978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 label">
            <a:extLst>
              <a:ext uri="{FF2B5EF4-FFF2-40B4-BE49-F238E27FC236}">
                <a16:creationId xmlns:a16="http://schemas.microsoft.com/office/drawing/2014/main" id="{AF573921-BC6F-089C-161B-1E9B648D7B71}"/>
              </a:ext>
            </a:extLst>
          </p:cNvPr>
          <p:cNvSpPr txBox="1"/>
          <p:nvPr/>
        </p:nvSpPr>
        <p:spPr>
          <a:xfrm>
            <a:off x="3937000" y="2867024"/>
            <a:ext cx="2794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DD</a:t>
            </a:r>
          </a:p>
        </p:txBody>
      </p:sp>
      <p:sp>
        <p:nvSpPr>
          <p:cNvPr id="15" name="ckt">
            <a:extLst>
              <a:ext uri="{FF2B5EF4-FFF2-40B4-BE49-F238E27FC236}">
                <a16:creationId xmlns:a16="http://schemas.microsoft.com/office/drawing/2014/main" id="{5ACB9E3F-25F5-48BD-4A91-6BCF724E3516}"/>
              </a:ext>
            </a:extLst>
          </p:cNvPr>
          <p:cNvSpPr/>
          <p:nvPr/>
        </p:nvSpPr>
        <p:spPr>
          <a:xfrm>
            <a:off x="3632200" y="3117850"/>
            <a:ext cx="254001" cy="1327151"/>
          </a:xfrm>
          <a:custGeom>
            <a:avLst/>
            <a:gdLst/>
            <a:ahLst/>
            <a:cxnLst/>
            <a:rect l="0" t="0" r="0" b="0"/>
            <a:pathLst>
              <a:path w="254001" h="1327151">
                <a:moveTo>
                  <a:pt x="127000" y="0"/>
                </a:moveTo>
                <a:lnTo>
                  <a:pt x="127000" y="295275"/>
                </a:lnTo>
                <a:lnTo>
                  <a:pt x="0" y="356658"/>
                </a:lnTo>
                <a:lnTo>
                  <a:pt x="254000" y="479425"/>
                </a:lnTo>
                <a:lnTo>
                  <a:pt x="0" y="602192"/>
                </a:lnTo>
                <a:lnTo>
                  <a:pt x="254000" y="724958"/>
                </a:lnTo>
                <a:lnTo>
                  <a:pt x="0" y="847725"/>
                </a:lnTo>
                <a:lnTo>
                  <a:pt x="254000" y="970492"/>
                </a:lnTo>
                <a:lnTo>
                  <a:pt x="127000" y="1031875"/>
                </a:lnTo>
                <a:lnTo>
                  <a:pt x="127000" y="132715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kt">
            <a:extLst>
              <a:ext uri="{FF2B5EF4-FFF2-40B4-BE49-F238E27FC236}">
                <a16:creationId xmlns:a16="http://schemas.microsoft.com/office/drawing/2014/main" id="{1C601434-FE72-E0A3-F023-9BE0FF42CD23}"/>
              </a:ext>
            </a:extLst>
          </p:cNvPr>
          <p:cNvSpPr/>
          <p:nvPr/>
        </p:nvSpPr>
        <p:spPr>
          <a:xfrm>
            <a:off x="3702050" y="4387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kt label">
            <a:extLst>
              <a:ext uri="{FF2B5EF4-FFF2-40B4-BE49-F238E27FC236}">
                <a16:creationId xmlns:a16="http://schemas.microsoft.com/office/drawing/2014/main" id="{890D6A5D-C13A-DA79-D229-E775D8E8B641}"/>
              </a:ext>
            </a:extLst>
          </p:cNvPr>
          <p:cNvSpPr txBox="1"/>
          <p:nvPr/>
        </p:nvSpPr>
        <p:spPr>
          <a:xfrm>
            <a:off x="3962400" y="3565524"/>
            <a:ext cx="2794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</a:p>
        </p:txBody>
      </p:sp>
      <p:cxnSp>
        <p:nvCxnSpPr>
          <p:cNvPr id="18" name="ckt">
            <a:extLst>
              <a:ext uri="{FF2B5EF4-FFF2-40B4-BE49-F238E27FC236}">
                <a16:creationId xmlns:a16="http://schemas.microsoft.com/office/drawing/2014/main" id="{2B93F246-7CC8-0158-1ABA-FE0BF3307253}"/>
              </a:ext>
            </a:extLst>
          </p:cNvPr>
          <p:cNvCxnSpPr/>
          <p:nvPr/>
        </p:nvCxnSpPr>
        <p:spPr>
          <a:xfrm>
            <a:off x="3759200" y="4445000"/>
            <a:ext cx="0" cy="7747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kt">
            <a:extLst>
              <a:ext uri="{FF2B5EF4-FFF2-40B4-BE49-F238E27FC236}">
                <a16:creationId xmlns:a16="http://schemas.microsoft.com/office/drawing/2014/main" id="{36DDD624-B7CA-093C-54E6-30FB44DCEB23}"/>
              </a:ext>
            </a:extLst>
          </p:cNvPr>
          <p:cNvCxnSpPr/>
          <p:nvPr/>
        </p:nvCxnSpPr>
        <p:spPr>
          <a:xfrm>
            <a:off x="3759200" y="4445000"/>
            <a:ext cx="762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kt">
            <a:extLst>
              <a:ext uri="{FF2B5EF4-FFF2-40B4-BE49-F238E27FC236}">
                <a16:creationId xmlns:a16="http://schemas.microsoft.com/office/drawing/2014/main" id="{312C4033-458A-9B70-FFBB-CEA7B29BBAA6}"/>
              </a:ext>
            </a:extLst>
          </p:cNvPr>
          <p:cNvSpPr/>
          <p:nvPr/>
        </p:nvSpPr>
        <p:spPr>
          <a:xfrm>
            <a:off x="4527550" y="4375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kt label">
            <a:extLst>
              <a:ext uri="{FF2B5EF4-FFF2-40B4-BE49-F238E27FC236}">
                <a16:creationId xmlns:a16="http://schemas.microsoft.com/office/drawing/2014/main" id="{295D04A4-FBEC-141F-AA8F-CF16EB118DB5}"/>
              </a:ext>
            </a:extLst>
          </p:cNvPr>
          <p:cNvSpPr txBox="1"/>
          <p:nvPr/>
        </p:nvSpPr>
        <p:spPr>
          <a:xfrm>
            <a:off x="4749800" y="4264024"/>
            <a:ext cx="762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O</a:t>
            </a:r>
          </a:p>
        </p:txBody>
      </p:sp>
      <p:cxnSp>
        <p:nvCxnSpPr>
          <p:cNvPr id="22" name="ckt">
            <a:extLst>
              <a:ext uri="{FF2B5EF4-FFF2-40B4-BE49-F238E27FC236}">
                <a16:creationId xmlns:a16="http://schemas.microsoft.com/office/drawing/2014/main" id="{5B4E7FF3-272B-AD27-8448-0BB978C5B279}"/>
              </a:ext>
            </a:extLst>
          </p:cNvPr>
          <p:cNvCxnSpPr/>
          <p:nvPr/>
        </p:nvCxnSpPr>
        <p:spPr>
          <a:xfrm>
            <a:off x="3759200" y="6083300"/>
            <a:ext cx="0" cy="7747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kt">
            <a:extLst>
              <a:ext uri="{FF2B5EF4-FFF2-40B4-BE49-F238E27FC236}">
                <a16:creationId xmlns:a16="http://schemas.microsoft.com/office/drawing/2014/main" id="{28220643-0F1E-0D0F-6BF4-2BA3D64DFD53}"/>
              </a:ext>
            </a:extLst>
          </p:cNvPr>
          <p:cNvCxnSpPr/>
          <p:nvPr/>
        </p:nvCxnSpPr>
        <p:spPr>
          <a:xfrm>
            <a:off x="3759200" y="68580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kt">
            <a:extLst>
              <a:ext uri="{FF2B5EF4-FFF2-40B4-BE49-F238E27FC236}">
                <a16:creationId xmlns:a16="http://schemas.microsoft.com/office/drawing/2014/main" id="{B51A3FED-D248-152E-27B5-8332882B9F3A}"/>
              </a:ext>
            </a:extLst>
          </p:cNvPr>
          <p:cNvCxnSpPr/>
          <p:nvPr/>
        </p:nvCxnSpPr>
        <p:spPr>
          <a:xfrm>
            <a:off x="3568700" y="70104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03F98432-E028-A266-498F-6B9789EAA758}"/>
              </a:ext>
            </a:extLst>
          </p:cNvPr>
          <p:cNvCxnSpPr/>
          <p:nvPr/>
        </p:nvCxnSpPr>
        <p:spPr>
          <a:xfrm>
            <a:off x="3638550" y="70802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0DED53D6-09B3-62A9-8F50-282A13EC7CC4}"/>
              </a:ext>
            </a:extLst>
          </p:cNvPr>
          <p:cNvCxnSpPr/>
          <p:nvPr/>
        </p:nvCxnSpPr>
        <p:spPr>
          <a:xfrm>
            <a:off x="3708400" y="71501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0B3F40E9-3967-A897-B197-C29164F049E9}"/>
              </a:ext>
            </a:extLst>
          </p:cNvPr>
          <p:cNvCxnSpPr/>
          <p:nvPr/>
        </p:nvCxnSpPr>
        <p:spPr>
          <a:xfrm>
            <a:off x="2184400" y="5651500"/>
            <a:ext cx="1016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kt">
            <a:extLst>
              <a:ext uri="{FF2B5EF4-FFF2-40B4-BE49-F238E27FC236}">
                <a16:creationId xmlns:a16="http://schemas.microsoft.com/office/drawing/2014/main" id="{A86078E8-1ABF-C7F1-256B-66C4DE052AE0}"/>
              </a:ext>
            </a:extLst>
          </p:cNvPr>
          <p:cNvSpPr/>
          <p:nvPr/>
        </p:nvSpPr>
        <p:spPr>
          <a:xfrm>
            <a:off x="2038350" y="55816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kt label">
            <a:extLst>
              <a:ext uri="{FF2B5EF4-FFF2-40B4-BE49-F238E27FC236}">
                <a16:creationId xmlns:a16="http://schemas.microsoft.com/office/drawing/2014/main" id="{77DEC24A-1118-561B-60C0-93FFDD24AB01}"/>
              </a:ext>
            </a:extLst>
          </p:cNvPr>
          <p:cNvSpPr txBox="1"/>
          <p:nvPr/>
        </p:nvSpPr>
        <p:spPr>
          <a:xfrm>
            <a:off x="1143000" y="5470524"/>
            <a:ext cx="762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I</a:t>
            </a:r>
          </a:p>
        </p:txBody>
      </p:sp>
      <p:sp>
        <p:nvSpPr>
          <p:cNvPr id="30" name="ckt label">
            <a:extLst>
              <a:ext uri="{FF2B5EF4-FFF2-40B4-BE49-F238E27FC236}">
                <a16:creationId xmlns:a16="http://schemas.microsoft.com/office/drawing/2014/main" id="{FF3628DE-95FD-9A7E-CD72-4D0E39FA1374}"/>
              </a:ext>
            </a:extLst>
          </p:cNvPr>
          <p:cNvSpPr txBox="1"/>
          <p:nvPr/>
        </p:nvSpPr>
        <p:spPr>
          <a:xfrm>
            <a:off x="5613400" y="4495799"/>
            <a:ext cx="762000" cy="914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4800">
                <a:solidFill>
                  <a:srgbClr val="15241D"/>
                </a:solidFill>
                <a:latin typeface="DM Sans" pitchFamily="2" charset="0"/>
              </a:rPr>
              <a:t>≡</a:t>
            </a:r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9B828C89-B862-9BCC-044D-A55F7A87E22E}"/>
              </a:ext>
            </a:extLst>
          </p:cNvPr>
          <p:cNvSpPr/>
          <p:nvPr/>
        </p:nvSpPr>
        <p:spPr>
          <a:xfrm>
            <a:off x="7702550" y="2978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kt label">
            <a:extLst>
              <a:ext uri="{FF2B5EF4-FFF2-40B4-BE49-F238E27FC236}">
                <a16:creationId xmlns:a16="http://schemas.microsoft.com/office/drawing/2014/main" id="{22AAC2DC-DB78-D81E-AD33-AF4433DB5E81}"/>
              </a:ext>
            </a:extLst>
          </p:cNvPr>
          <p:cNvSpPr txBox="1"/>
          <p:nvPr/>
        </p:nvSpPr>
        <p:spPr>
          <a:xfrm>
            <a:off x="7950200" y="2867024"/>
            <a:ext cx="2794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DD</a:t>
            </a:r>
          </a:p>
        </p:txBody>
      </p:sp>
      <p:sp>
        <p:nvSpPr>
          <p:cNvPr id="33" name="ckt">
            <a:extLst>
              <a:ext uri="{FF2B5EF4-FFF2-40B4-BE49-F238E27FC236}">
                <a16:creationId xmlns:a16="http://schemas.microsoft.com/office/drawing/2014/main" id="{B7AF1B8D-2C99-597C-2C9C-E4E37CBA1EE0}"/>
              </a:ext>
            </a:extLst>
          </p:cNvPr>
          <p:cNvSpPr/>
          <p:nvPr/>
        </p:nvSpPr>
        <p:spPr>
          <a:xfrm>
            <a:off x="7645400" y="3117850"/>
            <a:ext cx="254001" cy="1327151"/>
          </a:xfrm>
          <a:custGeom>
            <a:avLst/>
            <a:gdLst/>
            <a:ahLst/>
            <a:cxnLst/>
            <a:rect l="0" t="0" r="0" b="0"/>
            <a:pathLst>
              <a:path w="254001" h="1327151">
                <a:moveTo>
                  <a:pt x="127000" y="0"/>
                </a:moveTo>
                <a:lnTo>
                  <a:pt x="127000" y="295275"/>
                </a:lnTo>
                <a:lnTo>
                  <a:pt x="0" y="356658"/>
                </a:lnTo>
                <a:lnTo>
                  <a:pt x="254000" y="479425"/>
                </a:lnTo>
                <a:lnTo>
                  <a:pt x="0" y="602192"/>
                </a:lnTo>
                <a:lnTo>
                  <a:pt x="254000" y="724958"/>
                </a:lnTo>
                <a:lnTo>
                  <a:pt x="0" y="847725"/>
                </a:lnTo>
                <a:lnTo>
                  <a:pt x="254000" y="970492"/>
                </a:lnTo>
                <a:lnTo>
                  <a:pt x="127000" y="1031875"/>
                </a:lnTo>
                <a:lnTo>
                  <a:pt x="127000" y="132715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ckt">
            <a:extLst>
              <a:ext uri="{FF2B5EF4-FFF2-40B4-BE49-F238E27FC236}">
                <a16:creationId xmlns:a16="http://schemas.microsoft.com/office/drawing/2014/main" id="{5056261A-9CEF-CBC0-4A7E-2C3A62DA8BC8}"/>
              </a:ext>
            </a:extLst>
          </p:cNvPr>
          <p:cNvSpPr/>
          <p:nvPr/>
        </p:nvSpPr>
        <p:spPr>
          <a:xfrm>
            <a:off x="7715250" y="4387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ckt label">
            <a:extLst>
              <a:ext uri="{FF2B5EF4-FFF2-40B4-BE49-F238E27FC236}">
                <a16:creationId xmlns:a16="http://schemas.microsoft.com/office/drawing/2014/main" id="{528B84F7-11D2-DAF2-4BED-A8268D3EE5C6}"/>
              </a:ext>
            </a:extLst>
          </p:cNvPr>
          <p:cNvSpPr txBox="1"/>
          <p:nvPr/>
        </p:nvSpPr>
        <p:spPr>
          <a:xfrm>
            <a:off x="7975600" y="3565524"/>
            <a:ext cx="2794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</a:p>
        </p:txBody>
      </p:sp>
      <p:cxnSp>
        <p:nvCxnSpPr>
          <p:cNvPr id="36" name="ckt">
            <a:extLst>
              <a:ext uri="{FF2B5EF4-FFF2-40B4-BE49-F238E27FC236}">
                <a16:creationId xmlns:a16="http://schemas.microsoft.com/office/drawing/2014/main" id="{CB503F56-97C8-3884-6C98-7421505F6893}"/>
              </a:ext>
            </a:extLst>
          </p:cNvPr>
          <p:cNvCxnSpPr/>
          <p:nvPr/>
        </p:nvCxnSpPr>
        <p:spPr>
          <a:xfrm>
            <a:off x="7772400" y="4445000"/>
            <a:ext cx="762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kt">
            <a:extLst>
              <a:ext uri="{FF2B5EF4-FFF2-40B4-BE49-F238E27FC236}">
                <a16:creationId xmlns:a16="http://schemas.microsoft.com/office/drawing/2014/main" id="{62A3A85E-C57D-03C6-C2DC-F0D8FFC22DA9}"/>
              </a:ext>
            </a:extLst>
          </p:cNvPr>
          <p:cNvSpPr/>
          <p:nvPr/>
        </p:nvSpPr>
        <p:spPr>
          <a:xfrm>
            <a:off x="8540750" y="4375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kt label">
            <a:extLst>
              <a:ext uri="{FF2B5EF4-FFF2-40B4-BE49-F238E27FC236}">
                <a16:creationId xmlns:a16="http://schemas.microsoft.com/office/drawing/2014/main" id="{E0478EA4-E757-2E76-72C7-D609F91BEE22}"/>
              </a:ext>
            </a:extLst>
          </p:cNvPr>
          <p:cNvSpPr txBox="1"/>
          <p:nvPr/>
        </p:nvSpPr>
        <p:spPr>
          <a:xfrm>
            <a:off x="8763000" y="4264024"/>
            <a:ext cx="762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O</a:t>
            </a:r>
          </a:p>
        </p:txBody>
      </p:sp>
      <p:cxnSp>
        <p:nvCxnSpPr>
          <p:cNvPr id="39" name="ckt">
            <a:extLst>
              <a:ext uri="{FF2B5EF4-FFF2-40B4-BE49-F238E27FC236}">
                <a16:creationId xmlns:a16="http://schemas.microsoft.com/office/drawing/2014/main" id="{5067E42E-6071-DE96-7C28-0B9EBFD24561}"/>
              </a:ext>
            </a:extLst>
          </p:cNvPr>
          <p:cNvCxnSpPr/>
          <p:nvPr/>
        </p:nvCxnSpPr>
        <p:spPr>
          <a:xfrm>
            <a:off x="7772400" y="4445000"/>
            <a:ext cx="0" cy="7239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kt">
            <a:extLst>
              <a:ext uri="{FF2B5EF4-FFF2-40B4-BE49-F238E27FC236}">
                <a16:creationId xmlns:a16="http://schemas.microsoft.com/office/drawing/2014/main" id="{190ED6AB-FBD8-4A4E-0D61-8D2E54ED5FF6}"/>
              </a:ext>
            </a:extLst>
          </p:cNvPr>
          <p:cNvCxnSpPr/>
          <p:nvPr/>
        </p:nvCxnSpPr>
        <p:spPr>
          <a:xfrm>
            <a:off x="7772400" y="6134100"/>
            <a:ext cx="0" cy="7239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ckt">
            <a:extLst>
              <a:ext uri="{FF2B5EF4-FFF2-40B4-BE49-F238E27FC236}">
                <a16:creationId xmlns:a16="http://schemas.microsoft.com/office/drawing/2014/main" id="{A2BF57B7-0B49-648C-F9D6-B80D3F17B997}"/>
              </a:ext>
            </a:extLst>
          </p:cNvPr>
          <p:cNvSpPr/>
          <p:nvPr/>
        </p:nvSpPr>
        <p:spPr>
          <a:xfrm>
            <a:off x="7721600" y="5118100"/>
            <a:ext cx="101600" cy="1016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ckt">
            <a:extLst>
              <a:ext uri="{FF2B5EF4-FFF2-40B4-BE49-F238E27FC236}">
                <a16:creationId xmlns:a16="http://schemas.microsoft.com/office/drawing/2014/main" id="{6AF63B52-3ADE-ED0F-B12D-9D2F165037AA}"/>
              </a:ext>
            </a:extLst>
          </p:cNvPr>
          <p:cNvSpPr/>
          <p:nvPr/>
        </p:nvSpPr>
        <p:spPr>
          <a:xfrm>
            <a:off x="7721600" y="6083300"/>
            <a:ext cx="101600" cy="1016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ckt">
            <a:extLst>
              <a:ext uri="{FF2B5EF4-FFF2-40B4-BE49-F238E27FC236}">
                <a16:creationId xmlns:a16="http://schemas.microsoft.com/office/drawing/2014/main" id="{6502E6B9-2A11-9FF7-3CAC-01D089DA1291}"/>
              </a:ext>
            </a:extLst>
          </p:cNvPr>
          <p:cNvCxnSpPr/>
          <p:nvPr/>
        </p:nvCxnSpPr>
        <p:spPr>
          <a:xfrm flipH="1">
            <a:off x="7493000" y="5168900"/>
            <a:ext cx="279400" cy="868680"/>
          </a:xfrm>
          <a:prstGeom prst="line">
            <a:avLst/>
          </a:prstGeom>
          <a:ln w="3175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kt">
            <a:extLst>
              <a:ext uri="{FF2B5EF4-FFF2-40B4-BE49-F238E27FC236}">
                <a16:creationId xmlns:a16="http://schemas.microsoft.com/office/drawing/2014/main" id="{77F8365C-BD0A-FD8A-73E9-589E63955239}"/>
              </a:ext>
            </a:extLst>
          </p:cNvPr>
          <p:cNvCxnSpPr/>
          <p:nvPr/>
        </p:nvCxnSpPr>
        <p:spPr>
          <a:xfrm>
            <a:off x="7772400" y="68580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kt">
            <a:extLst>
              <a:ext uri="{FF2B5EF4-FFF2-40B4-BE49-F238E27FC236}">
                <a16:creationId xmlns:a16="http://schemas.microsoft.com/office/drawing/2014/main" id="{396EF30C-551A-B8A7-2517-E0519EFA3523}"/>
              </a:ext>
            </a:extLst>
          </p:cNvPr>
          <p:cNvCxnSpPr/>
          <p:nvPr/>
        </p:nvCxnSpPr>
        <p:spPr>
          <a:xfrm>
            <a:off x="7581900" y="70104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kt">
            <a:extLst>
              <a:ext uri="{FF2B5EF4-FFF2-40B4-BE49-F238E27FC236}">
                <a16:creationId xmlns:a16="http://schemas.microsoft.com/office/drawing/2014/main" id="{4BCD442E-8C81-12D6-98D2-70B3791EAEFB}"/>
              </a:ext>
            </a:extLst>
          </p:cNvPr>
          <p:cNvCxnSpPr/>
          <p:nvPr/>
        </p:nvCxnSpPr>
        <p:spPr>
          <a:xfrm>
            <a:off x="7651750" y="70802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kt">
            <a:extLst>
              <a:ext uri="{FF2B5EF4-FFF2-40B4-BE49-F238E27FC236}">
                <a16:creationId xmlns:a16="http://schemas.microsoft.com/office/drawing/2014/main" id="{59664BD0-67F7-1E9D-26C5-69CC1FD9C90D}"/>
              </a:ext>
            </a:extLst>
          </p:cNvPr>
          <p:cNvCxnSpPr/>
          <p:nvPr/>
        </p:nvCxnSpPr>
        <p:spPr>
          <a:xfrm>
            <a:off x="7721600" y="71501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kt label">
            <a:extLst>
              <a:ext uri="{FF2B5EF4-FFF2-40B4-BE49-F238E27FC236}">
                <a16:creationId xmlns:a16="http://schemas.microsoft.com/office/drawing/2014/main" id="{CC2FC103-5C3C-DA0D-3102-685A7A539D3C}"/>
              </a:ext>
            </a:extLst>
          </p:cNvPr>
          <p:cNvSpPr txBox="1"/>
          <p:nvPr/>
        </p:nvSpPr>
        <p:spPr>
          <a:xfrm>
            <a:off x="4902200" y="5499099"/>
            <a:ext cx="2540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600">
                <a:solidFill>
                  <a:srgbClr val="4D5B54"/>
                </a:solidFill>
                <a:latin typeface="DM Sans" pitchFamily="2" charset="0"/>
              </a:rPr>
              <a:t>open: </a:t>
            </a:r>
            <a:r>
              <a:rPr lang="en-US" sz="16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600" i="1" baseline="-25000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1600">
                <a:solidFill>
                  <a:srgbClr val="4D5B54"/>
                </a:solidFill>
                <a:latin typeface="DM Sans" pitchFamily="2" charset="0"/>
              </a:rPr>
              <a:t> &lt; </a:t>
            </a:r>
            <a:r>
              <a:rPr lang="en-US" sz="16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6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</a:p>
          <a:p>
            <a:pPr algn="r"/>
            <a:r>
              <a:rPr lang="en-US" sz="1600">
                <a:solidFill>
                  <a:srgbClr val="4D5B54"/>
                </a:solidFill>
                <a:latin typeface="DM Sans" pitchFamily="2" charset="0"/>
              </a:rPr>
              <a:t>closed: </a:t>
            </a:r>
            <a:r>
              <a:rPr lang="en-US" sz="16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600" i="1" baseline="-25000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1600">
                <a:solidFill>
                  <a:srgbClr val="4D5B54"/>
                </a:solidFill>
                <a:latin typeface="DM Sans" pitchFamily="2" charset="0"/>
              </a:rPr>
              <a:t> high</a:t>
            </a:r>
          </a:p>
        </p:txBody>
      </p:sp>
      <p:sp>
        <p:nvSpPr>
          <p:cNvPr id="49" name="point @1">
            <a:extLst>
              <a:ext uri="{FF2B5EF4-FFF2-40B4-BE49-F238E27FC236}">
                <a16:creationId xmlns:a16="http://schemas.microsoft.com/office/drawing/2014/main" id="{362A5D62-0242-E499-D7B5-0250D956F012}"/>
              </a:ext>
            </a:extLst>
          </p:cNvPr>
          <p:cNvSpPr txBox="1"/>
          <p:nvPr/>
        </p:nvSpPr>
        <p:spPr>
          <a:xfrm>
            <a:off x="10287000" y="2413000"/>
            <a:ext cx="7086600" cy="37875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: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cutoff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 The switch is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open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and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= 0.</a:t>
            </a:r>
          </a:p>
        </p:txBody>
      </p:sp>
      <p:sp>
        <p:nvSpPr>
          <p:cNvPr id="50" name="point @2">
            <a:extLst>
              <a:ext uri="{FF2B5EF4-FFF2-40B4-BE49-F238E27FC236}">
                <a16:creationId xmlns:a16="http://schemas.microsoft.com/office/drawing/2014/main" id="{E0585BBA-FA23-576D-0D1B-4528AB64470D}"/>
              </a:ext>
            </a:extLst>
          </p:cNvPr>
          <p:cNvSpPr txBox="1"/>
          <p:nvPr/>
        </p:nvSpPr>
        <p:spPr>
          <a:xfrm>
            <a:off x="10287000" y="3071158"/>
            <a:ext cx="7086600" cy="7665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high and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small: deep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triode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 The switch is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closed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, with a small resistance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52" name="chrome page">
            <a:extLst>
              <a:ext uri="{FF2B5EF4-FFF2-40B4-BE49-F238E27FC236}">
                <a16:creationId xmlns:a16="http://schemas.microsoft.com/office/drawing/2014/main" id="{C3C36861-C587-4F00-C10D-EF5C7155081E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hrome page">
            <a:extLst>
              <a:ext uri="{FF2B5EF4-FFF2-40B4-BE49-F238E27FC236}">
                <a16:creationId xmlns:a16="http://schemas.microsoft.com/office/drawing/2014/main" id="{09B4E03F-E8FF-31E3-8E0B-482C0DEFF569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72</a:t>
            </a:r>
          </a:p>
        </p:txBody>
      </p:sp>
    </p:spTree>
    <p:extLst>
      <p:ext uri="{BB962C8B-B14F-4D97-AF65-F5344CB8AC3E}">
        <p14:creationId xmlns:p14="http://schemas.microsoft.com/office/powerpoint/2010/main" val="277775487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MOSFET as a switch s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233A7CD-3EFF-2CBF-C967-941273086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The MOSFET as a switch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9BE2857B-B098-B63A-61E3-9BAD89822211}"/>
              </a:ext>
            </a:extLst>
          </p:cNvPr>
          <p:cNvSpPr/>
          <p:nvPr/>
        </p:nvSpPr>
        <p:spPr>
          <a:xfrm>
            <a:off x="914400" y="279400"/>
            <a:ext cx="3341116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5 · THE MOSFET AS A SWITCH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5097A76C-BCF0-F191-760F-D1B50A930099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A05476F7-1535-FFA7-370D-69311A20F08E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drawing card">
            <a:extLst>
              <a:ext uri="{FF2B5EF4-FFF2-40B4-BE49-F238E27FC236}">
                <a16:creationId xmlns:a16="http://schemas.microsoft.com/office/drawing/2014/main" id="{DF6B0422-CE01-464D-4ABE-A926080A5C10}"/>
              </a:ext>
            </a:extLst>
          </p:cNvPr>
          <p:cNvSpPr/>
          <p:nvPr/>
        </p:nvSpPr>
        <p:spPr>
          <a:xfrm>
            <a:off x="914400" y="2222500"/>
            <a:ext cx="8890000" cy="5461000"/>
          </a:xfrm>
          <a:prstGeom prst="rect">
            <a:avLst/>
          </a:prstGeom>
          <a:solidFill>
            <a:srgbClr val="FFFFFF"/>
          </a:solidFill>
          <a:ln w="15875">
            <a:solidFill>
              <a:srgbClr val="D5DC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rawing card">
            <a:extLst>
              <a:ext uri="{FF2B5EF4-FFF2-40B4-BE49-F238E27FC236}">
                <a16:creationId xmlns:a16="http://schemas.microsoft.com/office/drawing/2014/main" id="{98F406EE-EBDE-0EE3-9AC4-ACBABED52868}"/>
              </a:ext>
            </a:extLst>
          </p:cNvPr>
          <p:cNvSpPr/>
          <p:nvPr/>
        </p:nvSpPr>
        <p:spPr>
          <a:xfrm>
            <a:off x="914400" y="2209800"/>
            <a:ext cx="711200" cy="635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kt">
            <a:extLst>
              <a:ext uri="{FF2B5EF4-FFF2-40B4-BE49-F238E27FC236}">
                <a16:creationId xmlns:a16="http://schemas.microsoft.com/office/drawing/2014/main" id="{80E30100-D59E-317E-C0F1-7EC091012711}"/>
              </a:ext>
            </a:extLst>
          </p:cNvPr>
          <p:cNvCxnSpPr/>
          <p:nvPr/>
        </p:nvCxnSpPr>
        <p:spPr>
          <a:xfrm>
            <a:off x="3200400" y="5267452"/>
            <a:ext cx="0" cy="768096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kt">
            <a:extLst>
              <a:ext uri="{FF2B5EF4-FFF2-40B4-BE49-F238E27FC236}">
                <a16:creationId xmlns:a16="http://schemas.microsoft.com/office/drawing/2014/main" id="{5A81CEA0-F8F4-BA50-0D5C-673DB16857C6}"/>
              </a:ext>
            </a:extLst>
          </p:cNvPr>
          <p:cNvCxnSpPr/>
          <p:nvPr/>
        </p:nvCxnSpPr>
        <p:spPr>
          <a:xfrm>
            <a:off x="3327400" y="5118100"/>
            <a:ext cx="0" cy="1066800"/>
          </a:xfrm>
          <a:prstGeom prst="line">
            <a:avLst/>
          </a:prstGeom>
          <a:ln w="34925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kt">
            <a:extLst>
              <a:ext uri="{FF2B5EF4-FFF2-40B4-BE49-F238E27FC236}">
                <a16:creationId xmlns:a16="http://schemas.microsoft.com/office/drawing/2014/main" id="{90775AB7-C9EA-5A38-6641-39E1DD0E1DB1}"/>
              </a:ext>
            </a:extLst>
          </p:cNvPr>
          <p:cNvCxnSpPr/>
          <p:nvPr/>
        </p:nvCxnSpPr>
        <p:spPr>
          <a:xfrm>
            <a:off x="3327400" y="5219700"/>
            <a:ext cx="4318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kt">
            <a:extLst>
              <a:ext uri="{FF2B5EF4-FFF2-40B4-BE49-F238E27FC236}">
                <a16:creationId xmlns:a16="http://schemas.microsoft.com/office/drawing/2014/main" id="{28877953-1FEF-88DA-A447-6412C06BF746}"/>
              </a:ext>
            </a:extLst>
          </p:cNvPr>
          <p:cNvCxnSpPr/>
          <p:nvPr/>
        </p:nvCxnSpPr>
        <p:spPr>
          <a:xfrm>
            <a:off x="3327400" y="6083300"/>
            <a:ext cx="310896" cy="0"/>
          </a:xfrm>
          <a:prstGeom prst="line">
            <a:avLst/>
          </a:prstGeom>
          <a:ln w="25400">
            <a:solidFill>
              <a:srgbClr val="15241D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kt">
            <a:extLst>
              <a:ext uri="{FF2B5EF4-FFF2-40B4-BE49-F238E27FC236}">
                <a16:creationId xmlns:a16="http://schemas.microsoft.com/office/drawing/2014/main" id="{F1C34410-0EBA-67AE-939A-4830247A6BD5}"/>
              </a:ext>
            </a:extLst>
          </p:cNvPr>
          <p:cNvCxnSpPr/>
          <p:nvPr/>
        </p:nvCxnSpPr>
        <p:spPr>
          <a:xfrm>
            <a:off x="3629660" y="6083300"/>
            <a:ext cx="12954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kt">
            <a:extLst>
              <a:ext uri="{FF2B5EF4-FFF2-40B4-BE49-F238E27FC236}">
                <a16:creationId xmlns:a16="http://schemas.microsoft.com/office/drawing/2014/main" id="{B6D23776-CF64-EE00-7B57-244D3B9AD331}"/>
              </a:ext>
            </a:extLst>
          </p:cNvPr>
          <p:cNvSpPr/>
          <p:nvPr/>
        </p:nvSpPr>
        <p:spPr>
          <a:xfrm>
            <a:off x="3689350" y="2978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kt label">
            <a:extLst>
              <a:ext uri="{FF2B5EF4-FFF2-40B4-BE49-F238E27FC236}">
                <a16:creationId xmlns:a16="http://schemas.microsoft.com/office/drawing/2014/main" id="{AF573921-BC6F-089C-161B-1E9B648D7B71}"/>
              </a:ext>
            </a:extLst>
          </p:cNvPr>
          <p:cNvSpPr txBox="1"/>
          <p:nvPr/>
        </p:nvSpPr>
        <p:spPr>
          <a:xfrm>
            <a:off x="3937000" y="2867024"/>
            <a:ext cx="2794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DD</a:t>
            </a:r>
          </a:p>
        </p:txBody>
      </p:sp>
      <p:sp>
        <p:nvSpPr>
          <p:cNvPr id="15" name="ckt">
            <a:extLst>
              <a:ext uri="{FF2B5EF4-FFF2-40B4-BE49-F238E27FC236}">
                <a16:creationId xmlns:a16="http://schemas.microsoft.com/office/drawing/2014/main" id="{5ACB9E3F-25F5-48BD-4A91-6BCF724E3516}"/>
              </a:ext>
            </a:extLst>
          </p:cNvPr>
          <p:cNvSpPr/>
          <p:nvPr/>
        </p:nvSpPr>
        <p:spPr>
          <a:xfrm>
            <a:off x="3632200" y="3117850"/>
            <a:ext cx="254001" cy="1327151"/>
          </a:xfrm>
          <a:custGeom>
            <a:avLst/>
            <a:gdLst/>
            <a:ahLst/>
            <a:cxnLst/>
            <a:rect l="0" t="0" r="0" b="0"/>
            <a:pathLst>
              <a:path w="254001" h="1327151">
                <a:moveTo>
                  <a:pt x="127000" y="0"/>
                </a:moveTo>
                <a:lnTo>
                  <a:pt x="127000" y="295275"/>
                </a:lnTo>
                <a:lnTo>
                  <a:pt x="0" y="356658"/>
                </a:lnTo>
                <a:lnTo>
                  <a:pt x="254000" y="479425"/>
                </a:lnTo>
                <a:lnTo>
                  <a:pt x="0" y="602192"/>
                </a:lnTo>
                <a:lnTo>
                  <a:pt x="254000" y="724958"/>
                </a:lnTo>
                <a:lnTo>
                  <a:pt x="0" y="847725"/>
                </a:lnTo>
                <a:lnTo>
                  <a:pt x="254000" y="970492"/>
                </a:lnTo>
                <a:lnTo>
                  <a:pt x="127000" y="1031875"/>
                </a:lnTo>
                <a:lnTo>
                  <a:pt x="127000" y="132715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kt">
            <a:extLst>
              <a:ext uri="{FF2B5EF4-FFF2-40B4-BE49-F238E27FC236}">
                <a16:creationId xmlns:a16="http://schemas.microsoft.com/office/drawing/2014/main" id="{1C601434-FE72-E0A3-F023-9BE0FF42CD23}"/>
              </a:ext>
            </a:extLst>
          </p:cNvPr>
          <p:cNvSpPr/>
          <p:nvPr/>
        </p:nvSpPr>
        <p:spPr>
          <a:xfrm>
            <a:off x="3702050" y="4387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kt label">
            <a:extLst>
              <a:ext uri="{FF2B5EF4-FFF2-40B4-BE49-F238E27FC236}">
                <a16:creationId xmlns:a16="http://schemas.microsoft.com/office/drawing/2014/main" id="{890D6A5D-C13A-DA79-D229-E775D8E8B641}"/>
              </a:ext>
            </a:extLst>
          </p:cNvPr>
          <p:cNvSpPr txBox="1"/>
          <p:nvPr/>
        </p:nvSpPr>
        <p:spPr>
          <a:xfrm>
            <a:off x="3962400" y="3565524"/>
            <a:ext cx="2794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</a:p>
        </p:txBody>
      </p:sp>
      <p:cxnSp>
        <p:nvCxnSpPr>
          <p:cNvPr id="18" name="ckt">
            <a:extLst>
              <a:ext uri="{FF2B5EF4-FFF2-40B4-BE49-F238E27FC236}">
                <a16:creationId xmlns:a16="http://schemas.microsoft.com/office/drawing/2014/main" id="{2B93F246-7CC8-0158-1ABA-FE0BF3307253}"/>
              </a:ext>
            </a:extLst>
          </p:cNvPr>
          <p:cNvCxnSpPr/>
          <p:nvPr/>
        </p:nvCxnSpPr>
        <p:spPr>
          <a:xfrm>
            <a:off x="3759200" y="4445000"/>
            <a:ext cx="0" cy="7747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kt">
            <a:extLst>
              <a:ext uri="{FF2B5EF4-FFF2-40B4-BE49-F238E27FC236}">
                <a16:creationId xmlns:a16="http://schemas.microsoft.com/office/drawing/2014/main" id="{36DDD624-B7CA-093C-54E6-30FB44DCEB23}"/>
              </a:ext>
            </a:extLst>
          </p:cNvPr>
          <p:cNvCxnSpPr/>
          <p:nvPr/>
        </p:nvCxnSpPr>
        <p:spPr>
          <a:xfrm>
            <a:off x="3759200" y="4445000"/>
            <a:ext cx="762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kt">
            <a:extLst>
              <a:ext uri="{FF2B5EF4-FFF2-40B4-BE49-F238E27FC236}">
                <a16:creationId xmlns:a16="http://schemas.microsoft.com/office/drawing/2014/main" id="{312C4033-458A-9B70-FFBB-CEA7B29BBAA6}"/>
              </a:ext>
            </a:extLst>
          </p:cNvPr>
          <p:cNvSpPr/>
          <p:nvPr/>
        </p:nvSpPr>
        <p:spPr>
          <a:xfrm>
            <a:off x="4527550" y="4375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kt label">
            <a:extLst>
              <a:ext uri="{FF2B5EF4-FFF2-40B4-BE49-F238E27FC236}">
                <a16:creationId xmlns:a16="http://schemas.microsoft.com/office/drawing/2014/main" id="{295D04A4-FBEC-141F-AA8F-CF16EB118DB5}"/>
              </a:ext>
            </a:extLst>
          </p:cNvPr>
          <p:cNvSpPr txBox="1"/>
          <p:nvPr/>
        </p:nvSpPr>
        <p:spPr>
          <a:xfrm>
            <a:off x="4749800" y="4264024"/>
            <a:ext cx="762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O</a:t>
            </a:r>
          </a:p>
        </p:txBody>
      </p:sp>
      <p:cxnSp>
        <p:nvCxnSpPr>
          <p:cNvPr id="22" name="ckt">
            <a:extLst>
              <a:ext uri="{FF2B5EF4-FFF2-40B4-BE49-F238E27FC236}">
                <a16:creationId xmlns:a16="http://schemas.microsoft.com/office/drawing/2014/main" id="{5B4E7FF3-272B-AD27-8448-0BB978C5B279}"/>
              </a:ext>
            </a:extLst>
          </p:cNvPr>
          <p:cNvCxnSpPr/>
          <p:nvPr/>
        </p:nvCxnSpPr>
        <p:spPr>
          <a:xfrm>
            <a:off x="3759200" y="6083300"/>
            <a:ext cx="0" cy="7747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kt">
            <a:extLst>
              <a:ext uri="{FF2B5EF4-FFF2-40B4-BE49-F238E27FC236}">
                <a16:creationId xmlns:a16="http://schemas.microsoft.com/office/drawing/2014/main" id="{28220643-0F1E-0D0F-6BF4-2BA3D64DFD53}"/>
              </a:ext>
            </a:extLst>
          </p:cNvPr>
          <p:cNvCxnSpPr/>
          <p:nvPr/>
        </p:nvCxnSpPr>
        <p:spPr>
          <a:xfrm>
            <a:off x="3759200" y="68580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kt">
            <a:extLst>
              <a:ext uri="{FF2B5EF4-FFF2-40B4-BE49-F238E27FC236}">
                <a16:creationId xmlns:a16="http://schemas.microsoft.com/office/drawing/2014/main" id="{B51A3FED-D248-152E-27B5-8332882B9F3A}"/>
              </a:ext>
            </a:extLst>
          </p:cNvPr>
          <p:cNvCxnSpPr/>
          <p:nvPr/>
        </p:nvCxnSpPr>
        <p:spPr>
          <a:xfrm>
            <a:off x="3568700" y="70104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kt">
            <a:extLst>
              <a:ext uri="{FF2B5EF4-FFF2-40B4-BE49-F238E27FC236}">
                <a16:creationId xmlns:a16="http://schemas.microsoft.com/office/drawing/2014/main" id="{03F98432-E028-A266-498F-6B9789EAA758}"/>
              </a:ext>
            </a:extLst>
          </p:cNvPr>
          <p:cNvCxnSpPr/>
          <p:nvPr/>
        </p:nvCxnSpPr>
        <p:spPr>
          <a:xfrm>
            <a:off x="3638550" y="70802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kt">
            <a:extLst>
              <a:ext uri="{FF2B5EF4-FFF2-40B4-BE49-F238E27FC236}">
                <a16:creationId xmlns:a16="http://schemas.microsoft.com/office/drawing/2014/main" id="{0DED53D6-09B3-62A9-8F50-282A13EC7CC4}"/>
              </a:ext>
            </a:extLst>
          </p:cNvPr>
          <p:cNvCxnSpPr/>
          <p:nvPr/>
        </p:nvCxnSpPr>
        <p:spPr>
          <a:xfrm>
            <a:off x="3708400" y="71501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kt">
            <a:extLst>
              <a:ext uri="{FF2B5EF4-FFF2-40B4-BE49-F238E27FC236}">
                <a16:creationId xmlns:a16="http://schemas.microsoft.com/office/drawing/2014/main" id="{0B3F40E9-3967-A897-B197-C29164F049E9}"/>
              </a:ext>
            </a:extLst>
          </p:cNvPr>
          <p:cNvCxnSpPr/>
          <p:nvPr/>
        </p:nvCxnSpPr>
        <p:spPr>
          <a:xfrm>
            <a:off x="2184400" y="5651500"/>
            <a:ext cx="1016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kt">
            <a:extLst>
              <a:ext uri="{FF2B5EF4-FFF2-40B4-BE49-F238E27FC236}">
                <a16:creationId xmlns:a16="http://schemas.microsoft.com/office/drawing/2014/main" id="{A86078E8-1ABF-C7F1-256B-66C4DE052AE0}"/>
              </a:ext>
            </a:extLst>
          </p:cNvPr>
          <p:cNvSpPr/>
          <p:nvPr/>
        </p:nvSpPr>
        <p:spPr>
          <a:xfrm>
            <a:off x="2038350" y="55816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kt label">
            <a:extLst>
              <a:ext uri="{FF2B5EF4-FFF2-40B4-BE49-F238E27FC236}">
                <a16:creationId xmlns:a16="http://schemas.microsoft.com/office/drawing/2014/main" id="{77DEC24A-1118-561B-60C0-93FFDD24AB01}"/>
              </a:ext>
            </a:extLst>
          </p:cNvPr>
          <p:cNvSpPr txBox="1"/>
          <p:nvPr/>
        </p:nvSpPr>
        <p:spPr>
          <a:xfrm>
            <a:off x="1143000" y="5470524"/>
            <a:ext cx="762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I</a:t>
            </a:r>
          </a:p>
        </p:txBody>
      </p:sp>
      <p:sp>
        <p:nvSpPr>
          <p:cNvPr id="30" name="ckt label">
            <a:extLst>
              <a:ext uri="{FF2B5EF4-FFF2-40B4-BE49-F238E27FC236}">
                <a16:creationId xmlns:a16="http://schemas.microsoft.com/office/drawing/2014/main" id="{FF3628DE-95FD-9A7E-CD72-4D0E39FA1374}"/>
              </a:ext>
            </a:extLst>
          </p:cNvPr>
          <p:cNvSpPr txBox="1"/>
          <p:nvPr/>
        </p:nvSpPr>
        <p:spPr>
          <a:xfrm>
            <a:off x="5613400" y="4495799"/>
            <a:ext cx="762000" cy="914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4800">
                <a:solidFill>
                  <a:srgbClr val="15241D"/>
                </a:solidFill>
                <a:latin typeface="DM Sans" pitchFamily="2" charset="0"/>
              </a:rPr>
              <a:t>≡</a:t>
            </a:r>
          </a:p>
        </p:txBody>
      </p:sp>
      <p:sp>
        <p:nvSpPr>
          <p:cNvPr id="31" name="ckt">
            <a:extLst>
              <a:ext uri="{FF2B5EF4-FFF2-40B4-BE49-F238E27FC236}">
                <a16:creationId xmlns:a16="http://schemas.microsoft.com/office/drawing/2014/main" id="{9B828C89-B862-9BCC-044D-A55F7A87E22E}"/>
              </a:ext>
            </a:extLst>
          </p:cNvPr>
          <p:cNvSpPr/>
          <p:nvPr/>
        </p:nvSpPr>
        <p:spPr>
          <a:xfrm>
            <a:off x="7702550" y="2978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kt label">
            <a:extLst>
              <a:ext uri="{FF2B5EF4-FFF2-40B4-BE49-F238E27FC236}">
                <a16:creationId xmlns:a16="http://schemas.microsoft.com/office/drawing/2014/main" id="{22AAC2DC-DB78-D81E-AD33-AF4433DB5E81}"/>
              </a:ext>
            </a:extLst>
          </p:cNvPr>
          <p:cNvSpPr txBox="1"/>
          <p:nvPr/>
        </p:nvSpPr>
        <p:spPr>
          <a:xfrm>
            <a:off x="7950200" y="2867024"/>
            <a:ext cx="2794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DD</a:t>
            </a:r>
          </a:p>
        </p:txBody>
      </p:sp>
      <p:sp>
        <p:nvSpPr>
          <p:cNvPr id="33" name="ckt">
            <a:extLst>
              <a:ext uri="{FF2B5EF4-FFF2-40B4-BE49-F238E27FC236}">
                <a16:creationId xmlns:a16="http://schemas.microsoft.com/office/drawing/2014/main" id="{B7AF1B8D-2C99-597C-2C9C-E4E37CBA1EE0}"/>
              </a:ext>
            </a:extLst>
          </p:cNvPr>
          <p:cNvSpPr/>
          <p:nvPr/>
        </p:nvSpPr>
        <p:spPr>
          <a:xfrm>
            <a:off x="7645400" y="3117850"/>
            <a:ext cx="254001" cy="1327151"/>
          </a:xfrm>
          <a:custGeom>
            <a:avLst/>
            <a:gdLst/>
            <a:ahLst/>
            <a:cxnLst/>
            <a:rect l="0" t="0" r="0" b="0"/>
            <a:pathLst>
              <a:path w="254001" h="1327151">
                <a:moveTo>
                  <a:pt x="127000" y="0"/>
                </a:moveTo>
                <a:lnTo>
                  <a:pt x="127000" y="295275"/>
                </a:lnTo>
                <a:lnTo>
                  <a:pt x="0" y="356658"/>
                </a:lnTo>
                <a:lnTo>
                  <a:pt x="254000" y="479425"/>
                </a:lnTo>
                <a:lnTo>
                  <a:pt x="0" y="602192"/>
                </a:lnTo>
                <a:lnTo>
                  <a:pt x="254000" y="724958"/>
                </a:lnTo>
                <a:lnTo>
                  <a:pt x="0" y="847725"/>
                </a:lnTo>
                <a:lnTo>
                  <a:pt x="254000" y="970492"/>
                </a:lnTo>
                <a:lnTo>
                  <a:pt x="127000" y="1031875"/>
                </a:lnTo>
                <a:lnTo>
                  <a:pt x="127000" y="1327150"/>
                </a:lnTo>
              </a:path>
            </a:pathLst>
          </a:cu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ckt">
            <a:extLst>
              <a:ext uri="{FF2B5EF4-FFF2-40B4-BE49-F238E27FC236}">
                <a16:creationId xmlns:a16="http://schemas.microsoft.com/office/drawing/2014/main" id="{5056261A-9CEF-CBC0-4A7E-2C3A62DA8BC8}"/>
              </a:ext>
            </a:extLst>
          </p:cNvPr>
          <p:cNvSpPr/>
          <p:nvPr/>
        </p:nvSpPr>
        <p:spPr>
          <a:xfrm>
            <a:off x="7715250" y="4387850"/>
            <a:ext cx="114300" cy="1143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ckt label">
            <a:extLst>
              <a:ext uri="{FF2B5EF4-FFF2-40B4-BE49-F238E27FC236}">
                <a16:creationId xmlns:a16="http://schemas.microsoft.com/office/drawing/2014/main" id="{528B84F7-11D2-DAF2-4BED-A8268D3EE5C6}"/>
              </a:ext>
            </a:extLst>
          </p:cNvPr>
          <p:cNvSpPr txBox="1"/>
          <p:nvPr/>
        </p:nvSpPr>
        <p:spPr>
          <a:xfrm>
            <a:off x="7975600" y="3565524"/>
            <a:ext cx="2794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</a:p>
        </p:txBody>
      </p:sp>
      <p:cxnSp>
        <p:nvCxnSpPr>
          <p:cNvPr id="36" name="ckt">
            <a:extLst>
              <a:ext uri="{FF2B5EF4-FFF2-40B4-BE49-F238E27FC236}">
                <a16:creationId xmlns:a16="http://schemas.microsoft.com/office/drawing/2014/main" id="{CB503F56-97C8-3884-6C98-7421505F6893}"/>
              </a:ext>
            </a:extLst>
          </p:cNvPr>
          <p:cNvCxnSpPr/>
          <p:nvPr/>
        </p:nvCxnSpPr>
        <p:spPr>
          <a:xfrm>
            <a:off x="7772400" y="4445000"/>
            <a:ext cx="762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kt">
            <a:extLst>
              <a:ext uri="{FF2B5EF4-FFF2-40B4-BE49-F238E27FC236}">
                <a16:creationId xmlns:a16="http://schemas.microsoft.com/office/drawing/2014/main" id="{62A3A85E-C57D-03C6-C2DC-F0D8FFC22DA9}"/>
              </a:ext>
            </a:extLst>
          </p:cNvPr>
          <p:cNvSpPr/>
          <p:nvPr/>
        </p:nvSpPr>
        <p:spPr>
          <a:xfrm>
            <a:off x="8540750" y="4375150"/>
            <a:ext cx="139700" cy="1397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524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kt label">
            <a:extLst>
              <a:ext uri="{FF2B5EF4-FFF2-40B4-BE49-F238E27FC236}">
                <a16:creationId xmlns:a16="http://schemas.microsoft.com/office/drawing/2014/main" id="{E0478EA4-E757-2E76-72C7-D609F91BEE22}"/>
              </a:ext>
            </a:extLst>
          </p:cNvPr>
          <p:cNvSpPr txBox="1"/>
          <p:nvPr/>
        </p:nvSpPr>
        <p:spPr>
          <a:xfrm>
            <a:off x="8763000" y="4264024"/>
            <a:ext cx="7620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9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1900" i="1" baseline="-25000">
                <a:solidFill>
                  <a:srgbClr val="15241D"/>
                </a:solidFill>
                <a:latin typeface="DM Sans" pitchFamily="2" charset="0"/>
              </a:rPr>
              <a:t>O</a:t>
            </a:r>
          </a:p>
        </p:txBody>
      </p:sp>
      <p:cxnSp>
        <p:nvCxnSpPr>
          <p:cNvPr id="39" name="ckt">
            <a:extLst>
              <a:ext uri="{FF2B5EF4-FFF2-40B4-BE49-F238E27FC236}">
                <a16:creationId xmlns:a16="http://schemas.microsoft.com/office/drawing/2014/main" id="{5067E42E-6071-DE96-7C28-0B9EBFD24561}"/>
              </a:ext>
            </a:extLst>
          </p:cNvPr>
          <p:cNvCxnSpPr/>
          <p:nvPr/>
        </p:nvCxnSpPr>
        <p:spPr>
          <a:xfrm>
            <a:off x="7772400" y="4445000"/>
            <a:ext cx="0" cy="7239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kt">
            <a:extLst>
              <a:ext uri="{FF2B5EF4-FFF2-40B4-BE49-F238E27FC236}">
                <a16:creationId xmlns:a16="http://schemas.microsoft.com/office/drawing/2014/main" id="{190ED6AB-FBD8-4A4E-0D61-8D2E54ED5FF6}"/>
              </a:ext>
            </a:extLst>
          </p:cNvPr>
          <p:cNvCxnSpPr/>
          <p:nvPr/>
        </p:nvCxnSpPr>
        <p:spPr>
          <a:xfrm>
            <a:off x="7772400" y="6134100"/>
            <a:ext cx="0" cy="7239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ckt">
            <a:extLst>
              <a:ext uri="{FF2B5EF4-FFF2-40B4-BE49-F238E27FC236}">
                <a16:creationId xmlns:a16="http://schemas.microsoft.com/office/drawing/2014/main" id="{A2BF57B7-0B49-648C-F9D6-B80D3F17B997}"/>
              </a:ext>
            </a:extLst>
          </p:cNvPr>
          <p:cNvSpPr/>
          <p:nvPr/>
        </p:nvSpPr>
        <p:spPr>
          <a:xfrm>
            <a:off x="7721600" y="5118100"/>
            <a:ext cx="101600" cy="1016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ckt">
            <a:extLst>
              <a:ext uri="{FF2B5EF4-FFF2-40B4-BE49-F238E27FC236}">
                <a16:creationId xmlns:a16="http://schemas.microsoft.com/office/drawing/2014/main" id="{6AF63B52-3ADE-ED0F-B12D-9D2F165037AA}"/>
              </a:ext>
            </a:extLst>
          </p:cNvPr>
          <p:cNvSpPr/>
          <p:nvPr/>
        </p:nvSpPr>
        <p:spPr>
          <a:xfrm>
            <a:off x="7721600" y="6083300"/>
            <a:ext cx="101600" cy="101600"/>
          </a:xfrm>
          <a:prstGeom prst="ellipse">
            <a:avLst/>
          </a:prstGeom>
          <a:solidFill>
            <a:srgbClr val="15241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ckt">
            <a:extLst>
              <a:ext uri="{FF2B5EF4-FFF2-40B4-BE49-F238E27FC236}">
                <a16:creationId xmlns:a16="http://schemas.microsoft.com/office/drawing/2014/main" id="{6502E6B9-2A11-9FF7-3CAC-01D089DA1291}"/>
              </a:ext>
            </a:extLst>
          </p:cNvPr>
          <p:cNvCxnSpPr/>
          <p:nvPr/>
        </p:nvCxnSpPr>
        <p:spPr>
          <a:xfrm flipH="1">
            <a:off x="7493000" y="5168900"/>
            <a:ext cx="279400" cy="868680"/>
          </a:xfrm>
          <a:prstGeom prst="line">
            <a:avLst/>
          </a:prstGeom>
          <a:ln w="3175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kt">
            <a:extLst>
              <a:ext uri="{FF2B5EF4-FFF2-40B4-BE49-F238E27FC236}">
                <a16:creationId xmlns:a16="http://schemas.microsoft.com/office/drawing/2014/main" id="{77F8365C-BD0A-FD8A-73E9-589E63955239}"/>
              </a:ext>
            </a:extLst>
          </p:cNvPr>
          <p:cNvCxnSpPr/>
          <p:nvPr/>
        </p:nvCxnSpPr>
        <p:spPr>
          <a:xfrm>
            <a:off x="7772400" y="6858000"/>
            <a:ext cx="0" cy="15240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kt">
            <a:extLst>
              <a:ext uri="{FF2B5EF4-FFF2-40B4-BE49-F238E27FC236}">
                <a16:creationId xmlns:a16="http://schemas.microsoft.com/office/drawing/2014/main" id="{396EF30C-551A-B8A7-2517-E0519EFA3523}"/>
              </a:ext>
            </a:extLst>
          </p:cNvPr>
          <p:cNvCxnSpPr/>
          <p:nvPr/>
        </p:nvCxnSpPr>
        <p:spPr>
          <a:xfrm>
            <a:off x="7581900" y="7010400"/>
            <a:ext cx="3810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kt">
            <a:extLst>
              <a:ext uri="{FF2B5EF4-FFF2-40B4-BE49-F238E27FC236}">
                <a16:creationId xmlns:a16="http://schemas.microsoft.com/office/drawing/2014/main" id="{4BCD442E-8C81-12D6-98D2-70B3791EAEFB}"/>
              </a:ext>
            </a:extLst>
          </p:cNvPr>
          <p:cNvCxnSpPr/>
          <p:nvPr/>
        </p:nvCxnSpPr>
        <p:spPr>
          <a:xfrm>
            <a:off x="7651750" y="7080250"/>
            <a:ext cx="2413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kt">
            <a:extLst>
              <a:ext uri="{FF2B5EF4-FFF2-40B4-BE49-F238E27FC236}">
                <a16:creationId xmlns:a16="http://schemas.microsoft.com/office/drawing/2014/main" id="{59664BD0-67F7-1E9D-26C5-69CC1FD9C90D}"/>
              </a:ext>
            </a:extLst>
          </p:cNvPr>
          <p:cNvCxnSpPr/>
          <p:nvPr/>
        </p:nvCxnSpPr>
        <p:spPr>
          <a:xfrm>
            <a:off x="7721600" y="7150100"/>
            <a:ext cx="101600" cy="0"/>
          </a:xfrm>
          <a:prstGeom prst="line">
            <a:avLst/>
          </a:prstGeom>
          <a:ln w="25400">
            <a:solidFill>
              <a:srgbClr val="1524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kt label">
            <a:extLst>
              <a:ext uri="{FF2B5EF4-FFF2-40B4-BE49-F238E27FC236}">
                <a16:creationId xmlns:a16="http://schemas.microsoft.com/office/drawing/2014/main" id="{CC2FC103-5C3C-DA0D-3102-685A7A539D3C}"/>
              </a:ext>
            </a:extLst>
          </p:cNvPr>
          <p:cNvSpPr txBox="1"/>
          <p:nvPr/>
        </p:nvSpPr>
        <p:spPr>
          <a:xfrm>
            <a:off x="4902200" y="5499099"/>
            <a:ext cx="2540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sz="1600">
                <a:solidFill>
                  <a:srgbClr val="4D5B54"/>
                </a:solidFill>
                <a:latin typeface="DM Sans" pitchFamily="2" charset="0"/>
              </a:rPr>
              <a:t>open: </a:t>
            </a:r>
            <a:r>
              <a:rPr lang="en-US" sz="16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600" i="1" baseline="-25000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1600">
                <a:solidFill>
                  <a:srgbClr val="4D5B54"/>
                </a:solidFill>
                <a:latin typeface="DM Sans" pitchFamily="2" charset="0"/>
              </a:rPr>
              <a:t> &lt; </a:t>
            </a:r>
            <a:r>
              <a:rPr lang="en-US" sz="16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600" i="1" baseline="-25000">
                <a:solidFill>
                  <a:srgbClr val="4D5B54"/>
                </a:solidFill>
                <a:latin typeface="DM Sans" pitchFamily="2" charset="0"/>
              </a:rPr>
              <a:t>t</a:t>
            </a:r>
          </a:p>
          <a:p>
            <a:pPr algn="r"/>
            <a:r>
              <a:rPr lang="en-US" sz="1600">
                <a:solidFill>
                  <a:srgbClr val="4D5B54"/>
                </a:solidFill>
                <a:latin typeface="DM Sans" pitchFamily="2" charset="0"/>
              </a:rPr>
              <a:t>closed: </a:t>
            </a:r>
            <a:r>
              <a:rPr lang="en-US" sz="1600" i="1">
                <a:solidFill>
                  <a:srgbClr val="4D5B54"/>
                </a:solidFill>
                <a:latin typeface="DM Sans" pitchFamily="2" charset="0"/>
              </a:rPr>
              <a:t>v</a:t>
            </a:r>
            <a:r>
              <a:rPr lang="en-US" sz="1600" i="1" baseline="-25000">
                <a:solidFill>
                  <a:srgbClr val="4D5B54"/>
                </a:solidFill>
                <a:latin typeface="DM Sans" pitchFamily="2" charset="0"/>
              </a:rPr>
              <a:t>I</a:t>
            </a:r>
            <a:r>
              <a:rPr lang="en-US" sz="1600">
                <a:solidFill>
                  <a:srgbClr val="4D5B54"/>
                </a:solidFill>
                <a:latin typeface="DM Sans" pitchFamily="2" charset="0"/>
              </a:rPr>
              <a:t> high</a:t>
            </a:r>
          </a:p>
        </p:txBody>
      </p:sp>
      <p:sp>
        <p:nvSpPr>
          <p:cNvPr id="49" name="point @1">
            <a:extLst>
              <a:ext uri="{FF2B5EF4-FFF2-40B4-BE49-F238E27FC236}">
                <a16:creationId xmlns:a16="http://schemas.microsoft.com/office/drawing/2014/main" id="{362A5D62-0242-E499-D7B5-0250D956F012}"/>
              </a:ext>
            </a:extLst>
          </p:cNvPr>
          <p:cNvSpPr txBox="1"/>
          <p:nvPr/>
        </p:nvSpPr>
        <p:spPr>
          <a:xfrm>
            <a:off x="10287000" y="2413000"/>
            <a:ext cx="7086600" cy="37875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: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cutoff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 The switch is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open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and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i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= 0.</a:t>
            </a:r>
          </a:p>
        </p:txBody>
      </p:sp>
      <p:sp>
        <p:nvSpPr>
          <p:cNvPr id="50" name="point @2">
            <a:extLst>
              <a:ext uri="{FF2B5EF4-FFF2-40B4-BE49-F238E27FC236}">
                <a16:creationId xmlns:a16="http://schemas.microsoft.com/office/drawing/2014/main" id="{E0585BBA-FA23-576D-0D1B-4528AB64470D}"/>
              </a:ext>
            </a:extLst>
          </p:cNvPr>
          <p:cNvSpPr txBox="1"/>
          <p:nvPr/>
        </p:nvSpPr>
        <p:spPr>
          <a:xfrm>
            <a:off x="10287000" y="3071158"/>
            <a:ext cx="7086600" cy="7665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high and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 small: deep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triode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 The switch is </a:t>
            </a:r>
            <a:r>
              <a:rPr lang="en-US" sz="2400" b="1">
                <a:solidFill>
                  <a:srgbClr val="15241D"/>
                </a:solidFill>
                <a:latin typeface="DM Sans" pitchFamily="2" charset="0"/>
              </a:rPr>
              <a:t>closed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, with a small resistance </a:t>
            </a:r>
            <a:r>
              <a:rPr lang="en-US" sz="2400" i="1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24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51" name="point @3">
            <a:extLst>
              <a:ext uri="{FF2B5EF4-FFF2-40B4-BE49-F238E27FC236}">
                <a16:creationId xmlns:a16="http://schemas.microsoft.com/office/drawing/2014/main" id="{504795C9-6751-69F0-0647-58F23303CA72}"/>
              </a:ext>
            </a:extLst>
          </p:cNvPr>
          <p:cNvSpPr txBox="1"/>
          <p:nvPr/>
        </p:nvSpPr>
        <p:spPr>
          <a:xfrm>
            <a:off x="10287000" y="4117115"/>
            <a:ext cx="7086600" cy="76655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400">
                <a:solidFill>
                  <a:srgbClr val="15241D"/>
                </a:solidFill>
                <a:latin typeface="DM Sans" pitchFamily="2" charset="0"/>
              </a:rPr>
              <a:t>Driving the gate between these two states is the basis of digital logic.</a:t>
            </a:r>
          </a:p>
        </p:txBody>
      </p:sp>
      <p:sp>
        <p:nvSpPr>
          <p:cNvPr id="52" name="chrome page">
            <a:extLst>
              <a:ext uri="{FF2B5EF4-FFF2-40B4-BE49-F238E27FC236}">
                <a16:creationId xmlns:a16="http://schemas.microsoft.com/office/drawing/2014/main" id="{17039F55-9559-ABE9-9F9B-CB4E11BE7AAB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hrome page">
            <a:extLst>
              <a:ext uri="{FF2B5EF4-FFF2-40B4-BE49-F238E27FC236}">
                <a16:creationId xmlns:a16="http://schemas.microsoft.com/office/drawing/2014/main" id="{2378A933-A65F-4622-1D12-D2A36C83E85E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73</a:t>
            </a:r>
          </a:p>
        </p:txBody>
      </p:sp>
    </p:spTree>
    <p:extLst>
      <p:ext uri="{BB962C8B-B14F-4D97-AF65-F5344CB8AC3E}">
        <p14:creationId xmlns:p14="http://schemas.microsoft.com/office/powerpoint/2010/main" val="407299554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ummary: three regions of oper s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D1E7753-4C06-7174-B4F1-E0DF6537E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87400"/>
            <a:ext cx="16459200" cy="7874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5400">
                <a:solidFill>
                  <a:srgbClr val="15241D"/>
                </a:solidFill>
                <a:latin typeface="Bebas Neue" panose="020B0606020202050201" pitchFamily="34" charset="0"/>
              </a:rPr>
              <a:t>Summary: three regions of operation</a:t>
            </a:r>
          </a:p>
        </p:txBody>
      </p:sp>
      <p:sp>
        <p:nvSpPr>
          <p:cNvPr id="3" name="section tag">
            <a:extLst>
              <a:ext uri="{FF2B5EF4-FFF2-40B4-BE49-F238E27FC236}">
                <a16:creationId xmlns:a16="http://schemas.microsoft.com/office/drawing/2014/main" id="{F82D5B05-086A-4C12-459F-C67267A6B1A3}"/>
              </a:ext>
            </a:extLst>
          </p:cNvPr>
          <p:cNvSpPr/>
          <p:nvPr/>
        </p:nvSpPr>
        <p:spPr>
          <a:xfrm>
            <a:off x="914400" y="279400"/>
            <a:ext cx="2578354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LECTURE 3 · SUMMARY</a:t>
            </a:r>
          </a:p>
        </p:txBody>
      </p:sp>
      <p:sp>
        <p:nvSpPr>
          <p:cNvPr id="4" name="chrome footer">
            <a:extLst>
              <a:ext uri="{FF2B5EF4-FFF2-40B4-BE49-F238E27FC236}">
                <a16:creationId xmlns:a16="http://schemas.microsoft.com/office/drawing/2014/main" id="{9FD78704-C5AF-8A7E-6843-1BFE002CE7A0}"/>
              </a:ext>
            </a:extLst>
          </p:cNvPr>
          <p:cNvSpPr/>
          <p:nvPr/>
        </p:nvSpPr>
        <p:spPr>
          <a:xfrm>
            <a:off x="914400" y="9855200"/>
            <a:ext cx="431800" cy="127000"/>
          </a:xfrm>
          <a:prstGeom prst="parallelogram">
            <a:avLst>
              <a:gd name="adj" fmla="val 5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hrome footer">
            <a:extLst>
              <a:ext uri="{FF2B5EF4-FFF2-40B4-BE49-F238E27FC236}">
                <a16:creationId xmlns:a16="http://schemas.microsoft.com/office/drawing/2014/main" id="{E976F44E-5D9B-46E7-A0CB-5A3050B81F1F}"/>
              </a:ext>
            </a:extLst>
          </p:cNvPr>
          <p:cNvSpPr txBox="1"/>
          <p:nvPr/>
        </p:nvSpPr>
        <p:spPr>
          <a:xfrm>
            <a:off x="1498600" y="9766299"/>
            <a:ext cx="889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300">
                <a:solidFill>
                  <a:srgbClr val="4D5B54"/>
                </a:solidFill>
                <a:latin typeface="DM Sans" pitchFamily="2" charset="0"/>
              </a:rPr>
              <a:t>ELEC1  ·  Lecture 3  ·  MOSFETs</a:t>
            </a:r>
          </a:p>
        </p:txBody>
      </p:sp>
      <p:sp>
        <p:nvSpPr>
          <p:cNvPr id="6" name="th">
            <a:extLst>
              <a:ext uri="{FF2B5EF4-FFF2-40B4-BE49-F238E27FC236}">
                <a16:creationId xmlns:a16="http://schemas.microsoft.com/office/drawing/2014/main" id="{99A00D36-806C-89DE-7087-657AA12E8D50}"/>
              </a:ext>
            </a:extLst>
          </p:cNvPr>
          <p:cNvSpPr/>
          <p:nvPr/>
        </p:nvSpPr>
        <p:spPr>
          <a:xfrm>
            <a:off x="914400" y="2286000"/>
            <a:ext cx="16459200" cy="5588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h">
            <a:extLst>
              <a:ext uri="{FF2B5EF4-FFF2-40B4-BE49-F238E27FC236}">
                <a16:creationId xmlns:a16="http://schemas.microsoft.com/office/drawing/2014/main" id="{5A853762-ECD8-9C33-6410-FD8C7C444D3B}"/>
              </a:ext>
            </a:extLst>
          </p:cNvPr>
          <p:cNvSpPr txBox="1"/>
          <p:nvPr/>
        </p:nvSpPr>
        <p:spPr>
          <a:xfrm>
            <a:off x="1219200" y="2285999"/>
            <a:ext cx="28194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DM Sans" pitchFamily="2" charset="0"/>
              </a:rPr>
              <a:t>REGION</a:t>
            </a:r>
          </a:p>
        </p:txBody>
      </p:sp>
      <p:sp>
        <p:nvSpPr>
          <p:cNvPr id="8" name="th">
            <a:extLst>
              <a:ext uri="{FF2B5EF4-FFF2-40B4-BE49-F238E27FC236}">
                <a16:creationId xmlns:a16="http://schemas.microsoft.com/office/drawing/2014/main" id="{FBC86B5F-40EA-7BA9-32A0-FF2098D8B5FD}"/>
              </a:ext>
            </a:extLst>
          </p:cNvPr>
          <p:cNvSpPr txBox="1"/>
          <p:nvPr/>
        </p:nvSpPr>
        <p:spPr>
          <a:xfrm>
            <a:off x="4343400" y="2285999"/>
            <a:ext cx="51562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DM Sans" pitchFamily="2" charset="0"/>
              </a:rPr>
              <a:t>CONDITION</a:t>
            </a:r>
          </a:p>
        </p:txBody>
      </p:sp>
      <p:sp>
        <p:nvSpPr>
          <p:cNvPr id="9" name="th">
            <a:extLst>
              <a:ext uri="{FF2B5EF4-FFF2-40B4-BE49-F238E27FC236}">
                <a16:creationId xmlns:a16="http://schemas.microsoft.com/office/drawing/2014/main" id="{8A3CE4FB-CF61-96A8-AC38-64A61C46742A}"/>
              </a:ext>
            </a:extLst>
          </p:cNvPr>
          <p:cNvSpPr txBox="1"/>
          <p:nvPr/>
        </p:nvSpPr>
        <p:spPr>
          <a:xfrm>
            <a:off x="9804400" y="2285999"/>
            <a:ext cx="75692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DM Sans" pitchFamily="2" charset="0"/>
              </a:rPr>
              <a:t>DRAIN CURRENT</a:t>
            </a:r>
          </a:p>
        </p:txBody>
      </p:sp>
      <p:sp>
        <p:nvSpPr>
          <p:cNvPr id="10" name="td">
            <a:extLst>
              <a:ext uri="{FF2B5EF4-FFF2-40B4-BE49-F238E27FC236}">
                <a16:creationId xmlns:a16="http://schemas.microsoft.com/office/drawing/2014/main" id="{11A598DB-99DF-59B8-C966-EE224123E2FE}"/>
              </a:ext>
            </a:extLst>
          </p:cNvPr>
          <p:cNvSpPr txBox="1"/>
          <p:nvPr/>
        </p:nvSpPr>
        <p:spPr>
          <a:xfrm>
            <a:off x="1219200" y="2971799"/>
            <a:ext cx="28194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000">
                <a:solidFill>
                  <a:srgbClr val="15241D"/>
                </a:solidFill>
                <a:latin typeface="Bebas Neue" panose="020B0606020202050201" pitchFamily="34" charset="0"/>
              </a:rPr>
              <a:t>Cutoff</a:t>
            </a:r>
          </a:p>
        </p:txBody>
      </p:sp>
      <p:sp>
        <p:nvSpPr>
          <p:cNvPr id="11" name="td">
            <a:extLst>
              <a:ext uri="{FF2B5EF4-FFF2-40B4-BE49-F238E27FC236}">
                <a16:creationId xmlns:a16="http://schemas.microsoft.com/office/drawing/2014/main" id="{37BC33AC-3487-5EDB-B5EA-872F1CFF6DFC}"/>
              </a:ext>
            </a:extLst>
          </p:cNvPr>
          <p:cNvSpPr txBox="1"/>
          <p:nvPr/>
        </p:nvSpPr>
        <p:spPr>
          <a:xfrm>
            <a:off x="4343400" y="2971799"/>
            <a:ext cx="51562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≤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q">
                <a:extLst>
                  <a:ext uri="{FF2B5EF4-FFF2-40B4-BE49-F238E27FC236}">
                    <a16:creationId xmlns:a16="http://schemas.microsoft.com/office/drawing/2014/main" id="{D7146CB9-2035-BBAB-E59C-731FD49F36BD}"/>
                  </a:ext>
                </a:extLst>
              </p:cNvPr>
              <p:cNvSpPr txBox="1"/>
              <p:nvPr/>
            </p:nvSpPr>
            <p:spPr>
              <a:xfrm>
                <a:off x="9804400" y="30225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=0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eq">
                <a:extLst>
                  <a:ext uri="{FF2B5EF4-FFF2-40B4-BE49-F238E27FC236}">
                    <a16:creationId xmlns:a16="http://schemas.microsoft.com/office/drawing/2014/main" id="{D7146CB9-2035-BBAB-E59C-731FD49F36BD}"/>
                  </a:ext>
                </a:extLst>
              </p:cNvPr>
              <p:cNvSpPr txBox="1"/>
              <p:nvPr/>
            </p:nvSpPr>
            <p:spPr>
              <a:xfrm>
                <a:off x="9804400" y="30225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0</a:t>
                </a:r>
              </a:p>
            </p:txBody>
          </p:sp>
        </mc:Fallback>
      </mc:AlternateContent>
      <p:cxnSp>
        <p:nvCxnSpPr>
          <p:cNvPr id="13" name="rule">
            <a:extLst>
              <a:ext uri="{FF2B5EF4-FFF2-40B4-BE49-F238E27FC236}">
                <a16:creationId xmlns:a16="http://schemas.microsoft.com/office/drawing/2014/main" id="{7A440AC9-F78A-1773-4663-D86C3F3C6CAD}"/>
              </a:ext>
            </a:extLst>
          </p:cNvPr>
          <p:cNvCxnSpPr/>
          <p:nvPr/>
        </p:nvCxnSpPr>
        <p:spPr>
          <a:xfrm>
            <a:off x="914400" y="4089400"/>
            <a:ext cx="16459200" cy="0"/>
          </a:xfrm>
          <a:prstGeom prst="line">
            <a:avLst/>
          </a:prstGeom>
          <a:ln w="12700">
            <a:solidFill>
              <a:srgbClr val="D5DC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d">
            <a:extLst>
              <a:ext uri="{FF2B5EF4-FFF2-40B4-BE49-F238E27FC236}">
                <a16:creationId xmlns:a16="http://schemas.microsoft.com/office/drawing/2014/main" id="{2E64FEB2-19F8-A4E4-46BA-0B60CDA60FC9}"/>
              </a:ext>
            </a:extLst>
          </p:cNvPr>
          <p:cNvSpPr txBox="1"/>
          <p:nvPr/>
        </p:nvSpPr>
        <p:spPr>
          <a:xfrm>
            <a:off x="1219200" y="4190999"/>
            <a:ext cx="28194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000">
                <a:solidFill>
                  <a:srgbClr val="15241D"/>
                </a:solidFill>
                <a:latin typeface="Bebas Neue" panose="020B0606020202050201" pitchFamily="34" charset="0"/>
              </a:rPr>
              <a:t>Triode</a:t>
            </a:r>
          </a:p>
        </p:txBody>
      </p:sp>
      <p:sp>
        <p:nvSpPr>
          <p:cNvPr id="15" name="td">
            <a:extLst>
              <a:ext uri="{FF2B5EF4-FFF2-40B4-BE49-F238E27FC236}">
                <a16:creationId xmlns:a16="http://schemas.microsoft.com/office/drawing/2014/main" id="{D566628B-26DA-CA62-B19B-E444E644AFD5}"/>
              </a:ext>
            </a:extLst>
          </p:cNvPr>
          <p:cNvSpPr txBox="1"/>
          <p:nvPr/>
        </p:nvSpPr>
        <p:spPr>
          <a:xfrm>
            <a:off x="4343400" y="4190999"/>
            <a:ext cx="51562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&gt;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, 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&lt;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eq">
                <a:extLst>
                  <a:ext uri="{FF2B5EF4-FFF2-40B4-BE49-F238E27FC236}">
                    <a16:creationId xmlns:a16="http://schemas.microsoft.com/office/drawing/2014/main" id="{C376F06A-7EDB-7DD8-B40C-96E0D350AA99}"/>
                  </a:ext>
                </a:extLst>
              </p:cNvPr>
              <p:cNvSpPr txBox="1"/>
              <p:nvPr/>
            </p:nvSpPr>
            <p:spPr>
              <a:xfrm>
                <a:off x="9804400" y="42417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𝐺𝑆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</m:s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</m:ctrlPr>
                            </m:sSubSupPr>
                            <m:e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𝐷𝑆</m:t>
                              </m:r>
                            </m:sub>
                            <m:sup>
                              <m:r>
                                <a:rPr lang="en-US" sz="2400" b="0">
                                  <a:solidFill>
                                    <a:srgbClr val="15241D"/>
                                  </a:solidFill>
                                  <a:latin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" name="eq">
                <a:extLst>
                  <a:ext uri="{FF2B5EF4-FFF2-40B4-BE49-F238E27FC236}">
                    <a16:creationId xmlns:a16="http://schemas.microsoft.com/office/drawing/2014/main" id="{C376F06A-7EDB-7DD8-B40C-96E0D350AA99}"/>
                  </a:ext>
                </a:extLst>
              </p:cNvPr>
              <p:cNvSpPr txBox="1"/>
              <p:nvPr/>
            </p:nvSpPr>
            <p:spPr>
              <a:xfrm>
                <a:off x="9804400" y="42417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k_n^{\prime}\frac{W}{L}\left[(v_{GS}-V_t)\,v_{DS}-\frac{1}{2}v_{DS}^2\right]</a:t>
                </a:r>
              </a:p>
            </p:txBody>
          </p:sp>
        </mc:Fallback>
      </mc:AlternateContent>
      <p:cxnSp>
        <p:nvCxnSpPr>
          <p:cNvPr id="17" name="rule">
            <a:extLst>
              <a:ext uri="{FF2B5EF4-FFF2-40B4-BE49-F238E27FC236}">
                <a16:creationId xmlns:a16="http://schemas.microsoft.com/office/drawing/2014/main" id="{3FC9C0E4-910F-E82A-45F0-2405A381663D}"/>
              </a:ext>
            </a:extLst>
          </p:cNvPr>
          <p:cNvCxnSpPr/>
          <p:nvPr/>
        </p:nvCxnSpPr>
        <p:spPr>
          <a:xfrm>
            <a:off x="914400" y="5308600"/>
            <a:ext cx="16459200" cy="0"/>
          </a:xfrm>
          <a:prstGeom prst="line">
            <a:avLst/>
          </a:prstGeom>
          <a:ln w="12700">
            <a:solidFill>
              <a:srgbClr val="D5DC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d">
            <a:extLst>
              <a:ext uri="{FF2B5EF4-FFF2-40B4-BE49-F238E27FC236}">
                <a16:creationId xmlns:a16="http://schemas.microsoft.com/office/drawing/2014/main" id="{AC4DF943-6C88-8817-B6A3-673443DDEF14}"/>
              </a:ext>
            </a:extLst>
          </p:cNvPr>
          <p:cNvSpPr txBox="1"/>
          <p:nvPr/>
        </p:nvSpPr>
        <p:spPr>
          <a:xfrm>
            <a:off x="1219200" y="5410199"/>
            <a:ext cx="28194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000">
                <a:solidFill>
                  <a:srgbClr val="15241D"/>
                </a:solidFill>
                <a:latin typeface="Bebas Neue" panose="020B0606020202050201" pitchFamily="34" charset="0"/>
              </a:rPr>
              <a:t>Saturation</a:t>
            </a:r>
          </a:p>
        </p:txBody>
      </p:sp>
      <p:sp>
        <p:nvSpPr>
          <p:cNvPr id="19" name="td">
            <a:extLst>
              <a:ext uri="{FF2B5EF4-FFF2-40B4-BE49-F238E27FC236}">
                <a16:creationId xmlns:a16="http://schemas.microsoft.com/office/drawing/2014/main" id="{FE628643-F6D4-434A-2D3F-23544B951F4F}"/>
              </a:ext>
            </a:extLst>
          </p:cNvPr>
          <p:cNvSpPr txBox="1"/>
          <p:nvPr/>
        </p:nvSpPr>
        <p:spPr>
          <a:xfrm>
            <a:off x="4343400" y="5410199"/>
            <a:ext cx="51562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&gt;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, 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DS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≥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1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1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1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eq">
                <a:extLst>
                  <a:ext uri="{FF2B5EF4-FFF2-40B4-BE49-F238E27FC236}">
                    <a16:creationId xmlns:a16="http://schemas.microsoft.com/office/drawing/2014/main" id="{52623831-1311-B6E9-B006-CBA30C28DF08}"/>
                  </a:ext>
                </a:extLst>
              </p:cNvPr>
              <p:cNvSpPr txBox="1"/>
              <p:nvPr/>
            </p:nvSpPr>
            <p:spPr>
              <a:xfrm>
                <a:off x="9804400" y="54609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𝐷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Sup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𝑘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′</m:t>
                          </m:r>
                        </m:sup>
                      </m:sSubSup>
                      <m:f>
                        <m:f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𝑊</m:t>
                          </m:r>
                        </m:num>
                        <m:den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𝐿</m:t>
                          </m:r>
                        </m:den>
                      </m:f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𝐺𝑆</m:t>
                          </m:r>
                        </m:sub>
                      </m:sSub>
                      <m:r>
                        <a:rPr lang="en-US" sz="2400" b="0">
                          <a:solidFill>
                            <a:srgbClr val="15241D"/>
                          </a:solidFill>
                          <a:latin typeface="Cambria Math"/>
                          <a:cs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𝑉</m:t>
                          </m:r>
                        </m:e>
                        <m:sub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)</m:t>
                          </m:r>
                        </m:e>
                        <m:sup>
                          <m:r>
                            <a:rPr lang="en-US" sz="2400" b="0">
                              <a:solidFill>
                                <a:srgbClr val="15241D"/>
                              </a:solidFill>
                              <a:latin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" name="eq">
                <a:extLst>
                  <a:ext uri="{FF2B5EF4-FFF2-40B4-BE49-F238E27FC236}">
                    <a16:creationId xmlns:a16="http://schemas.microsoft.com/office/drawing/2014/main" id="{52623831-1311-B6E9-B006-CBA30C28DF08}"/>
                  </a:ext>
                </a:extLst>
              </p:cNvPr>
              <p:cNvSpPr txBox="1"/>
              <p:nvPr/>
            </p:nvSpPr>
            <p:spPr>
              <a:xfrm>
                <a:off x="9804400" y="5460999"/>
                <a:ext cx="7569200" cy="914400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 anchor="ctr">
                <a:noAutofit/>
              </a:bodyPr>
              <a:lstStyle/>
              <a:p>
                <a:r>
                  <a:t>i_D = \frac{1}{2}\,k_n^{\prime}\frac{W}{L}\,(v_{GS}-V_t)^2</a:t>
                </a:r>
              </a:p>
            </p:txBody>
          </p:sp>
        </mc:Fallback>
      </mc:AlternateContent>
      <p:cxnSp>
        <p:nvCxnSpPr>
          <p:cNvPr id="21" name="rule">
            <a:extLst>
              <a:ext uri="{FF2B5EF4-FFF2-40B4-BE49-F238E27FC236}">
                <a16:creationId xmlns:a16="http://schemas.microsoft.com/office/drawing/2014/main" id="{9A279226-B444-723F-9A91-F967F15632A7}"/>
              </a:ext>
            </a:extLst>
          </p:cNvPr>
          <p:cNvCxnSpPr/>
          <p:nvPr/>
        </p:nvCxnSpPr>
        <p:spPr>
          <a:xfrm>
            <a:off x="914400" y="6527800"/>
            <a:ext cx="16459200" cy="0"/>
          </a:xfrm>
          <a:prstGeom prst="line">
            <a:avLst/>
          </a:prstGeom>
          <a:ln w="12700">
            <a:solidFill>
              <a:srgbClr val="D5DC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oint">
            <a:extLst>
              <a:ext uri="{FF2B5EF4-FFF2-40B4-BE49-F238E27FC236}">
                <a16:creationId xmlns:a16="http://schemas.microsoft.com/office/drawing/2014/main" id="{15A09E91-3290-FF94-9676-133AED9289E4}"/>
              </a:ext>
            </a:extLst>
          </p:cNvPr>
          <p:cNvSpPr txBox="1"/>
          <p:nvPr/>
        </p:nvSpPr>
        <p:spPr>
          <a:xfrm>
            <a:off x="914400" y="6883400"/>
            <a:ext cx="16459200" cy="34721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DC problems: </a:t>
            </a:r>
            <a:r>
              <a:rPr lang="en-US" sz="2200" b="1">
                <a:solidFill>
                  <a:srgbClr val="15241D"/>
                </a:solidFill>
                <a:latin typeface="DM Sans" pitchFamily="2" charset="0"/>
              </a:rPr>
              <a:t>assume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a region, </a:t>
            </a:r>
            <a:r>
              <a:rPr lang="en-US" sz="2200" b="1">
                <a:solidFill>
                  <a:srgbClr val="15241D"/>
                </a:solidFill>
                <a:latin typeface="DM Sans" pitchFamily="2" charset="0"/>
              </a:rPr>
              <a:t>solve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, then </a:t>
            </a:r>
            <a:r>
              <a:rPr lang="en-US" sz="2200" b="1">
                <a:solidFill>
                  <a:srgbClr val="15241D"/>
                </a:solidFill>
                <a:latin typeface="DM Sans" pitchFamily="2" charset="0"/>
              </a:rPr>
              <a:t>check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the assumption.</a:t>
            </a:r>
          </a:p>
        </p:txBody>
      </p:sp>
      <p:sp>
        <p:nvSpPr>
          <p:cNvPr id="23" name="point">
            <a:extLst>
              <a:ext uri="{FF2B5EF4-FFF2-40B4-BE49-F238E27FC236}">
                <a16:creationId xmlns:a16="http://schemas.microsoft.com/office/drawing/2014/main" id="{F51365CB-526B-2EE3-263F-EB187F76A4A9}"/>
              </a:ext>
            </a:extLst>
          </p:cNvPr>
          <p:cNvSpPr txBox="1"/>
          <p:nvPr/>
        </p:nvSpPr>
        <p:spPr>
          <a:xfrm>
            <a:off x="914400" y="7383011"/>
            <a:ext cx="16459200" cy="3439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marL="330200" indent="-330200">
              <a:lnSpc>
                <a:spcPct val="105000"/>
              </a:lnSpc>
              <a:buClr>
                <a:srgbClr val="145A43"/>
              </a:buClr>
              <a:buFont typeface="+mj-lt"/>
              <a:buChar char="■"/>
            </a:pP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Small signals: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g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m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= k′</a:t>
            </a:r>
            <a:r>
              <a:rPr lang="en-US" sz="2200" baseline="-25000">
                <a:solidFill>
                  <a:srgbClr val="15241D"/>
                </a:solidFill>
                <a:latin typeface="DM Sans" pitchFamily="2" charset="0"/>
              </a:rPr>
              <a:t>n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(W/L)(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GS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−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t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); a common-source stage has 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A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v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 = −</a:t>
            </a:r>
            <a:r>
              <a:rPr lang="en-US" sz="2200" i="1">
                <a:solidFill>
                  <a:srgbClr val="15241D"/>
                </a:solidFill>
                <a:latin typeface="DM Sans" pitchFamily="2" charset="0"/>
              </a:rPr>
              <a:t>g</a:t>
            </a:r>
            <a:r>
              <a:rPr lang="en-US" sz="2200" i="1" baseline="-25000">
                <a:solidFill>
                  <a:srgbClr val="15241D"/>
                </a:solidFill>
                <a:latin typeface="DM Sans" pitchFamily="2" charset="0"/>
              </a:rPr>
              <a:t>m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R</a:t>
            </a:r>
            <a:r>
              <a:rPr lang="en-US" sz="2200" baseline="-25000">
                <a:solidFill>
                  <a:srgbClr val="15241D"/>
                </a:solidFill>
                <a:latin typeface="DM Sans" pitchFamily="2" charset="0"/>
              </a:rPr>
              <a:t>D</a:t>
            </a:r>
            <a:r>
              <a:rPr lang="en-US" sz="2200">
                <a:solidFill>
                  <a:srgbClr val="15241D"/>
                </a:solidFill>
                <a:latin typeface="DM Sans" pitchFamily="2" charset="0"/>
              </a:rPr>
              <a:t>.</a:t>
            </a:r>
          </a:p>
        </p:txBody>
      </p:sp>
      <p:sp>
        <p:nvSpPr>
          <p:cNvPr id="24" name="chrome page">
            <a:extLst>
              <a:ext uri="{FF2B5EF4-FFF2-40B4-BE49-F238E27FC236}">
                <a16:creationId xmlns:a16="http://schemas.microsoft.com/office/drawing/2014/main" id="{50792A12-165C-289A-8AB4-CDC8A3CC1832}"/>
              </a:ext>
            </a:extLst>
          </p:cNvPr>
          <p:cNvSpPr/>
          <p:nvPr/>
        </p:nvSpPr>
        <p:spPr>
          <a:xfrm>
            <a:off x="16992600" y="9677400"/>
            <a:ext cx="381000" cy="381000"/>
          </a:xfrm>
          <a:prstGeom prst="rect">
            <a:avLst/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hrome page">
            <a:extLst>
              <a:ext uri="{FF2B5EF4-FFF2-40B4-BE49-F238E27FC236}">
                <a16:creationId xmlns:a16="http://schemas.microsoft.com/office/drawing/2014/main" id="{7E8F9AF0-E90C-6901-8EAE-5010B0121DFA}"/>
              </a:ext>
            </a:extLst>
          </p:cNvPr>
          <p:cNvSpPr txBox="1"/>
          <p:nvPr/>
        </p:nvSpPr>
        <p:spPr>
          <a:xfrm>
            <a:off x="16992600" y="9677399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DM Sans" pitchFamily="2" charset="0"/>
              </a:rPr>
              <a:t>74</a:t>
            </a:r>
          </a:p>
        </p:txBody>
      </p:sp>
    </p:spTree>
    <p:extLst>
      <p:ext uri="{BB962C8B-B14F-4D97-AF65-F5344CB8AC3E}">
        <p14:creationId xmlns:p14="http://schemas.microsoft.com/office/powerpoint/2010/main" val="277051981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losing #nochrome s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630DEA1-B3A9-EA87-F5D3-E71874EE0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2921000"/>
            <a:ext cx="10160000" cy="1524000"/>
          </a:xfrm>
        </p:spPr>
        <p:txBody>
          <a:bodyPr wrap="square" lIns="0" tIns="0" rIns="0" bIns="0" anchor="b">
            <a:noAutofit/>
          </a:bodyPr>
          <a:lstStyle/>
          <a:p>
            <a:r>
              <a:rPr lang="en-US" sz="12000">
                <a:solidFill>
                  <a:srgbClr val="15241D"/>
                </a:solidFill>
                <a:latin typeface="Bebas Neue" panose="020B0606020202050201" pitchFamily="34" charset="0"/>
              </a:rPr>
              <a:t>Thank you</a:t>
            </a:r>
          </a:p>
        </p:txBody>
      </p:sp>
      <p:sp>
        <p:nvSpPr>
          <p:cNvPr id="3" name="geo">
            <a:extLst>
              <a:ext uri="{FF2B5EF4-FFF2-40B4-BE49-F238E27FC236}">
                <a16:creationId xmlns:a16="http://schemas.microsoft.com/office/drawing/2014/main" id="{1BE21D32-13B8-4D06-C6C6-539CF6090048}"/>
              </a:ext>
            </a:extLst>
          </p:cNvPr>
          <p:cNvSpPr/>
          <p:nvPr/>
        </p:nvSpPr>
        <p:spPr>
          <a:xfrm>
            <a:off x="-635000" y="0"/>
            <a:ext cx="3810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eo">
            <a:extLst>
              <a:ext uri="{FF2B5EF4-FFF2-40B4-BE49-F238E27FC236}">
                <a16:creationId xmlns:a16="http://schemas.microsoft.com/office/drawing/2014/main" id="{D132E10B-399B-FD36-5614-B9547D146805}"/>
              </a:ext>
            </a:extLst>
          </p:cNvPr>
          <p:cNvSpPr/>
          <p:nvPr/>
        </p:nvSpPr>
        <p:spPr>
          <a:xfrm>
            <a:off x="2946400" y="0"/>
            <a:ext cx="889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eo">
            <a:extLst>
              <a:ext uri="{FF2B5EF4-FFF2-40B4-BE49-F238E27FC236}">
                <a16:creationId xmlns:a16="http://schemas.microsoft.com/office/drawing/2014/main" id="{AD9219E5-18FB-87FE-9541-77D205828D24}"/>
              </a:ext>
            </a:extLst>
          </p:cNvPr>
          <p:cNvSpPr/>
          <p:nvPr/>
        </p:nvSpPr>
        <p:spPr>
          <a:xfrm>
            <a:off x="3810000" y="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eo">
            <a:extLst>
              <a:ext uri="{FF2B5EF4-FFF2-40B4-BE49-F238E27FC236}">
                <a16:creationId xmlns:a16="http://schemas.microsoft.com/office/drawing/2014/main" id="{37A284CC-E460-A3ED-85BD-59726400693C}"/>
              </a:ext>
            </a:extLst>
          </p:cNvPr>
          <p:cNvSpPr/>
          <p:nvPr/>
        </p:nvSpPr>
        <p:spPr>
          <a:xfrm>
            <a:off x="15875000" y="0"/>
            <a:ext cx="3175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eo">
            <a:extLst>
              <a:ext uri="{FF2B5EF4-FFF2-40B4-BE49-F238E27FC236}">
                <a16:creationId xmlns:a16="http://schemas.microsoft.com/office/drawing/2014/main" id="{B2763751-0224-1349-55FE-942A93C81EEA}"/>
              </a:ext>
            </a:extLst>
          </p:cNvPr>
          <p:cNvSpPr/>
          <p:nvPr/>
        </p:nvSpPr>
        <p:spPr>
          <a:xfrm>
            <a:off x="-635000" y="9575800"/>
            <a:ext cx="2540000" cy="711200"/>
          </a:xfrm>
          <a:prstGeom prst="parallelogram">
            <a:avLst>
              <a:gd name="adj" fmla="val 35000"/>
            </a:avLst>
          </a:prstGeom>
          <a:solidFill>
            <a:srgbClr val="B858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geo">
            <a:extLst>
              <a:ext uri="{FF2B5EF4-FFF2-40B4-BE49-F238E27FC236}">
                <a16:creationId xmlns:a16="http://schemas.microsoft.com/office/drawing/2014/main" id="{3FB80292-C0EE-95BD-3B7C-CFB5FF7BFE10}"/>
              </a:ext>
            </a:extLst>
          </p:cNvPr>
          <p:cNvSpPr/>
          <p:nvPr/>
        </p:nvSpPr>
        <p:spPr>
          <a:xfrm>
            <a:off x="1905000" y="10109200"/>
            <a:ext cx="7112000" cy="177800"/>
          </a:xfrm>
          <a:prstGeom prst="parallelogram">
            <a:avLst>
              <a:gd name="adj" fmla="val 35000"/>
            </a:avLst>
          </a:prstGeom>
          <a:solidFill>
            <a:srgbClr val="CBD2C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eo">
            <a:extLst>
              <a:ext uri="{FF2B5EF4-FFF2-40B4-BE49-F238E27FC236}">
                <a16:creationId xmlns:a16="http://schemas.microsoft.com/office/drawing/2014/main" id="{F4D0AC06-D3C1-F97F-38CD-B8128BCED13F}"/>
              </a:ext>
            </a:extLst>
          </p:cNvPr>
          <p:cNvSpPr/>
          <p:nvPr/>
        </p:nvSpPr>
        <p:spPr>
          <a:xfrm>
            <a:off x="14986000" y="9575800"/>
            <a:ext cx="40640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eo">
            <a:extLst>
              <a:ext uri="{FF2B5EF4-FFF2-40B4-BE49-F238E27FC236}">
                <a16:creationId xmlns:a16="http://schemas.microsoft.com/office/drawing/2014/main" id="{AB569616-9B8B-F77D-B9FF-C4C263F7C8D7}"/>
              </a:ext>
            </a:extLst>
          </p:cNvPr>
          <p:cNvSpPr/>
          <p:nvPr/>
        </p:nvSpPr>
        <p:spPr>
          <a:xfrm>
            <a:off x="14097000" y="9575800"/>
            <a:ext cx="812800" cy="711200"/>
          </a:xfrm>
          <a:prstGeom prst="parallelogram">
            <a:avLst>
              <a:gd name="adj" fmla="val 35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ag">
            <a:extLst>
              <a:ext uri="{FF2B5EF4-FFF2-40B4-BE49-F238E27FC236}">
                <a16:creationId xmlns:a16="http://schemas.microsoft.com/office/drawing/2014/main" id="{DF61E8D5-BA4C-AFA4-AF66-15754CEAAFD5}"/>
              </a:ext>
            </a:extLst>
          </p:cNvPr>
          <p:cNvSpPr/>
          <p:nvPr/>
        </p:nvSpPr>
        <p:spPr>
          <a:xfrm>
            <a:off x="1016000" y="4826000"/>
            <a:ext cx="1815592" cy="330200"/>
          </a:xfrm>
          <a:prstGeom prst="parallelogram">
            <a:avLst>
              <a:gd name="adj" fmla="val 40000"/>
            </a:avLst>
          </a:prstGeom>
          <a:solidFill>
            <a:srgbClr val="145A4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DM Sans" pitchFamily="2" charset="0"/>
              </a:rPr>
              <a:t>NEXT LECTURE</a:t>
            </a:r>
          </a:p>
        </p:txBody>
      </p:sp>
      <p:sp>
        <p:nvSpPr>
          <p:cNvPr id="12" name="next">
            <a:extLst>
              <a:ext uri="{FF2B5EF4-FFF2-40B4-BE49-F238E27FC236}">
                <a16:creationId xmlns:a16="http://schemas.microsoft.com/office/drawing/2014/main" id="{8DB813EA-C073-79E7-5D22-F804313D31A6}"/>
              </a:ext>
            </a:extLst>
          </p:cNvPr>
          <p:cNvSpPr txBox="1"/>
          <p:nvPr/>
        </p:nvSpPr>
        <p:spPr>
          <a:xfrm>
            <a:off x="1016000" y="5333999"/>
            <a:ext cx="88900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800">
                <a:solidFill>
                  <a:srgbClr val="15241D"/>
                </a:solidFill>
                <a:latin typeface="Bebas Neue" panose="020B0606020202050201" pitchFamily="34" charset="0"/>
              </a:rPr>
              <a:t>Lecture 4: Bipolar junction transistors (BJTs)</a:t>
            </a:r>
          </a:p>
        </p:txBody>
      </p:sp>
      <p:sp>
        <p:nvSpPr>
          <p:cNvPr id="13" name="thanks">
            <a:extLst>
              <a:ext uri="{FF2B5EF4-FFF2-40B4-BE49-F238E27FC236}">
                <a16:creationId xmlns:a16="http://schemas.microsoft.com/office/drawing/2014/main" id="{425A6639-DB70-45B6-19EE-DA289324650E}"/>
              </a:ext>
            </a:extLst>
          </p:cNvPr>
          <p:cNvSpPr txBox="1"/>
          <p:nvPr/>
        </p:nvSpPr>
        <p:spPr>
          <a:xfrm>
            <a:off x="1016000" y="6603999"/>
            <a:ext cx="9652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With thanks to </a:t>
            </a:r>
            <a:r>
              <a:rPr lang="en-US" sz="2000" b="1">
                <a:solidFill>
                  <a:srgbClr val="4D5B54"/>
                </a:solidFill>
                <a:latin typeface="DM Sans" pitchFamily="2" charset="0"/>
              </a:rPr>
              <a:t>Dr. Sameh Osama Ezzat</a:t>
            </a:r>
            <a:r>
              <a:rPr lang="en-US" sz="2000">
                <a:solidFill>
                  <a:srgbClr val="4D5B54"/>
                </a:solidFill>
                <a:latin typeface="DM Sans" pitchFamily="2" charset="0"/>
              </a:rPr>
              <a:t>, who prepared the original material for this lecture.</a:t>
            </a:r>
          </a:p>
        </p:txBody>
      </p:sp>
      <p:sp>
        <p:nvSpPr>
          <p:cNvPr id="14" name="sources">
            <a:extLst>
              <a:ext uri="{FF2B5EF4-FFF2-40B4-BE49-F238E27FC236}">
                <a16:creationId xmlns:a16="http://schemas.microsoft.com/office/drawing/2014/main" id="{682BE7D2-D6CE-1D1A-261A-7501C6F0C81F}"/>
              </a:ext>
            </a:extLst>
          </p:cNvPr>
          <p:cNvSpPr txBox="1"/>
          <p:nvPr/>
        </p:nvSpPr>
        <p:spPr>
          <a:xfrm>
            <a:off x="1016000" y="7492999"/>
            <a:ext cx="96520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500">
                <a:solidFill>
                  <a:srgbClr val="4D5B54"/>
                </a:solidFill>
                <a:latin typeface="DM Sans" pitchFamily="2" charset="0"/>
              </a:rPr>
              <a:t>Figures: Sedra &amp; Smith, Microelectronic Circuits (Oxford University Press); other diagrams from web sources via the original slides; circuits and the load-line plot redrawn for this lecture.</a:t>
            </a:r>
          </a:p>
        </p:txBody>
      </p:sp>
    </p:spTree>
    <p:extLst>
      <p:ext uri="{BB962C8B-B14F-4D97-AF65-F5344CB8AC3E}">
        <p14:creationId xmlns:p14="http://schemas.microsoft.com/office/powerpoint/2010/main" val="240197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6751</Words>
  <Application>Microsoft Office PowerPoint</Application>
  <PresentationFormat>Custom</PresentationFormat>
  <Paragraphs>1094</Paragraphs>
  <Slides>75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2" baseType="lpstr">
      <vt:lpstr>Aptos</vt:lpstr>
      <vt:lpstr>Aptos Display</vt:lpstr>
      <vt:lpstr>Arial</vt:lpstr>
      <vt:lpstr>Bebas Neue</vt:lpstr>
      <vt:lpstr>Cambria Math</vt:lpstr>
      <vt:lpstr>DM Sans</vt:lpstr>
      <vt:lpstr>Office Theme</vt:lpstr>
      <vt:lpstr>MOSFETs</vt:lpstr>
      <vt:lpstr>Lecture map</vt:lpstr>
      <vt:lpstr>Structure and operation</vt:lpstr>
      <vt:lpstr>The n-channel enhancement MOSFET</vt:lpstr>
      <vt:lpstr>The n-channel enhancement MOSFET</vt:lpstr>
      <vt:lpstr>The n-channel enhancement MOSFET</vt:lpstr>
      <vt:lpstr>With no gate voltage, no current flows</vt:lpstr>
      <vt:lpstr>With no gate voltage, no current flows</vt:lpstr>
      <vt:lpstr>With no gate voltage, no current flows</vt:lpstr>
      <vt:lpstr>Creating a channel: the threshold voltage</vt:lpstr>
      <vt:lpstr>Creating a channel: the threshold voltage</vt:lpstr>
      <vt:lpstr>Creating a channel: the threshold voltage</vt:lpstr>
      <vt:lpstr>Increasing vDS: the channel tapers and pinches off</vt:lpstr>
      <vt:lpstr>Increasing vDS: the channel tapers and pinches off</vt:lpstr>
      <vt:lpstr>Increasing vDS: the channel tapers and pinches off</vt:lpstr>
      <vt:lpstr>CMOS: NMOS and PMOS on one chip</vt:lpstr>
      <vt:lpstr>CMOS: NMOS and PMOS on one chip</vt:lpstr>
      <vt:lpstr>Circuit symbols: n-channel and p-channel</vt:lpstr>
      <vt:lpstr>Circuit symbols: n-channel and p-channel</vt:lpstr>
      <vt:lpstr>I–V characteristics</vt:lpstr>
      <vt:lpstr>The iD–vDS family of curves</vt:lpstr>
      <vt:lpstr>The iD–vDS family of curves</vt:lpstr>
      <vt:lpstr>The iD–vDS family of curves</vt:lpstr>
      <vt:lpstr>The iD–vDS family of curves</vt:lpstr>
      <vt:lpstr>In saturation, iD depends only on vGS</vt:lpstr>
      <vt:lpstr>In saturation, iD depends only on vGS</vt:lpstr>
      <vt:lpstr>In saturation, iD depends only on vGS</vt:lpstr>
      <vt:lpstr>Triode and saturation: one curve, two equations</vt:lpstr>
      <vt:lpstr>Triode and saturation: one curve, two equations</vt:lpstr>
      <vt:lpstr>Triode and saturation: one curve, two equations</vt:lpstr>
      <vt:lpstr>Triode and saturation: one curve, two equations</vt:lpstr>
      <vt:lpstr>Small vDS: a voltage-controlled resistor</vt:lpstr>
      <vt:lpstr>Small vDS: a voltage-controlled resistor</vt:lpstr>
      <vt:lpstr>Small vDS: a voltage-controlled resistor</vt:lpstr>
      <vt:lpstr>Large-signal model in saturation</vt:lpstr>
      <vt:lpstr>Large-signal model in saturation</vt:lpstr>
      <vt:lpstr>Large-signal model in saturation</vt:lpstr>
      <vt:lpstr>MOSFETs in DC circuits</vt:lpstr>
      <vt:lpstr>DC analysis: assume, solve, check</vt:lpstr>
      <vt:lpstr>DC analysis: assume, solve, check</vt:lpstr>
      <vt:lpstr>DC analysis: assume, solve, check</vt:lpstr>
      <vt:lpstr>DC analysis: assume, solve, check</vt:lpstr>
      <vt:lpstr>Example 1: find the drain voltage (1 of 2)</vt:lpstr>
      <vt:lpstr>Example 1: find the drain voltage (1 of 2)</vt:lpstr>
      <vt:lpstr>Example 1: find the drain voltage (1 of 2)</vt:lpstr>
      <vt:lpstr>Example 1: find the drain voltage (2 of 2)</vt:lpstr>
      <vt:lpstr>Example 1: find the drain voltage (2 of 2)</vt:lpstr>
      <vt:lpstr>Example 1: find the drain voltage (2 of 2)</vt:lpstr>
      <vt:lpstr>Example 1: find the drain voltage (2 of 2)</vt:lpstr>
      <vt:lpstr>The current mirror</vt:lpstr>
      <vt:lpstr>The current mirror</vt:lpstr>
      <vt:lpstr>The current mirror</vt:lpstr>
      <vt:lpstr>The MOSFET as an amplifier</vt:lpstr>
      <vt:lpstr>Amplifier action: the load line</vt:lpstr>
      <vt:lpstr>Amplifier action: the load line</vt:lpstr>
      <vt:lpstr>Amplifier action: the load line</vt:lpstr>
      <vt:lpstr>Small-signal operation: the transconductance gm</vt:lpstr>
      <vt:lpstr>Small-signal operation: the transconductance gm</vt:lpstr>
      <vt:lpstr>Small-signal operation: the transconductance gm</vt:lpstr>
      <vt:lpstr>Small-signal operation: the transconductance gm</vt:lpstr>
      <vt:lpstr>Small-signal equivalent circuits</vt:lpstr>
      <vt:lpstr>Small-signal equivalent circuits</vt:lpstr>
      <vt:lpstr>Example 2: bias point (1 of 2)</vt:lpstr>
      <vt:lpstr>Example 2: bias point (1 of 2)</vt:lpstr>
      <vt:lpstr>Example 2: bias point (1 of 2)</vt:lpstr>
      <vt:lpstr>Example 2: gain and input resistance (2 of 2)</vt:lpstr>
      <vt:lpstr>Example 2: gain and input resistance (2 of 2)</vt:lpstr>
      <vt:lpstr>Example 2: gain and input resistance (2 of 2)</vt:lpstr>
      <vt:lpstr>Example 2: gain and input resistance (2 of 2)</vt:lpstr>
      <vt:lpstr>The MOSFET as a switch</vt:lpstr>
      <vt:lpstr>The MOSFET as a switch</vt:lpstr>
      <vt:lpstr>The MOSFET as a switch</vt:lpstr>
      <vt:lpstr>The MOSFET as a switch</vt:lpstr>
      <vt:lpstr>Summary: three regions of operation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Hesham.Hany</dc:creator>
  <cp:lastModifiedBy>Hesham.Hany</cp:lastModifiedBy>
  <cp:revision>2</cp:revision>
  <dcterms:created xsi:type="dcterms:W3CDTF">2026-10-01T14:51:49Z</dcterms:created>
  <dcterms:modified xsi:type="dcterms:W3CDTF">2026-10-01T14:52:17Z</dcterms:modified>
</cp:coreProperties>
</file>