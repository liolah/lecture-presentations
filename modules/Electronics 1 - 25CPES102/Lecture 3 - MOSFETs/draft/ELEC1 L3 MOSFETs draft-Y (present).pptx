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326" r:id="rId6"/>
    <p:sldId id="327" r:id="rId7"/>
    <p:sldId id="260" r:id="rId8"/>
    <p:sldId id="324" r:id="rId9"/>
    <p:sldId id="325" r:id="rId10"/>
    <p:sldId id="261" r:id="rId11"/>
    <p:sldId id="322" r:id="rId12"/>
    <p:sldId id="323" r:id="rId13"/>
    <p:sldId id="262" r:id="rId14"/>
    <p:sldId id="320" r:id="rId15"/>
    <p:sldId id="321" r:id="rId16"/>
    <p:sldId id="263" r:id="rId17"/>
    <p:sldId id="319" r:id="rId18"/>
    <p:sldId id="264" r:id="rId19"/>
    <p:sldId id="318" r:id="rId20"/>
    <p:sldId id="265" r:id="rId21"/>
    <p:sldId id="266" r:id="rId22"/>
    <p:sldId id="315" r:id="rId23"/>
    <p:sldId id="316" r:id="rId24"/>
    <p:sldId id="317" r:id="rId25"/>
    <p:sldId id="267" r:id="rId26"/>
    <p:sldId id="313" r:id="rId27"/>
    <p:sldId id="314" r:id="rId28"/>
    <p:sldId id="268" r:id="rId29"/>
    <p:sldId id="310" r:id="rId30"/>
    <p:sldId id="311" r:id="rId31"/>
    <p:sldId id="312" r:id="rId32"/>
    <p:sldId id="269" r:id="rId33"/>
    <p:sldId id="308" r:id="rId34"/>
    <p:sldId id="309" r:id="rId35"/>
    <p:sldId id="270" r:id="rId36"/>
    <p:sldId id="306" r:id="rId37"/>
    <p:sldId id="307" r:id="rId38"/>
    <p:sldId id="271" r:id="rId39"/>
    <p:sldId id="272" r:id="rId40"/>
    <p:sldId id="303" r:id="rId41"/>
    <p:sldId id="304" r:id="rId42"/>
    <p:sldId id="305" r:id="rId43"/>
    <p:sldId id="273" r:id="rId44"/>
    <p:sldId id="298" r:id="rId45"/>
    <p:sldId id="299" r:id="rId46"/>
    <p:sldId id="300" r:id="rId47"/>
    <p:sldId id="301" r:id="rId48"/>
    <p:sldId id="302" r:id="rId49"/>
    <p:sldId id="274" r:id="rId50"/>
    <p:sldId id="296" r:id="rId51"/>
    <p:sldId id="297" r:id="rId52"/>
    <p:sldId id="275" r:id="rId53"/>
    <p:sldId id="276" r:id="rId54"/>
    <p:sldId id="294" r:id="rId55"/>
    <p:sldId id="295" r:id="rId56"/>
    <p:sldId id="277" r:id="rId57"/>
    <p:sldId id="291" r:id="rId58"/>
    <p:sldId id="292" r:id="rId59"/>
    <p:sldId id="293" r:id="rId60"/>
    <p:sldId id="278" r:id="rId61"/>
    <p:sldId id="290" r:id="rId62"/>
    <p:sldId id="279" r:id="rId63"/>
    <p:sldId id="286" r:id="rId64"/>
    <p:sldId id="287" r:id="rId65"/>
    <p:sldId id="288" r:id="rId66"/>
    <p:sldId id="289" r:id="rId67"/>
    <p:sldId id="280" r:id="rId68"/>
    <p:sldId id="281" r:id="rId69"/>
    <p:sldId id="284" r:id="rId70"/>
    <p:sldId id="285" r:id="rId71"/>
    <p:sldId id="282" r:id="rId72"/>
    <p:sldId id="283" r:id="rId7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5E787-973A-832F-5683-4BBE75571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70C6E-5A00-0301-E357-44A5E5B2B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2A135-F84C-59D0-830C-F5D1D26D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BD7BB-B488-386A-6DE2-5887CE815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C3275-E7AB-389E-E0BF-9003715EF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87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9F75-63C2-87DA-F449-733DE012F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E22A5-03CC-475C-B9CD-84E6FBFF7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F38C4-4804-789C-6DA7-3177503EC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84937-E6DB-F3EB-4F19-A19759083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28C7A-F881-D000-2374-24BFB148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4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EE723-6BEF-20D4-C048-08BEE71FA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94E01-DD85-43F3-BC2D-8D6E9B52A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874EB-4311-D556-4BF6-7B5ED1CCD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7D96A-F3FC-6C38-56D5-28439ADD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B22AF-0952-3721-361C-67FF86C0C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6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B0B1-5CDD-13C4-F70E-DA68AAA15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3DC7A-6FF2-3DED-51C0-B11D2E5845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243BE-722C-F097-FCD0-9E73E17F4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80B97-EEE0-11BB-304D-6BC2B55B5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3F25F-DF6E-E0DA-DFF3-AA77E4945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604B2-4211-9ED4-F2A7-0D918FFAD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8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9DAB-9D4B-3BAA-8CD7-CA6675C60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8C607-510A-F2F2-FD60-E1CCBF2D4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393B2-A58C-9366-607C-EA09F36C4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A994A3-25F5-A36F-F692-5B794A1BD5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78CFF-8B2D-AA18-F4CC-D4AC43190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C1CEF5-2EEE-FD7D-BC08-6A875A50F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50766B-6128-1D57-DB45-70CFD4AB9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3E9D7F-DEC5-E40D-5804-EF4642FA7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70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EAE13-5256-ADDA-0FDC-D9890E044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5481E2-709E-CF00-7AE5-1F3FD6576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35F06B-6F16-A995-CE11-C3FFE5BD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D01883-9CCC-D8BB-17D0-2C22A673A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05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3F8E1-7ED7-4B18-2A8A-6DAE7CDEC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B5158-95F5-D866-B51A-93AB6CBC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7644C-DE2A-480E-9B74-CE8F62895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712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EC5C-63FF-36C1-DCCB-D3E4AE35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054AE-49D5-3E41-B5EF-00CA0F85D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BDEE0-CC71-16A0-F0EE-05A8872DF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C760B-FCE7-14B4-EB0D-97711F342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E1B47-213E-CCD2-427C-78BA675D6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0356E-F098-8D0E-DB98-EE599E702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11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475C-A68D-A769-44CE-D6258C65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5D28D6-324D-160D-31C0-1FFD5D4ECF8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FB5ED-480D-4DB4-2D8E-921C06681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52D43-DD5C-0E19-44A4-64A78D78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A9FC7-7C52-6646-3CCC-013E05AFD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DDDC6-AC4E-61F3-965A-27C6A113B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74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6F3DF-32C6-34A4-B8E8-74946E95B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D5E5B0-8FD6-E23A-4CF7-B5904F85F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83E4D-77F8-6797-52DF-06B2F3832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8ED95-226B-8687-F515-643EE0FD2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AE9D0-9A06-22AB-4855-D669F01D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37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048548-4114-2A41-D171-44AC89D396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18A9F-DC2C-FF20-1030-2B7D936AA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BD463-6501-CC57-3E1D-3FD8FE722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C69BF-4F0D-0003-16B6-2F84EA9D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A1E32-EFF1-E2CB-2961-EC4BE259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58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982B32-E135-E1EB-D57A-C846B9B81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9A345-4A56-7716-A8C7-C0CCAC2FC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E3DC3-FFBF-F62C-4582-5B9F2CBAC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B2659-012A-0952-A4E2-58B31C08F6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90C5F-5F16-A954-A591-2F759ED82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13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 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6FD7C313-8533-4158-E0D1-043BB950B64B}"/>
              </a:ext>
            </a:extLst>
          </p:cNvPr>
          <p:cNvSpPr/>
          <p:nvPr/>
        </p:nvSpPr>
        <p:spPr>
          <a:xfrm>
            <a:off x="914400" y="1143000"/>
            <a:ext cx="9144000" cy="787400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D451254-C0AB-65C0-2476-62E3D6746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0" y="3175000"/>
            <a:ext cx="8890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7600" b="1">
                <a:solidFill>
                  <a:srgbClr val="17262E"/>
                </a:solidFill>
                <a:latin typeface="Poppins" panose="00000500000000000000" pitchFamily="2" charset="0"/>
              </a:rPr>
              <a:t>MOSFETs</a:t>
            </a:r>
          </a:p>
        </p:txBody>
      </p:sp>
      <p:sp>
        <p:nvSpPr>
          <p:cNvPr id="4" name="tag">
            <a:extLst>
              <a:ext uri="{FF2B5EF4-FFF2-40B4-BE49-F238E27FC236}">
                <a16:creationId xmlns:a16="http://schemas.microsoft.com/office/drawing/2014/main" id="{95812CBD-0134-C139-4A30-5759B0149584}"/>
              </a:ext>
            </a:extLst>
          </p:cNvPr>
          <p:cNvSpPr/>
          <p:nvPr/>
        </p:nvSpPr>
        <p:spPr>
          <a:xfrm>
            <a:off x="1422400" y="1778000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25CPES102</a:t>
            </a:r>
          </a:p>
        </p:txBody>
      </p:sp>
      <p:sp>
        <p:nvSpPr>
          <p:cNvPr id="5" name="tag">
            <a:extLst>
              <a:ext uri="{FF2B5EF4-FFF2-40B4-BE49-F238E27FC236}">
                <a16:creationId xmlns:a16="http://schemas.microsoft.com/office/drawing/2014/main" id="{E23BA828-EF84-0A97-0C3A-591E8836D011}"/>
              </a:ext>
            </a:extLst>
          </p:cNvPr>
          <p:cNvSpPr/>
          <p:nvPr/>
        </p:nvSpPr>
        <p:spPr>
          <a:xfrm>
            <a:off x="2960116" y="1778000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Lecture 3</a:t>
            </a:r>
          </a:p>
        </p:txBody>
      </p:sp>
      <p:sp>
        <p:nvSpPr>
          <p:cNvPr id="6" name="course">
            <a:extLst>
              <a:ext uri="{FF2B5EF4-FFF2-40B4-BE49-F238E27FC236}">
                <a16:creationId xmlns:a16="http://schemas.microsoft.com/office/drawing/2014/main" id="{E7905E31-E44F-58C7-9DC0-50BA4BF17C35}"/>
              </a:ext>
            </a:extLst>
          </p:cNvPr>
          <p:cNvSpPr txBox="1"/>
          <p:nvPr/>
        </p:nvSpPr>
        <p:spPr>
          <a:xfrm>
            <a:off x="1422400" y="26034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F6170"/>
                </a:solidFill>
                <a:latin typeface="Poppins" panose="00000500000000000000" pitchFamily="2" charset="0"/>
              </a:rPr>
              <a:t>Electronic Materials and Devices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81DB85EB-35B6-36B2-67AA-4CDB40FB3C03}"/>
              </a:ext>
            </a:extLst>
          </p:cNvPr>
          <p:cNvSpPr txBox="1"/>
          <p:nvPr/>
        </p:nvSpPr>
        <p:spPr>
          <a:xfrm>
            <a:off x="1422400" y="4698999"/>
            <a:ext cx="812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4F5E66"/>
                </a:solidFill>
                <a:latin typeface="Nunito" pitchFamily="2" charset="0"/>
              </a:rPr>
              <a:t>Metal-oxide-semiconductor</a:t>
            </a:r>
          </a:p>
          <a:p>
            <a:r>
              <a:rPr lang="en-US" sz="2800">
                <a:solidFill>
                  <a:srgbClr val="4F5E66"/>
                </a:solidFill>
                <a:latin typeface="Nunito" pitchFamily="2" charset="0"/>
              </a:rPr>
              <a:t>field-effect transistors</a:t>
            </a: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9FAF37B0-257D-4A30-9E32-0FB05FD37C00}"/>
              </a:ext>
            </a:extLst>
          </p:cNvPr>
          <p:cNvSpPr txBox="1"/>
          <p:nvPr/>
        </p:nvSpPr>
        <p:spPr>
          <a:xfrm>
            <a:off x="1422400" y="74929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17262E"/>
                </a:solidFill>
                <a:latin typeface="Poppins" panose="00000500000000000000" pitchFamily="2" charset="0"/>
              </a:rPr>
              <a:t>Dr. Zahraa Ismail</a:t>
            </a:r>
          </a:p>
        </p:txBody>
      </p:sp>
      <p:sp>
        <p:nvSpPr>
          <p:cNvPr id="9" name="meta">
            <a:extLst>
              <a:ext uri="{FF2B5EF4-FFF2-40B4-BE49-F238E27FC236}">
                <a16:creationId xmlns:a16="http://schemas.microsoft.com/office/drawing/2014/main" id="{AF76E783-303A-AF24-0771-0D93369E46E3}"/>
              </a:ext>
            </a:extLst>
          </p:cNvPr>
          <p:cNvSpPr txBox="1"/>
          <p:nvPr/>
        </p:nvSpPr>
        <p:spPr>
          <a:xfrm>
            <a:off x="1422400" y="7924799"/>
            <a:ext cx="8382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F5E66"/>
                </a:solidFill>
                <a:latin typeface="Nunito" pitchFamily="2" charset="0"/>
              </a:rPr>
              <a:t>Computer Engineering  ·  Academic Year 2025/2026 · Semester One</a:t>
            </a:r>
          </a:p>
        </p:txBody>
      </p:sp>
      <p:cxnSp>
        <p:nvCxnSpPr>
          <p:cNvPr id="10" name="motif">
            <a:extLst>
              <a:ext uri="{FF2B5EF4-FFF2-40B4-BE49-F238E27FC236}">
                <a16:creationId xmlns:a16="http://schemas.microsoft.com/office/drawing/2014/main" id="{13CA3910-9AA5-DC88-2A21-7CE0020EF8FA}"/>
              </a:ext>
            </a:extLst>
          </p:cNvPr>
          <p:cNvCxnSpPr/>
          <p:nvPr/>
        </p:nvCxnSpPr>
        <p:spPr>
          <a:xfrm>
            <a:off x="10922000" y="1524000"/>
            <a:ext cx="19812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3DD94524-E20D-8BFD-17CF-3F6D85C275B2}"/>
              </a:ext>
            </a:extLst>
          </p:cNvPr>
          <p:cNvCxnSpPr/>
          <p:nvPr/>
        </p:nvCxnSpPr>
        <p:spPr>
          <a:xfrm>
            <a:off x="12903200" y="1524000"/>
            <a:ext cx="0" cy="14859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C9843FD8-937B-969A-ED21-D710F3534981}"/>
              </a:ext>
            </a:extLst>
          </p:cNvPr>
          <p:cNvCxnSpPr/>
          <p:nvPr/>
        </p:nvCxnSpPr>
        <p:spPr>
          <a:xfrm>
            <a:off x="12903200" y="3009900"/>
            <a:ext cx="19812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otif">
            <a:extLst>
              <a:ext uri="{FF2B5EF4-FFF2-40B4-BE49-F238E27FC236}">
                <a16:creationId xmlns:a16="http://schemas.microsoft.com/office/drawing/2014/main" id="{A1016A3A-2B2B-E7C4-3D6C-E659D07CF98E}"/>
              </a:ext>
            </a:extLst>
          </p:cNvPr>
          <p:cNvCxnSpPr/>
          <p:nvPr/>
        </p:nvCxnSpPr>
        <p:spPr>
          <a:xfrm flipV="1">
            <a:off x="14884400" y="1854200"/>
            <a:ext cx="0" cy="11557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otif">
            <a:extLst>
              <a:ext uri="{FF2B5EF4-FFF2-40B4-BE49-F238E27FC236}">
                <a16:creationId xmlns:a16="http://schemas.microsoft.com/office/drawing/2014/main" id="{FE4DEED2-7DCA-D466-9B3F-6544E02BF7A9}"/>
              </a:ext>
            </a:extLst>
          </p:cNvPr>
          <p:cNvCxnSpPr/>
          <p:nvPr/>
        </p:nvCxnSpPr>
        <p:spPr>
          <a:xfrm>
            <a:off x="14884400" y="1854200"/>
            <a:ext cx="14859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otif">
            <a:extLst>
              <a:ext uri="{FF2B5EF4-FFF2-40B4-BE49-F238E27FC236}">
                <a16:creationId xmlns:a16="http://schemas.microsoft.com/office/drawing/2014/main" id="{4D69B8C0-A1CF-06A2-22AB-38D114161ABD}"/>
              </a:ext>
            </a:extLst>
          </p:cNvPr>
          <p:cNvSpPr/>
          <p:nvPr/>
        </p:nvSpPr>
        <p:spPr>
          <a:xfrm>
            <a:off x="10807700" y="140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5B73A659-5A85-3BE2-0DEA-C8BD5EDF7DB6}"/>
              </a:ext>
            </a:extLst>
          </p:cNvPr>
          <p:cNvSpPr/>
          <p:nvPr/>
        </p:nvSpPr>
        <p:spPr>
          <a:xfrm>
            <a:off x="12788900" y="28956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tif">
            <a:extLst>
              <a:ext uri="{FF2B5EF4-FFF2-40B4-BE49-F238E27FC236}">
                <a16:creationId xmlns:a16="http://schemas.microsoft.com/office/drawing/2014/main" id="{0DA56761-33C7-A230-9518-4A485164777D}"/>
              </a:ext>
            </a:extLst>
          </p:cNvPr>
          <p:cNvSpPr/>
          <p:nvPr/>
        </p:nvSpPr>
        <p:spPr>
          <a:xfrm>
            <a:off x="16256000" y="17399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otif">
            <a:extLst>
              <a:ext uri="{FF2B5EF4-FFF2-40B4-BE49-F238E27FC236}">
                <a16:creationId xmlns:a16="http://schemas.microsoft.com/office/drawing/2014/main" id="{0E27C11B-292A-0D28-9FB1-DD392FB8F470}"/>
              </a:ext>
            </a:extLst>
          </p:cNvPr>
          <p:cNvSpPr/>
          <p:nvPr/>
        </p:nvSpPr>
        <p:spPr>
          <a:xfrm>
            <a:off x="14795500" y="29210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igure card">
            <a:extLst>
              <a:ext uri="{FF2B5EF4-FFF2-40B4-BE49-F238E27FC236}">
                <a16:creationId xmlns:a16="http://schemas.microsoft.com/office/drawing/2014/main" id="{3CCDC8E6-88AE-CB0E-19B6-DCDA063FC15E}"/>
              </a:ext>
            </a:extLst>
          </p:cNvPr>
          <p:cNvSpPr/>
          <p:nvPr/>
        </p:nvSpPr>
        <p:spPr>
          <a:xfrm>
            <a:off x="10541000" y="4191000"/>
            <a:ext cx="6858000" cy="3150486"/>
          </a:xfrm>
          <a:prstGeom prst="roundRect">
            <a:avLst>
              <a:gd name="adj" fmla="val 725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figure">
            <a:extLst>
              <a:ext uri="{FF2B5EF4-FFF2-40B4-BE49-F238E27FC236}">
                <a16:creationId xmlns:a16="http://schemas.microsoft.com/office/drawing/2014/main" id="{F66E4D81-C633-9EDB-4FF3-953C3E1BB58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0" y="4445000"/>
            <a:ext cx="6350000" cy="2413886"/>
          </a:xfrm>
          <a:prstGeom prst="rect">
            <a:avLst/>
          </a:prstGeom>
        </p:spPr>
      </p:pic>
      <p:sp>
        <p:nvSpPr>
          <p:cNvPr id="22" name="credit">
            <a:extLst>
              <a:ext uri="{FF2B5EF4-FFF2-40B4-BE49-F238E27FC236}">
                <a16:creationId xmlns:a16="http://schemas.microsoft.com/office/drawing/2014/main" id="{43927B7C-3313-465A-AF2B-9ECD6B8FF6F6}"/>
              </a:ext>
            </a:extLst>
          </p:cNvPr>
          <p:cNvSpPr txBox="1"/>
          <p:nvPr/>
        </p:nvSpPr>
        <p:spPr>
          <a:xfrm>
            <a:off x="10795000" y="6985886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1393211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 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4F2D805-BC9C-EF4D-4E4C-9C5C53EF2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Lecture map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4EB8EA2-7B56-6E0B-A216-F11BD7C6110B}"/>
              </a:ext>
            </a:extLst>
          </p:cNvPr>
          <p:cNvSpPr/>
          <p:nvPr/>
        </p:nvSpPr>
        <p:spPr>
          <a:xfrm>
            <a:off x="914400" y="279400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Lecture 3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765FC59-45AC-112A-8FC6-34DD9141D09B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C2260BB-5D98-FE24-D754-543F77ECAC22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map pill">
            <a:extLst>
              <a:ext uri="{FF2B5EF4-FFF2-40B4-BE49-F238E27FC236}">
                <a16:creationId xmlns:a16="http://schemas.microsoft.com/office/drawing/2014/main" id="{230D2603-3A6D-EF6E-7337-DC5AE6649940}"/>
              </a:ext>
            </a:extLst>
          </p:cNvPr>
          <p:cNvSpPr/>
          <p:nvPr/>
        </p:nvSpPr>
        <p:spPr>
          <a:xfrm>
            <a:off x="914400" y="22860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p n">
            <a:extLst>
              <a:ext uri="{FF2B5EF4-FFF2-40B4-BE49-F238E27FC236}">
                <a16:creationId xmlns:a16="http://schemas.microsoft.com/office/drawing/2014/main" id="{32A03481-31A8-35D4-024C-E00B76296EFD}"/>
              </a:ext>
            </a:extLst>
          </p:cNvPr>
          <p:cNvSpPr txBox="1"/>
          <p:nvPr/>
        </p:nvSpPr>
        <p:spPr>
          <a:xfrm>
            <a:off x="1270000" y="22859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01</a:t>
            </a:r>
          </a:p>
        </p:txBody>
      </p:sp>
      <p:sp>
        <p:nvSpPr>
          <p:cNvPr id="8" name="map t">
            <a:extLst>
              <a:ext uri="{FF2B5EF4-FFF2-40B4-BE49-F238E27FC236}">
                <a16:creationId xmlns:a16="http://schemas.microsoft.com/office/drawing/2014/main" id="{099A2FE1-A21E-1089-908D-90036D92E2C9}"/>
              </a:ext>
            </a:extLst>
          </p:cNvPr>
          <p:cNvSpPr txBox="1"/>
          <p:nvPr/>
        </p:nvSpPr>
        <p:spPr>
          <a:xfrm>
            <a:off x="2082800" y="23875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Structure and operation</a:t>
            </a:r>
          </a:p>
        </p:txBody>
      </p:sp>
      <p:sp>
        <p:nvSpPr>
          <p:cNvPr id="9" name="map s">
            <a:extLst>
              <a:ext uri="{FF2B5EF4-FFF2-40B4-BE49-F238E27FC236}">
                <a16:creationId xmlns:a16="http://schemas.microsoft.com/office/drawing/2014/main" id="{0B0678BD-8CAF-FC05-E48E-87E828B3203C}"/>
              </a:ext>
            </a:extLst>
          </p:cNvPr>
          <p:cNvSpPr txBox="1"/>
          <p:nvPr/>
        </p:nvSpPr>
        <p:spPr>
          <a:xfrm>
            <a:off x="2082800" y="27685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how a channel forms; the threshold voltage</a:t>
            </a:r>
          </a:p>
        </p:txBody>
      </p:sp>
      <p:sp>
        <p:nvSpPr>
          <p:cNvPr id="10" name="arrow">
            <a:extLst>
              <a:ext uri="{FF2B5EF4-FFF2-40B4-BE49-F238E27FC236}">
                <a16:creationId xmlns:a16="http://schemas.microsoft.com/office/drawing/2014/main" id="{D03DD323-9179-31B2-1CF7-9ED74A34DBD5}"/>
              </a:ext>
            </a:extLst>
          </p:cNvPr>
          <p:cNvSpPr/>
          <p:nvPr/>
        </p:nvSpPr>
        <p:spPr>
          <a:xfrm>
            <a:off x="9321800" y="24765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11" name="map pill">
            <a:extLst>
              <a:ext uri="{FF2B5EF4-FFF2-40B4-BE49-F238E27FC236}">
                <a16:creationId xmlns:a16="http://schemas.microsoft.com/office/drawing/2014/main" id="{87538042-DC79-0663-2222-AFE394EFEBF4}"/>
              </a:ext>
            </a:extLst>
          </p:cNvPr>
          <p:cNvSpPr/>
          <p:nvPr/>
        </p:nvSpPr>
        <p:spPr>
          <a:xfrm>
            <a:off x="914400" y="34544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ap n">
            <a:extLst>
              <a:ext uri="{FF2B5EF4-FFF2-40B4-BE49-F238E27FC236}">
                <a16:creationId xmlns:a16="http://schemas.microsoft.com/office/drawing/2014/main" id="{6843EFD1-8625-E379-16C4-3A2F21ABC371}"/>
              </a:ext>
            </a:extLst>
          </p:cNvPr>
          <p:cNvSpPr txBox="1"/>
          <p:nvPr/>
        </p:nvSpPr>
        <p:spPr>
          <a:xfrm>
            <a:off x="1270000" y="34543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02</a:t>
            </a:r>
          </a:p>
        </p:txBody>
      </p:sp>
      <p:sp>
        <p:nvSpPr>
          <p:cNvPr id="13" name="map t">
            <a:extLst>
              <a:ext uri="{FF2B5EF4-FFF2-40B4-BE49-F238E27FC236}">
                <a16:creationId xmlns:a16="http://schemas.microsoft.com/office/drawing/2014/main" id="{62A4CCFD-6A2B-4450-F25D-0E36E29B7E9D}"/>
              </a:ext>
            </a:extLst>
          </p:cNvPr>
          <p:cNvSpPr txBox="1"/>
          <p:nvPr/>
        </p:nvSpPr>
        <p:spPr>
          <a:xfrm>
            <a:off x="2082800" y="35559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I–V characteristics</a:t>
            </a:r>
          </a:p>
        </p:txBody>
      </p:sp>
      <p:sp>
        <p:nvSpPr>
          <p:cNvPr id="14" name="map s">
            <a:extLst>
              <a:ext uri="{FF2B5EF4-FFF2-40B4-BE49-F238E27FC236}">
                <a16:creationId xmlns:a16="http://schemas.microsoft.com/office/drawing/2014/main" id="{9191BF2F-DA54-F5B8-E264-DB161A313940}"/>
              </a:ext>
            </a:extLst>
          </p:cNvPr>
          <p:cNvSpPr txBox="1"/>
          <p:nvPr/>
        </p:nvSpPr>
        <p:spPr>
          <a:xfrm>
            <a:off x="2082800" y="39369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cutoff, triode and saturation</a:t>
            </a:r>
          </a:p>
        </p:txBody>
      </p:sp>
      <p:sp>
        <p:nvSpPr>
          <p:cNvPr id="15" name="arrow">
            <a:extLst>
              <a:ext uri="{FF2B5EF4-FFF2-40B4-BE49-F238E27FC236}">
                <a16:creationId xmlns:a16="http://schemas.microsoft.com/office/drawing/2014/main" id="{00CF75ED-C133-C289-AD03-D2DA7A67F326}"/>
              </a:ext>
            </a:extLst>
          </p:cNvPr>
          <p:cNvSpPr/>
          <p:nvPr/>
        </p:nvSpPr>
        <p:spPr>
          <a:xfrm>
            <a:off x="9321800" y="36449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16" name="map pill">
            <a:extLst>
              <a:ext uri="{FF2B5EF4-FFF2-40B4-BE49-F238E27FC236}">
                <a16:creationId xmlns:a16="http://schemas.microsoft.com/office/drawing/2014/main" id="{7C3EF6C1-D007-CD18-AD7E-B4C827187E71}"/>
              </a:ext>
            </a:extLst>
          </p:cNvPr>
          <p:cNvSpPr/>
          <p:nvPr/>
        </p:nvSpPr>
        <p:spPr>
          <a:xfrm>
            <a:off x="914400" y="46228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ap n">
            <a:extLst>
              <a:ext uri="{FF2B5EF4-FFF2-40B4-BE49-F238E27FC236}">
                <a16:creationId xmlns:a16="http://schemas.microsoft.com/office/drawing/2014/main" id="{14792937-0EEC-0D79-0722-1AD0EB1426D9}"/>
              </a:ext>
            </a:extLst>
          </p:cNvPr>
          <p:cNvSpPr txBox="1"/>
          <p:nvPr/>
        </p:nvSpPr>
        <p:spPr>
          <a:xfrm>
            <a:off x="1270000" y="46227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03</a:t>
            </a:r>
          </a:p>
        </p:txBody>
      </p:sp>
      <p:sp>
        <p:nvSpPr>
          <p:cNvPr id="18" name="map t">
            <a:extLst>
              <a:ext uri="{FF2B5EF4-FFF2-40B4-BE49-F238E27FC236}">
                <a16:creationId xmlns:a16="http://schemas.microsoft.com/office/drawing/2014/main" id="{CAE7065B-CF0E-A82A-203B-4EBFCA1608FA}"/>
              </a:ext>
            </a:extLst>
          </p:cNvPr>
          <p:cNvSpPr txBox="1"/>
          <p:nvPr/>
        </p:nvSpPr>
        <p:spPr>
          <a:xfrm>
            <a:off x="2082800" y="47243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MOSFETs in DC circuits</a:t>
            </a:r>
          </a:p>
        </p:txBody>
      </p:sp>
      <p:sp>
        <p:nvSpPr>
          <p:cNvPr id="19" name="map s">
            <a:extLst>
              <a:ext uri="{FF2B5EF4-FFF2-40B4-BE49-F238E27FC236}">
                <a16:creationId xmlns:a16="http://schemas.microsoft.com/office/drawing/2014/main" id="{81E10FA3-DE46-4660-70EB-86934020CBC6}"/>
              </a:ext>
            </a:extLst>
          </p:cNvPr>
          <p:cNvSpPr txBox="1"/>
          <p:nvPr/>
        </p:nvSpPr>
        <p:spPr>
          <a:xfrm>
            <a:off x="2082800" y="51053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finding the operating point</a:t>
            </a:r>
          </a:p>
        </p:txBody>
      </p:sp>
      <p:sp>
        <p:nvSpPr>
          <p:cNvPr id="20" name="arrow">
            <a:extLst>
              <a:ext uri="{FF2B5EF4-FFF2-40B4-BE49-F238E27FC236}">
                <a16:creationId xmlns:a16="http://schemas.microsoft.com/office/drawing/2014/main" id="{E8406F0F-ACD2-B262-A953-59DDDE84E907}"/>
              </a:ext>
            </a:extLst>
          </p:cNvPr>
          <p:cNvSpPr/>
          <p:nvPr/>
        </p:nvSpPr>
        <p:spPr>
          <a:xfrm>
            <a:off x="9321800" y="48133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21" name="map pill">
            <a:extLst>
              <a:ext uri="{FF2B5EF4-FFF2-40B4-BE49-F238E27FC236}">
                <a16:creationId xmlns:a16="http://schemas.microsoft.com/office/drawing/2014/main" id="{91018714-3992-FA0E-8812-22821D245E04}"/>
              </a:ext>
            </a:extLst>
          </p:cNvPr>
          <p:cNvSpPr/>
          <p:nvPr/>
        </p:nvSpPr>
        <p:spPr>
          <a:xfrm>
            <a:off x="914400" y="57912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ap n">
            <a:extLst>
              <a:ext uri="{FF2B5EF4-FFF2-40B4-BE49-F238E27FC236}">
                <a16:creationId xmlns:a16="http://schemas.microsoft.com/office/drawing/2014/main" id="{B16DAD7D-1AE8-FFAF-4779-16C8559DB52B}"/>
              </a:ext>
            </a:extLst>
          </p:cNvPr>
          <p:cNvSpPr txBox="1"/>
          <p:nvPr/>
        </p:nvSpPr>
        <p:spPr>
          <a:xfrm>
            <a:off x="1270000" y="57911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04</a:t>
            </a:r>
          </a:p>
        </p:txBody>
      </p:sp>
      <p:sp>
        <p:nvSpPr>
          <p:cNvPr id="23" name="map t">
            <a:extLst>
              <a:ext uri="{FF2B5EF4-FFF2-40B4-BE49-F238E27FC236}">
                <a16:creationId xmlns:a16="http://schemas.microsoft.com/office/drawing/2014/main" id="{727427D7-C640-6553-5F2B-E397583CBF5E}"/>
              </a:ext>
            </a:extLst>
          </p:cNvPr>
          <p:cNvSpPr txBox="1"/>
          <p:nvPr/>
        </p:nvSpPr>
        <p:spPr>
          <a:xfrm>
            <a:off x="2082800" y="58927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The MOSFET as an amplifier</a:t>
            </a:r>
          </a:p>
        </p:txBody>
      </p:sp>
      <p:sp>
        <p:nvSpPr>
          <p:cNvPr id="24" name="map s">
            <a:extLst>
              <a:ext uri="{FF2B5EF4-FFF2-40B4-BE49-F238E27FC236}">
                <a16:creationId xmlns:a16="http://schemas.microsoft.com/office/drawing/2014/main" id="{599F0561-C0D0-2261-081D-843F7153C436}"/>
              </a:ext>
            </a:extLst>
          </p:cNvPr>
          <p:cNvSpPr txBox="1"/>
          <p:nvPr/>
        </p:nvSpPr>
        <p:spPr>
          <a:xfrm>
            <a:off x="2082800" y="62737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transconductance, small-signal model</a:t>
            </a:r>
          </a:p>
        </p:txBody>
      </p:sp>
      <p:sp>
        <p:nvSpPr>
          <p:cNvPr id="25" name="arrow">
            <a:extLst>
              <a:ext uri="{FF2B5EF4-FFF2-40B4-BE49-F238E27FC236}">
                <a16:creationId xmlns:a16="http://schemas.microsoft.com/office/drawing/2014/main" id="{114BF04F-4AB2-0DB6-D972-A8E778801823}"/>
              </a:ext>
            </a:extLst>
          </p:cNvPr>
          <p:cNvSpPr/>
          <p:nvPr/>
        </p:nvSpPr>
        <p:spPr>
          <a:xfrm>
            <a:off x="9321800" y="59817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26" name="map pill">
            <a:extLst>
              <a:ext uri="{FF2B5EF4-FFF2-40B4-BE49-F238E27FC236}">
                <a16:creationId xmlns:a16="http://schemas.microsoft.com/office/drawing/2014/main" id="{315EA473-A4E5-6364-F5D1-D5EDE53B8C88}"/>
              </a:ext>
            </a:extLst>
          </p:cNvPr>
          <p:cNvSpPr/>
          <p:nvPr/>
        </p:nvSpPr>
        <p:spPr>
          <a:xfrm>
            <a:off x="914400" y="69596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ap n">
            <a:extLst>
              <a:ext uri="{FF2B5EF4-FFF2-40B4-BE49-F238E27FC236}">
                <a16:creationId xmlns:a16="http://schemas.microsoft.com/office/drawing/2014/main" id="{E79FE593-8D75-EA61-EB2E-5ED892979DBB}"/>
              </a:ext>
            </a:extLst>
          </p:cNvPr>
          <p:cNvSpPr txBox="1"/>
          <p:nvPr/>
        </p:nvSpPr>
        <p:spPr>
          <a:xfrm>
            <a:off x="1270000" y="69595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05</a:t>
            </a:r>
          </a:p>
        </p:txBody>
      </p:sp>
      <p:sp>
        <p:nvSpPr>
          <p:cNvPr id="28" name="map t">
            <a:extLst>
              <a:ext uri="{FF2B5EF4-FFF2-40B4-BE49-F238E27FC236}">
                <a16:creationId xmlns:a16="http://schemas.microsoft.com/office/drawing/2014/main" id="{FAAD3D42-BCD3-BAFE-576E-4A6AC1C8590B}"/>
              </a:ext>
            </a:extLst>
          </p:cNvPr>
          <p:cNvSpPr txBox="1"/>
          <p:nvPr/>
        </p:nvSpPr>
        <p:spPr>
          <a:xfrm>
            <a:off x="2082800" y="70611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The MOSFET as a switch</a:t>
            </a:r>
          </a:p>
        </p:txBody>
      </p:sp>
      <p:sp>
        <p:nvSpPr>
          <p:cNvPr id="29" name="arrow">
            <a:extLst>
              <a:ext uri="{FF2B5EF4-FFF2-40B4-BE49-F238E27FC236}">
                <a16:creationId xmlns:a16="http://schemas.microsoft.com/office/drawing/2014/main" id="{1C7A8317-6256-570E-D65E-E661FC2CA80A}"/>
              </a:ext>
            </a:extLst>
          </p:cNvPr>
          <p:cNvSpPr/>
          <p:nvPr/>
        </p:nvSpPr>
        <p:spPr>
          <a:xfrm>
            <a:off x="9321800" y="71501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30" name="outcomes">
            <a:extLst>
              <a:ext uri="{FF2B5EF4-FFF2-40B4-BE49-F238E27FC236}">
                <a16:creationId xmlns:a16="http://schemas.microsoft.com/office/drawing/2014/main" id="{B3BBEE2C-3371-01CF-3DBE-184B90B88BFD}"/>
              </a:ext>
            </a:extLst>
          </p:cNvPr>
          <p:cNvSpPr/>
          <p:nvPr/>
        </p:nvSpPr>
        <p:spPr>
          <a:xfrm>
            <a:off x="11176000" y="2286000"/>
            <a:ext cx="6197600" cy="5969000"/>
          </a:xfrm>
          <a:prstGeom prst="roundRect">
            <a:avLst>
              <a:gd name="adj" fmla="val 5106"/>
            </a:avLst>
          </a:prstGeom>
          <a:solidFill>
            <a:srgbClr val="E2F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ag">
            <a:extLst>
              <a:ext uri="{FF2B5EF4-FFF2-40B4-BE49-F238E27FC236}">
                <a16:creationId xmlns:a16="http://schemas.microsoft.com/office/drawing/2014/main" id="{CDFF939F-DB85-0EC9-42C2-14A66E3FC52A}"/>
              </a:ext>
            </a:extLst>
          </p:cNvPr>
          <p:cNvSpPr/>
          <p:nvPr/>
        </p:nvSpPr>
        <p:spPr>
          <a:xfrm>
            <a:off x="11557000" y="2616200"/>
            <a:ext cx="231343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By the end you can</a:t>
            </a:r>
          </a:p>
        </p:txBody>
      </p:sp>
      <p:sp>
        <p:nvSpPr>
          <p:cNvPr id="32" name="outcome">
            <a:extLst>
              <a:ext uri="{FF2B5EF4-FFF2-40B4-BE49-F238E27FC236}">
                <a16:creationId xmlns:a16="http://schemas.microsoft.com/office/drawing/2014/main" id="{8A56B7B1-ACAF-9716-C298-66679263A537}"/>
              </a:ext>
            </a:extLst>
          </p:cNvPr>
          <p:cNvSpPr txBox="1"/>
          <p:nvPr/>
        </p:nvSpPr>
        <p:spPr>
          <a:xfrm>
            <a:off x="11557000" y="3302000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Explain how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creates a channel and how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pinches it off</a:t>
            </a:r>
          </a:p>
        </p:txBody>
      </p:sp>
      <p:sp>
        <p:nvSpPr>
          <p:cNvPr id="33" name="outcome">
            <a:extLst>
              <a:ext uri="{FF2B5EF4-FFF2-40B4-BE49-F238E27FC236}">
                <a16:creationId xmlns:a16="http://schemas.microsoft.com/office/drawing/2014/main" id="{AE7A369E-0455-F74D-C51E-53136AE0259D}"/>
              </a:ext>
            </a:extLst>
          </p:cNvPr>
          <p:cNvSpPr txBox="1"/>
          <p:nvPr/>
        </p:nvSpPr>
        <p:spPr>
          <a:xfrm>
            <a:off x="11557000" y="4258508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Pick the right region and use its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equation</a:t>
            </a:r>
          </a:p>
        </p:txBody>
      </p:sp>
      <p:sp>
        <p:nvSpPr>
          <p:cNvPr id="34" name="outcome">
            <a:extLst>
              <a:ext uri="{FF2B5EF4-FFF2-40B4-BE49-F238E27FC236}">
                <a16:creationId xmlns:a16="http://schemas.microsoft.com/office/drawing/2014/main" id="{935F7DA9-8568-3FFF-538B-68CAAC795D8C}"/>
              </a:ext>
            </a:extLst>
          </p:cNvPr>
          <p:cNvSpPr txBox="1"/>
          <p:nvPr/>
        </p:nvSpPr>
        <p:spPr>
          <a:xfrm>
            <a:off x="11557000" y="5215016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Find the DC operating point of a MOSFET circuit</a:t>
            </a:r>
          </a:p>
        </p:txBody>
      </p:sp>
      <p:sp>
        <p:nvSpPr>
          <p:cNvPr id="35" name="outcome">
            <a:extLst>
              <a:ext uri="{FF2B5EF4-FFF2-40B4-BE49-F238E27FC236}">
                <a16:creationId xmlns:a16="http://schemas.microsoft.com/office/drawing/2014/main" id="{660F7042-16D5-F91F-F07D-4D538F185F90}"/>
              </a:ext>
            </a:extLst>
          </p:cNvPr>
          <p:cNvSpPr txBox="1"/>
          <p:nvPr/>
        </p:nvSpPr>
        <p:spPr>
          <a:xfrm>
            <a:off x="11557000" y="6171524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Find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g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m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and the gain of a simple MOSFET amplifier</a:t>
            </a:r>
          </a:p>
        </p:txBody>
      </p:sp>
      <p:sp>
        <p:nvSpPr>
          <p:cNvPr id="36" name="chrome page">
            <a:extLst>
              <a:ext uri="{FF2B5EF4-FFF2-40B4-BE49-F238E27FC236}">
                <a16:creationId xmlns:a16="http://schemas.microsoft.com/office/drawing/2014/main" id="{A895A9E2-213D-5041-134A-A1FCDFF0FB04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hrome page">
            <a:extLst>
              <a:ext uri="{FF2B5EF4-FFF2-40B4-BE49-F238E27FC236}">
                <a16:creationId xmlns:a16="http://schemas.microsoft.com/office/drawing/2014/main" id="{3D457AB3-DF9C-40C1-1F3F-563BE6497FB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75093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B015EE76-18CA-492F-5D43-F0D2F8027155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198F84A-A569-C3FB-074D-69A30552D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2920999"/>
            <a:ext cx="7112000" cy="2286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Structure and operation</a:t>
            </a:r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E3A28E81-9A41-F0A4-BA41-47384773C56C}"/>
              </a:ext>
            </a:extLst>
          </p:cNvPr>
          <p:cNvSpPr/>
          <p:nvPr/>
        </p:nvSpPr>
        <p:spPr>
          <a:xfrm>
            <a:off x="1549400" y="2921000"/>
            <a:ext cx="2667000" cy="266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8AE535E2-440C-3139-2CE6-430FA89A4A13}"/>
              </a:ext>
            </a:extLst>
          </p:cNvPr>
          <p:cNvSpPr txBox="1"/>
          <p:nvPr/>
        </p:nvSpPr>
        <p:spPr>
          <a:xfrm>
            <a:off x="4724400" y="59689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The device and its terminals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F3B22F3A-FC49-6EE8-4285-371DFCE9BB1A}"/>
              </a:ext>
            </a:extLst>
          </p:cNvPr>
          <p:cNvSpPr txBox="1"/>
          <p:nvPr/>
        </p:nvSpPr>
        <p:spPr>
          <a:xfrm>
            <a:off x="4724400" y="65023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pt-BR" sz="2200">
                <a:solidFill>
                  <a:srgbClr val="4F5E66"/>
                </a:solidFill>
                <a:latin typeface="Nunito" pitchFamily="2" charset="0"/>
              </a:rPr>
              <a:t>No gate voltage: no current</a:t>
            </a:r>
            <a:endParaRPr lang="en-US" sz="2200">
              <a:solidFill>
                <a:srgbClr val="4F5E66"/>
              </a:solidFill>
              <a:latin typeface="Nunito" pitchFamily="2" charset="0"/>
            </a:endParaRP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F4E9A2A4-CD6F-9C81-1330-EF8F3535E8FD}"/>
              </a:ext>
            </a:extLst>
          </p:cNvPr>
          <p:cNvSpPr txBox="1"/>
          <p:nvPr/>
        </p:nvSpPr>
        <p:spPr>
          <a:xfrm>
            <a:off x="4724400" y="70357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The threshold voltage</a:t>
            </a:r>
          </a:p>
        </p:txBody>
      </p:sp>
      <p:sp>
        <p:nvSpPr>
          <p:cNvPr id="8" name="item">
            <a:extLst>
              <a:ext uri="{FF2B5EF4-FFF2-40B4-BE49-F238E27FC236}">
                <a16:creationId xmlns:a16="http://schemas.microsoft.com/office/drawing/2014/main" id="{7FA1C2AC-227D-9594-E4B5-0FE6AB4075CB}"/>
              </a:ext>
            </a:extLst>
          </p:cNvPr>
          <p:cNvSpPr txBox="1"/>
          <p:nvPr/>
        </p:nvSpPr>
        <p:spPr>
          <a:xfrm>
            <a:off x="4724400" y="75691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Tapering and pinch-off</a:t>
            </a:r>
          </a:p>
        </p:txBody>
      </p:sp>
      <p:sp>
        <p:nvSpPr>
          <p:cNvPr id="9" name="item">
            <a:extLst>
              <a:ext uri="{FF2B5EF4-FFF2-40B4-BE49-F238E27FC236}">
                <a16:creationId xmlns:a16="http://schemas.microsoft.com/office/drawing/2014/main" id="{F70FA0AF-1BC1-931C-C5C0-A135912DCFB0}"/>
              </a:ext>
            </a:extLst>
          </p:cNvPr>
          <p:cNvSpPr txBox="1"/>
          <p:nvPr/>
        </p:nvSpPr>
        <p:spPr>
          <a:xfrm>
            <a:off x="4724400" y="81025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CMOS; n- and p-channel symbols</a:t>
            </a:r>
          </a:p>
        </p:txBody>
      </p:sp>
      <p:cxnSp>
        <p:nvCxnSpPr>
          <p:cNvPr id="10" name="motif">
            <a:extLst>
              <a:ext uri="{FF2B5EF4-FFF2-40B4-BE49-F238E27FC236}">
                <a16:creationId xmlns:a16="http://schemas.microsoft.com/office/drawing/2014/main" id="{399142B5-15F2-8593-1194-664ED1EA290A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21C494E6-A0BE-64D3-2F1E-AA3DCFA37C37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CAA0B08D-F77D-5ED0-809C-CB37C48B7267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otif">
            <a:extLst>
              <a:ext uri="{FF2B5EF4-FFF2-40B4-BE49-F238E27FC236}">
                <a16:creationId xmlns:a16="http://schemas.microsoft.com/office/drawing/2014/main" id="{C9E4BD13-2C61-210D-5885-89F7F5F05168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otif">
            <a:extLst>
              <a:ext uri="{FF2B5EF4-FFF2-40B4-BE49-F238E27FC236}">
                <a16:creationId xmlns:a16="http://schemas.microsoft.com/office/drawing/2014/main" id="{C1E31A61-A49E-AD29-3F10-293E1C007316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otif">
            <a:extLst>
              <a:ext uri="{FF2B5EF4-FFF2-40B4-BE49-F238E27FC236}">
                <a16:creationId xmlns:a16="http://schemas.microsoft.com/office/drawing/2014/main" id="{64CF8BDB-41DE-7176-9F3D-A9C7B802477F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61430AEA-5B9D-04A6-4BDD-471A764097EE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tif">
            <a:extLst>
              <a:ext uri="{FF2B5EF4-FFF2-40B4-BE49-F238E27FC236}">
                <a16:creationId xmlns:a16="http://schemas.microsoft.com/office/drawing/2014/main" id="{3F3A103C-5E66-3698-F4A7-C25614DD2745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otif">
            <a:extLst>
              <a:ext uri="{FF2B5EF4-FFF2-40B4-BE49-F238E27FC236}">
                <a16:creationId xmlns:a16="http://schemas.microsoft.com/office/drawing/2014/main" id="{0C24E024-F60F-F004-5770-D02C982D7C11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F607D65D-857C-65BA-C1F1-782143DEE04F}"/>
              </a:ext>
            </a:extLst>
          </p:cNvPr>
          <p:cNvSpPr/>
          <p:nvPr/>
        </p:nvSpPr>
        <p:spPr>
          <a:xfrm>
            <a:off x="12700000" y="38100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A78C7000-B231-1721-DBED-458756332AC7}"/>
              </a:ext>
            </a:extLst>
          </p:cNvPr>
          <p:cNvSpPr txBox="1"/>
          <p:nvPr/>
        </p:nvSpPr>
        <p:spPr>
          <a:xfrm>
            <a:off x="12979400" y="38099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   Structure and operation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56295436-EFEF-0926-51CF-E8AD70E29274}"/>
              </a:ext>
            </a:extLst>
          </p:cNvPr>
          <p:cNvSpPr/>
          <p:nvPr/>
        </p:nvSpPr>
        <p:spPr>
          <a:xfrm>
            <a:off x="12700000" y="45974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68810AA9-95A6-C2D5-D989-BE79D441F96D}"/>
              </a:ext>
            </a:extLst>
          </p:cNvPr>
          <p:cNvSpPr txBox="1"/>
          <p:nvPr/>
        </p:nvSpPr>
        <p:spPr>
          <a:xfrm>
            <a:off x="12979400" y="45973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2   I–V characteristics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8F7FCD29-F640-5C33-A9B1-4873B99C0409}"/>
              </a:ext>
            </a:extLst>
          </p:cNvPr>
          <p:cNvSpPr/>
          <p:nvPr/>
        </p:nvSpPr>
        <p:spPr>
          <a:xfrm>
            <a:off x="12700000" y="53848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B1B92574-A0ED-BD30-0883-8728274A4BD7}"/>
              </a:ext>
            </a:extLst>
          </p:cNvPr>
          <p:cNvSpPr txBox="1"/>
          <p:nvPr/>
        </p:nvSpPr>
        <p:spPr>
          <a:xfrm>
            <a:off x="12979400" y="53847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3   MOSFETs in DC circuits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A775FE97-EFC9-58F9-142A-54E4E930FBE5}"/>
              </a:ext>
            </a:extLst>
          </p:cNvPr>
          <p:cNvSpPr/>
          <p:nvPr/>
        </p:nvSpPr>
        <p:spPr>
          <a:xfrm>
            <a:off x="12700000" y="61722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ap">
            <a:extLst>
              <a:ext uri="{FF2B5EF4-FFF2-40B4-BE49-F238E27FC236}">
                <a16:creationId xmlns:a16="http://schemas.microsoft.com/office/drawing/2014/main" id="{5B876A17-EAB9-1B3C-94A8-98C4D6E3F49C}"/>
              </a:ext>
            </a:extLst>
          </p:cNvPr>
          <p:cNvSpPr txBox="1"/>
          <p:nvPr/>
        </p:nvSpPr>
        <p:spPr>
          <a:xfrm>
            <a:off x="12979400" y="61721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4   The MOSFET as an amplifier</a:t>
            </a:r>
          </a:p>
        </p:txBody>
      </p:sp>
      <p:sp>
        <p:nvSpPr>
          <p:cNvPr id="27" name="map">
            <a:extLst>
              <a:ext uri="{FF2B5EF4-FFF2-40B4-BE49-F238E27FC236}">
                <a16:creationId xmlns:a16="http://schemas.microsoft.com/office/drawing/2014/main" id="{8F18ED47-7D4E-53EF-65A6-9901DBAED6B8}"/>
              </a:ext>
            </a:extLst>
          </p:cNvPr>
          <p:cNvSpPr/>
          <p:nvPr/>
        </p:nvSpPr>
        <p:spPr>
          <a:xfrm>
            <a:off x="12700000" y="69596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map">
            <a:extLst>
              <a:ext uri="{FF2B5EF4-FFF2-40B4-BE49-F238E27FC236}">
                <a16:creationId xmlns:a16="http://schemas.microsoft.com/office/drawing/2014/main" id="{7C70710A-9A1A-B708-EC68-7BB082939D7E}"/>
              </a:ext>
            </a:extLst>
          </p:cNvPr>
          <p:cNvSpPr txBox="1"/>
          <p:nvPr/>
        </p:nvSpPr>
        <p:spPr>
          <a:xfrm>
            <a:off x="12979400" y="69595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5 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3448487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n-channel enhancement MOSF s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D48484C-D8E0-EBEE-04B5-64E1279F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n-channel enhancement MOSFET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195AED5D-01E0-5AF4-FE86-26439B05E6D4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872C9CC-2873-4F3B-A4CA-96C5C739CAAD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6EDBE32-4215-1212-0CAC-DCA1C90517B0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56AE91F-8B36-4904-BC31-5CE17B12955C}"/>
              </a:ext>
            </a:extLst>
          </p:cNvPr>
          <p:cNvSpPr/>
          <p:nvPr/>
        </p:nvSpPr>
        <p:spPr>
          <a:xfrm>
            <a:off x="3344141" y="2032000"/>
            <a:ext cx="11599717" cy="4953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3ABAC3AE-3875-79C6-A8AB-882A07C50D7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141" y="2286000"/>
            <a:ext cx="11091718" cy="4216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B8E09ED7-C2BB-7D08-C676-D397CE4EC665}"/>
              </a:ext>
            </a:extLst>
          </p:cNvPr>
          <p:cNvSpPr txBox="1"/>
          <p:nvPr/>
        </p:nvSpPr>
        <p:spPr>
          <a:xfrm>
            <a:off x="3598141" y="6629400"/>
            <a:ext cx="1109171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2C40B12C-714E-40CF-76C3-DF7398CE6D61}"/>
              </a:ext>
            </a:extLst>
          </p:cNvPr>
          <p:cNvSpPr txBox="1"/>
          <p:nvPr/>
        </p:nvSpPr>
        <p:spPr>
          <a:xfrm>
            <a:off x="914400" y="7366000"/>
            <a:ext cx="164592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Four terminals: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source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(S),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gate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(G),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drain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(D) and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body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(B).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DCB2E4C2-73DB-C7F3-8F9D-5903F7BFE3D9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5C04C2FD-E5C6-D4DD-C798-3737C30AD285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33715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n-channel enhancement MOSF s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D48484C-D8E0-EBEE-04B5-64E1279F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n-channel enhancement MOSFET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195AED5D-01E0-5AF4-FE86-26439B05E6D4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872C9CC-2873-4F3B-A4CA-96C5C739CAAD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6EDBE32-4215-1212-0CAC-DCA1C90517B0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56AE91F-8B36-4904-BC31-5CE17B12955C}"/>
              </a:ext>
            </a:extLst>
          </p:cNvPr>
          <p:cNvSpPr/>
          <p:nvPr/>
        </p:nvSpPr>
        <p:spPr>
          <a:xfrm>
            <a:off x="3344141" y="2032000"/>
            <a:ext cx="11599717" cy="4953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3ABAC3AE-3875-79C6-A8AB-882A07C50D7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141" y="2286000"/>
            <a:ext cx="11091718" cy="4216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B8E09ED7-C2BB-7D08-C676-D397CE4EC665}"/>
              </a:ext>
            </a:extLst>
          </p:cNvPr>
          <p:cNvSpPr txBox="1"/>
          <p:nvPr/>
        </p:nvSpPr>
        <p:spPr>
          <a:xfrm>
            <a:off x="3598141" y="6629400"/>
            <a:ext cx="1109171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2C40B12C-714E-40CF-76C3-DF7398CE6D61}"/>
              </a:ext>
            </a:extLst>
          </p:cNvPr>
          <p:cNvSpPr txBox="1"/>
          <p:nvPr/>
        </p:nvSpPr>
        <p:spPr>
          <a:xfrm>
            <a:off x="914400" y="7366000"/>
            <a:ext cx="164592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Four terminals: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source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(S),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gate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(G),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drain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(D) and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body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(B).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3CBCDDCF-49BF-5DCD-5981-35AFACE6FE99}"/>
              </a:ext>
            </a:extLst>
          </p:cNvPr>
          <p:cNvSpPr txBox="1"/>
          <p:nvPr/>
        </p:nvSpPr>
        <p:spPr>
          <a:xfrm>
            <a:off x="914400" y="8012616"/>
            <a:ext cx="164592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A thin oxide (SiO₂) insulates the gate, so the gate draws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no current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F83D9E91-F405-ADF4-450F-A7EEE944E086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96D034E8-B2B0-9C59-DDEC-E752E463BF48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011153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n-channel enhancement MOSF s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D48484C-D8E0-EBEE-04B5-64E1279F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n-channel enhancement MOSFET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195AED5D-01E0-5AF4-FE86-26439B05E6D4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872C9CC-2873-4F3B-A4CA-96C5C739CAAD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6EDBE32-4215-1212-0CAC-DCA1C90517B0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56AE91F-8B36-4904-BC31-5CE17B12955C}"/>
              </a:ext>
            </a:extLst>
          </p:cNvPr>
          <p:cNvSpPr/>
          <p:nvPr/>
        </p:nvSpPr>
        <p:spPr>
          <a:xfrm>
            <a:off x="3344141" y="2032000"/>
            <a:ext cx="11599717" cy="4953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3ABAC3AE-3875-79C6-A8AB-882A07C50D7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141" y="2286000"/>
            <a:ext cx="11091718" cy="4216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B8E09ED7-C2BB-7D08-C676-D397CE4EC665}"/>
              </a:ext>
            </a:extLst>
          </p:cNvPr>
          <p:cNvSpPr txBox="1"/>
          <p:nvPr/>
        </p:nvSpPr>
        <p:spPr>
          <a:xfrm>
            <a:off x="3598141" y="6629400"/>
            <a:ext cx="1109171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2C40B12C-714E-40CF-76C3-DF7398CE6D61}"/>
              </a:ext>
            </a:extLst>
          </p:cNvPr>
          <p:cNvSpPr txBox="1"/>
          <p:nvPr/>
        </p:nvSpPr>
        <p:spPr>
          <a:xfrm>
            <a:off x="914400" y="7366000"/>
            <a:ext cx="164592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Four terminals: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source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(S),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gate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(G),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drain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(D) and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body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(B).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3CBCDDCF-49BF-5DCD-5981-35AFACE6FE99}"/>
              </a:ext>
            </a:extLst>
          </p:cNvPr>
          <p:cNvSpPr txBox="1"/>
          <p:nvPr/>
        </p:nvSpPr>
        <p:spPr>
          <a:xfrm>
            <a:off x="914400" y="8012616"/>
            <a:ext cx="164592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A thin oxide (SiO₂) insulates the gate, so the gate draws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no current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2" name="point @3">
            <a:extLst>
              <a:ext uri="{FF2B5EF4-FFF2-40B4-BE49-F238E27FC236}">
                <a16:creationId xmlns:a16="http://schemas.microsoft.com/office/drawing/2014/main" id="{2EA2C3BE-E041-C404-98CC-CCFF0E2EDA8C}"/>
              </a:ext>
            </a:extLst>
          </p:cNvPr>
          <p:cNvSpPr txBox="1"/>
          <p:nvPr/>
        </p:nvSpPr>
        <p:spPr>
          <a:xfrm>
            <a:off x="914400" y="8659233"/>
            <a:ext cx="16459200" cy="3643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channel region between the n⁺ source and drain has length L and width W.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9087034F-6B44-A065-599B-A0ECF5D4595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B17CEA4E-D35A-FF86-0E12-BED7357F914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15686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ith no gate voltage, no curre s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9A82181-0C87-0447-C1B5-4A6F82189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With no gate voltage, no current flows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0130748-8A3E-0BDC-65AA-5AF2908A5E5B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40FA493-3537-743E-BE01-2B486F6256FA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7FB92BE-2290-CF4D-E26B-06C5AB0CE1EC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F2E969EF-FDCF-6A27-2201-E325FABBADA3}"/>
              </a:ext>
            </a:extLst>
          </p:cNvPr>
          <p:cNvSpPr/>
          <p:nvPr/>
        </p:nvSpPr>
        <p:spPr>
          <a:xfrm>
            <a:off x="914400" y="2222500"/>
            <a:ext cx="8128000" cy="4297348"/>
          </a:xfrm>
          <a:prstGeom prst="roundRect">
            <a:avLst>
              <a:gd name="adj" fmla="val 532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0F2FBF34-260B-DE18-1FE3-1E440455BB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3560748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6D0BDD98-AF1E-DDB3-9006-7ACDE4417578}"/>
              </a:ext>
            </a:extLst>
          </p:cNvPr>
          <p:cNvSpPr txBox="1"/>
          <p:nvPr/>
        </p:nvSpPr>
        <p:spPr>
          <a:xfrm>
            <a:off x="1168400" y="6164248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4CCCDB9F-C644-C0E6-6F40-1790F86A5E17}"/>
              </a:ext>
            </a:extLst>
          </p:cNvPr>
          <p:cNvSpPr txBox="1"/>
          <p:nvPr/>
        </p:nvSpPr>
        <p:spPr>
          <a:xfrm>
            <a:off x="9652000" y="2413000"/>
            <a:ext cx="7721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Source and drain are n⁺, the body is p-type: two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back-to-back pn junctions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lie between source and drain.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795BDD7F-C62C-B898-0DB2-E1D7C474C66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D1881172-F924-D40D-4209-72B9D1DC3D2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2897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ith no gate voltage, no curre s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9A82181-0C87-0447-C1B5-4A6F82189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With no gate voltage, no current flows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0130748-8A3E-0BDC-65AA-5AF2908A5E5B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40FA493-3537-743E-BE01-2B486F6256FA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7FB92BE-2290-CF4D-E26B-06C5AB0CE1EC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F2E969EF-FDCF-6A27-2201-E325FABBADA3}"/>
              </a:ext>
            </a:extLst>
          </p:cNvPr>
          <p:cNvSpPr/>
          <p:nvPr/>
        </p:nvSpPr>
        <p:spPr>
          <a:xfrm>
            <a:off x="914400" y="2222500"/>
            <a:ext cx="8128000" cy="4297348"/>
          </a:xfrm>
          <a:prstGeom prst="roundRect">
            <a:avLst>
              <a:gd name="adj" fmla="val 532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0F2FBF34-260B-DE18-1FE3-1E440455BB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3560748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6D0BDD98-AF1E-DDB3-9006-7ACDE4417578}"/>
              </a:ext>
            </a:extLst>
          </p:cNvPr>
          <p:cNvSpPr txBox="1"/>
          <p:nvPr/>
        </p:nvSpPr>
        <p:spPr>
          <a:xfrm>
            <a:off x="1168400" y="6164248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4CCCDB9F-C644-C0E6-6F40-1790F86A5E17}"/>
              </a:ext>
            </a:extLst>
          </p:cNvPr>
          <p:cNvSpPr txBox="1"/>
          <p:nvPr/>
        </p:nvSpPr>
        <p:spPr>
          <a:xfrm>
            <a:off x="9652000" y="2413000"/>
            <a:ext cx="7721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Source and drain are n⁺, the body is p-type: two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back-to-back pn junctions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lie between source and drain.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D7480C1B-2E09-C4AF-00BE-4AF8CD36BACF}"/>
              </a:ext>
            </a:extLst>
          </p:cNvPr>
          <p:cNvSpPr txBox="1"/>
          <p:nvPr/>
        </p:nvSpPr>
        <p:spPr>
          <a:xfrm>
            <a:off x="9652000" y="3463380"/>
            <a:ext cx="7721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Whatever the polarity of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, one junction is reverse-biased, so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≈ 0.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318C22AD-7269-07ED-D0D3-F91F55E5F58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D4F6B197-A2D0-C9F4-F374-CF36272D69F1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85111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ith no gate voltage, no curre s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9A82181-0C87-0447-C1B5-4A6F82189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With no gate voltage, no current flows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0130748-8A3E-0BDC-65AA-5AF2908A5E5B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40FA493-3537-743E-BE01-2B486F6256FA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7FB92BE-2290-CF4D-E26B-06C5AB0CE1EC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F2E969EF-FDCF-6A27-2201-E325FABBADA3}"/>
              </a:ext>
            </a:extLst>
          </p:cNvPr>
          <p:cNvSpPr/>
          <p:nvPr/>
        </p:nvSpPr>
        <p:spPr>
          <a:xfrm>
            <a:off x="914400" y="2222500"/>
            <a:ext cx="8128000" cy="4297348"/>
          </a:xfrm>
          <a:prstGeom prst="roundRect">
            <a:avLst>
              <a:gd name="adj" fmla="val 532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0F2FBF34-260B-DE18-1FE3-1E440455BB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3560748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6D0BDD98-AF1E-DDB3-9006-7ACDE4417578}"/>
              </a:ext>
            </a:extLst>
          </p:cNvPr>
          <p:cNvSpPr txBox="1"/>
          <p:nvPr/>
        </p:nvSpPr>
        <p:spPr>
          <a:xfrm>
            <a:off x="1168400" y="6164248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4CCCDB9F-C644-C0E6-6F40-1790F86A5E17}"/>
              </a:ext>
            </a:extLst>
          </p:cNvPr>
          <p:cNvSpPr txBox="1"/>
          <p:nvPr/>
        </p:nvSpPr>
        <p:spPr>
          <a:xfrm>
            <a:off x="9652000" y="2413000"/>
            <a:ext cx="7721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Source and drain are n⁺, the body is p-type: two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back-to-back pn junctions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lie between source and drain.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D7480C1B-2E09-C4AF-00BE-4AF8CD36BACF}"/>
              </a:ext>
            </a:extLst>
          </p:cNvPr>
          <p:cNvSpPr txBox="1"/>
          <p:nvPr/>
        </p:nvSpPr>
        <p:spPr>
          <a:xfrm>
            <a:off x="9652000" y="3463380"/>
            <a:ext cx="7721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Whatever the polarity of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, one junction is reverse-biased, so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≈ 0.</a:t>
            </a:r>
          </a:p>
        </p:txBody>
      </p:sp>
      <p:sp>
        <p:nvSpPr>
          <p:cNvPr id="12" name="point @3">
            <a:extLst>
              <a:ext uri="{FF2B5EF4-FFF2-40B4-BE49-F238E27FC236}">
                <a16:creationId xmlns:a16="http://schemas.microsoft.com/office/drawing/2014/main" id="{BA840447-0C53-2A30-17F2-18663B468660}"/>
              </a:ext>
            </a:extLst>
          </p:cNvPr>
          <p:cNvSpPr txBox="1"/>
          <p:nvPr/>
        </p:nvSpPr>
        <p:spPr>
          <a:xfrm>
            <a:off x="9652000" y="4513760"/>
            <a:ext cx="7721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The energy barrier (left) keeps the electrons of the source away from the drain.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ED625BA2-F306-D647-9BEA-89F4CDD1E389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E37F217A-BE9F-25A8-033D-65DF14D5215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12948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reating a channel: the thresh s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D2C992B-F794-BA0F-890B-8D59025B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6343032-5954-9099-28A4-E02001F901BA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30E38C6-A0B7-C63A-795D-A7800882131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636E4AC-B03A-E9DC-A2F3-24D7034F152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990ABF49-9D35-9891-9C4B-BEDA8E546555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EDE22389-074C-52A8-2C1B-33983C34AF4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58BE0F86-FDA9-1064-8ED2-5C65491C80C3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3E54C89B-02CE-1C2C-A1DD-FE0AA4502060}"/>
              </a:ext>
            </a:extLst>
          </p:cNvPr>
          <p:cNvSpPr txBox="1"/>
          <p:nvPr/>
        </p:nvSpPr>
        <p:spPr>
          <a:xfrm>
            <a:off x="914400" y="2413000"/>
            <a:ext cx="7366000" cy="115877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A positive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FF7776E4-9A0A-8CDE-AED4-982A8F5AD90A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025D0542-C5F1-FC47-2D5B-606C71C20D41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431220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reating a channel: the thresh s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D2C992B-F794-BA0F-890B-8D59025B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6343032-5954-9099-28A4-E02001F901BA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30E38C6-A0B7-C63A-795D-A7800882131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636E4AC-B03A-E9DC-A2F3-24D7034F152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990ABF49-9D35-9891-9C4B-BEDA8E546555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EDE22389-074C-52A8-2C1B-33983C34AF4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58BE0F86-FDA9-1064-8ED2-5C65491C80C3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3E54C89B-02CE-1C2C-A1DD-FE0AA4502060}"/>
              </a:ext>
            </a:extLst>
          </p:cNvPr>
          <p:cNvSpPr txBox="1"/>
          <p:nvPr/>
        </p:nvSpPr>
        <p:spPr>
          <a:xfrm>
            <a:off x="914400" y="2413000"/>
            <a:ext cx="7366000" cy="115877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A positive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4F6E9BBB-F57C-6D01-1B03-47200D1D8AE4}"/>
              </a:ext>
            </a:extLst>
          </p:cNvPr>
          <p:cNvSpPr txBox="1"/>
          <p:nvPr/>
        </p:nvSpPr>
        <p:spPr>
          <a:xfrm>
            <a:off x="914400" y="3851179"/>
            <a:ext cx="73660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Once enough electrons gather, they form an n-type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inversion layer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: the channel linking source to drain.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2CFAD768-9100-6878-2A94-AE1E83D8339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AEB55402-CFBC-14D2-892B-F7746D13439A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24796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reating a channel: the thresh s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D2C992B-F794-BA0F-890B-8D59025B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6343032-5954-9099-28A4-E02001F901BA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30E38C6-A0B7-C63A-795D-A7800882131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636E4AC-B03A-E9DC-A2F3-24D7034F152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990ABF49-9D35-9891-9C4B-BEDA8E546555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EDE22389-074C-52A8-2C1B-33983C34AF4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58BE0F86-FDA9-1064-8ED2-5C65491C80C3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3E54C89B-02CE-1C2C-A1DD-FE0AA4502060}"/>
              </a:ext>
            </a:extLst>
          </p:cNvPr>
          <p:cNvSpPr txBox="1"/>
          <p:nvPr/>
        </p:nvSpPr>
        <p:spPr>
          <a:xfrm>
            <a:off x="914400" y="2413000"/>
            <a:ext cx="7366000" cy="115877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A positive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4F6E9BBB-F57C-6D01-1B03-47200D1D8AE4}"/>
              </a:ext>
            </a:extLst>
          </p:cNvPr>
          <p:cNvSpPr txBox="1"/>
          <p:nvPr/>
        </p:nvSpPr>
        <p:spPr>
          <a:xfrm>
            <a:off x="914400" y="3851179"/>
            <a:ext cx="73660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Once enough electrons gather, they form an n-type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inversion layer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: the channel linking source to drain.</a:t>
            </a:r>
          </a:p>
        </p:txBody>
      </p:sp>
      <p:sp>
        <p:nvSpPr>
          <p:cNvPr id="12" name="def @3">
            <a:extLst>
              <a:ext uri="{FF2B5EF4-FFF2-40B4-BE49-F238E27FC236}">
                <a16:creationId xmlns:a16="http://schemas.microsoft.com/office/drawing/2014/main" id="{D1A99AFB-0737-2052-F289-EECC602BDB1B}"/>
              </a:ext>
            </a:extLst>
          </p:cNvPr>
          <p:cNvSpPr/>
          <p:nvPr/>
        </p:nvSpPr>
        <p:spPr>
          <a:xfrm>
            <a:off x="914400" y="5028559"/>
            <a:ext cx="7366000" cy="2159000"/>
          </a:xfrm>
          <a:prstGeom prst="roundRect">
            <a:avLst>
              <a:gd name="adj" fmla="val 14118"/>
            </a:avLst>
          </a:prstGeom>
          <a:solidFill>
            <a:srgbClr val="E2F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6B2AD4F9-10C8-ED30-250E-C4B1E1DE8CC3}"/>
              </a:ext>
            </a:extLst>
          </p:cNvPr>
          <p:cNvSpPr/>
          <p:nvPr/>
        </p:nvSpPr>
        <p:spPr>
          <a:xfrm>
            <a:off x="1244600" y="5307959"/>
            <a:ext cx="148844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Definition</a:t>
            </a:r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B671A2B0-5CF5-C4FB-B594-DC035D42BEFF}"/>
              </a:ext>
            </a:extLst>
          </p:cNvPr>
          <p:cNvSpPr txBox="1"/>
          <p:nvPr/>
        </p:nvSpPr>
        <p:spPr>
          <a:xfrm>
            <a:off x="1244600" y="5866758"/>
            <a:ext cx="67056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Threshold voltage </a:t>
            </a:r>
            <a:r>
              <a:rPr lang="en-US" sz="2400" b="1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b="1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: the value of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at which the channel just forms.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97D15470-E033-FDCD-CDC3-FAD41D3310C9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1749AF75-7C9D-7D0D-CF69-2F85D4F79DE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22830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creasing v_{DS}: the channel s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220C5A-1148-B1AD-07B2-A73EB513A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Increasing 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DS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: the channel tapers and pinches off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C0803D3-C1BD-A582-FE4C-8D0FEDE36259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EA448F7-FE74-0F9C-3C4B-13FF5DFB10A8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6B3FFFD5-9AE1-E3D0-C168-AE406E7638BE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E45D80A5-671B-41AE-D45C-2F49879C451B}"/>
              </a:ext>
            </a:extLst>
          </p:cNvPr>
          <p:cNvSpPr/>
          <p:nvPr/>
        </p:nvSpPr>
        <p:spPr>
          <a:xfrm>
            <a:off x="9144000" y="2222500"/>
            <a:ext cx="8229600" cy="6575531"/>
          </a:xfrm>
          <a:prstGeom prst="roundRect">
            <a:avLst>
              <a:gd name="adj" fmla="val 347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4B8224EE-7E6A-93D3-CD3C-6E341547138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0" y="2476500"/>
            <a:ext cx="7721600" cy="5838931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2E9DFFA7-8A9E-950E-C0F5-C54C3C9AEFE5}"/>
              </a:ext>
            </a:extLst>
          </p:cNvPr>
          <p:cNvSpPr txBox="1"/>
          <p:nvPr/>
        </p:nvSpPr>
        <p:spPr>
          <a:xfrm>
            <a:off x="9398000" y="8442431"/>
            <a:ext cx="7721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8872875E-99A9-8571-447A-6B49128BD217}"/>
              </a:ext>
            </a:extLst>
          </p:cNvPr>
          <p:cNvSpPr txBox="1"/>
          <p:nvPr/>
        </p:nvSpPr>
        <p:spPr>
          <a:xfrm>
            <a:off x="914400" y="2349500"/>
            <a:ext cx="7620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Along the channel, the voltage rises from 0 at the source to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at the drain.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23787671-40D5-503A-724A-20C1D31D43B7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C6102E8D-8EE8-9A7D-1E1A-EC9223743992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32441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creasing v_{DS}: the channel s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220C5A-1148-B1AD-07B2-A73EB513A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Increasing 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DS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: the channel tapers and pinches off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C0803D3-C1BD-A582-FE4C-8D0FEDE36259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EA448F7-FE74-0F9C-3C4B-13FF5DFB10A8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6B3FFFD5-9AE1-E3D0-C168-AE406E7638BE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E45D80A5-671B-41AE-D45C-2F49879C451B}"/>
              </a:ext>
            </a:extLst>
          </p:cNvPr>
          <p:cNvSpPr/>
          <p:nvPr/>
        </p:nvSpPr>
        <p:spPr>
          <a:xfrm>
            <a:off x="9144000" y="2222500"/>
            <a:ext cx="8229600" cy="6575531"/>
          </a:xfrm>
          <a:prstGeom prst="roundRect">
            <a:avLst>
              <a:gd name="adj" fmla="val 347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4B8224EE-7E6A-93D3-CD3C-6E341547138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0" y="2476500"/>
            <a:ext cx="7721600" cy="5838931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2E9DFFA7-8A9E-950E-C0F5-C54C3C9AEFE5}"/>
              </a:ext>
            </a:extLst>
          </p:cNvPr>
          <p:cNvSpPr txBox="1"/>
          <p:nvPr/>
        </p:nvSpPr>
        <p:spPr>
          <a:xfrm>
            <a:off x="9398000" y="8442431"/>
            <a:ext cx="7721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8872875E-99A9-8571-447A-6B49128BD217}"/>
              </a:ext>
            </a:extLst>
          </p:cNvPr>
          <p:cNvSpPr txBox="1"/>
          <p:nvPr/>
        </p:nvSpPr>
        <p:spPr>
          <a:xfrm>
            <a:off x="914400" y="2349500"/>
            <a:ext cx="7620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Along the channel, the voltage rises from 0 at the source to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at the drain.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71CF40AD-1678-4EBB-485F-40BA0E5D5B95}"/>
              </a:ext>
            </a:extLst>
          </p:cNvPr>
          <p:cNvSpPr txBox="1"/>
          <p:nvPr/>
        </p:nvSpPr>
        <p:spPr>
          <a:xfrm>
            <a:off x="914400" y="3367757"/>
            <a:ext cx="7620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gate-to-channel voltage therefore falls from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to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: the channel gets shallower toward the drain.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D306A27B-92F0-3F9F-5CC6-0FF4030A3343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D671DC84-17BE-E285-2069-08DEBA06C05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472552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creasing v_{DS}: the channel s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220C5A-1148-B1AD-07B2-A73EB513A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Increasing 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DS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: the channel tapers and pinches off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C0803D3-C1BD-A582-FE4C-8D0FEDE36259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EA448F7-FE74-0F9C-3C4B-13FF5DFB10A8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6B3FFFD5-9AE1-E3D0-C168-AE406E7638BE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E45D80A5-671B-41AE-D45C-2F49879C451B}"/>
              </a:ext>
            </a:extLst>
          </p:cNvPr>
          <p:cNvSpPr/>
          <p:nvPr/>
        </p:nvSpPr>
        <p:spPr>
          <a:xfrm>
            <a:off x="9144000" y="2222500"/>
            <a:ext cx="8229600" cy="6575531"/>
          </a:xfrm>
          <a:prstGeom prst="roundRect">
            <a:avLst>
              <a:gd name="adj" fmla="val 347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4B8224EE-7E6A-93D3-CD3C-6E341547138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0" y="2476500"/>
            <a:ext cx="7721600" cy="5838931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2E9DFFA7-8A9E-950E-C0F5-C54C3C9AEFE5}"/>
              </a:ext>
            </a:extLst>
          </p:cNvPr>
          <p:cNvSpPr txBox="1"/>
          <p:nvPr/>
        </p:nvSpPr>
        <p:spPr>
          <a:xfrm>
            <a:off x="9398000" y="8442431"/>
            <a:ext cx="7721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8872875E-99A9-8571-447A-6B49128BD217}"/>
              </a:ext>
            </a:extLst>
          </p:cNvPr>
          <p:cNvSpPr txBox="1"/>
          <p:nvPr/>
        </p:nvSpPr>
        <p:spPr>
          <a:xfrm>
            <a:off x="914400" y="2349500"/>
            <a:ext cx="7620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Along the channel, the voltage rises from 0 at the source to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at the drain.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71CF40AD-1678-4EBB-485F-40BA0E5D5B95}"/>
              </a:ext>
            </a:extLst>
          </p:cNvPr>
          <p:cNvSpPr txBox="1"/>
          <p:nvPr/>
        </p:nvSpPr>
        <p:spPr>
          <a:xfrm>
            <a:off x="914400" y="3367757"/>
            <a:ext cx="7620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gate-to-channel voltage therefore falls from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to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: the channel gets shallower toward the drain.</a:t>
            </a:r>
          </a:p>
        </p:txBody>
      </p:sp>
      <p:sp>
        <p:nvSpPr>
          <p:cNvPr id="12" name="def @3">
            <a:extLst>
              <a:ext uri="{FF2B5EF4-FFF2-40B4-BE49-F238E27FC236}">
                <a16:creationId xmlns:a16="http://schemas.microsoft.com/office/drawing/2014/main" id="{AA574359-484B-9055-E12E-EFE2633B36DE}"/>
              </a:ext>
            </a:extLst>
          </p:cNvPr>
          <p:cNvSpPr/>
          <p:nvPr/>
        </p:nvSpPr>
        <p:spPr>
          <a:xfrm>
            <a:off x="914400" y="4462214"/>
            <a:ext cx="7620000" cy="2540000"/>
          </a:xfrm>
          <a:prstGeom prst="roundRect">
            <a:avLst>
              <a:gd name="adj" fmla="val 12000"/>
            </a:avLst>
          </a:prstGeom>
          <a:solidFill>
            <a:srgbClr val="E2F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EE16C975-1E6B-3A38-DCF2-C6B1D3F1ED68}"/>
              </a:ext>
            </a:extLst>
          </p:cNvPr>
          <p:cNvSpPr/>
          <p:nvPr/>
        </p:nvSpPr>
        <p:spPr>
          <a:xfrm>
            <a:off x="1244600" y="4741614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Pinch-off</a:t>
            </a:r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3D0F6623-95EF-B755-CD20-181E4119776B}"/>
              </a:ext>
            </a:extLst>
          </p:cNvPr>
          <p:cNvSpPr txBox="1"/>
          <p:nvPr/>
        </p:nvSpPr>
        <p:spPr>
          <a:xfrm>
            <a:off x="1244600" y="5300413"/>
            <a:ext cx="69596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When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, the channel depth at the drain end falls to almost zero. Increasing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further barely changes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: the current </a:t>
            </a:r>
            <a:r>
              <a:rPr lang="en-US" sz="2200" b="1">
                <a:solidFill>
                  <a:srgbClr val="17262E"/>
                </a:solidFill>
                <a:latin typeface="Nunito" pitchFamily="2" charset="0"/>
              </a:rPr>
              <a:t>saturates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A9264BCF-6171-FFCA-42A3-C8D124E0997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D5CD6D22-15EA-20F0-05D6-820F0AF4DF5F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65724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MOS: NMOS and PMOS on one chi s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3E0BF7D-F4F0-CF88-DAB1-6D3A928CD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CMOS: NMOS and PMOS on one chip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97C465F-778F-514C-DEE9-68F5299F3EAD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2B3FBABF-19E2-7456-2901-8E06E81DF696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BD20BD5-9069-2ABD-0D17-45DE1F2ED73D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856914FE-EDBC-5536-2383-A15EE5753498}"/>
              </a:ext>
            </a:extLst>
          </p:cNvPr>
          <p:cNvSpPr/>
          <p:nvPr/>
        </p:nvSpPr>
        <p:spPr>
          <a:xfrm>
            <a:off x="3188957" y="2032000"/>
            <a:ext cx="11910087" cy="5334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F825374F-9217-081E-A76E-E640F2DC0EB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957" y="2286000"/>
            <a:ext cx="11402087" cy="4597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3E8DC610-0281-D726-D214-101857235234}"/>
              </a:ext>
            </a:extLst>
          </p:cNvPr>
          <p:cNvSpPr txBox="1"/>
          <p:nvPr/>
        </p:nvSpPr>
        <p:spPr>
          <a:xfrm>
            <a:off x="3442957" y="7010400"/>
            <a:ext cx="1140208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D4A46553-8321-F93C-3D92-700DBABD2ECE}"/>
              </a:ext>
            </a:extLst>
          </p:cNvPr>
          <p:cNvSpPr txBox="1"/>
          <p:nvPr/>
        </p:nvSpPr>
        <p:spPr>
          <a:xfrm>
            <a:off x="914400" y="7747000"/>
            <a:ext cx="16459200" cy="3643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PMOS transistor is built in an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n-well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, with p⁺ source and drain.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9CCBD3CE-7085-8CCF-79B6-D3BB94B9265A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hrome page">
            <a:extLst>
              <a:ext uri="{FF2B5EF4-FFF2-40B4-BE49-F238E27FC236}">
                <a16:creationId xmlns:a16="http://schemas.microsoft.com/office/drawing/2014/main" id="{F525E2D2-0112-2A1D-4C50-29533083BD33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69824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MOS: NMOS and PMOS on one chi s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3E0BF7D-F4F0-CF88-DAB1-6D3A928CD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CMOS: NMOS and PMOS on one chip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97C465F-778F-514C-DEE9-68F5299F3EAD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2B3FBABF-19E2-7456-2901-8E06E81DF696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BD20BD5-9069-2ABD-0D17-45DE1F2ED73D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856914FE-EDBC-5536-2383-A15EE5753498}"/>
              </a:ext>
            </a:extLst>
          </p:cNvPr>
          <p:cNvSpPr/>
          <p:nvPr/>
        </p:nvSpPr>
        <p:spPr>
          <a:xfrm>
            <a:off x="3188957" y="2032000"/>
            <a:ext cx="11910087" cy="5334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F825374F-9217-081E-A76E-E640F2DC0EB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957" y="2286000"/>
            <a:ext cx="11402087" cy="4597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3E8DC610-0281-D726-D214-101857235234}"/>
              </a:ext>
            </a:extLst>
          </p:cNvPr>
          <p:cNvSpPr txBox="1"/>
          <p:nvPr/>
        </p:nvSpPr>
        <p:spPr>
          <a:xfrm>
            <a:off x="3442957" y="7010400"/>
            <a:ext cx="1140208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D4A46553-8321-F93C-3D92-700DBABD2ECE}"/>
              </a:ext>
            </a:extLst>
          </p:cNvPr>
          <p:cNvSpPr txBox="1"/>
          <p:nvPr/>
        </p:nvSpPr>
        <p:spPr>
          <a:xfrm>
            <a:off x="914400" y="7747000"/>
            <a:ext cx="16459200" cy="3643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PMOS transistor is built in an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n-well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, with p⁺ source and drain.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2DBE23A1-DA31-E60C-8608-EE49CD0FEE54}"/>
              </a:ext>
            </a:extLst>
          </p:cNvPr>
          <p:cNvSpPr txBox="1"/>
          <p:nvPr/>
        </p:nvSpPr>
        <p:spPr>
          <a:xfrm>
            <a:off x="914400" y="8390795"/>
            <a:ext cx="164592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Thick oxide isolates neighbouring devices. CMOS circuits use both types together.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2B6D2219-D8CF-47FB-CBA8-F21040BFF62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hrome page">
            <a:extLst>
              <a:ext uri="{FF2B5EF4-FFF2-40B4-BE49-F238E27FC236}">
                <a16:creationId xmlns:a16="http://schemas.microsoft.com/office/drawing/2014/main" id="{E1DD77A3-8BDC-D000-DF7D-E7E227D4CA4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614466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rcuit symbols: n-channel and s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5206432-85EC-63A7-9B78-ADED502B6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Circuit symbols: n-channel and p-channel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8ECEA177-24B9-9FC1-9585-7BC31E6D35F7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31681F5-8E27-1969-F3FA-0472C6B3519A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EA82AEA-9EAD-982E-D93C-27D99CF8B2EE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C4B0AEC5-F8A9-FFFF-CF2E-9C34458B4284}"/>
              </a:ext>
            </a:extLst>
          </p:cNvPr>
          <p:cNvSpPr/>
          <p:nvPr/>
        </p:nvSpPr>
        <p:spPr>
          <a:xfrm>
            <a:off x="914400" y="2222500"/>
            <a:ext cx="8128000" cy="5180581"/>
          </a:xfrm>
          <a:prstGeom prst="roundRect">
            <a:avLst>
              <a:gd name="adj" fmla="val 4413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09E607B3-68F0-EB8C-2335-7767241EDF1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4443981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99E06E78-DCEE-AE51-16E0-843FC685CA07}"/>
              </a:ext>
            </a:extLst>
          </p:cNvPr>
          <p:cNvSpPr txBox="1"/>
          <p:nvPr/>
        </p:nvSpPr>
        <p:spPr>
          <a:xfrm>
            <a:off x="1168400" y="7047481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F188D66D-882A-1DBC-02B9-3BCB6051388E}"/>
              </a:ext>
            </a:extLst>
          </p:cNvPr>
          <p:cNvSpPr txBox="1"/>
          <p:nvPr/>
        </p:nvSpPr>
        <p:spPr>
          <a:xfrm>
            <a:off x="9652000" y="2413000"/>
            <a:ext cx="7721600" cy="115877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In these symbols the arrow is on the body: it points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in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for an n-channel device and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out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for a p-channel device.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A1981010-3CD8-2DDD-9AA5-FAA6BC3602DD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hrome page">
            <a:extLst>
              <a:ext uri="{FF2B5EF4-FFF2-40B4-BE49-F238E27FC236}">
                <a16:creationId xmlns:a16="http://schemas.microsoft.com/office/drawing/2014/main" id="{583C0316-D082-8B56-50DB-0A09DA2307E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64932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rcuit symbols: n-channel and s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5206432-85EC-63A7-9B78-ADED502B6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Circuit symbols: n-channel and p-channel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8ECEA177-24B9-9FC1-9585-7BC31E6D35F7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31681F5-8E27-1969-F3FA-0472C6B3519A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EA82AEA-9EAD-982E-D93C-27D99CF8B2EE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C4B0AEC5-F8A9-FFFF-CF2E-9C34458B4284}"/>
              </a:ext>
            </a:extLst>
          </p:cNvPr>
          <p:cNvSpPr/>
          <p:nvPr/>
        </p:nvSpPr>
        <p:spPr>
          <a:xfrm>
            <a:off x="914400" y="2222500"/>
            <a:ext cx="8128000" cy="5180581"/>
          </a:xfrm>
          <a:prstGeom prst="roundRect">
            <a:avLst>
              <a:gd name="adj" fmla="val 4413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09E607B3-68F0-EB8C-2335-7767241EDF1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4443981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99E06E78-DCEE-AE51-16E0-843FC685CA07}"/>
              </a:ext>
            </a:extLst>
          </p:cNvPr>
          <p:cNvSpPr txBox="1"/>
          <p:nvPr/>
        </p:nvSpPr>
        <p:spPr>
          <a:xfrm>
            <a:off x="1168400" y="7047481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F188D66D-882A-1DBC-02B9-3BCB6051388E}"/>
              </a:ext>
            </a:extLst>
          </p:cNvPr>
          <p:cNvSpPr txBox="1"/>
          <p:nvPr/>
        </p:nvSpPr>
        <p:spPr>
          <a:xfrm>
            <a:off x="9652000" y="2413000"/>
            <a:ext cx="7721600" cy="115877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In these symbols the arrow is on the body: it points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in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for an n-channel device and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out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for a p-channel device.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813FDF8A-EB2E-1E84-1D24-F742DD3EBDB8}"/>
              </a:ext>
            </a:extLst>
          </p:cNvPr>
          <p:cNvSpPr txBox="1"/>
          <p:nvPr/>
        </p:nvSpPr>
        <p:spPr>
          <a:xfrm>
            <a:off x="9652000" y="3851179"/>
            <a:ext cx="7721600" cy="115877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PMOS: holes carry the current and every voltage and current is reversed. It conducts when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, with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negative.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89CAA41A-84D3-70ED-874B-FEB93C997F23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hrome page">
            <a:extLst>
              <a:ext uri="{FF2B5EF4-FFF2-40B4-BE49-F238E27FC236}">
                <a16:creationId xmlns:a16="http://schemas.microsoft.com/office/drawing/2014/main" id="{476549AC-EA64-5771-515E-6237E7F6444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34662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9A1E2538-5EE8-B06A-A1EB-3B81D96E410C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6CF9345-1F22-A93C-85C1-B3F0BDD84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2920999"/>
            <a:ext cx="7112000" cy="2286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I–V characteristics</a:t>
            </a:r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57745351-78D5-1A42-1123-23882488DDF2}"/>
              </a:ext>
            </a:extLst>
          </p:cNvPr>
          <p:cNvSpPr/>
          <p:nvPr/>
        </p:nvSpPr>
        <p:spPr>
          <a:xfrm>
            <a:off x="1549400" y="2921000"/>
            <a:ext cx="2667000" cy="266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28054452-C097-600A-D2B4-A7D05162CE24}"/>
              </a:ext>
            </a:extLst>
          </p:cNvPr>
          <p:cNvSpPr txBox="1"/>
          <p:nvPr/>
        </p:nvSpPr>
        <p:spPr>
          <a:xfrm>
            <a:off x="4724400" y="59689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The </a:t>
            </a:r>
            <a:r>
              <a:rPr lang="en-US" sz="22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2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–</a:t>
            </a:r>
            <a:r>
              <a:rPr lang="en-US" sz="22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4F5E66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 family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E2623DD9-35D4-9ED2-4DB1-8A266B87AEEE}"/>
              </a:ext>
            </a:extLst>
          </p:cNvPr>
          <p:cNvSpPr txBox="1"/>
          <p:nvPr/>
        </p:nvSpPr>
        <p:spPr>
          <a:xfrm>
            <a:off x="4724400" y="65023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Saturation: the square law</a:t>
            </a: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94EF0F38-DFCE-0520-F6FE-6E0CBADBF929}"/>
              </a:ext>
            </a:extLst>
          </p:cNvPr>
          <p:cNvSpPr txBox="1"/>
          <p:nvPr/>
        </p:nvSpPr>
        <p:spPr>
          <a:xfrm>
            <a:off x="4724400" y="70357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Triode and saturation equations</a:t>
            </a:r>
          </a:p>
        </p:txBody>
      </p:sp>
      <p:sp>
        <p:nvSpPr>
          <p:cNvPr id="8" name="item">
            <a:extLst>
              <a:ext uri="{FF2B5EF4-FFF2-40B4-BE49-F238E27FC236}">
                <a16:creationId xmlns:a16="http://schemas.microsoft.com/office/drawing/2014/main" id="{31508A25-E75D-2A50-0C56-3A070BD92B37}"/>
              </a:ext>
            </a:extLst>
          </p:cNvPr>
          <p:cNvSpPr txBox="1"/>
          <p:nvPr/>
        </p:nvSpPr>
        <p:spPr>
          <a:xfrm>
            <a:off x="4724400" y="75691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Resistor and large-signal models</a:t>
            </a:r>
          </a:p>
        </p:txBody>
      </p:sp>
      <p:cxnSp>
        <p:nvCxnSpPr>
          <p:cNvPr id="9" name="motif">
            <a:extLst>
              <a:ext uri="{FF2B5EF4-FFF2-40B4-BE49-F238E27FC236}">
                <a16:creationId xmlns:a16="http://schemas.microsoft.com/office/drawing/2014/main" id="{27A6C2B4-A1FD-FE22-2690-135BEA42ED35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otif">
            <a:extLst>
              <a:ext uri="{FF2B5EF4-FFF2-40B4-BE49-F238E27FC236}">
                <a16:creationId xmlns:a16="http://schemas.microsoft.com/office/drawing/2014/main" id="{531F427D-BA6C-5F5A-FDCC-72A37720F904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955F0E1F-6633-1DD0-0093-02A19069C27E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3B1C022F-4725-F25A-C581-4CF451608AA7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otif">
            <a:extLst>
              <a:ext uri="{FF2B5EF4-FFF2-40B4-BE49-F238E27FC236}">
                <a16:creationId xmlns:a16="http://schemas.microsoft.com/office/drawing/2014/main" id="{5EE4C4DC-9BE7-3BB6-B09A-58BE550D75F0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otif">
            <a:extLst>
              <a:ext uri="{FF2B5EF4-FFF2-40B4-BE49-F238E27FC236}">
                <a16:creationId xmlns:a16="http://schemas.microsoft.com/office/drawing/2014/main" id="{D43893AC-6C39-C35C-5A45-B1B1794AADE9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tif">
            <a:extLst>
              <a:ext uri="{FF2B5EF4-FFF2-40B4-BE49-F238E27FC236}">
                <a16:creationId xmlns:a16="http://schemas.microsoft.com/office/drawing/2014/main" id="{0E328759-E655-7743-09AB-FD9C29535D6F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8208E067-3D36-0304-F8F7-3BDE9FC9E379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tif">
            <a:extLst>
              <a:ext uri="{FF2B5EF4-FFF2-40B4-BE49-F238E27FC236}">
                <a16:creationId xmlns:a16="http://schemas.microsoft.com/office/drawing/2014/main" id="{6870ADDD-22EF-F383-F8B9-5A08704B18BE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F4C62B25-EFEE-2FE4-9D60-45855ABA5F83}"/>
              </a:ext>
            </a:extLst>
          </p:cNvPr>
          <p:cNvSpPr/>
          <p:nvPr/>
        </p:nvSpPr>
        <p:spPr>
          <a:xfrm>
            <a:off x="12700000" y="38100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0AADB534-ABFB-579F-2017-DD42046F6E4E}"/>
              </a:ext>
            </a:extLst>
          </p:cNvPr>
          <p:cNvSpPr txBox="1"/>
          <p:nvPr/>
        </p:nvSpPr>
        <p:spPr>
          <a:xfrm>
            <a:off x="12979400" y="38099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1   Structure and operation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338D77D6-B1F7-73DA-9415-72E2BC3C67D8}"/>
              </a:ext>
            </a:extLst>
          </p:cNvPr>
          <p:cNvSpPr/>
          <p:nvPr/>
        </p:nvSpPr>
        <p:spPr>
          <a:xfrm>
            <a:off x="12700000" y="45974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B22C28C0-BC90-D1E0-AFA9-C08D72A537D1}"/>
              </a:ext>
            </a:extLst>
          </p:cNvPr>
          <p:cNvSpPr txBox="1"/>
          <p:nvPr/>
        </p:nvSpPr>
        <p:spPr>
          <a:xfrm>
            <a:off x="12979400" y="45973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   I–V characteristics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B57540FC-DB85-EFFE-870A-111907AC1EE0}"/>
              </a:ext>
            </a:extLst>
          </p:cNvPr>
          <p:cNvSpPr/>
          <p:nvPr/>
        </p:nvSpPr>
        <p:spPr>
          <a:xfrm>
            <a:off x="12700000" y="53848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BD68FD8E-2625-1E9F-A68F-5379D9B9E598}"/>
              </a:ext>
            </a:extLst>
          </p:cNvPr>
          <p:cNvSpPr txBox="1"/>
          <p:nvPr/>
        </p:nvSpPr>
        <p:spPr>
          <a:xfrm>
            <a:off x="12979400" y="53847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3   MOSFETs in DC circuits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F990FCBA-FBCC-3420-4B36-6712F21DF7BF}"/>
              </a:ext>
            </a:extLst>
          </p:cNvPr>
          <p:cNvSpPr/>
          <p:nvPr/>
        </p:nvSpPr>
        <p:spPr>
          <a:xfrm>
            <a:off x="12700000" y="61722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6A7CBB22-5CEC-7B96-4CA6-642650F88B14}"/>
              </a:ext>
            </a:extLst>
          </p:cNvPr>
          <p:cNvSpPr txBox="1"/>
          <p:nvPr/>
        </p:nvSpPr>
        <p:spPr>
          <a:xfrm>
            <a:off x="12979400" y="61721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4   The MOSFET as an amplifier</a:t>
            </a:r>
          </a:p>
        </p:txBody>
      </p:sp>
      <p:sp>
        <p:nvSpPr>
          <p:cNvPr id="26" name="map">
            <a:extLst>
              <a:ext uri="{FF2B5EF4-FFF2-40B4-BE49-F238E27FC236}">
                <a16:creationId xmlns:a16="http://schemas.microsoft.com/office/drawing/2014/main" id="{8009D106-7437-7275-C391-2FFFA074D87D}"/>
              </a:ext>
            </a:extLst>
          </p:cNvPr>
          <p:cNvSpPr/>
          <p:nvPr/>
        </p:nvSpPr>
        <p:spPr>
          <a:xfrm>
            <a:off x="12700000" y="69596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ap">
            <a:extLst>
              <a:ext uri="{FF2B5EF4-FFF2-40B4-BE49-F238E27FC236}">
                <a16:creationId xmlns:a16="http://schemas.microsoft.com/office/drawing/2014/main" id="{ED2CAAB3-0800-5111-4C55-AB561097D224}"/>
              </a:ext>
            </a:extLst>
          </p:cNvPr>
          <p:cNvSpPr txBox="1"/>
          <p:nvPr/>
        </p:nvSpPr>
        <p:spPr>
          <a:xfrm>
            <a:off x="12979400" y="69595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5 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3255552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i_{D}–v_{DS} family of cur s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9988A23-B27D-6849-5283-A62713994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i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–v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DS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 family of curves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722D856-D327-57AE-5B03-F2C27436EC33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295EBE5-3258-42AE-9AE7-6696654BD70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0163E87-5CEB-5997-6D8A-054B563D066F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A1AC5A44-6C72-868E-A3D4-90DCCDB4C962}"/>
              </a:ext>
            </a:extLst>
          </p:cNvPr>
          <p:cNvSpPr/>
          <p:nvPr/>
        </p:nvSpPr>
        <p:spPr>
          <a:xfrm>
            <a:off x="914400" y="2095500"/>
            <a:ext cx="8256628" cy="717550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04760760-088E-EE32-2A5F-04B6C6D3B67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748628" cy="64389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5F0956AA-AD69-BD8B-C3C2-7D7B3BEEB54F}"/>
              </a:ext>
            </a:extLst>
          </p:cNvPr>
          <p:cNvSpPr txBox="1"/>
          <p:nvPr/>
        </p:nvSpPr>
        <p:spPr>
          <a:xfrm>
            <a:off x="1168400" y="8915400"/>
            <a:ext cx="77486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EC055D90-34CE-6DBD-443F-D6D7CACC457E}"/>
              </a:ext>
            </a:extLst>
          </p:cNvPr>
          <p:cNvSpPr txBox="1"/>
          <p:nvPr/>
        </p:nvSpPr>
        <p:spPr>
          <a:xfrm>
            <a:off x="10668000" y="2349500"/>
            <a:ext cx="6705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Each curve is one value of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43640E0D-E1FA-B0FA-DDC6-FA1576389AC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FDB1A8CE-D067-1472-98EA-4FA132892FEE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422120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i_{D}–v_{DS} family of cur s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9988A23-B27D-6849-5283-A62713994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i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–v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DS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 family of curves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722D856-D327-57AE-5B03-F2C27436EC33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295EBE5-3258-42AE-9AE7-6696654BD70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0163E87-5CEB-5997-6D8A-054B563D066F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A1AC5A44-6C72-868E-A3D4-90DCCDB4C962}"/>
              </a:ext>
            </a:extLst>
          </p:cNvPr>
          <p:cNvSpPr/>
          <p:nvPr/>
        </p:nvSpPr>
        <p:spPr>
          <a:xfrm>
            <a:off x="914400" y="2095500"/>
            <a:ext cx="8256628" cy="717550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04760760-088E-EE32-2A5F-04B6C6D3B67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748628" cy="64389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5F0956AA-AD69-BD8B-C3C2-7D7B3BEEB54F}"/>
              </a:ext>
            </a:extLst>
          </p:cNvPr>
          <p:cNvSpPr txBox="1"/>
          <p:nvPr/>
        </p:nvSpPr>
        <p:spPr>
          <a:xfrm>
            <a:off x="1168400" y="8915400"/>
            <a:ext cx="77486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EC055D90-34CE-6DBD-443F-D6D7CACC457E}"/>
              </a:ext>
            </a:extLst>
          </p:cNvPr>
          <p:cNvSpPr txBox="1"/>
          <p:nvPr/>
        </p:nvSpPr>
        <p:spPr>
          <a:xfrm>
            <a:off x="10668000" y="2349500"/>
            <a:ext cx="6705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Each curve is one value of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FB6FC1B8-8B11-3AEB-E3A2-E7DF081192CB}"/>
              </a:ext>
            </a:extLst>
          </p:cNvPr>
          <p:cNvSpPr txBox="1"/>
          <p:nvPr/>
        </p:nvSpPr>
        <p:spPr>
          <a:xfrm>
            <a:off x="10668000" y="3012082"/>
            <a:ext cx="6705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Left of the dashed line (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):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triode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rises with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7F159496-05D9-7D02-D78D-FB613922810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29FE5873-70AF-CC4C-61A3-BC8875A5C7C3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42497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i_{D}–v_{DS} family of cur s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9988A23-B27D-6849-5283-A62713994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i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–v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DS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 family of curves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722D856-D327-57AE-5B03-F2C27436EC33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295EBE5-3258-42AE-9AE7-6696654BD70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0163E87-5CEB-5997-6D8A-054B563D066F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A1AC5A44-6C72-868E-A3D4-90DCCDB4C962}"/>
              </a:ext>
            </a:extLst>
          </p:cNvPr>
          <p:cNvSpPr/>
          <p:nvPr/>
        </p:nvSpPr>
        <p:spPr>
          <a:xfrm>
            <a:off x="914400" y="2095500"/>
            <a:ext cx="8256628" cy="717550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04760760-088E-EE32-2A5F-04B6C6D3B67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748628" cy="64389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5F0956AA-AD69-BD8B-C3C2-7D7B3BEEB54F}"/>
              </a:ext>
            </a:extLst>
          </p:cNvPr>
          <p:cNvSpPr txBox="1"/>
          <p:nvPr/>
        </p:nvSpPr>
        <p:spPr>
          <a:xfrm>
            <a:off x="1168400" y="8915400"/>
            <a:ext cx="77486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EC055D90-34CE-6DBD-443F-D6D7CACC457E}"/>
              </a:ext>
            </a:extLst>
          </p:cNvPr>
          <p:cNvSpPr txBox="1"/>
          <p:nvPr/>
        </p:nvSpPr>
        <p:spPr>
          <a:xfrm>
            <a:off x="10668000" y="2349500"/>
            <a:ext cx="6705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Each curve is one value of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FB6FC1B8-8B11-3AEB-E3A2-E7DF081192CB}"/>
              </a:ext>
            </a:extLst>
          </p:cNvPr>
          <p:cNvSpPr txBox="1"/>
          <p:nvPr/>
        </p:nvSpPr>
        <p:spPr>
          <a:xfrm>
            <a:off x="10668000" y="3012082"/>
            <a:ext cx="6705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Left of the dashed line (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):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triode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rises with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2" name="point @3">
            <a:extLst>
              <a:ext uri="{FF2B5EF4-FFF2-40B4-BE49-F238E27FC236}">
                <a16:creationId xmlns:a16="http://schemas.microsoft.com/office/drawing/2014/main" id="{A8C0BC94-06D6-7314-EB77-DFC87C1D39A1}"/>
              </a:ext>
            </a:extLst>
          </p:cNvPr>
          <p:cNvSpPr txBox="1"/>
          <p:nvPr/>
        </p:nvSpPr>
        <p:spPr>
          <a:xfrm>
            <a:off x="10668000" y="4062462"/>
            <a:ext cx="6705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Right of it: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saturation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is set by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alone.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9F98103E-AD83-EF06-F2F4-1AB3C09F058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555153E6-DA93-A34F-A2CC-A7254A1AAF23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9298441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i_{D}–v_{DS} family of cur s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9988A23-B27D-6849-5283-A62713994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i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–v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DS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 family of curves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722D856-D327-57AE-5B03-F2C27436EC33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295EBE5-3258-42AE-9AE7-6696654BD70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0163E87-5CEB-5997-6D8A-054B563D066F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A1AC5A44-6C72-868E-A3D4-90DCCDB4C962}"/>
              </a:ext>
            </a:extLst>
          </p:cNvPr>
          <p:cNvSpPr/>
          <p:nvPr/>
        </p:nvSpPr>
        <p:spPr>
          <a:xfrm>
            <a:off x="914400" y="2095500"/>
            <a:ext cx="8256628" cy="717550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04760760-088E-EE32-2A5F-04B6C6D3B67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748628" cy="64389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5F0956AA-AD69-BD8B-C3C2-7D7B3BEEB54F}"/>
              </a:ext>
            </a:extLst>
          </p:cNvPr>
          <p:cNvSpPr txBox="1"/>
          <p:nvPr/>
        </p:nvSpPr>
        <p:spPr>
          <a:xfrm>
            <a:off x="1168400" y="8915400"/>
            <a:ext cx="77486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EC055D90-34CE-6DBD-443F-D6D7CACC457E}"/>
              </a:ext>
            </a:extLst>
          </p:cNvPr>
          <p:cNvSpPr txBox="1"/>
          <p:nvPr/>
        </p:nvSpPr>
        <p:spPr>
          <a:xfrm>
            <a:off x="10668000" y="2349500"/>
            <a:ext cx="6705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Each curve is one value of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FB6FC1B8-8B11-3AEB-E3A2-E7DF081192CB}"/>
              </a:ext>
            </a:extLst>
          </p:cNvPr>
          <p:cNvSpPr txBox="1"/>
          <p:nvPr/>
        </p:nvSpPr>
        <p:spPr>
          <a:xfrm>
            <a:off x="10668000" y="3012082"/>
            <a:ext cx="6705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Left of the dashed line (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):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triode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rises with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2" name="point @3">
            <a:extLst>
              <a:ext uri="{FF2B5EF4-FFF2-40B4-BE49-F238E27FC236}">
                <a16:creationId xmlns:a16="http://schemas.microsoft.com/office/drawing/2014/main" id="{A8C0BC94-06D6-7314-EB77-DFC87C1D39A1}"/>
              </a:ext>
            </a:extLst>
          </p:cNvPr>
          <p:cNvSpPr txBox="1"/>
          <p:nvPr/>
        </p:nvSpPr>
        <p:spPr>
          <a:xfrm>
            <a:off x="10668000" y="4062462"/>
            <a:ext cx="6705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Right of it: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saturation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is set by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alone.</a:t>
            </a:r>
          </a:p>
        </p:txBody>
      </p:sp>
      <p:sp>
        <p:nvSpPr>
          <p:cNvPr id="13" name="point @4">
            <a:extLst>
              <a:ext uri="{FF2B5EF4-FFF2-40B4-BE49-F238E27FC236}">
                <a16:creationId xmlns:a16="http://schemas.microsoft.com/office/drawing/2014/main" id="{CE7A8F27-137F-0052-58ED-6916DE70C597}"/>
              </a:ext>
            </a:extLst>
          </p:cNvPr>
          <p:cNvSpPr txBox="1"/>
          <p:nvPr/>
        </p:nvSpPr>
        <p:spPr>
          <a:xfrm>
            <a:off x="10668000" y="4725044"/>
            <a:ext cx="6705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nn-NO" sz="2400">
                <a:solidFill>
                  <a:srgbClr val="17262E"/>
                </a:solidFill>
                <a:latin typeface="Nunito" pitchFamily="2" charset="0"/>
              </a:rPr>
              <a:t>For </a:t>
            </a:r>
            <a:r>
              <a:rPr lang="nn-NO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nn-NO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nn-NO" sz="2400">
                <a:solidFill>
                  <a:srgbClr val="17262E"/>
                </a:solidFill>
                <a:latin typeface="Nunito" pitchFamily="2" charset="0"/>
              </a:rPr>
              <a:t> ≤ </a:t>
            </a:r>
            <a:r>
              <a:rPr lang="nn-NO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nn-NO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nn-NO" sz="2400">
                <a:solidFill>
                  <a:srgbClr val="17262E"/>
                </a:solidFill>
                <a:latin typeface="Nunito" pitchFamily="2" charset="0"/>
              </a:rPr>
              <a:t>: </a:t>
            </a:r>
            <a:r>
              <a:rPr lang="nn-NO" sz="2400" b="1">
                <a:solidFill>
                  <a:srgbClr val="17262E"/>
                </a:solidFill>
                <a:latin typeface="Nunito" pitchFamily="2" charset="0"/>
              </a:rPr>
              <a:t>cutoff</a:t>
            </a:r>
            <a:r>
              <a:rPr lang="nn-NO" sz="2400">
                <a:solidFill>
                  <a:srgbClr val="17262E"/>
                </a:solidFill>
                <a:latin typeface="Nunito" pitchFamily="2" charset="0"/>
              </a:rPr>
              <a:t>, </a:t>
            </a:r>
            <a:r>
              <a:rPr lang="nn-NO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nn-NO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nn-NO" sz="2400">
                <a:solidFill>
                  <a:srgbClr val="17262E"/>
                </a:solidFill>
                <a:latin typeface="Nunito" pitchFamily="2" charset="0"/>
              </a:rPr>
              <a:t> = 0.</a:t>
            </a:r>
            <a:endParaRPr lang="en-US" sz="24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907ABE95-63F4-971B-8EF4-A6C38EF961A4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D711417B-C892-39BF-63A8-7598C8C1AA3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138379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 saturation, i_{D} depends o s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F083CCD-67D9-3510-401D-FE7E92AA2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In saturation, i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 depends only on 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GS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183B22D-641E-60DF-73AC-8BA322B31E9B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8238FB28-27DF-23CE-80F3-650B3480CDE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5BD97F7-0FD1-E3B3-4607-BAA4E9C79C07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2EACE6ED-8AB4-D2C8-8EB4-E99977ADF5FC}"/>
              </a:ext>
            </a:extLst>
          </p:cNvPr>
          <p:cNvSpPr/>
          <p:nvPr/>
        </p:nvSpPr>
        <p:spPr>
          <a:xfrm>
            <a:off x="914400" y="2095500"/>
            <a:ext cx="7620000" cy="6693946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5444D76C-CD42-DBF5-D1B2-A43261CC9D2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112000" cy="5957346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85E24EB8-409C-384A-5602-F79F97001138}"/>
              </a:ext>
            </a:extLst>
          </p:cNvPr>
          <p:cNvSpPr txBox="1"/>
          <p:nvPr/>
        </p:nvSpPr>
        <p:spPr>
          <a:xfrm>
            <a:off x="1168400" y="8433846"/>
            <a:ext cx="711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9FD2E9ED-E1C7-DEB9-4803-99075383929D}"/>
              </a:ext>
            </a:extLst>
          </p:cNvPr>
          <p:cNvSpPr txBox="1"/>
          <p:nvPr/>
        </p:nvSpPr>
        <p:spPr>
          <a:xfrm>
            <a:off x="9398000" y="2413000"/>
            <a:ext cx="7975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Measured in saturation, the transfer characteristic is a parabola that starts at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3BC345D5-CE05-14AC-E105-D798F87027E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EC840926-FE0A-F712-A9E8-59EEEC8055F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8205800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 saturation, i_{D} depends o s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F083CCD-67D9-3510-401D-FE7E92AA2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In saturation, i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 depends only on 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GS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183B22D-641E-60DF-73AC-8BA322B31E9B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8238FB28-27DF-23CE-80F3-650B3480CDE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5BD97F7-0FD1-E3B3-4607-BAA4E9C79C07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2EACE6ED-8AB4-D2C8-8EB4-E99977ADF5FC}"/>
              </a:ext>
            </a:extLst>
          </p:cNvPr>
          <p:cNvSpPr/>
          <p:nvPr/>
        </p:nvSpPr>
        <p:spPr>
          <a:xfrm>
            <a:off x="914400" y="2095500"/>
            <a:ext cx="7620000" cy="6693946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5444D76C-CD42-DBF5-D1B2-A43261CC9D2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112000" cy="5957346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85E24EB8-409C-384A-5602-F79F97001138}"/>
              </a:ext>
            </a:extLst>
          </p:cNvPr>
          <p:cNvSpPr txBox="1"/>
          <p:nvPr/>
        </p:nvSpPr>
        <p:spPr>
          <a:xfrm>
            <a:off x="1168400" y="8433846"/>
            <a:ext cx="711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9FD2E9ED-E1C7-DEB9-4803-99075383929D}"/>
              </a:ext>
            </a:extLst>
          </p:cNvPr>
          <p:cNvSpPr txBox="1"/>
          <p:nvPr/>
        </p:nvSpPr>
        <p:spPr>
          <a:xfrm>
            <a:off x="9398000" y="2413000"/>
            <a:ext cx="7975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Measured in saturation, the transfer characteristic is a parabola that starts at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8B5B3ACD-32C9-9C04-5913-D55FB30035F2}"/>
                  </a:ext>
                </a:extLst>
              </p:cNvPr>
              <p:cNvSpPr txBox="1"/>
              <p:nvPr/>
            </p:nvSpPr>
            <p:spPr>
              <a:xfrm>
                <a:off x="9398000" y="3590379"/>
                <a:ext cx="7975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8B5B3ACD-32C9-9C04-5913-D55FB3003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0" y="3590379"/>
                <a:ext cx="7975600" cy="8178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hrome page">
            <a:extLst>
              <a:ext uri="{FF2B5EF4-FFF2-40B4-BE49-F238E27FC236}">
                <a16:creationId xmlns:a16="http://schemas.microsoft.com/office/drawing/2014/main" id="{2D57B06D-6508-479B-49D0-C2A88CBF67FD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438CF9BA-857F-8BFC-E96B-81680F29F9F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55176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 saturation, i_{D} depends o s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F083CCD-67D9-3510-401D-FE7E92AA2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In saturation, i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 depends only on 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GS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183B22D-641E-60DF-73AC-8BA322B31E9B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8238FB28-27DF-23CE-80F3-650B3480CDE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5BD97F7-0FD1-E3B3-4607-BAA4E9C79C07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2EACE6ED-8AB4-D2C8-8EB4-E99977ADF5FC}"/>
              </a:ext>
            </a:extLst>
          </p:cNvPr>
          <p:cNvSpPr/>
          <p:nvPr/>
        </p:nvSpPr>
        <p:spPr>
          <a:xfrm>
            <a:off x="914400" y="2095500"/>
            <a:ext cx="7620000" cy="6693946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5444D76C-CD42-DBF5-D1B2-A43261CC9D2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112000" cy="5957346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85E24EB8-409C-384A-5602-F79F97001138}"/>
              </a:ext>
            </a:extLst>
          </p:cNvPr>
          <p:cNvSpPr txBox="1"/>
          <p:nvPr/>
        </p:nvSpPr>
        <p:spPr>
          <a:xfrm>
            <a:off x="1168400" y="8433846"/>
            <a:ext cx="711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9FD2E9ED-E1C7-DEB9-4803-99075383929D}"/>
              </a:ext>
            </a:extLst>
          </p:cNvPr>
          <p:cNvSpPr txBox="1"/>
          <p:nvPr/>
        </p:nvSpPr>
        <p:spPr>
          <a:xfrm>
            <a:off x="9398000" y="2413000"/>
            <a:ext cx="7975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Measured in saturation, the transfer characteristic is a parabola that starts at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8B5B3ACD-32C9-9C04-5913-D55FB30035F2}"/>
                  </a:ext>
                </a:extLst>
              </p:cNvPr>
              <p:cNvSpPr txBox="1"/>
              <p:nvPr/>
            </p:nvSpPr>
            <p:spPr>
              <a:xfrm>
                <a:off x="9398000" y="3590379"/>
                <a:ext cx="7975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8B5B3ACD-32C9-9C04-5913-D55FB3003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0" y="3590379"/>
                <a:ext cx="7975600" cy="8178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int @3">
            <a:extLst>
              <a:ext uri="{FF2B5EF4-FFF2-40B4-BE49-F238E27FC236}">
                <a16:creationId xmlns:a16="http://schemas.microsoft.com/office/drawing/2014/main" id="{2B33D14A-8EDE-D20E-D61F-EE5C51C1B1B0}"/>
              </a:ext>
            </a:extLst>
          </p:cNvPr>
          <p:cNvSpPr txBox="1"/>
          <p:nvPr/>
        </p:nvSpPr>
        <p:spPr>
          <a:xfrm>
            <a:off x="9398000" y="4987380"/>
            <a:ext cx="7975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Doubling (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) quadruples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: the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square law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CDE97901-97C1-3DFD-BEDE-B8C71D5BCD6A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1C41C517-7A7A-FB17-444F-60935A900AB1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3322292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iode and saturation: one cur s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197E272-6E80-D50F-2FC7-16959E44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A59CBECE-30AD-FF62-240C-8149C659F017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ACC4FCB-DF63-BF9D-42F8-6BAB0D3AA70F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207CFA96-DC0A-A6B1-029C-C9671093C66C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8896CF2F-2F86-B440-4A30-5A5071B782AC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8F32DDEA-9565-3AD0-C2D3-5C026A9608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8018A6E0-6F9A-5D49-CCCD-C98584C1AEBD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98501BF2-4A12-ED44-6AE2-B81169976E67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646BE9AA-390C-66EB-816F-DA771D495A12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3089683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iode and saturation: one cur s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197E272-6E80-D50F-2FC7-16959E44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A59CBECE-30AD-FF62-240C-8149C659F017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ACC4FCB-DF63-BF9D-42F8-6BAB0D3AA70F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207CFA96-DC0A-A6B1-029C-C9671093C66C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8896CF2F-2F86-B440-4A30-5A5071B782AC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8F32DDEA-9565-3AD0-C2D3-5C026A9608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8018A6E0-6F9A-5D49-CCCD-C98584C1AEBD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FB236FF4-C703-F6C0-BF70-5224A8151622}"/>
              </a:ext>
            </a:extLst>
          </p:cNvPr>
          <p:cNvSpPr/>
          <p:nvPr/>
        </p:nvSpPr>
        <p:spPr>
          <a:xfrm>
            <a:off x="10287000" y="2349500"/>
            <a:ext cx="107594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Triode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0A96458D-AB77-6AAF-36DB-E119333FCBC2}"/>
              </a:ext>
            </a:extLst>
          </p:cNvPr>
          <p:cNvSpPr txBox="1"/>
          <p:nvPr/>
        </p:nvSpPr>
        <p:spPr>
          <a:xfrm>
            <a:off x="11566144" y="2324099"/>
            <a:ext cx="5807456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042C234C-DB1C-0791-6533-CE3DBEBF91D1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042C234C-DB1C-0791-6533-CE3DBEBF9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blipFill>
                <a:blip r:embed="rId3"/>
                <a:stretch>
                  <a:fillRect t="-16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hrome page">
            <a:extLst>
              <a:ext uri="{FF2B5EF4-FFF2-40B4-BE49-F238E27FC236}">
                <a16:creationId xmlns:a16="http://schemas.microsoft.com/office/drawing/2014/main" id="{456AA22C-0579-0A0C-046B-0C4C1519A5BD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89D86986-437C-93B8-2D99-22CC714CEE77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2678786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iode and saturation: one cur s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197E272-6E80-D50F-2FC7-16959E44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A59CBECE-30AD-FF62-240C-8149C659F017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ACC4FCB-DF63-BF9D-42F8-6BAB0D3AA70F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207CFA96-DC0A-A6B1-029C-C9671093C66C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8896CF2F-2F86-B440-4A30-5A5071B782AC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8F32DDEA-9565-3AD0-C2D3-5C026A9608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8018A6E0-6F9A-5D49-CCCD-C98584C1AEBD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FB236FF4-C703-F6C0-BF70-5224A8151622}"/>
              </a:ext>
            </a:extLst>
          </p:cNvPr>
          <p:cNvSpPr/>
          <p:nvPr/>
        </p:nvSpPr>
        <p:spPr>
          <a:xfrm>
            <a:off x="10287000" y="2349500"/>
            <a:ext cx="107594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Triode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0A96458D-AB77-6AAF-36DB-E119333FCBC2}"/>
              </a:ext>
            </a:extLst>
          </p:cNvPr>
          <p:cNvSpPr txBox="1"/>
          <p:nvPr/>
        </p:nvSpPr>
        <p:spPr>
          <a:xfrm>
            <a:off x="11566144" y="2324099"/>
            <a:ext cx="5807456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042C234C-DB1C-0791-6533-CE3DBEBF91D1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042C234C-DB1C-0791-6533-CE3DBEBF9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blipFill>
                <a:blip r:embed="rId3"/>
                <a:stretch>
                  <a:fillRect t="-16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ab @3">
            <a:extLst>
              <a:ext uri="{FF2B5EF4-FFF2-40B4-BE49-F238E27FC236}">
                <a16:creationId xmlns:a16="http://schemas.microsoft.com/office/drawing/2014/main" id="{B3BFEEA2-6BAA-1CAF-27A9-2FF9C78953B6}"/>
              </a:ext>
            </a:extLst>
          </p:cNvPr>
          <p:cNvSpPr/>
          <p:nvPr/>
        </p:nvSpPr>
        <p:spPr>
          <a:xfrm>
            <a:off x="10287000" y="4762500"/>
            <a:ext cx="148844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Saturation</a:t>
            </a:r>
          </a:p>
        </p:txBody>
      </p:sp>
      <p:sp>
        <p:nvSpPr>
          <p:cNvPr id="14" name="lab @3">
            <a:extLst>
              <a:ext uri="{FF2B5EF4-FFF2-40B4-BE49-F238E27FC236}">
                <a16:creationId xmlns:a16="http://schemas.microsoft.com/office/drawing/2014/main" id="{429FF9B8-21A4-5057-6334-51698FC5D425}"/>
              </a:ext>
            </a:extLst>
          </p:cNvPr>
          <p:cNvSpPr txBox="1"/>
          <p:nvPr/>
        </p:nvSpPr>
        <p:spPr>
          <a:xfrm>
            <a:off x="11978640" y="4737099"/>
            <a:ext cx="539496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≥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q @3">
                <a:extLst>
                  <a:ext uri="{FF2B5EF4-FFF2-40B4-BE49-F238E27FC236}">
                    <a16:creationId xmlns:a16="http://schemas.microsoft.com/office/drawing/2014/main" id="{8A1E128D-52FF-B2A0-6925-377BAAC16E4A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5" name="eq @3">
                <a:extLst>
                  <a:ext uri="{FF2B5EF4-FFF2-40B4-BE49-F238E27FC236}">
                    <a16:creationId xmlns:a16="http://schemas.microsoft.com/office/drawing/2014/main" id="{8A1E128D-52FF-B2A0-6925-377BAAC16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hrome page">
            <a:extLst>
              <a:ext uri="{FF2B5EF4-FFF2-40B4-BE49-F238E27FC236}">
                <a16:creationId xmlns:a16="http://schemas.microsoft.com/office/drawing/2014/main" id="{668987A1-A3B3-A51C-0E22-96B0AE7A1A9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E80F9A4B-8222-C268-6F42-2667C46FBCF1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4014180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iode and saturation: one cur s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197E272-6E80-D50F-2FC7-16959E44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A59CBECE-30AD-FF62-240C-8149C659F017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ACC4FCB-DF63-BF9D-42F8-6BAB0D3AA70F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207CFA96-DC0A-A6B1-029C-C9671093C66C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8896CF2F-2F86-B440-4A30-5A5071B782AC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8F32DDEA-9565-3AD0-C2D3-5C026A9608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8018A6E0-6F9A-5D49-CCCD-C98584C1AEBD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FB236FF4-C703-F6C0-BF70-5224A8151622}"/>
              </a:ext>
            </a:extLst>
          </p:cNvPr>
          <p:cNvSpPr/>
          <p:nvPr/>
        </p:nvSpPr>
        <p:spPr>
          <a:xfrm>
            <a:off x="10287000" y="2349500"/>
            <a:ext cx="107594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Triode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0A96458D-AB77-6AAF-36DB-E119333FCBC2}"/>
              </a:ext>
            </a:extLst>
          </p:cNvPr>
          <p:cNvSpPr txBox="1"/>
          <p:nvPr/>
        </p:nvSpPr>
        <p:spPr>
          <a:xfrm>
            <a:off x="11566144" y="2324099"/>
            <a:ext cx="5807456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042C234C-DB1C-0791-6533-CE3DBEBF91D1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042C234C-DB1C-0791-6533-CE3DBEBF9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blipFill>
                <a:blip r:embed="rId3"/>
                <a:stretch>
                  <a:fillRect t="-16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ab @3">
            <a:extLst>
              <a:ext uri="{FF2B5EF4-FFF2-40B4-BE49-F238E27FC236}">
                <a16:creationId xmlns:a16="http://schemas.microsoft.com/office/drawing/2014/main" id="{B3BFEEA2-6BAA-1CAF-27A9-2FF9C78953B6}"/>
              </a:ext>
            </a:extLst>
          </p:cNvPr>
          <p:cNvSpPr/>
          <p:nvPr/>
        </p:nvSpPr>
        <p:spPr>
          <a:xfrm>
            <a:off x="10287000" y="4762500"/>
            <a:ext cx="148844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Saturation</a:t>
            </a:r>
          </a:p>
        </p:txBody>
      </p:sp>
      <p:sp>
        <p:nvSpPr>
          <p:cNvPr id="14" name="lab @3">
            <a:extLst>
              <a:ext uri="{FF2B5EF4-FFF2-40B4-BE49-F238E27FC236}">
                <a16:creationId xmlns:a16="http://schemas.microsoft.com/office/drawing/2014/main" id="{429FF9B8-21A4-5057-6334-51698FC5D425}"/>
              </a:ext>
            </a:extLst>
          </p:cNvPr>
          <p:cNvSpPr txBox="1"/>
          <p:nvPr/>
        </p:nvSpPr>
        <p:spPr>
          <a:xfrm>
            <a:off x="11978640" y="4737099"/>
            <a:ext cx="539496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≥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q @3">
                <a:extLst>
                  <a:ext uri="{FF2B5EF4-FFF2-40B4-BE49-F238E27FC236}">
                    <a16:creationId xmlns:a16="http://schemas.microsoft.com/office/drawing/2014/main" id="{8A1E128D-52FF-B2A0-6925-377BAAC16E4A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5" name="eq @3">
                <a:extLst>
                  <a:ext uri="{FF2B5EF4-FFF2-40B4-BE49-F238E27FC236}">
                    <a16:creationId xmlns:a16="http://schemas.microsoft.com/office/drawing/2014/main" id="{8A1E128D-52FF-B2A0-6925-377BAAC16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note @4">
            <a:extLst>
              <a:ext uri="{FF2B5EF4-FFF2-40B4-BE49-F238E27FC236}">
                <a16:creationId xmlns:a16="http://schemas.microsoft.com/office/drawing/2014/main" id="{5ED83F89-87FD-5C76-EB14-9A66729FBBF7}"/>
              </a:ext>
            </a:extLst>
          </p:cNvPr>
          <p:cNvSpPr txBox="1"/>
          <p:nvPr/>
        </p:nvSpPr>
        <p:spPr>
          <a:xfrm>
            <a:off x="10287000" y="7175499"/>
            <a:ext cx="7086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Both require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&gt;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: without a channel,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0 (cutoff).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A91BEE15-7710-802B-5001-C35D1C8059D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4C75F2E9-0F1D-9021-EB02-E73F1B45D472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4400064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 v_{DS}: a voltage-contro s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B17A248-AEC7-4EA8-2BF8-9923ED349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Small 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DS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: a voltage-controlled resistor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1CE463C-F1C3-516D-6F4D-075BB1C53002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01AE596-5F55-F718-6206-C6175FC3E951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CB5BEC5-E75B-B224-012A-17A46F450E49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0603F97B-9C3A-4F3D-0AB0-5470247AE972}"/>
              </a:ext>
            </a:extLst>
          </p:cNvPr>
          <p:cNvSpPr/>
          <p:nvPr/>
        </p:nvSpPr>
        <p:spPr>
          <a:xfrm>
            <a:off x="9652000" y="2222500"/>
            <a:ext cx="7721600" cy="4976371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D0202633-1F88-01BE-0C15-A609CBFC984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2476500"/>
            <a:ext cx="7213600" cy="4239771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DE2D37A9-206B-9D36-F606-02D061A684AB}"/>
              </a:ext>
            </a:extLst>
          </p:cNvPr>
          <p:cNvSpPr txBox="1"/>
          <p:nvPr/>
        </p:nvSpPr>
        <p:spPr>
          <a:xfrm>
            <a:off x="9906000" y="6843271"/>
            <a:ext cx="7213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284E318B-A404-46FA-E4B8-BEB8D7109B2A}"/>
              </a:ext>
            </a:extLst>
          </p:cNvPr>
          <p:cNvSpPr txBox="1"/>
          <p:nvPr/>
        </p:nvSpPr>
        <p:spPr>
          <a:xfrm>
            <a:off x="914400" y="2349500"/>
            <a:ext cx="8128000" cy="3643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For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≪ 2(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) the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² term is negligible: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q @1">
                <a:extLst>
                  <a:ext uri="{FF2B5EF4-FFF2-40B4-BE49-F238E27FC236}">
                    <a16:creationId xmlns:a16="http://schemas.microsoft.com/office/drawing/2014/main" id="{0A9DB3B7-6413-961F-467F-CB99610091DF}"/>
                  </a:ext>
                </a:extLst>
              </p:cNvPr>
              <p:cNvSpPr txBox="1"/>
              <p:nvPr/>
            </p:nvSpPr>
            <p:spPr>
              <a:xfrm>
                <a:off x="1244600" y="2993294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≈</m:t>
                      </m:r>
                      <m:sSubSup>
                        <m:sSubSup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eq @1">
                <a:extLst>
                  <a:ext uri="{FF2B5EF4-FFF2-40B4-BE49-F238E27FC236}">
                    <a16:creationId xmlns:a16="http://schemas.microsoft.com/office/drawing/2014/main" id="{0A9DB3B7-6413-961F-467F-CB99610091DF}"/>
                  </a:ext>
                </a:extLst>
              </p:cNvPr>
              <p:cNvSpPr txBox="1"/>
              <p:nvPr/>
            </p:nvSpPr>
            <p:spPr>
              <a:xfrm>
                <a:off x="1244600" y="2993294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\approx k_n^{\prime}\frac{W}{L}\,(v_{GS}-V_t)\,v_{DS}</a:t>
                </a:r>
              </a:p>
            </p:txBody>
          </p:sp>
        </mc:Fallback>
      </mc:AlternateContent>
      <p:sp>
        <p:nvSpPr>
          <p:cNvPr id="7" name="chrome page">
            <a:extLst>
              <a:ext uri="{FF2B5EF4-FFF2-40B4-BE49-F238E27FC236}">
                <a16:creationId xmlns:a16="http://schemas.microsoft.com/office/drawing/2014/main" id="{C1E32BF0-C9E7-122C-C7DB-85132EF321B7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18258EFE-9F14-8627-78C9-6F3BBEE84AF1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9085046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 v_{DS}: a voltage-contro s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B17A248-AEC7-4EA8-2BF8-9923ED349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Small 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DS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: a voltage-controlled resistor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1CE463C-F1C3-516D-6F4D-075BB1C53002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01AE596-5F55-F718-6206-C6175FC3E951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CB5BEC5-E75B-B224-012A-17A46F450E49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0603F97B-9C3A-4F3D-0AB0-5470247AE972}"/>
              </a:ext>
            </a:extLst>
          </p:cNvPr>
          <p:cNvSpPr/>
          <p:nvPr/>
        </p:nvSpPr>
        <p:spPr>
          <a:xfrm>
            <a:off x="9652000" y="2222500"/>
            <a:ext cx="7721600" cy="4976371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D0202633-1F88-01BE-0C15-A609CBFC984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2476500"/>
            <a:ext cx="7213600" cy="4239771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DE2D37A9-206B-9D36-F606-02D061A684AB}"/>
              </a:ext>
            </a:extLst>
          </p:cNvPr>
          <p:cNvSpPr txBox="1"/>
          <p:nvPr/>
        </p:nvSpPr>
        <p:spPr>
          <a:xfrm>
            <a:off x="9906000" y="6843271"/>
            <a:ext cx="7213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284E318B-A404-46FA-E4B8-BEB8D7109B2A}"/>
              </a:ext>
            </a:extLst>
          </p:cNvPr>
          <p:cNvSpPr txBox="1"/>
          <p:nvPr/>
        </p:nvSpPr>
        <p:spPr>
          <a:xfrm>
            <a:off x="914400" y="2349500"/>
            <a:ext cx="8128000" cy="3643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For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≪ 2(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) the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² term is negligible: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 @1">
                <a:extLst>
                  <a:ext uri="{FF2B5EF4-FFF2-40B4-BE49-F238E27FC236}">
                    <a16:creationId xmlns:a16="http://schemas.microsoft.com/office/drawing/2014/main" id="{0A9DB3B7-6413-961F-467F-CB99610091DF}"/>
                  </a:ext>
                </a:extLst>
              </p:cNvPr>
              <p:cNvSpPr txBox="1"/>
              <p:nvPr/>
            </p:nvSpPr>
            <p:spPr>
              <a:xfrm>
                <a:off x="1244600" y="2993294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≈</m:t>
                      </m:r>
                      <m:sSubSup>
                        <m:sSubSup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eq @1">
                <a:extLst>
                  <a:ext uri="{FF2B5EF4-FFF2-40B4-BE49-F238E27FC236}">
                    <a16:creationId xmlns:a16="http://schemas.microsoft.com/office/drawing/2014/main" id="{0A9DB3B7-6413-961F-467F-CB9961009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2993294"/>
                <a:ext cx="8128000" cy="7886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int @2">
            <a:extLst>
              <a:ext uri="{FF2B5EF4-FFF2-40B4-BE49-F238E27FC236}">
                <a16:creationId xmlns:a16="http://schemas.microsoft.com/office/drawing/2014/main" id="{D4A303F7-CE49-5012-48C1-7BD8D834055B}"/>
              </a:ext>
            </a:extLst>
          </p:cNvPr>
          <p:cNvSpPr txBox="1"/>
          <p:nvPr/>
        </p:nvSpPr>
        <p:spPr>
          <a:xfrm>
            <a:off x="914400" y="4009295"/>
            <a:ext cx="81280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channel behaves as a resistor whose value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sets: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9F1D1CA2-E477-5F1A-90AE-650877FDB3AF}"/>
                  </a:ext>
                </a:extLst>
              </p:cNvPr>
              <p:cNvSpPr txBox="1"/>
              <p:nvPr/>
            </p:nvSpPr>
            <p:spPr>
              <a:xfrm>
                <a:off x="1244600" y="4655910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7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700" b="0" i="1">
                                  <a:solidFill>
                                    <a:srgbClr val="17262E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f>
                                <m:fPr>
                                  <m:ctrlP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sz="27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9F1D1CA2-E477-5F1A-90AE-650877FDB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4655910"/>
                <a:ext cx="8128000" cy="788670"/>
              </a:xfrm>
              <a:prstGeom prst="rect">
                <a:avLst/>
              </a:prstGeom>
              <a:blipFill>
                <a:blip r:embed="rId4"/>
                <a:stretch>
                  <a:fillRect t="-7752" b="-13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hrome page">
            <a:extLst>
              <a:ext uri="{FF2B5EF4-FFF2-40B4-BE49-F238E27FC236}">
                <a16:creationId xmlns:a16="http://schemas.microsoft.com/office/drawing/2014/main" id="{4FB0984A-5012-8537-2DC9-31528A1E120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B6B35C0D-D75A-2395-9AF1-DB47F8DFB4E5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5213130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 v_{DS}: a voltage-contro s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B17A248-AEC7-4EA8-2BF8-9923ED349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Small 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DS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: a voltage-controlled resistor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1CE463C-F1C3-516D-6F4D-075BB1C53002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01AE596-5F55-F718-6206-C6175FC3E951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CB5BEC5-E75B-B224-012A-17A46F450E49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0603F97B-9C3A-4F3D-0AB0-5470247AE972}"/>
              </a:ext>
            </a:extLst>
          </p:cNvPr>
          <p:cNvSpPr/>
          <p:nvPr/>
        </p:nvSpPr>
        <p:spPr>
          <a:xfrm>
            <a:off x="9652000" y="2222500"/>
            <a:ext cx="7721600" cy="4976371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D0202633-1F88-01BE-0C15-A609CBFC984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2476500"/>
            <a:ext cx="7213600" cy="4239771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DE2D37A9-206B-9D36-F606-02D061A684AB}"/>
              </a:ext>
            </a:extLst>
          </p:cNvPr>
          <p:cNvSpPr txBox="1"/>
          <p:nvPr/>
        </p:nvSpPr>
        <p:spPr>
          <a:xfrm>
            <a:off x="9906000" y="6843271"/>
            <a:ext cx="7213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284E318B-A404-46FA-E4B8-BEB8D7109B2A}"/>
              </a:ext>
            </a:extLst>
          </p:cNvPr>
          <p:cNvSpPr txBox="1"/>
          <p:nvPr/>
        </p:nvSpPr>
        <p:spPr>
          <a:xfrm>
            <a:off x="914400" y="2349500"/>
            <a:ext cx="8128000" cy="3643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For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≪ 2(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) the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² term is negligible: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 @1">
                <a:extLst>
                  <a:ext uri="{FF2B5EF4-FFF2-40B4-BE49-F238E27FC236}">
                    <a16:creationId xmlns:a16="http://schemas.microsoft.com/office/drawing/2014/main" id="{0A9DB3B7-6413-961F-467F-CB99610091DF}"/>
                  </a:ext>
                </a:extLst>
              </p:cNvPr>
              <p:cNvSpPr txBox="1"/>
              <p:nvPr/>
            </p:nvSpPr>
            <p:spPr>
              <a:xfrm>
                <a:off x="1244600" y="2993294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≈</m:t>
                      </m:r>
                      <m:sSubSup>
                        <m:sSubSup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eq @1">
                <a:extLst>
                  <a:ext uri="{FF2B5EF4-FFF2-40B4-BE49-F238E27FC236}">
                    <a16:creationId xmlns:a16="http://schemas.microsoft.com/office/drawing/2014/main" id="{0A9DB3B7-6413-961F-467F-CB9961009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2993294"/>
                <a:ext cx="8128000" cy="7886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int @2">
            <a:extLst>
              <a:ext uri="{FF2B5EF4-FFF2-40B4-BE49-F238E27FC236}">
                <a16:creationId xmlns:a16="http://schemas.microsoft.com/office/drawing/2014/main" id="{D4A303F7-CE49-5012-48C1-7BD8D834055B}"/>
              </a:ext>
            </a:extLst>
          </p:cNvPr>
          <p:cNvSpPr txBox="1"/>
          <p:nvPr/>
        </p:nvSpPr>
        <p:spPr>
          <a:xfrm>
            <a:off x="914400" y="4009295"/>
            <a:ext cx="81280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channel behaves as a resistor whose value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sets: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9F1D1CA2-E477-5F1A-90AE-650877FDB3AF}"/>
                  </a:ext>
                </a:extLst>
              </p:cNvPr>
              <p:cNvSpPr txBox="1"/>
              <p:nvPr/>
            </p:nvSpPr>
            <p:spPr>
              <a:xfrm>
                <a:off x="1244600" y="4655910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7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700" b="0" i="1">
                                  <a:solidFill>
                                    <a:srgbClr val="17262E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f>
                                <m:fPr>
                                  <m:ctrlP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sz="27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9F1D1CA2-E477-5F1A-90AE-650877FDB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4655910"/>
                <a:ext cx="8128000" cy="788670"/>
              </a:xfrm>
              <a:prstGeom prst="rect">
                <a:avLst/>
              </a:prstGeom>
              <a:blipFill>
                <a:blip r:embed="rId4"/>
                <a:stretch>
                  <a:fillRect t="-7752" b="-13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point @3">
            <a:extLst>
              <a:ext uri="{FF2B5EF4-FFF2-40B4-BE49-F238E27FC236}">
                <a16:creationId xmlns:a16="http://schemas.microsoft.com/office/drawing/2014/main" id="{EF1F4595-5AB0-594D-94E2-74CE012D6F22}"/>
              </a:ext>
            </a:extLst>
          </p:cNvPr>
          <p:cNvSpPr txBox="1"/>
          <p:nvPr/>
        </p:nvSpPr>
        <p:spPr>
          <a:xfrm>
            <a:off x="914400" y="5875111"/>
            <a:ext cx="8128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This is the region used when the MOSFET acts as a closed switch (Section 5).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27FBAC37-9F09-9E67-46B3-702ED4C7B057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496EBD7B-13EA-867D-12E6-E10D193821F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34710920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rge-signal model in saturati s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F9D5599-9080-66F5-6ECC-B61DD6D30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Large-signal model in saturation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0511478-D2D2-9961-6260-2BE73CC0F943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EB38260-736E-85B5-1388-352DBE2FD1BA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FCB6399-EBB1-2E36-5A87-491F68313696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070845A8-CA6D-631C-031D-C467BEA704A5}"/>
              </a:ext>
            </a:extLst>
          </p:cNvPr>
          <p:cNvSpPr/>
          <p:nvPr/>
        </p:nvSpPr>
        <p:spPr>
          <a:xfrm>
            <a:off x="4114102" y="2032000"/>
            <a:ext cx="10059796" cy="482600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1BD5362C-5C86-B25C-1362-DA561404DCA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102" y="2286000"/>
            <a:ext cx="9551797" cy="4089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ADBB054A-5D75-7A0B-5BE4-C32836796AD6}"/>
              </a:ext>
            </a:extLst>
          </p:cNvPr>
          <p:cNvSpPr txBox="1"/>
          <p:nvPr/>
        </p:nvSpPr>
        <p:spPr>
          <a:xfrm>
            <a:off x="4368102" y="6502400"/>
            <a:ext cx="955179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5442F9EE-250D-E094-8DC7-8775040E1566}"/>
              </a:ext>
            </a:extLst>
          </p:cNvPr>
          <p:cNvSpPr txBox="1"/>
          <p:nvPr/>
        </p:nvSpPr>
        <p:spPr>
          <a:xfrm>
            <a:off x="914400" y="7239000"/>
            <a:ext cx="9652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In saturation the MOSFET acts as a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voltage-controlled current source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from drain to source.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ED029205-897C-8F89-3616-CCD02898FF8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A2136DA6-9821-D88B-52E5-4AC94DBBA3F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34068760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rge-signal model in saturati s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F9D5599-9080-66F5-6ECC-B61DD6D30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Large-signal model in saturation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0511478-D2D2-9961-6260-2BE73CC0F943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EB38260-736E-85B5-1388-352DBE2FD1BA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FCB6399-EBB1-2E36-5A87-491F68313696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070845A8-CA6D-631C-031D-C467BEA704A5}"/>
              </a:ext>
            </a:extLst>
          </p:cNvPr>
          <p:cNvSpPr/>
          <p:nvPr/>
        </p:nvSpPr>
        <p:spPr>
          <a:xfrm>
            <a:off x="4114102" y="2032000"/>
            <a:ext cx="10059796" cy="482600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1BD5362C-5C86-B25C-1362-DA561404DCA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102" y="2286000"/>
            <a:ext cx="9551797" cy="4089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ADBB054A-5D75-7A0B-5BE4-C32836796AD6}"/>
              </a:ext>
            </a:extLst>
          </p:cNvPr>
          <p:cNvSpPr txBox="1"/>
          <p:nvPr/>
        </p:nvSpPr>
        <p:spPr>
          <a:xfrm>
            <a:off x="4368102" y="6502400"/>
            <a:ext cx="955179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5442F9EE-250D-E094-8DC7-8775040E1566}"/>
              </a:ext>
            </a:extLst>
          </p:cNvPr>
          <p:cNvSpPr txBox="1"/>
          <p:nvPr/>
        </p:nvSpPr>
        <p:spPr>
          <a:xfrm>
            <a:off x="914400" y="7239000"/>
            <a:ext cx="9652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In saturation the MOSFET acts as a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voltage-controlled current source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from drain to source.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4A238A18-70C9-A942-66A4-128677DBD385}"/>
              </a:ext>
            </a:extLst>
          </p:cNvPr>
          <p:cNvSpPr txBox="1"/>
          <p:nvPr/>
        </p:nvSpPr>
        <p:spPr>
          <a:xfrm>
            <a:off x="914400" y="8257257"/>
            <a:ext cx="96520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gate draws no current: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= 0.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8BE65BF3-2E28-11BE-0BA7-0C72F5A587F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85EF7AE5-883E-FA06-BDB3-63C4492650E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3646752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rge-signal model in saturati s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F9D5599-9080-66F5-6ECC-B61DD6D30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Large-signal model in saturation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0511478-D2D2-9961-6260-2BE73CC0F943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EB38260-736E-85B5-1388-352DBE2FD1BA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FCB6399-EBB1-2E36-5A87-491F68313696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070845A8-CA6D-631C-031D-C467BEA704A5}"/>
              </a:ext>
            </a:extLst>
          </p:cNvPr>
          <p:cNvSpPr/>
          <p:nvPr/>
        </p:nvSpPr>
        <p:spPr>
          <a:xfrm>
            <a:off x="4114102" y="2032000"/>
            <a:ext cx="10059796" cy="482600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1BD5362C-5C86-B25C-1362-DA561404DCA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102" y="2286000"/>
            <a:ext cx="9551797" cy="4089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ADBB054A-5D75-7A0B-5BE4-C32836796AD6}"/>
              </a:ext>
            </a:extLst>
          </p:cNvPr>
          <p:cNvSpPr txBox="1"/>
          <p:nvPr/>
        </p:nvSpPr>
        <p:spPr>
          <a:xfrm>
            <a:off x="4368102" y="6502400"/>
            <a:ext cx="955179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5442F9EE-250D-E094-8DC7-8775040E1566}"/>
              </a:ext>
            </a:extLst>
          </p:cNvPr>
          <p:cNvSpPr txBox="1"/>
          <p:nvPr/>
        </p:nvSpPr>
        <p:spPr>
          <a:xfrm>
            <a:off x="914400" y="7239000"/>
            <a:ext cx="9652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In saturation the MOSFET acts as a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voltage-controlled current source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from drain to source.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4A238A18-70C9-A942-66A4-128677DBD385}"/>
              </a:ext>
            </a:extLst>
          </p:cNvPr>
          <p:cNvSpPr txBox="1"/>
          <p:nvPr/>
        </p:nvSpPr>
        <p:spPr>
          <a:xfrm>
            <a:off x="914400" y="8257257"/>
            <a:ext cx="96520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gate draws no current: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= 0.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3">
                <a:extLst>
                  <a:ext uri="{FF2B5EF4-FFF2-40B4-BE49-F238E27FC236}">
                    <a16:creationId xmlns:a16="http://schemas.microsoft.com/office/drawing/2014/main" id="{BEB99FF1-2FF3-037E-E1C1-6959E049BEAD}"/>
                  </a:ext>
                </a:extLst>
              </p:cNvPr>
              <p:cNvSpPr txBox="1"/>
              <p:nvPr/>
            </p:nvSpPr>
            <p:spPr>
              <a:xfrm>
                <a:off x="11176000" y="7365999"/>
                <a:ext cx="6197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eq @3">
                <a:extLst>
                  <a:ext uri="{FF2B5EF4-FFF2-40B4-BE49-F238E27FC236}">
                    <a16:creationId xmlns:a16="http://schemas.microsoft.com/office/drawing/2014/main" id="{BEB99FF1-2FF3-037E-E1C1-6959E049B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6000" y="7365999"/>
                <a:ext cx="6197600" cy="8178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hrome page">
            <a:extLst>
              <a:ext uri="{FF2B5EF4-FFF2-40B4-BE49-F238E27FC236}">
                <a16:creationId xmlns:a16="http://schemas.microsoft.com/office/drawing/2014/main" id="{0E040E46-0022-554E-C773-880A77D9A8DA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A56AFDF1-F983-0E98-F692-7D32C08E6EB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0910348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B0F8C66B-BEFF-B1E8-185B-078C2FF4E462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7C24ECE-3E4E-755F-E2D8-4319FF542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2920999"/>
            <a:ext cx="7112000" cy="2286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MOSFETs in DC circuits</a:t>
            </a:r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A97B9019-8895-BA18-2FF8-1C5F2AF634B3}"/>
              </a:ext>
            </a:extLst>
          </p:cNvPr>
          <p:cNvSpPr/>
          <p:nvPr/>
        </p:nvSpPr>
        <p:spPr>
          <a:xfrm>
            <a:off x="1549400" y="2921000"/>
            <a:ext cx="2667000" cy="266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8ABEC230-6042-4BA2-C310-E26A1CE2264C}"/>
              </a:ext>
            </a:extLst>
          </p:cNvPr>
          <p:cNvSpPr txBox="1"/>
          <p:nvPr/>
        </p:nvSpPr>
        <p:spPr>
          <a:xfrm>
            <a:off x="4724400" y="59689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Assume, solve, check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66B9FCE4-BCD2-7801-103C-FA17EFDAF90D}"/>
              </a:ext>
            </a:extLst>
          </p:cNvPr>
          <p:cNvSpPr txBox="1"/>
          <p:nvPr/>
        </p:nvSpPr>
        <p:spPr>
          <a:xfrm>
            <a:off x="4724400" y="65023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Example: the drain voltage</a:t>
            </a: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26DF4D6E-DC34-71CB-BA6F-CEB22730DB33}"/>
              </a:ext>
            </a:extLst>
          </p:cNvPr>
          <p:cNvSpPr txBox="1"/>
          <p:nvPr/>
        </p:nvSpPr>
        <p:spPr>
          <a:xfrm>
            <a:off x="4724400" y="70357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The current mirror</a:t>
            </a:r>
          </a:p>
        </p:txBody>
      </p:sp>
      <p:cxnSp>
        <p:nvCxnSpPr>
          <p:cNvPr id="8" name="motif">
            <a:extLst>
              <a:ext uri="{FF2B5EF4-FFF2-40B4-BE49-F238E27FC236}">
                <a16:creationId xmlns:a16="http://schemas.microsoft.com/office/drawing/2014/main" id="{071ACCBB-79A1-ED52-0F22-3C57B1E5A7B5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motif">
            <a:extLst>
              <a:ext uri="{FF2B5EF4-FFF2-40B4-BE49-F238E27FC236}">
                <a16:creationId xmlns:a16="http://schemas.microsoft.com/office/drawing/2014/main" id="{55001BD0-DF0D-E0BB-0A74-7A8DD3305F1D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otif">
            <a:extLst>
              <a:ext uri="{FF2B5EF4-FFF2-40B4-BE49-F238E27FC236}">
                <a16:creationId xmlns:a16="http://schemas.microsoft.com/office/drawing/2014/main" id="{E64A84E0-A19B-E513-8684-30FA6EE6A87E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CED82294-E758-AA00-54AF-72E0B1017C1A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B40042F2-F1B8-7C82-32D4-D87F09CDD934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otif">
            <a:extLst>
              <a:ext uri="{FF2B5EF4-FFF2-40B4-BE49-F238E27FC236}">
                <a16:creationId xmlns:a16="http://schemas.microsoft.com/office/drawing/2014/main" id="{8FB34205-E6D2-3505-320E-0DC36D09EFA4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otif">
            <a:extLst>
              <a:ext uri="{FF2B5EF4-FFF2-40B4-BE49-F238E27FC236}">
                <a16:creationId xmlns:a16="http://schemas.microsoft.com/office/drawing/2014/main" id="{5FC2EE18-6CE4-C863-0160-66ADD6E54391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tif">
            <a:extLst>
              <a:ext uri="{FF2B5EF4-FFF2-40B4-BE49-F238E27FC236}">
                <a16:creationId xmlns:a16="http://schemas.microsoft.com/office/drawing/2014/main" id="{25071E2C-C1A7-5969-DB78-45E88BE34B3A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C3334583-F15F-3D93-020B-15FFF083B281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4EF45982-BC9F-3728-E288-846738BDF046}"/>
              </a:ext>
            </a:extLst>
          </p:cNvPr>
          <p:cNvSpPr/>
          <p:nvPr/>
        </p:nvSpPr>
        <p:spPr>
          <a:xfrm>
            <a:off x="12700000" y="38100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5342F649-582F-E288-20EE-1FA7C993A079}"/>
              </a:ext>
            </a:extLst>
          </p:cNvPr>
          <p:cNvSpPr txBox="1"/>
          <p:nvPr/>
        </p:nvSpPr>
        <p:spPr>
          <a:xfrm>
            <a:off x="12979400" y="38099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1   Structure and operation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3D10AA4A-3444-1D96-DA71-0C7FF6D0EC31}"/>
              </a:ext>
            </a:extLst>
          </p:cNvPr>
          <p:cNvSpPr/>
          <p:nvPr/>
        </p:nvSpPr>
        <p:spPr>
          <a:xfrm>
            <a:off x="12700000" y="45974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0A432D17-85A7-388F-72D6-8579032A8DFC}"/>
              </a:ext>
            </a:extLst>
          </p:cNvPr>
          <p:cNvSpPr txBox="1"/>
          <p:nvPr/>
        </p:nvSpPr>
        <p:spPr>
          <a:xfrm>
            <a:off x="12979400" y="45973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2   I–V characteristics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46E00AA3-87AB-15FA-039F-60D407A8804F}"/>
              </a:ext>
            </a:extLst>
          </p:cNvPr>
          <p:cNvSpPr/>
          <p:nvPr/>
        </p:nvSpPr>
        <p:spPr>
          <a:xfrm>
            <a:off x="12700000" y="53848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B6DA8ACF-49F5-7628-5E32-334A52F23C3D}"/>
              </a:ext>
            </a:extLst>
          </p:cNvPr>
          <p:cNvSpPr txBox="1"/>
          <p:nvPr/>
        </p:nvSpPr>
        <p:spPr>
          <a:xfrm>
            <a:off x="12979400" y="53847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   MOSFETs in DC circuits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97C652FF-9E95-63EC-59A9-4C4B50F73A04}"/>
              </a:ext>
            </a:extLst>
          </p:cNvPr>
          <p:cNvSpPr/>
          <p:nvPr/>
        </p:nvSpPr>
        <p:spPr>
          <a:xfrm>
            <a:off x="12700000" y="61722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7AADC865-FD7B-7D70-6B1F-8ACE9BF9E7B1}"/>
              </a:ext>
            </a:extLst>
          </p:cNvPr>
          <p:cNvSpPr txBox="1"/>
          <p:nvPr/>
        </p:nvSpPr>
        <p:spPr>
          <a:xfrm>
            <a:off x="12979400" y="61721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4   The MOSFET as an amplifier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E30465FD-8042-A8B7-A818-12F5AD53D068}"/>
              </a:ext>
            </a:extLst>
          </p:cNvPr>
          <p:cNvSpPr/>
          <p:nvPr/>
        </p:nvSpPr>
        <p:spPr>
          <a:xfrm>
            <a:off x="12700000" y="69596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ap">
            <a:extLst>
              <a:ext uri="{FF2B5EF4-FFF2-40B4-BE49-F238E27FC236}">
                <a16:creationId xmlns:a16="http://schemas.microsoft.com/office/drawing/2014/main" id="{9714637E-E5E1-C5A3-56AB-80D953E4BACE}"/>
              </a:ext>
            </a:extLst>
          </p:cNvPr>
          <p:cNvSpPr txBox="1"/>
          <p:nvPr/>
        </p:nvSpPr>
        <p:spPr>
          <a:xfrm>
            <a:off x="12979400" y="69595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5 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1161277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C analysis: assume, solve, ch s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ABF029B-4FB4-3683-CF1F-68E22EC8D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DC analysis: assume, solve, check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77422D5-12D7-23BA-8A60-4905A97988B1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1BF69A2B-0CCB-77B4-0E36-5EE65DA4589B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0ABA626-00E2-3B70-234D-166A2C28426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card @1">
            <a:extLst>
              <a:ext uri="{FF2B5EF4-FFF2-40B4-BE49-F238E27FC236}">
                <a16:creationId xmlns:a16="http://schemas.microsoft.com/office/drawing/2014/main" id="{0267D30D-D8D5-1A3E-F393-F6D8FFD73FF8}"/>
              </a:ext>
            </a:extLst>
          </p:cNvPr>
          <p:cNvSpPr/>
          <p:nvPr/>
        </p:nvSpPr>
        <p:spPr>
          <a:xfrm>
            <a:off x="914400" y="2540000"/>
            <a:ext cx="5080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badge @1">
            <a:extLst>
              <a:ext uri="{FF2B5EF4-FFF2-40B4-BE49-F238E27FC236}">
                <a16:creationId xmlns:a16="http://schemas.microsoft.com/office/drawing/2014/main" id="{13BF77C3-2631-B3FC-F034-F1324C54543B}"/>
              </a:ext>
            </a:extLst>
          </p:cNvPr>
          <p:cNvSpPr/>
          <p:nvPr/>
        </p:nvSpPr>
        <p:spPr>
          <a:xfrm>
            <a:off x="1295400" y="2946400"/>
            <a:ext cx="558800" cy="558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8" name="head @1">
            <a:extLst>
              <a:ext uri="{FF2B5EF4-FFF2-40B4-BE49-F238E27FC236}">
                <a16:creationId xmlns:a16="http://schemas.microsoft.com/office/drawing/2014/main" id="{F5FE0DE3-A04B-42C2-4E7D-619DA67D6925}"/>
              </a:ext>
            </a:extLst>
          </p:cNvPr>
          <p:cNvSpPr txBox="1"/>
          <p:nvPr/>
        </p:nvSpPr>
        <p:spPr>
          <a:xfrm>
            <a:off x="12954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7262E"/>
                </a:solidFill>
                <a:latin typeface="Poppins" panose="00000500000000000000" pitchFamily="2" charset="0"/>
              </a:rPr>
              <a:t>Assume</a:t>
            </a:r>
          </a:p>
        </p:txBody>
      </p:sp>
      <p:sp>
        <p:nvSpPr>
          <p:cNvPr id="9" name="body @1">
            <a:extLst>
              <a:ext uri="{FF2B5EF4-FFF2-40B4-BE49-F238E27FC236}">
                <a16:creationId xmlns:a16="http://schemas.microsoft.com/office/drawing/2014/main" id="{A572BC23-E2C8-6D69-FC08-3459AF2591DA}"/>
              </a:ext>
            </a:extLst>
          </p:cNvPr>
          <p:cNvSpPr txBox="1"/>
          <p:nvPr/>
        </p:nvSpPr>
        <p:spPr>
          <a:xfrm>
            <a:off x="12954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a region, usually saturation (and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).</a:t>
            </a:r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A1865508-D1CE-56E9-B032-A99CA36FB741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hrome page">
            <a:extLst>
              <a:ext uri="{FF2B5EF4-FFF2-40B4-BE49-F238E27FC236}">
                <a16:creationId xmlns:a16="http://schemas.microsoft.com/office/drawing/2014/main" id="{DC158141-5F60-9FA5-EB8B-7EE3EDAD3637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35223572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C analysis: assume, solve, ch s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ABF029B-4FB4-3683-CF1F-68E22EC8D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DC analysis: assume, solve, check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77422D5-12D7-23BA-8A60-4905A97988B1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1BF69A2B-0CCB-77B4-0E36-5EE65DA4589B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0ABA626-00E2-3B70-234D-166A2C28426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card @1">
            <a:extLst>
              <a:ext uri="{FF2B5EF4-FFF2-40B4-BE49-F238E27FC236}">
                <a16:creationId xmlns:a16="http://schemas.microsoft.com/office/drawing/2014/main" id="{0267D30D-D8D5-1A3E-F393-F6D8FFD73FF8}"/>
              </a:ext>
            </a:extLst>
          </p:cNvPr>
          <p:cNvSpPr/>
          <p:nvPr/>
        </p:nvSpPr>
        <p:spPr>
          <a:xfrm>
            <a:off x="914400" y="2540000"/>
            <a:ext cx="5080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badge @1">
            <a:extLst>
              <a:ext uri="{FF2B5EF4-FFF2-40B4-BE49-F238E27FC236}">
                <a16:creationId xmlns:a16="http://schemas.microsoft.com/office/drawing/2014/main" id="{13BF77C3-2631-B3FC-F034-F1324C54543B}"/>
              </a:ext>
            </a:extLst>
          </p:cNvPr>
          <p:cNvSpPr/>
          <p:nvPr/>
        </p:nvSpPr>
        <p:spPr>
          <a:xfrm>
            <a:off x="1295400" y="2946400"/>
            <a:ext cx="558800" cy="558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8" name="head @1">
            <a:extLst>
              <a:ext uri="{FF2B5EF4-FFF2-40B4-BE49-F238E27FC236}">
                <a16:creationId xmlns:a16="http://schemas.microsoft.com/office/drawing/2014/main" id="{F5FE0DE3-A04B-42C2-4E7D-619DA67D6925}"/>
              </a:ext>
            </a:extLst>
          </p:cNvPr>
          <p:cNvSpPr txBox="1"/>
          <p:nvPr/>
        </p:nvSpPr>
        <p:spPr>
          <a:xfrm>
            <a:off x="12954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7262E"/>
                </a:solidFill>
                <a:latin typeface="Poppins" panose="00000500000000000000" pitchFamily="2" charset="0"/>
              </a:rPr>
              <a:t>Assume</a:t>
            </a:r>
          </a:p>
        </p:txBody>
      </p:sp>
      <p:sp>
        <p:nvSpPr>
          <p:cNvPr id="9" name="body @1">
            <a:extLst>
              <a:ext uri="{FF2B5EF4-FFF2-40B4-BE49-F238E27FC236}">
                <a16:creationId xmlns:a16="http://schemas.microsoft.com/office/drawing/2014/main" id="{A572BC23-E2C8-6D69-FC08-3459AF2591DA}"/>
              </a:ext>
            </a:extLst>
          </p:cNvPr>
          <p:cNvSpPr txBox="1"/>
          <p:nvPr/>
        </p:nvSpPr>
        <p:spPr>
          <a:xfrm>
            <a:off x="12954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a region, usually saturation (and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).</a:t>
            </a:r>
          </a:p>
        </p:txBody>
      </p:sp>
      <p:sp>
        <p:nvSpPr>
          <p:cNvPr id="10" name="card @2">
            <a:extLst>
              <a:ext uri="{FF2B5EF4-FFF2-40B4-BE49-F238E27FC236}">
                <a16:creationId xmlns:a16="http://schemas.microsoft.com/office/drawing/2014/main" id="{CE6D8954-094D-2BFC-B185-D6AA8DE943D4}"/>
              </a:ext>
            </a:extLst>
          </p:cNvPr>
          <p:cNvSpPr/>
          <p:nvPr/>
        </p:nvSpPr>
        <p:spPr>
          <a:xfrm>
            <a:off x="6604000" y="2540000"/>
            <a:ext cx="5080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badge @2">
            <a:extLst>
              <a:ext uri="{FF2B5EF4-FFF2-40B4-BE49-F238E27FC236}">
                <a16:creationId xmlns:a16="http://schemas.microsoft.com/office/drawing/2014/main" id="{56D24B50-F2E7-6382-2024-AC16E99CC777}"/>
              </a:ext>
            </a:extLst>
          </p:cNvPr>
          <p:cNvSpPr/>
          <p:nvPr/>
        </p:nvSpPr>
        <p:spPr>
          <a:xfrm>
            <a:off x="6985000" y="2946400"/>
            <a:ext cx="558800" cy="558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12" name="head @2">
            <a:extLst>
              <a:ext uri="{FF2B5EF4-FFF2-40B4-BE49-F238E27FC236}">
                <a16:creationId xmlns:a16="http://schemas.microsoft.com/office/drawing/2014/main" id="{B6B0765C-0B33-E2F5-73DC-921012642D33}"/>
              </a:ext>
            </a:extLst>
          </p:cNvPr>
          <p:cNvSpPr txBox="1"/>
          <p:nvPr/>
        </p:nvSpPr>
        <p:spPr>
          <a:xfrm>
            <a:off x="69850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7262E"/>
                </a:solidFill>
                <a:latin typeface="Poppins" panose="00000500000000000000" pitchFamily="2" charset="0"/>
              </a:rPr>
              <a:t>Solve</a:t>
            </a:r>
          </a:p>
        </p:txBody>
      </p:sp>
      <p:sp>
        <p:nvSpPr>
          <p:cNvPr id="13" name="body @2">
            <a:extLst>
              <a:ext uri="{FF2B5EF4-FFF2-40B4-BE49-F238E27FC236}">
                <a16:creationId xmlns:a16="http://schemas.microsoft.com/office/drawing/2014/main" id="{AFDC5449-1C95-A32E-C361-D9CF8CC1C796}"/>
              </a:ext>
            </a:extLst>
          </p:cNvPr>
          <p:cNvSpPr txBox="1"/>
          <p:nvPr/>
        </p:nvSpPr>
        <p:spPr>
          <a:xfrm>
            <a:off x="69850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with that region’s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equation and KVL/KCL. Reject roots that give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3CDFC4DB-9724-DDB5-9474-236003F047ED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hrome page">
            <a:extLst>
              <a:ext uri="{FF2B5EF4-FFF2-40B4-BE49-F238E27FC236}">
                <a16:creationId xmlns:a16="http://schemas.microsoft.com/office/drawing/2014/main" id="{29910DE1-4F0D-6798-724D-A212A6465F5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6126924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C analysis: assume, solve, ch s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ABF029B-4FB4-3683-CF1F-68E22EC8D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DC analysis: assume, solve, check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77422D5-12D7-23BA-8A60-4905A97988B1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1BF69A2B-0CCB-77B4-0E36-5EE65DA4589B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0ABA626-00E2-3B70-234D-166A2C28426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card @1">
            <a:extLst>
              <a:ext uri="{FF2B5EF4-FFF2-40B4-BE49-F238E27FC236}">
                <a16:creationId xmlns:a16="http://schemas.microsoft.com/office/drawing/2014/main" id="{0267D30D-D8D5-1A3E-F393-F6D8FFD73FF8}"/>
              </a:ext>
            </a:extLst>
          </p:cNvPr>
          <p:cNvSpPr/>
          <p:nvPr/>
        </p:nvSpPr>
        <p:spPr>
          <a:xfrm>
            <a:off x="914400" y="2540000"/>
            <a:ext cx="5080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badge @1">
            <a:extLst>
              <a:ext uri="{FF2B5EF4-FFF2-40B4-BE49-F238E27FC236}">
                <a16:creationId xmlns:a16="http://schemas.microsoft.com/office/drawing/2014/main" id="{13BF77C3-2631-B3FC-F034-F1324C54543B}"/>
              </a:ext>
            </a:extLst>
          </p:cNvPr>
          <p:cNvSpPr/>
          <p:nvPr/>
        </p:nvSpPr>
        <p:spPr>
          <a:xfrm>
            <a:off x="1295400" y="2946400"/>
            <a:ext cx="558800" cy="558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8" name="head @1">
            <a:extLst>
              <a:ext uri="{FF2B5EF4-FFF2-40B4-BE49-F238E27FC236}">
                <a16:creationId xmlns:a16="http://schemas.microsoft.com/office/drawing/2014/main" id="{F5FE0DE3-A04B-42C2-4E7D-619DA67D6925}"/>
              </a:ext>
            </a:extLst>
          </p:cNvPr>
          <p:cNvSpPr txBox="1"/>
          <p:nvPr/>
        </p:nvSpPr>
        <p:spPr>
          <a:xfrm>
            <a:off x="12954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7262E"/>
                </a:solidFill>
                <a:latin typeface="Poppins" panose="00000500000000000000" pitchFamily="2" charset="0"/>
              </a:rPr>
              <a:t>Assume</a:t>
            </a:r>
          </a:p>
        </p:txBody>
      </p:sp>
      <p:sp>
        <p:nvSpPr>
          <p:cNvPr id="9" name="body @1">
            <a:extLst>
              <a:ext uri="{FF2B5EF4-FFF2-40B4-BE49-F238E27FC236}">
                <a16:creationId xmlns:a16="http://schemas.microsoft.com/office/drawing/2014/main" id="{A572BC23-E2C8-6D69-FC08-3459AF2591DA}"/>
              </a:ext>
            </a:extLst>
          </p:cNvPr>
          <p:cNvSpPr txBox="1"/>
          <p:nvPr/>
        </p:nvSpPr>
        <p:spPr>
          <a:xfrm>
            <a:off x="12954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a region, usually saturation (and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).</a:t>
            </a:r>
          </a:p>
        </p:txBody>
      </p:sp>
      <p:sp>
        <p:nvSpPr>
          <p:cNvPr id="10" name="card @2">
            <a:extLst>
              <a:ext uri="{FF2B5EF4-FFF2-40B4-BE49-F238E27FC236}">
                <a16:creationId xmlns:a16="http://schemas.microsoft.com/office/drawing/2014/main" id="{CE6D8954-094D-2BFC-B185-D6AA8DE943D4}"/>
              </a:ext>
            </a:extLst>
          </p:cNvPr>
          <p:cNvSpPr/>
          <p:nvPr/>
        </p:nvSpPr>
        <p:spPr>
          <a:xfrm>
            <a:off x="6604000" y="2540000"/>
            <a:ext cx="5080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badge @2">
            <a:extLst>
              <a:ext uri="{FF2B5EF4-FFF2-40B4-BE49-F238E27FC236}">
                <a16:creationId xmlns:a16="http://schemas.microsoft.com/office/drawing/2014/main" id="{56D24B50-F2E7-6382-2024-AC16E99CC777}"/>
              </a:ext>
            </a:extLst>
          </p:cNvPr>
          <p:cNvSpPr/>
          <p:nvPr/>
        </p:nvSpPr>
        <p:spPr>
          <a:xfrm>
            <a:off x="6985000" y="2946400"/>
            <a:ext cx="558800" cy="558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12" name="head @2">
            <a:extLst>
              <a:ext uri="{FF2B5EF4-FFF2-40B4-BE49-F238E27FC236}">
                <a16:creationId xmlns:a16="http://schemas.microsoft.com/office/drawing/2014/main" id="{B6B0765C-0B33-E2F5-73DC-921012642D33}"/>
              </a:ext>
            </a:extLst>
          </p:cNvPr>
          <p:cNvSpPr txBox="1"/>
          <p:nvPr/>
        </p:nvSpPr>
        <p:spPr>
          <a:xfrm>
            <a:off x="69850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7262E"/>
                </a:solidFill>
                <a:latin typeface="Poppins" panose="00000500000000000000" pitchFamily="2" charset="0"/>
              </a:rPr>
              <a:t>Solve</a:t>
            </a:r>
          </a:p>
        </p:txBody>
      </p:sp>
      <p:sp>
        <p:nvSpPr>
          <p:cNvPr id="13" name="body @2">
            <a:extLst>
              <a:ext uri="{FF2B5EF4-FFF2-40B4-BE49-F238E27FC236}">
                <a16:creationId xmlns:a16="http://schemas.microsoft.com/office/drawing/2014/main" id="{AFDC5449-1C95-A32E-C361-D9CF8CC1C796}"/>
              </a:ext>
            </a:extLst>
          </p:cNvPr>
          <p:cNvSpPr txBox="1"/>
          <p:nvPr/>
        </p:nvSpPr>
        <p:spPr>
          <a:xfrm>
            <a:off x="69850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with that region’s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equation and KVL/KCL. Reject roots that give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4" name="card @3">
            <a:extLst>
              <a:ext uri="{FF2B5EF4-FFF2-40B4-BE49-F238E27FC236}">
                <a16:creationId xmlns:a16="http://schemas.microsoft.com/office/drawing/2014/main" id="{9770CD9D-0882-E1E3-A002-05F27793ED54}"/>
              </a:ext>
            </a:extLst>
          </p:cNvPr>
          <p:cNvSpPr/>
          <p:nvPr/>
        </p:nvSpPr>
        <p:spPr>
          <a:xfrm>
            <a:off x="12293600" y="2540000"/>
            <a:ext cx="5080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badge @3">
            <a:extLst>
              <a:ext uri="{FF2B5EF4-FFF2-40B4-BE49-F238E27FC236}">
                <a16:creationId xmlns:a16="http://schemas.microsoft.com/office/drawing/2014/main" id="{5FBC3FBB-8AE1-9A86-5B31-A9B38BFFCD0E}"/>
              </a:ext>
            </a:extLst>
          </p:cNvPr>
          <p:cNvSpPr/>
          <p:nvPr/>
        </p:nvSpPr>
        <p:spPr>
          <a:xfrm>
            <a:off x="12674600" y="2946400"/>
            <a:ext cx="558800" cy="558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16" name="head @3">
            <a:extLst>
              <a:ext uri="{FF2B5EF4-FFF2-40B4-BE49-F238E27FC236}">
                <a16:creationId xmlns:a16="http://schemas.microsoft.com/office/drawing/2014/main" id="{75E444F2-83A3-D671-841D-3EE4FD9C9CF2}"/>
              </a:ext>
            </a:extLst>
          </p:cNvPr>
          <p:cNvSpPr txBox="1"/>
          <p:nvPr/>
        </p:nvSpPr>
        <p:spPr>
          <a:xfrm>
            <a:off x="126746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7262E"/>
                </a:solidFill>
                <a:latin typeface="Poppins" panose="00000500000000000000" pitchFamily="2" charset="0"/>
              </a:rPr>
              <a:t>Check</a:t>
            </a:r>
          </a:p>
        </p:txBody>
      </p:sp>
      <p:sp>
        <p:nvSpPr>
          <p:cNvPr id="17" name="body @3">
            <a:extLst>
              <a:ext uri="{FF2B5EF4-FFF2-40B4-BE49-F238E27FC236}">
                <a16:creationId xmlns:a16="http://schemas.microsoft.com/office/drawing/2014/main" id="{CD0CA81B-75B5-3DE1-EBEE-DCF752F40789}"/>
              </a:ext>
            </a:extLst>
          </p:cNvPr>
          <p:cNvSpPr txBox="1"/>
          <p:nvPr/>
        </p:nvSpPr>
        <p:spPr>
          <a:xfrm>
            <a:off x="126746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assumption: saturation needs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≥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 If it fails, redo it in triode.</a:t>
            </a:r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BB026C3E-0DAD-7593-15BD-0F7DAC77DBFF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hrome page">
            <a:extLst>
              <a:ext uri="{FF2B5EF4-FFF2-40B4-BE49-F238E27FC236}">
                <a16:creationId xmlns:a16="http://schemas.microsoft.com/office/drawing/2014/main" id="{4D8F3AFB-B114-20C9-6871-8880DA2EC4F1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2520880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C analysis: assume, solve, ch s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ABF029B-4FB4-3683-CF1F-68E22EC8D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DC analysis: assume, solve, check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77422D5-12D7-23BA-8A60-4905A97988B1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1BF69A2B-0CCB-77B4-0E36-5EE65DA4589B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0ABA626-00E2-3B70-234D-166A2C28426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card @1">
            <a:extLst>
              <a:ext uri="{FF2B5EF4-FFF2-40B4-BE49-F238E27FC236}">
                <a16:creationId xmlns:a16="http://schemas.microsoft.com/office/drawing/2014/main" id="{0267D30D-D8D5-1A3E-F393-F6D8FFD73FF8}"/>
              </a:ext>
            </a:extLst>
          </p:cNvPr>
          <p:cNvSpPr/>
          <p:nvPr/>
        </p:nvSpPr>
        <p:spPr>
          <a:xfrm>
            <a:off x="914400" y="2540000"/>
            <a:ext cx="5080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badge @1">
            <a:extLst>
              <a:ext uri="{FF2B5EF4-FFF2-40B4-BE49-F238E27FC236}">
                <a16:creationId xmlns:a16="http://schemas.microsoft.com/office/drawing/2014/main" id="{13BF77C3-2631-B3FC-F034-F1324C54543B}"/>
              </a:ext>
            </a:extLst>
          </p:cNvPr>
          <p:cNvSpPr/>
          <p:nvPr/>
        </p:nvSpPr>
        <p:spPr>
          <a:xfrm>
            <a:off x="1295400" y="2946400"/>
            <a:ext cx="558800" cy="558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8" name="head @1">
            <a:extLst>
              <a:ext uri="{FF2B5EF4-FFF2-40B4-BE49-F238E27FC236}">
                <a16:creationId xmlns:a16="http://schemas.microsoft.com/office/drawing/2014/main" id="{F5FE0DE3-A04B-42C2-4E7D-619DA67D6925}"/>
              </a:ext>
            </a:extLst>
          </p:cNvPr>
          <p:cNvSpPr txBox="1"/>
          <p:nvPr/>
        </p:nvSpPr>
        <p:spPr>
          <a:xfrm>
            <a:off x="12954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7262E"/>
                </a:solidFill>
                <a:latin typeface="Poppins" panose="00000500000000000000" pitchFamily="2" charset="0"/>
              </a:rPr>
              <a:t>Assume</a:t>
            </a:r>
          </a:p>
        </p:txBody>
      </p:sp>
      <p:sp>
        <p:nvSpPr>
          <p:cNvPr id="9" name="body @1">
            <a:extLst>
              <a:ext uri="{FF2B5EF4-FFF2-40B4-BE49-F238E27FC236}">
                <a16:creationId xmlns:a16="http://schemas.microsoft.com/office/drawing/2014/main" id="{A572BC23-E2C8-6D69-FC08-3459AF2591DA}"/>
              </a:ext>
            </a:extLst>
          </p:cNvPr>
          <p:cNvSpPr txBox="1"/>
          <p:nvPr/>
        </p:nvSpPr>
        <p:spPr>
          <a:xfrm>
            <a:off x="12954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a region, usually saturation (and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).</a:t>
            </a:r>
          </a:p>
        </p:txBody>
      </p:sp>
      <p:sp>
        <p:nvSpPr>
          <p:cNvPr id="10" name="card @2">
            <a:extLst>
              <a:ext uri="{FF2B5EF4-FFF2-40B4-BE49-F238E27FC236}">
                <a16:creationId xmlns:a16="http://schemas.microsoft.com/office/drawing/2014/main" id="{CE6D8954-094D-2BFC-B185-D6AA8DE943D4}"/>
              </a:ext>
            </a:extLst>
          </p:cNvPr>
          <p:cNvSpPr/>
          <p:nvPr/>
        </p:nvSpPr>
        <p:spPr>
          <a:xfrm>
            <a:off x="6604000" y="2540000"/>
            <a:ext cx="5080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badge @2">
            <a:extLst>
              <a:ext uri="{FF2B5EF4-FFF2-40B4-BE49-F238E27FC236}">
                <a16:creationId xmlns:a16="http://schemas.microsoft.com/office/drawing/2014/main" id="{56D24B50-F2E7-6382-2024-AC16E99CC777}"/>
              </a:ext>
            </a:extLst>
          </p:cNvPr>
          <p:cNvSpPr/>
          <p:nvPr/>
        </p:nvSpPr>
        <p:spPr>
          <a:xfrm>
            <a:off x="6985000" y="2946400"/>
            <a:ext cx="558800" cy="558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12" name="head @2">
            <a:extLst>
              <a:ext uri="{FF2B5EF4-FFF2-40B4-BE49-F238E27FC236}">
                <a16:creationId xmlns:a16="http://schemas.microsoft.com/office/drawing/2014/main" id="{B6B0765C-0B33-E2F5-73DC-921012642D33}"/>
              </a:ext>
            </a:extLst>
          </p:cNvPr>
          <p:cNvSpPr txBox="1"/>
          <p:nvPr/>
        </p:nvSpPr>
        <p:spPr>
          <a:xfrm>
            <a:off x="69850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7262E"/>
                </a:solidFill>
                <a:latin typeface="Poppins" panose="00000500000000000000" pitchFamily="2" charset="0"/>
              </a:rPr>
              <a:t>Solve</a:t>
            </a:r>
          </a:p>
        </p:txBody>
      </p:sp>
      <p:sp>
        <p:nvSpPr>
          <p:cNvPr id="13" name="body @2">
            <a:extLst>
              <a:ext uri="{FF2B5EF4-FFF2-40B4-BE49-F238E27FC236}">
                <a16:creationId xmlns:a16="http://schemas.microsoft.com/office/drawing/2014/main" id="{AFDC5449-1C95-A32E-C361-D9CF8CC1C796}"/>
              </a:ext>
            </a:extLst>
          </p:cNvPr>
          <p:cNvSpPr txBox="1"/>
          <p:nvPr/>
        </p:nvSpPr>
        <p:spPr>
          <a:xfrm>
            <a:off x="69850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with that region’s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equation and KVL/KCL. Reject roots that give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4" name="card @3">
            <a:extLst>
              <a:ext uri="{FF2B5EF4-FFF2-40B4-BE49-F238E27FC236}">
                <a16:creationId xmlns:a16="http://schemas.microsoft.com/office/drawing/2014/main" id="{9770CD9D-0882-E1E3-A002-05F27793ED54}"/>
              </a:ext>
            </a:extLst>
          </p:cNvPr>
          <p:cNvSpPr/>
          <p:nvPr/>
        </p:nvSpPr>
        <p:spPr>
          <a:xfrm>
            <a:off x="12293600" y="2540000"/>
            <a:ext cx="5080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badge @3">
            <a:extLst>
              <a:ext uri="{FF2B5EF4-FFF2-40B4-BE49-F238E27FC236}">
                <a16:creationId xmlns:a16="http://schemas.microsoft.com/office/drawing/2014/main" id="{5FBC3FBB-8AE1-9A86-5B31-A9B38BFFCD0E}"/>
              </a:ext>
            </a:extLst>
          </p:cNvPr>
          <p:cNvSpPr/>
          <p:nvPr/>
        </p:nvSpPr>
        <p:spPr>
          <a:xfrm>
            <a:off x="12674600" y="2946400"/>
            <a:ext cx="558800" cy="558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16" name="head @3">
            <a:extLst>
              <a:ext uri="{FF2B5EF4-FFF2-40B4-BE49-F238E27FC236}">
                <a16:creationId xmlns:a16="http://schemas.microsoft.com/office/drawing/2014/main" id="{75E444F2-83A3-D671-841D-3EE4FD9C9CF2}"/>
              </a:ext>
            </a:extLst>
          </p:cNvPr>
          <p:cNvSpPr txBox="1"/>
          <p:nvPr/>
        </p:nvSpPr>
        <p:spPr>
          <a:xfrm>
            <a:off x="126746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7262E"/>
                </a:solidFill>
                <a:latin typeface="Poppins" panose="00000500000000000000" pitchFamily="2" charset="0"/>
              </a:rPr>
              <a:t>Check</a:t>
            </a:r>
          </a:p>
        </p:txBody>
      </p:sp>
      <p:sp>
        <p:nvSpPr>
          <p:cNvPr id="17" name="body @3">
            <a:extLst>
              <a:ext uri="{FF2B5EF4-FFF2-40B4-BE49-F238E27FC236}">
                <a16:creationId xmlns:a16="http://schemas.microsoft.com/office/drawing/2014/main" id="{CD0CA81B-75B5-3DE1-EBEE-DCF752F40789}"/>
              </a:ext>
            </a:extLst>
          </p:cNvPr>
          <p:cNvSpPr txBox="1"/>
          <p:nvPr/>
        </p:nvSpPr>
        <p:spPr>
          <a:xfrm>
            <a:off x="126746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assumption: saturation needs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≥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 If it fails, redo it in triode.</a:t>
            </a:r>
          </a:p>
        </p:txBody>
      </p:sp>
      <p:sp>
        <p:nvSpPr>
          <p:cNvPr id="18" name="note @4">
            <a:extLst>
              <a:ext uri="{FF2B5EF4-FFF2-40B4-BE49-F238E27FC236}">
                <a16:creationId xmlns:a16="http://schemas.microsoft.com/office/drawing/2014/main" id="{BC266020-A1B9-7F58-D954-215885E64FCD}"/>
              </a:ext>
            </a:extLst>
          </p:cNvPr>
          <p:cNvSpPr txBox="1"/>
          <p:nvPr/>
        </p:nvSpPr>
        <p:spPr>
          <a:xfrm>
            <a:off x="914400" y="68579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The gate draws no current, so gate-bias resistors form an unloaded divider.</a:t>
            </a:r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19137AA5-8DE5-F748-07B5-D6E6D904C8F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hrome page">
            <a:extLst>
              <a:ext uri="{FF2B5EF4-FFF2-40B4-BE49-F238E27FC236}">
                <a16:creationId xmlns:a16="http://schemas.microsoft.com/office/drawing/2014/main" id="{BB0E47E1-4C89-CD4C-6EFB-B36A703CF51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3517030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find the drain voltag s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EA4950C-7450-4D13-F09E-7667385E5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16DD0FE3-00E5-45E1-4D7E-711ACDF01A96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CE05697-8DC5-E6C9-FA92-95D95E031474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4A1E302-8614-CF31-A38F-7CB511EB9C67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F453EA6E-2963-7072-82AC-0B458581A266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Given </a:t>
            </a:r>
            <a:r>
              <a:rPr lang="en-US" sz="23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 = 1 V and k′</a:t>
            </a:r>
            <a:r>
              <a:rPr lang="en-US" sz="23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ADCC9229-DCBC-9DE1-57F4-2027C2ACCAD4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D2AB42DA-A868-DADC-066F-3D5A8AB824C5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26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92432C72-4963-E993-40D8-5F3AB7377D72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9CDEC8-81F7-2E4D-3FAA-3E126B583EFC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+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V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5AEFC25C-2AE5-F6FE-6CB2-6A2FC79DFA66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D0F4FC6-E3B9-44EA-DD10-3D5C2EB08E50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8C6BB99B-070B-589A-4045-4F8ABAC26A5F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711EB8C9-DCA5-BCE7-3435-CBA93155CC2C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2A821DF1-C665-ED8B-AFF0-B2BDD8EA60CB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056C81C4-9941-5331-E337-101A3912DDF3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B0CDF432-FECD-70D7-B04A-6BB79D235915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75FF24F9-5E48-34B4-CD18-B2F6B42ADE94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D4E24B3A-2502-AFA6-FF7E-2C44686B5457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05415301-A8A9-EEC2-A127-A5FE039354CF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6C23C198-37F9-5F0E-4D8A-2758CEA1103D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412291-224E-E41F-D301-7EDE7721AFCE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G1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3B4516-789F-08B0-5A3A-41A7B839DE35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G2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26F152EE-1195-F0FE-A5C1-D975AED16B0E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7382AEC4-5422-E1F0-9760-A2A6FF2C8BCF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CAE526EE-A0D1-DE6E-5D28-D8EB70A03589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47BC644C-9656-C02B-21A1-2FDFD3799DAF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7262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66912378-5EEC-FED4-0024-2AC3E7E9FEC9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kt">
            <a:extLst>
              <a:ext uri="{FF2B5EF4-FFF2-40B4-BE49-F238E27FC236}">
                <a16:creationId xmlns:a16="http://schemas.microsoft.com/office/drawing/2014/main" id="{17338826-3666-5571-C4BA-0E8B8CBCA4AA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67C0CD82-B9FA-37BE-79FD-F90F2ED655EC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43887378-0A6F-4203-C62B-AC8768883715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F9685F98-A9F7-78B4-869A-F05744C2B5EA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C6428894-1462-AD69-05C0-63331AAAAC73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D75F1B-4E55-865F-154C-D7C5B78FCCC2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BFAB8B-5C02-9246-3D9B-C7E073678937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57" name="chrome page">
            <a:extLst>
              <a:ext uri="{FF2B5EF4-FFF2-40B4-BE49-F238E27FC236}">
                <a16:creationId xmlns:a16="http://schemas.microsoft.com/office/drawing/2014/main" id="{64A6091C-9826-EA8C-8147-3BB5650AF7C9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hrome page">
            <a:extLst>
              <a:ext uri="{FF2B5EF4-FFF2-40B4-BE49-F238E27FC236}">
                <a16:creationId xmlns:a16="http://schemas.microsoft.com/office/drawing/2014/main" id="{3AE0BE24-831B-18E5-B2A9-56EF1BA179A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270133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find the drain voltag s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EA4950C-7450-4D13-F09E-7667385E5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16DD0FE3-00E5-45E1-4D7E-711ACDF01A96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CE05697-8DC5-E6C9-FA92-95D95E031474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4A1E302-8614-CF31-A38F-7CB511EB9C67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F453EA6E-2963-7072-82AC-0B458581A266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Given </a:t>
            </a:r>
            <a:r>
              <a:rPr lang="en-US" sz="23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 = 1 V and k′</a:t>
            </a:r>
            <a:r>
              <a:rPr lang="en-US" sz="23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ADCC9229-DCBC-9DE1-57F4-2027C2ACCAD4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D2AB42DA-A868-DADC-066F-3D5A8AB824C5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26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92432C72-4963-E993-40D8-5F3AB7377D72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9CDEC8-81F7-2E4D-3FAA-3E126B583EFC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+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V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5AEFC25C-2AE5-F6FE-6CB2-6A2FC79DFA66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D0F4FC6-E3B9-44EA-DD10-3D5C2EB08E50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8C6BB99B-070B-589A-4045-4F8ABAC26A5F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711EB8C9-DCA5-BCE7-3435-CBA93155CC2C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2A821DF1-C665-ED8B-AFF0-B2BDD8EA60CB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056C81C4-9941-5331-E337-101A3912DDF3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B0CDF432-FECD-70D7-B04A-6BB79D235915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75FF24F9-5E48-34B4-CD18-B2F6B42ADE94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D4E24B3A-2502-AFA6-FF7E-2C44686B5457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05415301-A8A9-EEC2-A127-A5FE039354CF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6C23C198-37F9-5F0E-4D8A-2758CEA1103D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412291-224E-E41F-D301-7EDE7721AFCE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G1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3B4516-789F-08B0-5A3A-41A7B839DE35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G2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26F152EE-1195-F0FE-A5C1-D975AED16B0E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7382AEC4-5422-E1F0-9760-A2A6FF2C8BCF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CAE526EE-A0D1-DE6E-5D28-D8EB70A03589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47BC644C-9656-C02B-21A1-2FDFD3799DAF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7262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66912378-5EEC-FED4-0024-2AC3E7E9FEC9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kt">
            <a:extLst>
              <a:ext uri="{FF2B5EF4-FFF2-40B4-BE49-F238E27FC236}">
                <a16:creationId xmlns:a16="http://schemas.microsoft.com/office/drawing/2014/main" id="{17338826-3666-5571-C4BA-0E8B8CBCA4AA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67C0CD82-B9FA-37BE-79FD-F90F2ED655EC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43887378-0A6F-4203-C62B-AC8768883715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F9685F98-A9F7-78B4-869A-F05744C2B5EA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C6428894-1462-AD69-05C0-63331AAAAC73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D75F1B-4E55-865F-154C-D7C5B78FCCC2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BFAB8B-5C02-9246-3D9B-C7E073678937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6" name="node @2">
            <a:extLst>
              <a:ext uri="{FF2B5EF4-FFF2-40B4-BE49-F238E27FC236}">
                <a16:creationId xmlns:a16="http://schemas.microsoft.com/office/drawing/2014/main" id="{7588CF28-CE83-1F2F-C7A7-3B9DBFA920E4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G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5 V</a:t>
            </a:r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590FB4CB-0344-35A2-9932-36142F192DD9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DA205A67-9220-9E90-EF3B-CA0AFE83B813}"/>
              </a:ext>
            </a:extLst>
          </p:cNvPr>
          <p:cNvSpPr txBox="1"/>
          <p:nvPr/>
        </p:nvSpPr>
        <p:spPr>
          <a:xfrm>
            <a:off x="8737600" y="2540000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597A4A2D-9F21-5E68-BF9C-EB4B47FB9DB3}"/>
                  </a:ext>
                </a:extLst>
              </p:cNvPr>
              <p:cNvSpPr txBox="1"/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5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597A4A2D-9F21-5E68-BF9C-EB4B47FB9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blipFill>
                <a:blip r:embed="rId2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chrome page">
            <a:extLst>
              <a:ext uri="{FF2B5EF4-FFF2-40B4-BE49-F238E27FC236}">
                <a16:creationId xmlns:a16="http://schemas.microsoft.com/office/drawing/2014/main" id="{563A163B-70BF-BE0B-EA11-36365D5DB2C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hrome page">
            <a:extLst>
              <a:ext uri="{FF2B5EF4-FFF2-40B4-BE49-F238E27FC236}">
                <a16:creationId xmlns:a16="http://schemas.microsoft.com/office/drawing/2014/main" id="{BAFE4566-0F04-7817-402B-B0514ED20E1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7097950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find the drain voltag s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EA4950C-7450-4D13-F09E-7667385E5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16DD0FE3-00E5-45E1-4D7E-711ACDF01A96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CE05697-8DC5-E6C9-FA92-95D95E031474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4A1E302-8614-CF31-A38F-7CB511EB9C67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F453EA6E-2963-7072-82AC-0B458581A266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Given </a:t>
            </a:r>
            <a:r>
              <a:rPr lang="en-US" sz="23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 = 1 V and k′</a:t>
            </a:r>
            <a:r>
              <a:rPr lang="en-US" sz="23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ADCC9229-DCBC-9DE1-57F4-2027C2ACCAD4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D2AB42DA-A868-DADC-066F-3D5A8AB824C5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26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92432C72-4963-E993-40D8-5F3AB7377D72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9CDEC8-81F7-2E4D-3FAA-3E126B583EFC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+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V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5AEFC25C-2AE5-F6FE-6CB2-6A2FC79DFA66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D0F4FC6-E3B9-44EA-DD10-3D5C2EB08E50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8C6BB99B-070B-589A-4045-4F8ABAC26A5F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711EB8C9-DCA5-BCE7-3435-CBA93155CC2C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2A821DF1-C665-ED8B-AFF0-B2BDD8EA60CB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056C81C4-9941-5331-E337-101A3912DDF3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B0CDF432-FECD-70D7-B04A-6BB79D235915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75FF24F9-5E48-34B4-CD18-B2F6B42ADE94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D4E24B3A-2502-AFA6-FF7E-2C44686B5457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05415301-A8A9-EEC2-A127-A5FE039354CF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6C23C198-37F9-5F0E-4D8A-2758CEA1103D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412291-224E-E41F-D301-7EDE7721AFCE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G1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3B4516-789F-08B0-5A3A-41A7B839DE35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G2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26F152EE-1195-F0FE-A5C1-D975AED16B0E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7382AEC4-5422-E1F0-9760-A2A6FF2C8BCF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CAE526EE-A0D1-DE6E-5D28-D8EB70A03589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47BC644C-9656-C02B-21A1-2FDFD3799DAF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7262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66912378-5EEC-FED4-0024-2AC3E7E9FEC9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kt">
            <a:extLst>
              <a:ext uri="{FF2B5EF4-FFF2-40B4-BE49-F238E27FC236}">
                <a16:creationId xmlns:a16="http://schemas.microsoft.com/office/drawing/2014/main" id="{17338826-3666-5571-C4BA-0E8B8CBCA4AA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67C0CD82-B9FA-37BE-79FD-F90F2ED655EC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43887378-0A6F-4203-C62B-AC8768883715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F9685F98-A9F7-78B4-869A-F05744C2B5EA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C6428894-1462-AD69-05C0-63331AAAAC73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D75F1B-4E55-865F-154C-D7C5B78FCCC2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BFAB8B-5C02-9246-3D9B-C7E073678937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6" name="node @2">
            <a:extLst>
              <a:ext uri="{FF2B5EF4-FFF2-40B4-BE49-F238E27FC236}">
                <a16:creationId xmlns:a16="http://schemas.microsoft.com/office/drawing/2014/main" id="{7588CF28-CE83-1F2F-C7A7-3B9DBFA920E4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G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5 V</a:t>
            </a:r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590FB4CB-0344-35A2-9932-36142F192DD9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DA205A67-9220-9E90-EF3B-CA0AFE83B813}"/>
              </a:ext>
            </a:extLst>
          </p:cNvPr>
          <p:cNvSpPr txBox="1"/>
          <p:nvPr/>
        </p:nvSpPr>
        <p:spPr>
          <a:xfrm>
            <a:off x="8737600" y="2540000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597A4A2D-9F21-5E68-BF9C-EB4B47FB9DB3}"/>
                  </a:ext>
                </a:extLst>
              </p:cNvPr>
              <p:cNvSpPr txBox="1"/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5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597A4A2D-9F21-5E68-BF9C-EB4B47FB9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blipFill>
                <a:blip r:embed="rId2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badge @3">
            <a:extLst>
              <a:ext uri="{FF2B5EF4-FFF2-40B4-BE49-F238E27FC236}">
                <a16:creationId xmlns:a16="http://schemas.microsoft.com/office/drawing/2014/main" id="{EC0788B7-8D18-9707-BB83-D86F5481D812}"/>
              </a:ext>
            </a:extLst>
          </p:cNvPr>
          <p:cNvSpPr/>
          <p:nvPr/>
        </p:nvSpPr>
        <p:spPr>
          <a:xfrm>
            <a:off x="8128000" y="3844727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B9EFDCC5-3C15-A09F-8371-9D10A1352E2B}"/>
              </a:ext>
            </a:extLst>
          </p:cNvPr>
          <p:cNvSpPr txBox="1"/>
          <p:nvPr/>
        </p:nvSpPr>
        <p:spPr>
          <a:xfrm>
            <a:off x="8737600" y="3832027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Assume saturation, with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−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000" baseline="-25000">
                <a:solidFill>
                  <a:srgbClr val="4F5E66"/>
                </a:solidFill>
                <a:latin typeface="Nunito" pitchFamily="2" charset="0"/>
              </a:rPr>
              <a:t>S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  (I in mA, R in k</a:t>
            </a:r>
            <a:r>
              <a:rPr lang="el-GR" sz="2000">
                <a:solidFill>
                  <a:srgbClr val="4F5E66"/>
                </a:solidFill>
                <a:latin typeface="Nunito" pitchFamily="2" charset="0"/>
              </a:rPr>
              <a:t>Ω)</a:t>
            </a:r>
            <a:endParaRPr lang="en-US" sz="2000">
              <a:solidFill>
                <a:srgbClr val="4F5E66"/>
              </a:solidFill>
              <a:latin typeface="Nunito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1D26F64-DCF0-40A6-B3AC-39B3EB200B44}"/>
                  </a:ext>
                </a:extLst>
              </p:cNvPr>
              <p:cNvSpPr txBox="1"/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1D26F64-DCF0-40A6-B3AC-39B3EB200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chrome page">
            <a:extLst>
              <a:ext uri="{FF2B5EF4-FFF2-40B4-BE49-F238E27FC236}">
                <a16:creationId xmlns:a16="http://schemas.microsoft.com/office/drawing/2014/main" id="{E80D1595-2034-A039-1DF6-BDD4A85C4F7E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hrome page">
            <a:extLst>
              <a:ext uri="{FF2B5EF4-FFF2-40B4-BE49-F238E27FC236}">
                <a16:creationId xmlns:a16="http://schemas.microsoft.com/office/drawing/2014/main" id="{D4A7F35F-A356-7D4A-C792-77A129E045FA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30984636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find the drain voltag s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EA4950C-7450-4D13-F09E-7667385E5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16DD0FE3-00E5-45E1-4D7E-711ACDF01A96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CE05697-8DC5-E6C9-FA92-95D95E031474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4A1E302-8614-CF31-A38F-7CB511EB9C67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F453EA6E-2963-7072-82AC-0B458581A266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Given </a:t>
            </a:r>
            <a:r>
              <a:rPr lang="en-US" sz="23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 = 1 V and k′</a:t>
            </a:r>
            <a:r>
              <a:rPr lang="en-US" sz="23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ADCC9229-DCBC-9DE1-57F4-2027C2ACCAD4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D2AB42DA-A868-DADC-066F-3D5A8AB824C5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26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92432C72-4963-E993-40D8-5F3AB7377D72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9CDEC8-81F7-2E4D-3FAA-3E126B583EFC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+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V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5AEFC25C-2AE5-F6FE-6CB2-6A2FC79DFA66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D0F4FC6-E3B9-44EA-DD10-3D5C2EB08E50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8C6BB99B-070B-589A-4045-4F8ABAC26A5F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711EB8C9-DCA5-BCE7-3435-CBA93155CC2C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2A821DF1-C665-ED8B-AFF0-B2BDD8EA60CB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056C81C4-9941-5331-E337-101A3912DDF3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B0CDF432-FECD-70D7-B04A-6BB79D235915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75FF24F9-5E48-34B4-CD18-B2F6B42ADE94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D4E24B3A-2502-AFA6-FF7E-2C44686B5457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05415301-A8A9-EEC2-A127-A5FE039354CF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6C23C198-37F9-5F0E-4D8A-2758CEA1103D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412291-224E-E41F-D301-7EDE7721AFCE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G1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3B4516-789F-08B0-5A3A-41A7B839DE35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G2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26F152EE-1195-F0FE-A5C1-D975AED16B0E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7382AEC4-5422-E1F0-9760-A2A6FF2C8BCF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CAE526EE-A0D1-DE6E-5D28-D8EB70A03589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47BC644C-9656-C02B-21A1-2FDFD3799DAF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7262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66912378-5EEC-FED4-0024-2AC3E7E9FEC9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kt">
            <a:extLst>
              <a:ext uri="{FF2B5EF4-FFF2-40B4-BE49-F238E27FC236}">
                <a16:creationId xmlns:a16="http://schemas.microsoft.com/office/drawing/2014/main" id="{17338826-3666-5571-C4BA-0E8B8CBCA4AA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67C0CD82-B9FA-37BE-79FD-F90F2ED655EC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43887378-0A6F-4203-C62B-AC8768883715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F9685F98-A9F7-78B4-869A-F05744C2B5EA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C6428894-1462-AD69-05C0-63331AAAAC73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D75F1B-4E55-865F-154C-D7C5B78FCCC2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BFAB8B-5C02-9246-3D9B-C7E073678937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6" name="node @2">
            <a:extLst>
              <a:ext uri="{FF2B5EF4-FFF2-40B4-BE49-F238E27FC236}">
                <a16:creationId xmlns:a16="http://schemas.microsoft.com/office/drawing/2014/main" id="{7588CF28-CE83-1F2F-C7A7-3B9DBFA920E4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G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5 V</a:t>
            </a:r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590FB4CB-0344-35A2-9932-36142F192DD9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DA205A67-9220-9E90-EF3B-CA0AFE83B813}"/>
              </a:ext>
            </a:extLst>
          </p:cNvPr>
          <p:cNvSpPr txBox="1"/>
          <p:nvPr/>
        </p:nvSpPr>
        <p:spPr>
          <a:xfrm>
            <a:off x="8737600" y="2540000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597A4A2D-9F21-5E68-BF9C-EB4B47FB9DB3}"/>
                  </a:ext>
                </a:extLst>
              </p:cNvPr>
              <p:cNvSpPr txBox="1"/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5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597A4A2D-9F21-5E68-BF9C-EB4B47FB9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blipFill>
                <a:blip r:embed="rId2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badge @3">
            <a:extLst>
              <a:ext uri="{FF2B5EF4-FFF2-40B4-BE49-F238E27FC236}">
                <a16:creationId xmlns:a16="http://schemas.microsoft.com/office/drawing/2014/main" id="{EC0788B7-8D18-9707-BB83-D86F5481D812}"/>
              </a:ext>
            </a:extLst>
          </p:cNvPr>
          <p:cNvSpPr/>
          <p:nvPr/>
        </p:nvSpPr>
        <p:spPr>
          <a:xfrm>
            <a:off x="8128000" y="3844727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B9EFDCC5-3C15-A09F-8371-9D10A1352E2B}"/>
              </a:ext>
            </a:extLst>
          </p:cNvPr>
          <p:cNvSpPr txBox="1"/>
          <p:nvPr/>
        </p:nvSpPr>
        <p:spPr>
          <a:xfrm>
            <a:off x="8737600" y="3832027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Assume saturation, with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−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000" baseline="-25000">
                <a:solidFill>
                  <a:srgbClr val="4F5E66"/>
                </a:solidFill>
                <a:latin typeface="Nunito" pitchFamily="2" charset="0"/>
              </a:rPr>
              <a:t>S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  (I in mA, R in k</a:t>
            </a:r>
            <a:r>
              <a:rPr lang="el-GR" sz="2000">
                <a:solidFill>
                  <a:srgbClr val="4F5E66"/>
                </a:solidFill>
                <a:latin typeface="Nunito" pitchFamily="2" charset="0"/>
              </a:rPr>
              <a:t>Ω)</a:t>
            </a:r>
            <a:endParaRPr lang="en-US" sz="2000">
              <a:solidFill>
                <a:srgbClr val="4F5E66"/>
              </a:solidFill>
              <a:latin typeface="Nunito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1D26F64-DCF0-40A6-B3AC-39B3EB200B44}"/>
                  </a:ext>
                </a:extLst>
              </p:cNvPr>
              <p:cNvSpPr txBox="1"/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1D26F64-DCF0-40A6-B3AC-39B3EB200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8D267601-A075-DE66-263D-6B698EEE516A}"/>
              </a:ext>
            </a:extLst>
          </p:cNvPr>
          <p:cNvSpPr/>
          <p:nvPr/>
        </p:nvSpPr>
        <p:spPr>
          <a:xfrm>
            <a:off x="8128000" y="5136754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46" name="lab @4">
            <a:extLst>
              <a:ext uri="{FF2B5EF4-FFF2-40B4-BE49-F238E27FC236}">
                <a16:creationId xmlns:a16="http://schemas.microsoft.com/office/drawing/2014/main" id="{9245CC3A-76A5-5641-5CD2-59827495BC58}"/>
              </a:ext>
            </a:extLst>
          </p:cNvPr>
          <p:cNvSpPr txBox="1"/>
          <p:nvPr/>
        </p:nvSpPr>
        <p:spPr>
          <a:xfrm>
            <a:off x="8737600" y="5124054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307D8C28-438A-A29E-8307-51824717C49A}"/>
                  </a:ext>
                </a:extLst>
              </p:cNvPr>
              <p:cNvSpPr txBox="1"/>
              <p:nvPr/>
            </p:nvSpPr>
            <p:spPr>
              <a:xfrm>
                <a:off x="8737600" y="5482630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307D8C28-438A-A29E-8307-51824717C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5482630"/>
                <a:ext cx="8636000" cy="476250"/>
              </a:xfrm>
              <a:prstGeom prst="rect">
                <a:avLst/>
              </a:prstGeom>
              <a:blipFill>
                <a:blip r:embed="rId4"/>
                <a:stretch>
                  <a:fillRect l="-1270" b="-3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chrome page">
            <a:extLst>
              <a:ext uri="{FF2B5EF4-FFF2-40B4-BE49-F238E27FC236}">
                <a16:creationId xmlns:a16="http://schemas.microsoft.com/office/drawing/2014/main" id="{A024C099-0886-4A07-DF3A-1411793CE02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hrome page">
            <a:extLst>
              <a:ext uri="{FF2B5EF4-FFF2-40B4-BE49-F238E27FC236}">
                <a16:creationId xmlns:a16="http://schemas.microsoft.com/office/drawing/2014/main" id="{C1100DCE-C6EA-8268-AD1B-CBEC83DC6761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20850487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find the drain voltag s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EA4950C-7450-4D13-F09E-7667385E5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16DD0FE3-00E5-45E1-4D7E-711ACDF01A96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CE05697-8DC5-E6C9-FA92-95D95E031474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4A1E302-8614-CF31-A38F-7CB511EB9C67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F453EA6E-2963-7072-82AC-0B458581A266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Given </a:t>
            </a:r>
            <a:r>
              <a:rPr lang="en-US" sz="23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 = 1 V and k′</a:t>
            </a:r>
            <a:r>
              <a:rPr lang="en-US" sz="23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ADCC9229-DCBC-9DE1-57F4-2027C2ACCAD4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D2AB42DA-A868-DADC-066F-3D5A8AB824C5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26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92432C72-4963-E993-40D8-5F3AB7377D72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9CDEC8-81F7-2E4D-3FAA-3E126B583EFC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+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V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5AEFC25C-2AE5-F6FE-6CB2-6A2FC79DFA66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D0F4FC6-E3B9-44EA-DD10-3D5C2EB08E50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8C6BB99B-070B-589A-4045-4F8ABAC26A5F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711EB8C9-DCA5-BCE7-3435-CBA93155CC2C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2A821DF1-C665-ED8B-AFF0-B2BDD8EA60CB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056C81C4-9941-5331-E337-101A3912DDF3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B0CDF432-FECD-70D7-B04A-6BB79D235915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75FF24F9-5E48-34B4-CD18-B2F6B42ADE94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D4E24B3A-2502-AFA6-FF7E-2C44686B5457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05415301-A8A9-EEC2-A127-A5FE039354CF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6C23C198-37F9-5F0E-4D8A-2758CEA1103D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412291-224E-E41F-D301-7EDE7721AFCE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G1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3B4516-789F-08B0-5A3A-41A7B839DE35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G2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26F152EE-1195-F0FE-A5C1-D975AED16B0E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7382AEC4-5422-E1F0-9760-A2A6FF2C8BCF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CAE526EE-A0D1-DE6E-5D28-D8EB70A03589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47BC644C-9656-C02B-21A1-2FDFD3799DAF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7262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66912378-5EEC-FED4-0024-2AC3E7E9FEC9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kt">
            <a:extLst>
              <a:ext uri="{FF2B5EF4-FFF2-40B4-BE49-F238E27FC236}">
                <a16:creationId xmlns:a16="http://schemas.microsoft.com/office/drawing/2014/main" id="{17338826-3666-5571-C4BA-0E8B8CBCA4AA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67C0CD82-B9FA-37BE-79FD-F90F2ED655EC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43887378-0A6F-4203-C62B-AC8768883715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F9685F98-A9F7-78B4-869A-F05744C2B5EA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C6428894-1462-AD69-05C0-63331AAAAC73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D75F1B-4E55-865F-154C-D7C5B78FCCC2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BFAB8B-5C02-9246-3D9B-C7E073678937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6" name="node @2">
            <a:extLst>
              <a:ext uri="{FF2B5EF4-FFF2-40B4-BE49-F238E27FC236}">
                <a16:creationId xmlns:a16="http://schemas.microsoft.com/office/drawing/2014/main" id="{7588CF28-CE83-1F2F-C7A7-3B9DBFA920E4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G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5 V</a:t>
            </a:r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590FB4CB-0344-35A2-9932-36142F192DD9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DA205A67-9220-9E90-EF3B-CA0AFE83B813}"/>
              </a:ext>
            </a:extLst>
          </p:cNvPr>
          <p:cNvSpPr txBox="1"/>
          <p:nvPr/>
        </p:nvSpPr>
        <p:spPr>
          <a:xfrm>
            <a:off x="8737600" y="2540000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597A4A2D-9F21-5E68-BF9C-EB4B47FB9DB3}"/>
                  </a:ext>
                </a:extLst>
              </p:cNvPr>
              <p:cNvSpPr txBox="1"/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5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597A4A2D-9F21-5E68-BF9C-EB4B47FB9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blipFill>
                <a:blip r:embed="rId2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badge @3">
            <a:extLst>
              <a:ext uri="{FF2B5EF4-FFF2-40B4-BE49-F238E27FC236}">
                <a16:creationId xmlns:a16="http://schemas.microsoft.com/office/drawing/2014/main" id="{EC0788B7-8D18-9707-BB83-D86F5481D812}"/>
              </a:ext>
            </a:extLst>
          </p:cNvPr>
          <p:cNvSpPr/>
          <p:nvPr/>
        </p:nvSpPr>
        <p:spPr>
          <a:xfrm>
            <a:off x="8128000" y="3844727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B9EFDCC5-3C15-A09F-8371-9D10A1352E2B}"/>
              </a:ext>
            </a:extLst>
          </p:cNvPr>
          <p:cNvSpPr txBox="1"/>
          <p:nvPr/>
        </p:nvSpPr>
        <p:spPr>
          <a:xfrm>
            <a:off x="8737600" y="3832027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Assume saturation, with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−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000" baseline="-25000">
                <a:solidFill>
                  <a:srgbClr val="4F5E66"/>
                </a:solidFill>
                <a:latin typeface="Nunito" pitchFamily="2" charset="0"/>
              </a:rPr>
              <a:t>S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  (I in mA, R in k</a:t>
            </a:r>
            <a:r>
              <a:rPr lang="el-GR" sz="2000">
                <a:solidFill>
                  <a:srgbClr val="4F5E66"/>
                </a:solidFill>
                <a:latin typeface="Nunito" pitchFamily="2" charset="0"/>
              </a:rPr>
              <a:t>Ω)</a:t>
            </a:r>
            <a:endParaRPr lang="en-US" sz="2000">
              <a:solidFill>
                <a:srgbClr val="4F5E66"/>
              </a:solidFill>
              <a:latin typeface="Nunito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1D26F64-DCF0-40A6-B3AC-39B3EB200B44}"/>
                  </a:ext>
                </a:extLst>
              </p:cNvPr>
              <p:cNvSpPr txBox="1"/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1D26F64-DCF0-40A6-B3AC-39B3EB200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8D267601-A075-DE66-263D-6B698EEE516A}"/>
              </a:ext>
            </a:extLst>
          </p:cNvPr>
          <p:cNvSpPr/>
          <p:nvPr/>
        </p:nvSpPr>
        <p:spPr>
          <a:xfrm>
            <a:off x="8128000" y="5136754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46" name="lab @4">
            <a:extLst>
              <a:ext uri="{FF2B5EF4-FFF2-40B4-BE49-F238E27FC236}">
                <a16:creationId xmlns:a16="http://schemas.microsoft.com/office/drawing/2014/main" id="{9245CC3A-76A5-5641-5CD2-59827495BC58}"/>
              </a:ext>
            </a:extLst>
          </p:cNvPr>
          <p:cNvSpPr txBox="1"/>
          <p:nvPr/>
        </p:nvSpPr>
        <p:spPr>
          <a:xfrm>
            <a:off x="8737600" y="5124054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307D8C28-438A-A29E-8307-51824717C49A}"/>
                  </a:ext>
                </a:extLst>
              </p:cNvPr>
              <p:cNvSpPr txBox="1"/>
              <p:nvPr/>
            </p:nvSpPr>
            <p:spPr>
              <a:xfrm>
                <a:off x="8737600" y="5482630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307D8C28-438A-A29E-8307-51824717C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5482630"/>
                <a:ext cx="8636000" cy="476250"/>
              </a:xfrm>
              <a:prstGeom prst="rect">
                <a:avLst/>
              </a:prstGeom>
              <a:blipFill>
                <a:blip r:embed="rId4"/>
                <a:stretch>
                  <a:fillRect l="-1270" b="-3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badge @5">
            <a:extLst>
              <a:ext uri="{FF2B5EF4-FFF2-40B4-BE49-F238E27FC236}">
                <a16:creationId xmlns:a16="http://schemas.microsoft.com/office/drawing/2014/main" id="{75349F06-95AA-0C12-21CE-95A812BDAB61}"/>
              </a:ext>
            </a:extLst>
          </p:cNvPr>
          <p:cNvSpPr/>
          <p:nvPr/>
        </p:nvSpPr>
        <p:spPr>
          <a:xfrm>
            <a:off x="8128000" y="6174781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  <p:sp>
        <p:nvSpPr>
          <p:cNvPr id="49" name="lab @5">
            <a:extLst>
              <a:ext uri="{FF2B5EF4-FFF2-40B4-BE49-F238E27FC236}">
                <a16:creationId xmlns:a16="http://schemas.microsoft.com/office/drawing/2014/main" id="{758F49F0-0C4D-75CA-9C6F-7EA1CF2A120D}"/>
              </a:ext>
            </a:extLst>
          </p:cNvPr>
          <p:cNvSpPr txBox="1"/>
          <p:nvPr/>
        </p:nvSpPr>
        <p:spPr>
          <a:xfrm>
            <a:off x="8737600" y="6162081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= 0.89 mA would give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= −0.33 V &lt;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(no channel): reject.</a:t>
            </a:r>
          </a:p>
        </p:txBody>
      </p:sp>
      <p:sp>
        <p:nvSpPr>
          <p:cNvPr id="50" name="lab @5">
            <a:extLst>
              <a:ext uri="{FF2B5EF4-FFF2-40B4-BE49-F238E27FC236}">
                <a16:creationId xmlns:a16="http://schemas.microsoft.com/office/drawing/2014/main" id="{337DC269-81AC-A11D-B83F-2833FB04BADF}"/>
              </a:ext>
            </a:extLst>
          </p:cNvPr>
          <p:cNvSpPr txBox="1"/>
          <p:nvPr/>
        </p:nvSpPr>
        <p:spPr>
          <a:xfrm>
            <a:off x="8737600" y="6520658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17262E"/>
                </a:solidFill>
                <a:latin typeface="Nunito" pitchFamily="2" charset="0"/>
              </a:rPr>
              <a:t>So </a:t>
            </a:r>
            <a:r>
              <a:rPr lang="en-US" sz="20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0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000">
                <a:solidFill>
                  <a:srgbClr val="17262E"/>
                </a:solidFill>
                <a:latin typeface="Nunito" pitchFamily="2" charset="0"/>
              </a:rPr>
              <a:t> = 0.5 mA and </a:t>
            </a:r>
            <a:r>
              <a:rPr lang="en-US" sz="20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000">
                <a:solidFill>
                  <a:srgbClr val="17262E"/>
                </a:solidFill>
                <a:latin typeface="Nunito" pitchFamily="2" charset="0"/>
              </a:rPr>
              <a:t> = 2 V.</a:t>
            </a:r>
          </a:p>
        </p:txBody>
      </p:sp>
      <p:sp>
        <p:nvSpPr>
          <p:cNvPr id="57" name="chrome page">
            <a:extLst>
              <a:ext uri="{FF2B5EF4-FFF2-40B4-BE49-F238E27FC236}">
                <a16:creationId xmlns:a16="http://schemas.microsoft.com/office/drawing/2014/main" id="{456DEA83-EA4B-CD5A-C127-F96690594E4A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hrome page">
            <a:extLst>
              <a:ext uri="{FF2B5EF4-FFF2-40B4-BE49-F238E27FC236}">
                <a16:creationId xmlns:a16="http://schemas.microsoft.com/office/drawing/2014/main" id="{7C9883EC-6034-ACBC-DA4E-116C8BD83587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33100324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find the drain voltag s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EA4950C-7450-4D13-F09E-7667385E5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16DD0FE3-00E5-45E1-4D7E-711ACDF01A96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CE05697-8DC5-E6C9-FA92-95D95E031474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4A1E302-8614-CF31-A38F-7CB511EB9C67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F453EA6E-2963-7072-82AC-0B458581A266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Given </a:t>
            </a:r>
            <a:r>
              <a:rPr lang="en-US" sz="23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 = 1 V and k′</a:t>
            </a:r>
            <a:r>
              <a:rPr lang="en-US" sz="23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ADCC9229-DCBC-9DE1-57F4-2027C2ACCAD4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D2AB42DA-A868-DADC-066F-3D5A8AB824C5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26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92432C72-4963-E993-40D8-5F3AB7377D72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9CDEC8-81F7-2E4D-3FAA-3E126B583EFC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+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V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5AEFC25C-2AE5-F6FE-6CB2-6A2FC79DFA66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D0F4FC6-E3B9-44EA-DD10-3D5C2EB08E50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8C6BB99B-070B-589A-4045-4F8ABAC26A5F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711EB8C9-DCA5-BCE7-3435-CBA93155CC2C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2A821DF1-C665-ED8B-AFF0-B2BDD8EA60CB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056C81C4-9941-5331-E337-101A3912DDF3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B0CDF432-FECD-70D7-B04A-6BB79D235915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75FF24F9-5E48-34B4-CD18-B2F6B42ADE94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D4E24B3A-2502-AFA6-FF7E-2C44686B5457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05415301-A8A9-EEC2-A127-A5FE039354CF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6C23C198-37F9-5F0E-4D8A-2758CEA1103D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412291-224E-E41F-D301-7EDE7721AFCE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G1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3B4516-789F-08B0-5A3A-41A7B839DE35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G2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26F152EE-1195-F0FE-A5C1-D975AED16B0E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7382AEC4-5422-E1F0-9760-A2A6FF2C8BCF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CAE526EE-A0D1-DE6E-5D28-D8EB70A03589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47BC644C-9656-C02B-21A1-2FDFD3799DAF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7262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66912378-5EEC-FED4-0024-2AC3E7E9FEC9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kt">
            <a:extLst>
              <a:ext uri="{FF2B5EF4-FFF2-40B4-BE49-F238E27FC236}">
                <a16:creationId xmlns:a16="http://schemas.microsoft.com/office/drawing/2014/main" id="{17338826-3666-5571-C4BA-0E8B8CBCA4AA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67C0CD82-B9FA-37BE-79FD-F90F2ED655EC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43887378-0A6F-4203-C62B-AC8768883715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F9685F98-A9F7-78B4-869A-F05744C2B5EA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C6428894-1462-AD69-05C0-63331AAAAC73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D75F1B-4E55-865F-154C-D7C5B78FCCC2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BFAB8B-5C02-9246-3D9B-C7E073678937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6" name="node @2">
            <a:extLst>
              <a:ext uri="{FF2B5EF4-FFF2-40B4-BE49-F238E27FC236}">
                <a16:creationId xmlns:a16="http://schemas.microsoft.com/office/drawing/2014/main" id="{7588CF28-CE83-1F2F-C7A7-3B9DBFA920E4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G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5 V</a:t>
            </a:r>
          </a:p>
        </p:txBody>
      </p:sp>
      <p:sp>
        <p:nvSpPr>
          <p:cNvPr id="37" name="node @6">
            <a:extLst>
              <a:ext uri="{FF2B5EF4-FFF2-40B4-BE49-F238E27FC236}">
                <a16:creationId xmlns:a16="http://schemas.microsoft.com/office/drawing/2014/main" id="{787A69FF-8411-70FF-5E30-741E1D1029CD}"/>
              </a:ext>
            </a:extLst>
          </p:cNvPr>
          <p:cNvSpPr txBox="1"/>
          <p:nvPr/>
        </p:nvSpPr>
        <p:spPr>
          <a:xfrm>
            <a:off x="6197600" y="6515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S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3 V</a:t>
            </a:r>
          </a:p>
        </p:txBody>
      </p:sp>
      <p:sp>
        <p:nvSpPr>
          <p:cNvPr id="38" name="node @6">
            <a:extLst>
              <a:ext uri="{FF2B5EF4-FFF2-40B4-BE49-F238E27FC236}">
                <a16:creationId xmlns:a16="http://schemas.microsoft.com/office/drawing/2014/main" id="{9FF132E9-D4E1-0E84-A6FF-8F619F89DEAE}"/>
              </a:ext>
            </a:extLst>
          </p:cNvPr>
          <p:cNvSpPr txBox="1"/>
          <p:nvPr/>
        </p:nvSpPr>
        <p:spPr>
          <a:xfrm>
            <a:off x="6197600" y="5372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C24E26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C24E26"/>
                </a:solidFill>
                <a:latin typeface="Poppins" panose="00000500000000000000" pitchFamily="2" charset="0"/>
              </a:rPr>
              <a:t>D</a:t>
            </a:r>
            <a:r>
              <a:rPr lang="en-US" sz="1900" b="1">
                <a:solidFill>
                  <a:srgbClr val="C24E26"/>
                </a:solidFill>
                <a:latin typeface="Poppins" panose="00000500000000000000" pitchFamily="2" charset="0"/>
              </a:rPr>
              <a:t> = 7 V</a:t>
            </a:r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590FB4CB-0344-35A2-9932-36142F192DD9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DA205A67-9220-9E90-EF3B-CA0AFE83B813}"/>
              </a:ext>
            </a:extLst>
          </p:cNvPr>
          <p:cNvSpPr txBox="1"/>
          <p:nvPr/>
        </p:nvSpPr>
        <p:spPr>
          <a:xfrm>
            <a:off x="8737600" y="2540000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597A4A2D-9F21-5E68-BF9C-EB4B47FB9DB3}"/>
                  </a:ext>
                </a:extLst>
              </p:cNvPr>
              <p:cNvSpPr txBox="1"/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5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597A4A2D-9F21-5E68-BF9C-EB4B47FB9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blipFill>
                <a:blip r:embed="rId2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badge @3">
            <a:extLst>
              <a:ext uri="{FF2B5EF4-FFF2-40B4-BE49-F238E27FC236}">
                <a16:creationId xmlns:a16="http://schemas.microsoft.com/office/drawing/2014/main" id="{EC0788B7-8D18-9707-BB83-D86F5481D812}"/>
              </a:ext>
            </a:extLst>
          </p:cNvPr>
          <p:cNvSpPr/>
          <p:nvPr/>
        </p:nvSpPr>
        <p:spPr>
          <a:xfrm>
            <a:off x="8128000" y="3844727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B9EFDCC5-3C15-A09F-8371-9D10A1352E2B}"/>
              </a:ext>
            </a:extLst>
          </p:cNvPr>
          <p:cNvSpPr txBox="1"/>
          <p:nvPr/>
        </p:nvSpPr>
        <p:spPr>
          <a:xfrm>
            <a:off x="8737600" y="3832027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Assume saturation, with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−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000" baseline="-25000">
                <a:solidFill>
                  <a:srgbClr val="4F5E66"/>
                </a:solidFill>
                <a:latin typeface="Nunito" pitchFamily="2" charset="0"/>
              </a:rPr>
              <a:t>S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  (I in mA, R in k</a:t>
            </a:r>
            <a:r>
              <a:rPr lang="el-GR" sz="2000">
                <a:solidFill>
                  <a:srgbClr val="4F5E66"/>
                </a:solidFill>
                <a:latin typeface="Nunito" pitchFamily="2" charset="0"/>
              </a:rPr>
              <a:t>Ω)</a:t>
            </a:r>
            <a:endParaRPr lang="en-US" sz="2000">
              <a:solidFill>
                <a:srgbClr val="4F5E66"/>
              </a:solidFill>
              <a:latin typeface="Nunito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1D26F64-DCF0-40A6-B3AC-39B3EB200B44}"/>
                  </a:ext>
                </a:extLst>
              </p:cNvPr>
              <p:cNvSpPr txBox="1"/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1D26F64-DCF0-40A6-B3AC-39B3EB200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8D267601-A075-DE66-263D-6B698EEE516A}"/>
              </a:ext>
            </a:extLst>
          </p:cNvPr>
          <p:cNvSpPr/>
          <p:nvPr/>
        </p:nvSpPr>
        <p:spPr>
          <a:xfrm>
            <a:off x="8128000" y="5136754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46" name="lab @4">
            <a:extLst>
              <a:ext uri="{FF2B5EF4-FFF2-40B4-BE49-F238E27FC236}">
                <a16:creationId xmlns:a16="http://schemas.microsoft.com/office/drawing/2014/main" id="{9245CC3A-76A5-5641-5CD2-59827495BC58}"/>
              </a:ext>
            </a:extLst>
          </p:cNvPr>
          <p:cNvSpPr txBox="1"/>
          <p:nvPr/>
        </p:nvSpPr>
        <p:spPr>
          <a:xfrm>
            <a:off x="8737600" y="5124054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307D8C28-438A-A29E-8307-51824717C49A}"/>
                  </a:ext>
                </a:extLst>
              </p:cNvPr>
              <p:cNvSpPr txBox="1"/>
              <p:nvPr/>
            </p:nvSpPr>
            <p:spPr>
              <a:xfrm>
                <a:off x="8737600" y="5482630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307D8C28-438A-A29E-8307-51824717C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5482630"/>
                <a:ext cx="8636000" cy="476250"/>
              </a:xfrm>
              <a:prstGeom prst="rect">
                <a:avLst/>
              </a:prstGeom>
              <a:blipFill>
                <a:blip r:embed="rId4"/>
                <a:stretch>
                  <a:fillRect l="-1270" b="-3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badge @5">
            <a:extLst>
              <a:ext uri="{FF2B5EF4-FFF2-40B4-BE49-F238E27FC236}">
                <a16:creationId xmlns:a16="http://schemas.microsoft.com/office/drawing/2014/main" id="{75349F06-95AA-0C12-21CE-95A812BDAB61}"/>
              </a:ext>
            </a:extLst>
          </p:cNvPr>
          <p:cNvSpPr/>
          <p:nvPr/>
        </p:nvSpPr>
        <p:spPr>
          <a:xfrm>
            <a:off x="8128000" y="6174781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  <p:sp>
        <p:nvSpPr>
          <p:cNvPr id="49" name="lab @5">
            <a:extLst>
              <a:ext uri="{FF2B5EF4-FFF2-40B4-BE49-F238E27FC236}">
                <a16:creationId xmlns:a16="http://schemas.microsoft.com/office/drawing/2014/main" id="{758F49F0-0C4D-75CA-9C6F-7EA1CF2A120D}"/>
              </a:ext>
            </a:extLst>
          </p:cNvPr>
          <p:cNvSpPr txBox="1"/>
          <p:nvPr/>
        </p:nvSpPr>
        <p:spPr>
          <a:xfrm>
            <a:off x="8737600" y="6162081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= 0.89 mA would give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= −0.33 V &lt;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(no channel): reject.</a:t>
            </a:r>
          </a:p>
        </p:txBody>
      </p:sp>
      <p:sp>
        <p:nvSpPr>
          <p:cNvPr id="50" name="lab @5">
            <a:extLst>
              <a:ext uri="{FF2B5EF4-FFF2-40B4-BE49-F238E27FC236}">
                <a16:creationId xmlns:a16="http://schemas.microsoft.com/office/drawing/2014/main" id="{337DC269-81AC-A11D-B83F-2833FB04BADF}"/>
              </a:ext>
            </a:extLst>
          </p:cNvPr>
          <p:cNvSpPr txBox="1"/>
          <p:nvPr/>
        </p:nvSpPr>
        <p:spPr>
          <a:xfrm>
            <a:off x="8737600" y="6520658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17262E"/>
                </a:solidFill>
                <a:latin typeface="Nunito" pitchFamily="2" charset="0"/>
              </a:rPr>
              <a:t>So </a:t>
            </a:r>
            <a:r>
              <a:rPr lang="en-US" sz="20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0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000">
                <a:solidFill>
                  <a:srgbClr val="17262E"/>
                </a:solidFill>
                <a:latin typeface="Nunito" pitchFamily="2" charset="0"/>
              </a:rPr>
              <a:t> = 0.5 mA and </a:t>
            </a:r>
            <a:r>
              <a:rPr lang="en-US" sz="20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000">
                <a:solidFill>
                  <a:srgbClr val="17262E"/>
                </a:solidFill>
                <a:latin typeface="Nunito" pitchFamily="2" charset="0"/>
              </a:rPr>
              <a:t> = 2 V.</a:t>
            </a:r>
          </a:p>
        </p:txBody>
      </p:sp>
      <p:sp>
        <p:nvSpPr>
          <p:cNvPr id="51" name="badge @6">
            <a:extLst>
              <a:ext uri="{FF2B5EF4-FFF2-40B4-BE49-F238E27FC236}">
                <a16:creationId xmlns:a16="http://schemas.microsoft.com/office/drawing/2014/main" id="{C7579851-94D4-AAD3-F1DD-365FECD6FDE0}"/>
              </a:ext>
            </a:extLst>
          </p:cNvPr>
          <p:cNvSpPr/>
          <p:nvPr/>
        </p:nvSpPr>
        <p:spPr>
          <a:xfrm>
            <a:off x="8128000" y="7044335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5</a:t>
            </a:r>
          </a:p>
        </p:txBody>
      </p:sp>
      <p:sp>
        <p:nvSpPr>
          <p:cNvPr id="52" name="lab @6">
            <a:extLst>
              <a:ext uri="{FF2B5EF4-FFF2-40B4-BE49-F238E27FC236}">
                <a16:creationId xmlns:a16="http://schemas.microsoft.com/office/drawing/2014/main" id="{F3DE4C38-EFC5-7AD5-99FA-83292EAA7450}"/>
              </a:ext>
            </a:extLst>
          </p:cNvPr>
          <p:cNvSpPr txBox="1"/>
          <p:nvPr/>
        </p:nvSpPr>
        <p:spPr>
          <a:xfrm>
            <a:off x="8737600" y="7031635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Drain voltage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eq @6">
                <a:extLst>
                  <a:ext uri="{FF2B5EF4-FFF2-40B4-BE49-F238E27FC236}">
                    <a16:creationId xmlns:a16="http://schemas.microsoft.com/office/drawing/2014/main" id="{830C53CB-CE47-5DCB-14FE-1D199381B09A}"/>
                  </a:ext>
                </a:extLst>
              </p:cNvPr>
              <p:cNvSpPr txBox="1"/>
              <p:nvPr/>
            </p:nvSpPr>
            <p:spPr>
              <a:xfrm>
                <a:off x="8737600" y="7390211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=10−0.5(6)=7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3" name="eq @6">
                <a:extLst>
                  <a:ext uri="{FF2B5EF4-FFF2-40B4-BE49-F238E27FC236}">
                    <a16:creationId xmlns:a16="http://schemas.microsoft.com/office/drawing/2014/main" id="{830C53CB-CE47-5DCB-14FE-1D199381B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7390211"/>
                <a:ext cx="8636000" cy="476250"/>
              </a:xfrm>
              <a:prstGeom prst="rect">
                <a:avLst/>
              </a:prstGeom>
              <a:blipFill>
                <a:blip r:embed="rId5"/>
                <a:stretch>
                  <a:fillRect l="-1270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answer @6">
            <a:extLst>
              <a:ext uri="{FF2B5EF4-FFF2-40B4-BE49-F238E27FC236}">
                <a16:creationId xmlns:a16="http://schemas.microsoft.com/office/drawing/2014/main" id="{D8469925-20FA-22DA-4A3D-71DDF1AC5DC7}"/>
              </a:ext>
            </a:extLst>
          </p:cNvPr>
          <p:cNvSpPr/>
          <p:nvPr/>
        </p:nvSpPr>
        <p:spPr>
          <a:xfrm>
            <a:off x="8737600" y="8018862"/>
            <a:ext cx="2174240" cy="579120"/>
          </a:xfrm>
          <a:prstGeom prst="roundRect">
            <a:avLst>
              <a:gd name="adj" fmla="val 50000"/>
            </a:avLst>
          </a:prstGeom>
          <a:solidFill>
            <a:srgbClr val="C24E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nswer @6">
            <a:extLst>
              <a:ext uri="{FF2B5EF4-FFF2-40B4-BE49-F238E27FC236}">
                <a16:creationId xmlns:a16="http://schemas.microsoft.com/office/drawing/2014/main" id="{6890E86E-D3B4-D35E-51F6-215974267B53}"/>
              </a:ext>
            </a:extLst>
          </p:cNvPr>
          <p:cNvSpPr txBox="1"/>
          <p:nvPr/>
        </p:nvSpPr>
        <p:spPr>
          <a:xfrm>
            <a:off x="8737600" y="8018861"/>
            <a:ext cx="2174240" cy="5791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 i="1">
                <a:solidFill>
                  <a:srgbClr val="FFFFFF"/>
                </a:solidFill>
                <a:latin typeface="Poppins" panose="00000500000000000000" pitchFamily="2" charset="0"/>
              </a:rPr>
              <a:t>V</a:t>
            </a:r>
            <a:r>
              <a:rPr lang="en-US" sz="2400" b="1" i="1" baseline="-25000">
                <a:solidFill>
                  <a:srgbClr val="FFFFFF"/>
                </a:solidFill>
                <a:latin typeface="Poppins" panose="00000500000000000000" pitchFamily="2" charset="0"/>
              </a:rPr>
              <a:t>D</a:t>
            </a:r>
            <a:r>
              <a:rPr lang="en-US" sz="2400" b="1">
                <a:solidFill>
                  <a:srgbClr val="FFFFFF"/>
                </a:solidFill>
                <a:latin typeface="Poppins" panose="00000500000000000000" pitchFamily="2" charset="0"/>
              </a:rPr>
              <a:t> = 7 V</a:t>
            </a:r>
          </a:p>
        </p:txBody>
      </p:sp>
      <p:sp>
        <p:nvSpPr>
          <p:cNvPr id="56" name="check @6">
            <a:extLst>
              <a:ext uri="{FF2B5EF4-FFF2-40B4-BE49-F238E27FC236}">
                <a16:creationId xmlns:a16="http://schemas.microsoft.com/office/drawing/2014/main" id="{53A9047B-7F49-661D-97CA-F842C03DC39B}"/>
              </a:ext>
            </a:extLst>
          </p:cNvPr>
          <p:cNvSpPr txBox="1"/>
          <p:nvPr/>
        </p:nvSpPr>
        <p:spPr>
          <a:xfrm>
            <a:off x="11216640" y="8044261"/>
            <a:ext cx="605536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✓ </a:t>
            </a:r>
            <a:r>
              <a:rPr lang="en-US" sz="1900" i="1">
                <a:solidFill>
                  <a:srgbClr val="1E7A46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Nunito" pitchFamily="2" charset="0"/>
              </a:rPr>
              <a:t>DS</a:t>
            </a:r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 = 4 V ≥ </a:t>
            </a:r>
            <a:r>
              <a:rPr lang="en-US" sz="1900" i="1">
                <a:solidFill>
                  <a:srgbClr val="1E7A46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Nunito" pitchFamily="2" charset="0"/>
              </a:rPr>
              <a:t>GS</a:t>
            </a:r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 − </a:t>
            </a:r>
            <a:r>
              <a:rPr lang="en-US" sz="1900" i="1">
                <a:solidFill>
                  <a:srgbClr val="1E7A46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Nunito" pitchFamily="2" charset="0"/>
              </a:rPr>
              <a:t>t</a:t>
            </a:r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 = 1 V: saturation holds.</a:t>
            </a:r>
          </a:p>
        </p:txBody>
      </p:sp>
      <p:sp>
        <p:nvSpPr>
          <p:cNvPr id="57" name="chrome page">
            <a:extLst>
              <a:ext uri="{FF2B5EF4-FFF2-40B4-BE49-F238E27FC236}">
                <a16:creationId xmlns:a16="http://schemas.microsoft.com/office/drawing/2014/main" id="{21DC5ADB-ECBE-1303-F342-BFE66963752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hrome page">
            <a:extLst>
              <a:ext uri="{FF2B5EF4-FFF2-40B4-BE49-F238E27FC236}">
                <a16:creationId xmlns:a16="http://schemas.microsoft.com/office/drawing/2014/main" id="{0F9D6697-2CD4-CA86-FE45-5185F00F8825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22482794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current mirror s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82A773D-B84E-85A6-2BB3-B4D64196B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current mirror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FA5DAC63-D1FB-6676-A789-8934ECA4D4C5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E8792473-DA95-FDDD-C657-43F3B2135E9D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4980BC2-4853-FB4D-A499-763227DFE2BF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6432F827-EB54-A55A-1487-7F58BD27E27F}"/>
              </a:ext>
            </a:extLst>
          </p:cNvPr>
          <p:cNvSpPr/>
          <p:nvPr/>
        </p:nvSpPr>
        <p:spPr>
          <a:xfrm>
            <a:off x="10349408" y="2159000"/>
            <a:ext cx="6326785" cy="6858000"/>
          </a:xfrm>
          <a:prstGeom prst="roundRect">
            <a:avLst>
              <a:gd name="adj" fmla="val 3613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88E9D72E-877E-2C54-FA19-7C5F62833E8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3408" y="2413000"/>
            <a:ext cx="5818785" cy="6121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52DE1140-8170-E611-98B1-4D171726026E}"/>
              </a:ext>
            </a:extLst>
          </p:cNvPr>
          <p:cNvSpPr txBox="1"/>
          <p:nvPr/>
        </p:nvSpPr>
        <p:spPr>
          <a:xfrm>
            <a:off x="10603408" y="8661400"/>
            <a:ext cx="581878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C4CC60AA-82EA-F697-9B6A-D67E57FE1BF3}"/>
              </a:ext>
            </a:extLst>
          </p:cNvPr>
          <p:cNvSpPr txBox="1"/>
          <p:nvPr/>
        </p:nvSpPr>
        <p:spPr>
          <a:xfrm>
            <a:off x="914400" y="2349500"/>
            <a:ext cx="8128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Q</a:t>
            </a:r>
            <a:r>
              <a:rPr lang="en-US" sz="2300" baseline="-25000">
                <a:solidFill>
                  <a:srgbClr val="17262E"/>
                </a:solidFill>
                <a:latin typeface="Nunito" pitchFamily="2" charset="0"/>
              </a:rPr>
              <a:t>1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is diode-connected (gate tied to drain), so it is in saturation.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SET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sets its current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REF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, and with it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8D0C96F7-A6A3-6A29-961D-E41C5B8BA301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0B834B8F-D47E-EF8F-5354-B4925FF1A32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7891551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current mirror s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82A773D-B84E-85A6-2BB3-B4D64196B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current mirror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FA5DAC63-D1FB-6676-A789-8934ECA4D4C5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E8792473-DA95-FDDD-C657-43F3B2135E9D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4980BC2-4853-FB4D-A499-763227DFE2BF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6432F827-EB54-A55A-1487-7F58BD27E27F}"/>
              </a:ext>
            </a:extLst>
          </p:cNvPr>
          <p:cNvSpPr/>
          <p:nvPr/>
        </p:nvSpPr>
        <p:spPr>
          <a:xfrm>
            <a:off x="10349408" y="2159000"/>
            <a:ext cx="6326785" cy="6858000"/>
          </a:xfrm>
          <a:prstGeom prst="roundRect">
            <a:avLst>
              <a:gd name="adj" fmla="val 3613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88E9D72E-877E-2C54-FA19-7C5F62833E8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3408" y="2413000"/>
            <a:ext cx="5818785" cy="6121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52DE1140-8170-E611-98B1-4D171726026E}"/>
              </a:ext>
            </a:extLst>
          </p:cNvPr>
          <p:cNvSpPr txBox="1"/>
          <p:nvPr/>
        </p:nvSpPr>
        <p:spPr>
          <a:xfrm>
            <a:off x="10603408" y="8661400"/>
            <a:ext cx="581878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C4CC60AA-82EA-F697-9B6A-D67E57FE1BF3}"/>
              </a:ext>
            </a:extLst>
          </p:cNvPr>
          <p:cNvSpPr txBox="1"/>
          <p:nvPr/>
        </p:nvSpPr>
        <p:spPr>
          <a:xfrm>
            <a:off x="914400" y="2349500"/>
            <a:ext cx="8128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Q</a:t>
            </a:r>
            <a:r>
              <a:rPr lang="en-US" sz="2300" baseline="-25000">
                <a:solidFill>
                  <a:srgbClr val="17262E"/>
                </a:solidFill>
                <a:latin typeface="Nunito" pitchFamily="2" charset="0"/>
              </a:rPr>
              <a:t>1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is diode-connected (gate tied to drain), so it is in saturation.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SET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sets its current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REF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, and with it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65837E36-2BDD-1E8F-6D4D-DE20D627C7CF}"/>
              </a:ext>
            </a:extLst>
          </p:cNvPr>
          <p:cNvSpPr txBox="1"/>
          <p:nvPr/>
        </p:nvSpPr>
        <p:spPr>
          <a:xfrm>
            <a:off x="914400" y="3367757"/>
            <a:ext cx="8128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Q</a:t>
            </a:r>
            <a:r>
              <a:rPr lang="en-US" sz="2300" baseline="-25000">
                <a:solidFill>
                  <a:srgbClr val="17262E"/>
                </a:solidFill>
                <a:latin typeface="Nunito" pitchFamily="2" charset="0"/>
              </a:rPr>
              <a:t>2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has the same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 If it is also in saturation, its current scales with W/L: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C76E998D-714D-B7F2-C71D-3CCA3ED891CA}"/>
                  </a:ext>
                </a:extLst>
              </p:cNvPr>
              <p:cNvSpPr txBox="1"/>
              <p:nvPr/>
            </p:nvSpPr>
            <p:spPr>
              <a:xfrm>
                <a:off x="1244600" y="4386013"/>
                <a:ext cx="8128000" cy="876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30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𝑂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𝑅𝐸𝐹</m:t>
                              </m:r>
                            </m:sub>
                          </m:sSub>
                        </m:den>
                      </m:f>
                      <m:r>
                        <a:rPr lang="en-US" sz="30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30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 b="0" i="1">
                                  <a:solidFill>
                                    <a:srgbClr val="17262E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000" b="0" i="1">
                                  <a:solidFill>
                                    <a:srgbClr val="17262E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C76E998D-714D-B7F2-C71D-3CCA3ED89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4386013"/>
                <a:ext cx="8128000" cy="876300"/>
              </a:xfrm>
              <a:prstGeom prst="rect">
                <a:avLst/>
              </a:prstGeom>
              <a:blipFill>
                <a:blip r:embed="rId3"/>
                <a:stretch>
                  <a:fillRect t="-694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hrome page">
            <a:extLst>
              <a:ext uri="{FF2B5EF4-FFF2-40B4-BE49-F238E27FC236}">
                <a16:creationId xmlns:a16="http://schemas.microsoft.com/office/drawing/2014/main" id="{A1F20D2F-8E95-978E-85CD-48BD5200BB84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216F28B8-D863-FB4C-E636-427A248DA758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32794869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current mirror s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82A773D-B84E-85A6-2BB3-B4D64196B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current mirror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FA5DAC63-D1FB-6676-A789-8934ECA4D4C5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E8792473-DA95-FDDD-C657-43F3B2135E9D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4980BC2-4853-FB4D-A499-763227DFE2BF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6432F827-EB54-A55A-1487-7F58BD27E27F}"/>
              </a:ext>
            </a:extLst>
          </p:cNvPr>
          <p:cNvSpPr/>
          <p:nvPr/>
        </p:nvSpPr>
        <p:spPr>
          <a:xfrm>
            <a:off x="10349408" y="2159000"/>
            <a:ext cx="6326785" cy="6858000"/>
          </a:xfrm>
          <a:prstGeom prst="roundRect">
            <a:avLst>
              <a:gd name="adj" fmla="val 3613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88E9D72E-877E-2C54-FA19-7C5F62833E8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3408" y="2413000"/>
            <a:ext cx="5818785" cy="6121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52DE1140-8170-E611-98B1-4D171726026E}"/>
              </a:ext>
            </a:extLst>
          </p:cNvPr>
          <p:cNvSpPr txBox="1"/>
          <p:nvPr/>
        </p:nvSpPr>
        <p:spPr>
          <a:xfrm>
            <a:off x="10603408" y="8661400"/>
            <a:ext cx="581878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C4CC60AA-82EA-F697-9B6A-D67E57FE1BF3}"/>
              </a:ext>
            </a:extLst>
          </p:cNvPr>
          <p:cNvSpPr txBox="1"/>
          <p:nvPr/>
        </p:nvSpPr>
        <p:spPr>
          <a:xfrm>
            <a:off x="914400" y="2349500"/>
            <a:ext cx="8128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Q</a:t>
            </a:r>
            <a:r>
              <a:rPr lang="en-US" sz="2300" baseline="-25000">
                <a:solidFill>
                  <a:srgbClr val="17262E"/>
                </a:solidFill>
                <a:latin typeface="Nunito" pitchFamily="2" charset="0"/>
              </a:rPr>
              <a:t>1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is diode-connected (gate tied to drain), so it is in saturation.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SET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sets its current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REF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, and with it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65837E36-2BDD-1E8F-6D4D-DE20D627C7CF}"/>
              </a:ext>
            </a:extLst>
          </p:cNvPr>
          <p:cNvSpPr txBox="1"/>
          <p:nvPr/>
        </p:nvSpPr>
        <p:spPr>
          <a:xfrm>
            <a:off x="914400" y="3367757"/>
            <a:ext cx="8128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Q</a:t>
            </a:r>
            <a:r>
              <a:rPr lang="en-US" sz="2300" baseline="-25000">
                <a:solidFill>
                  <a:srgbClr val="17262E"/>
                </a:solidFill>
                <a:latin typeface="Nunito" pitchFamily="2" charset="0"/>
              </a:rPr>
              <a:t>2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has the same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 If it is also in saturation, its current scales with W/L: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C76E998D-714D-B7F2-C71D-3CCA3ED891CA}"/>
                  </a:ext>
                </a:extLst>
              </p:cNvPr>
              <p:cNvSpPr txBox="1"/>
              <p:nvPr/>
            </p:nvSpPr>
            <p:spPr>
              <a:xfrm>
                <a:off x="1244600" y="4386013"/>
                <a:ext cx="8128000" cy="876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30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𝑂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𝑅𝐸𝐹</m:t>
                              </m:r>
                            </m:sub>
                          </m:sSub>
                        </m:den>
                      </m:f>
                      <m:r>
                        <a:rPr lang="en-US" sz="30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30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 b="0" i="1">
                                  <a:solidFill>
                                    <a:srgbClr val="17262E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000" b="0" i="1">
                                  <a:solidFill>
                                    <a:srgbClr val="17262E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C76E998D-714D-B7F2-C71D-3CCA3ED89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4386013"/>
                <a:ext cx="8128000" cy="876300"/>
              </a:xfrm>
              <a:prstGeom prst="rect">
                <a:avLst/>
              </a:prstGeom>
              <a:blipFill>
                <a:blip r:embed="rId3"/>
                <a:stretch>
                  <a:fillRect t="-694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int @3">
            <a:extLst>
              <a:ext uri="{FF2B5EF4-FFF2-40B4-BE49-F238E27FC236}">
                <a16:creationId xmlns:a16="http://schemas.microsoft.com/office/drawing/2014/main" id="{BFCD3D1C-BE7E-ABDF-88BC-FA5F23AC9364}"/>
              </a:ext>
            </a:extLst>
          </p:cNvPr>
          <p:cNvSpPr txBox="1"/>
          <p:nvPr/>
        </p:nvSpPr>
        <p:spPr>
          <a:xfrm>
            <a:off x="914400" y="5656014"/>
            <a:ext cx="81280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Identical transistors copy the current: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O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REF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D8D311A4-B2FB-1525-940D-8E59198F059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272C7987-F656-C9DB-97A7-94157A14E16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7858856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D7EA6E31-B96D-E4A2-C42B-98272727CBC6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19D34D7-2A36-36C3-7132-F72157FC1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2920999"/>
            <a:ext cx="7112000" cy="2286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The MOSFET as an amplifier</a:t>
            </a:r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88F069C9-C66B-A7A2-2576-EF513AF3059F}"/>
              </a:ext>
            </a:extLst>
          </p:cNvPr>
          <p:cNvSpPr/>
          <p:nvPr/>
        </p:nvSpPr>
        <p:spPr>
          <a:xfrm>
            <a:off x="1549400" y="2921000"/>
            <a:ext cx="2667000" cy="266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07D33C48-300D-3C92-EBEE-34875E31B78F}"/>
              </a:ext>
            </a:extLst>
          </p:cNvPr>
          <p:cNvSpPr txBox="1"/>
          <p:nvPr/>
        </p:nvSpPr>
        <p:spPr>
          <a:xfrm>
            <a:off x="4724400" y="59689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The load line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B615FA4C-FF4B-D2D2-8E5D-843EFDEB0CAF}"/>
              </a:ext>
            </a:extLst>
          </p:cNvPr>
          <p:cNvSpPr txBox="1"/>
          <p:nvPr/>
        </p:nvSpPr>
        <p:spPr>
          <a:xfrm>
            <a:off x="4724400" y="65023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Transconductance </a:t>
            </a:r>
            <a:r>
              <a:rPr lang="en-US" sz="2200" i="1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2200" i="1" baseline="-25000">
                <a:solidFill>
                  <a:srgbClr val="4F5E66"/>
                </a:solidFill>
                <a:latin typeface="Nunito" pitchFamily="2" charset="0"/>
              </a:rPr>
              <a:t>m</a:t>
            </a: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03269BC5-265A-D3D7-2678-421B19923ED5}"/>
              </a:ext>
            </a:extLst>
          </p:cNvPr>
          <p:cNvSpPr txBox="1"/>
          <p:nvPr/>
        </p:nvSpPr>
        <p:spPr>
          <a:xfrm>
            <a:off x="4724400" y="70357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Small-signal models</a:t>
            </a:r>
          </a:p>
        </p:txBody>
      </p:sp>
      <p:sp>
        <p:nvSpPr>
          <p:cNvPr id="8" name="item">
            <a:extLst>
              <a:ext uri="{FF2B5EF4-FFF2-40B4-BE49-F238E27FC236}">
                <a16:creationId xmlns:a16="http://schemas.microsoft.com/office/drawing/2014/main" id="{3B241568-5C8C-DAF6-32F9-27BC659FFB42}"/>
              </a:ext>
            </a:extLst>
          </p:cNvPr>
          <p:cNvSpPr txBox="1"/>
          <p:nvPr/>
        </p:nvSpPr>
        <p:spPr>
          <a:xfrm>
            <a:off x="4724400" y="75691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Example: gain and input resistance</a:t>
            </a:r>
          </a:p>
        </p:txBody>
      </p:sp>
      <p:cxnSp>
        <p:nvCxnSpPr>
          <p:cNvPr id="9" name="motif">
            <a:extLst>
              <a:ext uri="{FF2B5EF4-FFF2-40B4-BE49-F238E27FC236}">
                <a16:creationId xmlns:a16="http://schemas.microsoft.com/office/drawing/2014/main" id="{CECE76DA-79CE-078D-2DAF-31B8365E1EFF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otif">
            <a:extLst>
              <a:ext uri="{FF2B5EF4-FFF2-40B4-BE49-F238E27FC236}">
                <a16:creationId xmlns:a16="http://schemas.microsoft.com/office/drawing/2014/main" id="{71608FDC-7908-73AA-2838-DCF535B1B1CF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BD21FAB2-1D6A-A387-7A26-652FC895C90C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B50743B6-8528-89E7-3926-9117BB71CAE8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otif">
            <a:extLst>
              <a:ext uri="{FF2B5EF4-FFF2-40B4-BE49-F238E27FC236}">
                <a16:creationId xmlns:a16="http://schemas.microsoft.com/office/drawing/2014/main" id="{FEFA554E-CC16-10EF-097A-A0525256A400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otif">
            <a:extLst>
              <a:ext uri="{FF2B5EF4-FFF2-40B4-BE49-F238E27FC236}">
                <a16:creationId xmlns:a16="http://schemas.microsoft.com/office/drawing/2014/main" id="{1B204892-F740-BAD8-6871-35397AF79168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tif">
            <a:extLst>
              <a:ext uri="{FF2B5EF4-FFF2-40B4-BE49-F238E27FC236}">
                <a16:creationId xmlns:a16="http://schemas.microsoft.com/office/drawing/2014/main" id="{816CEC01-4F73-AE6C-D483-EB1B91CD1D38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7978DD2C-392C-B863-94F0-57DB34A66447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tif">
            <a:extLst>
              <a:ext uri="{FF2B5EF4-FFF2-40B4-BE49-F238E27FC236}">
                <a16:creationId xmlns:a16="http://schemas.microsoft.com/office/drawing/2014/main" id="{DD192C4A-508F-6A75-8E17-30F001C4BBB2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FBF2968C-20C1-09F0-D2E4-3505FEB8B9B1}"/>
              </a:ext>
            </a:extLst>
          </p:cNvPr>
          <p:cNvSpPr/>
          <p:nvPr/>
        </p:nvSpPr>
        <p:spPr>
          <a:xfrm>
            <a:off x="12700000" y="38100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9B6B9D99-D190-AA29-5260-4F0ECB2B1042}"/>
              </a:ext>
            </a:extLst>
          </p:cNvPr>
          <p:cNvSpPr txBox="1"/>
          <p:nvPr/>
        </p:nvSpPr>
        <p:spPr>
          <a:xfrm>
            <a:off x="12979400" y="38099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1   Structure and operation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98AE38AF-581A-B853-19EE-6344C45A58CD}"/>
              </a:ext>
            </a:extLst>
          </p:cNvPr>
          <p:cNvSpPr/>
          <p:nvPr/>
        </p:nvSpPr>
        <p:spPr>
          <a:xfrm>
            <a:off x="12700000" y="45974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22B3A441-BB1E-B191-8A4A-D62DE24F104E}"/>
              </a:ext>
            </a:extLst>
          </p:cNvPr>
          <p:cNvSpPr txBox="1"/>
          <p:nvPr/>
        </p:nvSpPr>
        <p:spPr>
          <a:xfrm>
            <a:off x="12979400" y="45973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2   I–V characteristics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7C216486-AA41-E34D-9ADD-D151B37844C4}"/>
              </a:ext>
            </a:extLst>
          </p:cNvPr>
          <p:cNvSpPr/>
          <p:nvPr/>
        </p:nvSpPr>
        <p:spPr>
          <a:xfrm>
            <a:off x="12700000" y="53848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EF3A836B-CE1E-BDE1-C5C5-3E66603729FD}"/>
              </a:ext>
            </a:extLst>
          </p:cNvPr>
          <p:cNvSpPr txBox="1"/>
          <p:nvPr/>
        </p:nvSpPr>
        <p:spPr>
          <a:xfrm>
            <a:off x="12979400" y="53847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3   MOSFETs in DC circuits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EDC650FE-FDB0-9815-6524-C86D2FF1C151}"/>
              </a:ext>
            </a:extLst>
          </p:cNvPr>
          <p:cNvSpPr/>
          <p:nvPr/>
        </p:nvSpPr>
        <p:spPr>
          <a:xfrm>
            <a:off x="12700000" y="61722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7D20D343-BAE0-E5B5-6AE5-ACD58636C5BB}"/>
              </a:ext>
            </a:extLst>
          </p:cNvPr>
          <p:cNvSpPr txBox="1"/>
          <p:nvPr/>
        </p:nvSpPr>
        <p:spPr>
          <a:xfrm>
            <a:off x="12979400" y="61721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4   The MOSFET as an amplifier</a:t>
            </a:r>
          </a:p>
        </p:txBody>
      </p:sp>
      <p:sp>
        <p:nvSpPr>
          <p:cNvPr id="26" name="map">
            <a:extLst>
              <a:ext uri="{FF2B5EF4-FFF2-40B4-BE49-F238E27FC236}">
                <a16:creationId xmlns:a16="http://schemas.microsoft.com/office/drawing/2014/main" id="{6AE49EF9-DF06-1589-537C-C06C3D525CB5}"/>
              </a:ext>
            </a:extLst>
          </p:cNvPr>
          <p:cNvSpPr/>
          <p:nvPr/>
        </p:nvSpPr>
        <p:spPr>
          <a:xfrm>
            <a:off x="12700000" y="69596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ap">
            <a:extLst>
              <a:ext uri="{FF2B5EF4-FFF2-40B4-BE49-F238E27FC236}">
                <a16:creationId xmlns:a16="http://schemas.microsoft.com/office/drawing/2014/main" id="{94744E91-8854-DA2D-9205-EC5C9A2801C9}"/>
              </a:ext>
            </a:extLst>
          </p:cNvPr>
          <p:cNvSpPr txBox="1"/>
          <p:nvPr/>
        </p:nvSpPr>
        <p:spPr>
          <a:xfrm>
            <a:off x="12979400" y="69595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5 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8006798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mplifier action: the load lin s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5B97C7E-E3D1-8126-F156-96588EB21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Amplifier action: the load line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58526A2-390C-1DD4-FC88-653A3BBB7D19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FBD53CD-0808-B1D0-067F-4198C5DA9CA2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8E183E97-1D2E-DD01-C430-CDB2C68D3DCB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245F5C35-C093-7397-67F0-14642636873A}"/>
              </a:ext>
            </a:extLst>
          </p:cNvPr>
          <p:cNvSpPr/>
          <p:nvPr/>
        </p:nvSpPr>
        <p:spPr>
          <a:xfrm>
            <a:off x="914400" y="2159000"/>
            <a:ext cx="3683000" cy="5223961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BCE36650-7B20-8200-EF72-AE514BAC09B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13000"/>
            <a:ext cx="3175000" cy="4487361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302095DC-783C-A7F0-D155-0632F69386AE}"/>
              </a:ext>
            </a:extLst>
          </p:cNvPr>
          <p:cNvSpPr txBox="1"/>
          <p:nvPr/>
        </p:nvSpPr>
        <p:spPr>
          <a:xfrm>
            <a:off x="1168400" y="7027361"/>
            <a:ext cx="317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figure card">
            <a:extLst>
              <a:ext uri="{FF2B5EF4-FFF2-40B4-BE49-F238E27FC236}">
                <a16:creationId xmlns:a16="http://schemas.microsoft.com/office/drawing/2014/main" id="{E31FB0A1-9A2C-91EF-BDCF-CD1A2891DF00}"/>
              </a:ext>
            </a:extLst>
          </p:cNvPr>
          <p:cNvSpPr/>
          <p:nvPr/>
        </p:nvSpPr>
        <p:spPr>
          <a:xfrm>
            <a:off x="4826000" y="2159000"/>
            <a:ext cx="8128000" cy="5786392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figure">
            <a:extLst>
              <a:ext uri="{FF2B5EF4-FFF2-40B4-BE49-F238E27FC236}">
                <a16:creationId xmlns:a16="http://schemas.microsoft.com/office/drawing/2014/main" id="{76F2FE99-3A7A-811B-4F9E-A89C94257CB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2413000"/>
            <a:ext cx="7620000" cy="5049792"/>
          </a:xfrm>
          <a:prstGeom prst="rect">
            <a:avLst/>
          </a:prstGeom>
        </p:spPr>
      </p:pic>
      <p:sp>
        <p:nvSpPr>
          <p:cNvPr id="13" name="credit">
            <a:extLst>
              <a:ext uri="{FF2B5EF4-FFF2-40B4-BE49-F238E27FC236}">
                <a16:creationId xmlns:a16="http://schemas.microsoft.com/office/drawing/2014/main" id="{82F84908-DB2E-7F71-0029-9C0F2FD33E87}"/>
              </a:ext>
            </a:extLst>
          </p:cNvPr>
          <p:cNvSpPr txBox="1"/>
          <p:nvPr/>
        </p:nvSpPr>
        <p:spPr>
          <a:xfrm>
            <a:off x="5080000" y="7589792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 @1">
                <a:extLst>
                  <a:ext uri="{FF2B5EF4-FFF2-40B4-BE49-F238E27FC236}">
                    <a16:creationId xmlns:a16="http://schemas.microsoft.com/office/drawing/2014/main" id="{76987533-0AD3-4E93-292D-613EBFC4B2D4}"/>
                  </a:ext>
                </a:extLst>
              </p:cNvPr>
              <p:cNvSpPr txBox="1"/>
              <p:nvPr/>
            </p:nvSpPr>
            <p:spPr>
              <a:xfrm>
                <a:off x="13335000" y="2285999"/>
                <a:ext cx="4038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eq @1">
                <a:extLst>
                  <a:ext uri="{FF2B5EF4-FFF2-40B4-BE49-F238E27FC236}">
                    <a16:creationId xmlns:a16="http://schemas.microsoft.com/office/drawing/2014/main" id="{76987533-0AD3-4E93-292D-613EBFC4B2D4}"/>
                  </a:ext>
                </a:extLst>
              </p:cNvPr>
              <p:cNvSpPr txBox="1"/>
              <p:nvPr/>
            </p:nvSpPr>
            <p:spPr>
              <a:xfrm>
                <a:off x="13335000" y="2285999"/>
                <a:ext cx="4038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v_{DS} = V_{DD} - R_D\,i_D</a:t>
                </a:r>
              </a:p>
            </p:txBody>
          </p:sp>
        </mc:Fallback>
      </mc:AlternateContent>
      <p:sp>
        <p:nvSpPr>
          <p:cNvPr id="7" name="chrome page">
            <a:extLst>
              <a:ext uri="{FF2B5EF4-FFF2-40B4-BE49-F238E27FC236}">
                <a16:creationId xmlns:a16="http://schemas.microsoft.com/office/drawing/2014/main" id="{279DC752-9706-DD8C-3D2A-423F38C205BA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hrome page">
            <a:extLst>
              <a:ext uri="{FF2B5EF4-FFF2-40B4-BE49-F238E27FC236}">
                <a16:creationId xmlns:a16="http://schemas.microsoft.com/office/drawing/2014/main" id="{87B02E02-98E2-F253-5523-0F9386375D7E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2444695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mplifier action: the load lin s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5B97C7E-E3D1-8126-F156-96588EB21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Amplifier action: the load line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58526A2-390C-1DD4-FC88-653A3BBB7D19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FBD53CD-0808-B1D0-067F-4198C5DA9CA2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8E183E97-1D2E-DD01-C430-CDB2C68D3DCB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245F5C35-C093-7397-67F0-14642636873A}"/>
              </a:ext>
            </a:extLst>
          </p:cNvPr>
          <p:cNvSpPr/>
          <p:nvPr/>
        </p:nvSpPr>
        <p:spPr>
          <a:xfrm>
            <a:off x="914400" y="2159000"/>
            <a:ext cx="3683000" cy="5223961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BCE36650-7B20-8200-EF72-AE514BAC09B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13000"/>
            <a:ext cx="3175000" cy="4487361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302095DC-783C-A7F0-D155-0632F69386AE}"/>
              </a:ext>
            </a:extLst>
          </p:cNvPr>
          <p:cNvSpPr txBox="1"/>
          <p:nvPr/>
        </p:nvSpPr>
        <p:spPr>
          <a:xfrm>
            <a:off x="1168400" y="7027361"/>
            <a:ext cx="317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figure card">
            <a:extLst>
              <a:ext uri="{FF2B5EF4-FFF2-40B4-BE49-F238E27FC236}">
                <a16:creationId xmlns:a16="http://schemas.microsoft.com/office/drawing/2014/main" id="{E31FB0A1-9A2C-91EF-BDCF-CD1A2891DF00}"/>
              </a:ext>
            </a:extLst>
          </p:cNvPr>
          <p:cNvSpPr/>
          <p:nvPr/>
        </p:nvSpPr>
        <p:spPr>
          <a:xfrm>
            <a:off x="4826000" y="2159000"/>
            <a:ext cx="8128000" cy="5786392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figure">
            <a:extLst>
              <a:ext uri="{FF2B5EF4-FFF2-40B4-BE49-F238E27FC236}">
                <a16:creationId xmlns:a16="http://schemas.microsoft.com/office/drawing/2014/main" id="{76F2FE99-3A7A-811B-4F9E-A89C94257CB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2413000"/>
            <a:ext cx="7620000" cy="5049792"/>
          </a:xfrm>
          <a:prstGeom prst="rect">
            <a:avLst/>
          </a:prstGeom>
        </p:spPr>
      </p:pic>
      <p:sp>
        <p:nvSpPr>
          <p:cNvPr id="13" name="credit">
            <a:extLst>
              <a:ext uri="{FF2B5EF4-FFF2-40B4-BE49-F238E27FC236}">
                <a16:creationId xmlns:a16="http://schemas.microsoft.com/office/drawing/2014/main" id="{82F84908-DB2E-7F71-0029-9C0F2FD33E87}"/>
              </a:ext>
            </a:extLst>
          </p:cNvPr>
          <p:cNvSpPr txBox="1"/>
          <p:nvPr/>
        </p:nvSpPr>
        <p:spPr>
          <a:xfrm>
            <a:off x="5080000" y="7589792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1">
                <a:extLst>
                  <a:ext uri="{FF2B5EF4-FFF2-40B4-BE49-F238E27FC236}">
                    <a16:creationId xmlns:a16="http://schemas.microsoft.com/office/drawing/2014/main" id="{76987533-0AD3-4E93-292D-613EBFC4B2D4}"/>
                  </a:ext>
                </a:extLst>
              </p:cNvPr>
              <p:cNvSpPr txBox="1"/>
              <p:nvPr/>
            </p:nvSpPr>
            <p:spPr>
              <a:xfrm>
                <a:off x="13335000" y="2285999"/>
                <a:ext cx="4038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" name="eq @1">
                <a:extLst>
                  <a:ext uri="{FF2B5EF4-FFF2-40B4-BE49-F238E27FC236}">
                    <a16:creationId xmlns:a16="http://schemas.microsoft.com/office/drawing/2014/main" id="{76987533-0AD3-4E93-292D-613EBFC4B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000" y="2285999"/>
                <a:ext cx="403860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int @2">
            <a:extLst>
              <a:ext uri="{FF2B5EF4-FFF2-40B4-BE49-F238E27FC236}">
                <a16:creationId xmlns:a16="http://schemas.microsoft.com/office/drawing/2014/main" id="{21D2DC23-7DA8-690C-BA38-1348BBFDA6DF}"/>
              </a:ext>
            </a:extLst>
          </p:cNvPr>
          <p:cNvSpPr txBox="1"/>
          <p:nvPr/>
        </p:nvSpPr>
        <p:spPr>
          <a:xfrm>
            <a:off x="13335000" y="3175000"/>
            <a:ext cx="4038600" cy="6746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Bias the MOSFET in saturation, between A and B.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57EBF86F-5394-BBFF-E0D6-5B4561C3545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hrome page">
            <a:extLst>
              <a:ext uri="{FF2B5EF4-FFF2-40B4-BE49-F238E27FC236}">
                <a16:creationId xmlns:a16="http://schemas.microsoft.com/office/drawing/2014/main" id="{C88C5C0E-20C3-2954-221B-96EABFC96BB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36541600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mplifier action: the load lin s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5B97C7E-E3D1-8126-F156-96588EB21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Amplifier action: the load line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58526A2-390C-1DD4-FC88-653A3BBB7D19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FBD53CD-0808-B1D0-067F-4198C5DA9CA2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8E183E97-1D2E-DD01-C430-CDB2C68D3DCB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245F5C35-C093-7397-67F0-14642636873A}"/>
              </a:ext>
            </a:extLst>
          </p:cNvPr>
          <p:cNvSpPr/>
          <p:nvPr/>
        </p:nvSpPr>
        <p:spPr>
          <a:xfrm>
            <a:off x="914400" y="2159000"/>
            <a:ext cx="3683000" cy="5223961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BCE36650-7B20-8200-EF72-AE514BAC09B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13000"/>
            <a:ext cx="3175000" cy="4487361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302095DC-783C-A7F0-D155-0632F69386AE}"/>
              </a:ext>
            </a:extLst>
          </p:cNvPr>
          <p:cNvSpPr txBox="1"/>
          <p:nvPr/>
        </p:nvSpPr>
        <p:spPr>
          <a:xfrm>
            <a:off x="1168400" y="7027361"/>
            <a:ext cx="317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figure card">
            <a:extLst>
              <a:ext uri="{FF2B5EF4-FFF2-40B4-BE49-F238E27FC236}">
                <a16:creationId xmlns:a16="http://schemas.microsoft.com/office/drawing/2014/main" id="{E31FB0A1-9A2C-91EF-BDCF-CD1A2891DF00}"/>
              </a:ext>
            </a:extLst>
          </p:cNvPr>
          <p:cNvSpPr/>
          <p:nvPr/>
        </p:nvSpPr>
        <p:spPr>
          <a:xfrm>
            <a:off x="4826000" y="2159000"/>
            <a:ext cx="8128000" cy="5786392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figure">
            <a:extLst>
              <a:ext uri="{FF2B5EF4-FFF2-40B4-BE49-F238E27FC236}">
                <a16:creationId xmlns:a16="http://schemas.microsoft.com/office/drawing/2014/main" id="{76F2FE99-3A7A-811B-4F9E-A89C94257CB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2413000"/>
            <a:ext cx="7620000" cy="5049792"/>
          </a:xfrm>
          <a:prstGeom prst="rect">
            <a:avLst/>
          </a:prstGeom>
        </p:spPr>
      </p:pic>
      <p:sp>
        <p:nvSpPr>
          <p:cNvPr id="13" name="credit">
            <a:extLst>
              <a:ext uri="{FF2B5EF4-FFF2-40B4-BE49-F238E27FC236}">
                <a16:creationId xmlns:a16="http://schemas.microsoft.com/office/drawing/2014/main" id="{82F84908-DB2E-7F71-0029-9C0F2FD33E87}"/>
              </a:ext>
            </a:extLst>
          </p:cNvPr>
          <p:cNvSpPr txBox="1"/>
          <p:nvPr/>
        </p:nvSpPr>
        <p:spPr>
          <a:xfrm>
            <a:off x="5080000" y="7589792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1">
                <a:extLst>
                  <a:ext uri="{FF2B5EF4-FFF2-40B4-BE49-F238E27FC236}">
                    <a16:creationId xmlns:a16="http://schemas.microsoft.com/office/drawing/2014/main" id="{76987533-0AD3-4E93-292D-613EBFC4B2D4}"/>
                  </a:ext>
                </a:extLst>
              </p:cNvPr>
              <p:cNvSpPr txBox="1"/>
              <p:nvPr/>
            </p:nvSpPr>
            <p:spPr>
              <a:xfrm>
                <a:off x="13335000" y="2285999"/>
                <a:ext cx="4038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" name="eq @1">
                <a:extLst>
                  <a:ext uri="{FF2B5EF4-FFF2-40B4-BE49-F238E27FC236}">
                    <a16:creationId xmlns:a16="http://schemas.microsoft.com/office/drawing/2014/main" id="{76987533-0AD3-4E93-292D-613EBFC4B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000" y="2285999"/>
                <a:ext cx="403860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int @2">
            <a:extLst>
              <a:ext uri="{FF2B5EF4-FFF2-40B4-BE49-F238E27FC236}">
                <a16:creationId xmlns:a16="http://schemas.microsoft.com/office/drawing/2014/main" id="{21D2DC23-7DA8-690C-BA38-1348BBFDA6DF}"/>
              </a:ext>
            </a:extLst>
          </p:cNvPr>
          <p:cNvSpPr txBox="1"/>
          <p:nvPr/>
        </p:nvSpPr>
        <p:spPr>
          <a:xfrm>
            <a:off x="13335000" y="3175000"/>
            <a:ext cx="4038600" cy="6746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Bias the MOSFET in saturation, between A and B.</a:t>
            </a:r>
          </a:p>
        </p:txBody>
      </p:sp>
      <p:sp>
        <p:nvSpPr>
          <p:cNvPr id="16" name="point @3">
            <a:extLst>
              <a:ext uri="{FF2B5EF4-FFF2-40B4-BE49-F238E27FC236}">
                <a16:creationId xmlns:a16="http://schemas.microsoft.com/office/drawing/2014/main" id="{8632E728-B9AD-5CEC-4DA6-D6FBBA4B9CBA}"/>
              </a:ext>
            </a:extLst>
          </p:cNvPr>
          <p:cNvSpPr txBox="1"/>
          <p:nvPr/>
        </p:nvSpPr>
        <p:spPr>
          <a:xfrm>
            <a:off x="13335000" y="4129008"/>
            <a:ext cx="4038600" cy="10139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A small change in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moves the operating point along the line: a </a:t>
            </a:r>
            <a:r>
              <a:rPr lang="en-US" sz="2100" b="1">
                <a:solidFill>
                  <a:srgbClr val="17262E"/>
                </a:solidFill>
                <a:latin typeface="Nunito" pitchFamily="2" charset="0"/>
              </a:rPr>
              <a:t>large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change in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E7F05E21-76D3-FFB2-2F58-9D21C30591A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hrome page">
            <a:extLst>
              <a:ext uri="{FF2B5EF4-FFF2-40B4-BE49-F238E27FC236}">
                <a16:creationId xmlns:a16="http://schemas.microsoft.com/office/drawing/2014/main" id="{6009A1F5-E444-FF58-525C-3492724BB2B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4394595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operation: the tr s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A037E92-0379-F9E6-8800-B1BCF456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Small-signal operation: the transconductance g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m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9A097A08-B839-6A20-549A-7B7785113A1E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1881771A-3790-870F-45A3-E0015CB5ED34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77DFFE6-DB45-570D-895F-F7D16BCDBDE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badge @1">
            <a:extLst>
              <a:ext uri="{FF2B5EF4-FFF2-40B4-BE49-F238E27FC236}">
                <a16:creationId xmlns:a16="http://schemas.microsoft.com/office/drawing/2014/main" id="{8B8A7860-9541-8FA3-AC7A-2F1127E2072D}"/>
              </a:ext>
            </a:extLst>
          </p:cNvPr>
          <p:cNvSpPr/>
          <p:nvPr/>
        </p:nvSpPr>
        <p:spPr>
          <a:xfrm>
            <a:off x="914400" y="22352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7" name="lab @1">
            <a:extLst>
              <a:ext uri="{FF2B5EF4-FFF2-40B4-BE49-F238E27FC236}">
                <a16:creationId xmlns:a16="http://schemas.microsoft.com/office/drawing/2014/main" id="{9101525E-A5B9-3B43-6379-1F1D3CC57150}"/>
              </a:ext>
            </a:extLst>
          </p:cNvPr>
          <p:cNvSpPr txBox="1"/>
          <p:nvPr/>
        </p:nvSpPr>
        <p:spPr>
          <a:xfrm>
            <a:off x="1524000" y="222250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The gate voltage is the bias plus a small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F9682E2E-C8B9-B440-76A1-BEB4CD963629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F9682E2E-C8B9-B440-76A1-BEB4CD963629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v_{GS} = V_{GS} + v_{gs}</a:t>
                </a:r>
              </a:p>
            </p:txBody>
          </p:sp>
        </mc:Fallback>
      </mc:AlternateContent>
      <p:sp>
        <p:nvSpPr>
          <p:cNvPr id="18" name="chrome page">
            <a:extLst>
              <a:ext uri="{FF2B5EF4-FFF2-40B4-BE49-F238E27FC236}">
                <a16:creationId xmlns:a16="http://schemas.microsoft.com/office/drawing/2014/main" id="{7827CF69-BA1B-FD22-7364-071FABF074ED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A02C393D-8BF3-7AD7-6DC5-5CE1D980C54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27221222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operation: the tr s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A037E92-0379-F9E6-8800-B1BCF456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Small-signal operation: the transconductance g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m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9A097A08-B839-6A20-549A-7B7785113A1E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1881771A-3790-870F-45A3-E0015CB5ED34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77DFFE6-DB45-570D-895F-F7D16BCDBDE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badge @1">
            <a:extLst>
              <a:ext uri="{FF2B5EF4-FFF2-40B4-BE49-F238E27FC236}">
                <a16:creationId xmlns:a16="http://schemas.microsoft.com/office/drawing/2014/main" id="{8B8A7860-9541-8FA3-AC7A-2F1127E2072D}"/>
              </a:ext>
            </a:extLst>
          </p:cNvPr>
          <p:cNvSpPr/>
          <p:nvPr/>
        </p:nvSpPr>
        <p:spPr>
          <a:xfrm>
            <a:off x="914400" y="22352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7" name="lab @1">
            <a:extLst>
              <a:ext uri="{FF2B5EF4-FFF2-40B4-BE49-F238E27FC236}">
                <a16:creationId xmlns:a16="http://schemas.microsoft.com/office/drawing/2014/main" id="{9101525E-A5B9-3B43-6379-1F1D3CC57150}"/>
              </a:ext>
            </a:extLst>
          </p:cNvPr>
          <p:cNvSpPr txBox="1"/>
          <p:nvPr/>
        </p:nvSpPr>
        <p:spPr>
          <a:xfrm>
            <a:off x="1524000" y="222250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The gate voltage is the bias plus a small signal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F9682E2E-C8B9-B440-76A1-BEB4CD963629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F9682E2E-C8B9-B440-76A1-BEB4CD963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badge @2">
            <a:extLst>
              <a:ext uri="{FF2B5EF4-FFF2-40B4-BE49-F238E27FC236}">
                <a16:creationId xmlns:a16="http://schemas.microsoft.com/office/drawing/2014/main" id="{2152C93C-EF67-47B0-F1D1-5527096BB40B}"/>
              </a:ext>
            </a:extLst>
          </p:cNvPr>
          <p:cNvSpPr/>
          <p:nvPr/>
        </p:nvSpPr>
        <p:spPr>
          <a:xfrm>
            <a:off x="914400" y="3307665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A220BE85-6042-834D-8279-0A120124BC81}"/>
              </a:ext>
            </a:extLst>
          </p:cNvPr>
          <p:cNvSpPr txBox="1"/>
          <p:nvPr/>
        </p:nvSpPr>
        <p:spPr>
          <a:xfrm>
            <a:off x="1524000" y="329496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Substitute into the saturation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18756CE6-917C-60E5-5F4A-E5C42D2624BB}"/>
                  </a:ext>
                </a:extLst>
              </p:cNvPr>
              <p:cNvSpPr txBox="1"/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18756CE6-917C-60E5-5F4A-E5C42D262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hrome page">
            <a:extLst>
              <a:ext uri="{FF2B5EF4-FFF2-40B4-BE49-F238E27FC236}">
                <a16:creationId xmlns:a16="http://schemas.microsoft.com/office/drawing/2014/main" id="{C282EB61-C21D-CEA2-D612-993B68A2B4DE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417C345B-E929-9564-F96E-FE89DF2EA052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21021494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operation: the tr s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A037E92-0379-F9E6-8800-B1BCF456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Small-signal operation: the transconductance g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m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9A097A08-B839-6A20-549A-7B7785113A1E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1881771A-3790-870F-45A3-E0015CB5ED34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77DFFE6-DB45-570D-895F-F7D16BCDBDE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badge @1">
            <a:extLst>
              <a:ext uri="{FF2B5EF4-FFF2-40B4-BE49-F238E27FC236}">
                <a16:creationId xmlns:a16="http://schemas.microsoft.com/office/drawing/2014/main" id="{8B8A7860-9541-8FA3-AC7A-2F1127E2072D}"/>
              </a:ext>
            </a:extLst>
          </p:cNvPr>
          <p:cNvSpPr/>
          <p:nvPr/>
        </p:nvSpPr>
        <p:spPr>
          <a:xfrm>
            <a:off x="914400" y="22352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7" name="lab @1">
            <a:extLst>
              <a:ext uri="{FF2B5EF4-FFF2-40B4-BE49-F238E27FC236}">
                <a16:creationId xmlns:a16="http://schemas.microsoft.com/office/drawing/2014/main" id="{9101525E-A5B9-3B43-6379-1F1D3CC57150}"/>
              </a:ext>
            </a:extLst>
          </p:cNvPr>
          <p:cNvSpPr txBox="1"/>
          <p:nvPr/>
        </p:nvSpPr>
        <p:spPr>
          <a:xfrm>
            <a:off x="1524000" y="222250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The gate voltage is the bias plus a small signal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F9682E2E-C8B9-B440-76A1-BEB4CD963629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F9682E2E-C8B9-B440-76A1-BEB4CD963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badge @2">
            <a:extLst>
              <a:ext uri="{FF2B5EF4-FFF2-40B4-BE49-F238E27FC236}">
                <a16:creationId xmlns:a16="http://schemas.microsoft.com/office/drawing/2014/main" id="{2152C93C-EF67-47B0-F1D1-5527096BB40B}"/>
              </a:ext>
            </a:extLst>
          </p:cNvPr>
          <p:cNvSpPr/>
          <p:nvPr/>
        </p:nvSpPr>
        <p:spPr>
          <a:xfrm>
            <a:off x="914400" y="3307665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A220BE85-6042-834D-8279-0A120124BC81}"/>
              </a:ext>
            </a:extLst>
          </p:cNvPr>
          <p:cNvSpPr txBox="1"/>
          <p:nvPr/>
        </p:nvSpPr>
        <p:spPr>
          <a:xfrm>
            <a:off x="1524000" y="329496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Substitute into the saturation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18756CE6-917C-60E5-5F4A-E5C42D2624BB}"/>
                  </a:ext>
                </a:extLst>
              </p:cNvPr>
              <p:cNvSpPr txBox="1"/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18756CE6-917C-60E5-5F4A-E5C42D262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badge @3">
            <a:extLst>
              <a:ext uri="{FF2B5EF4-FFF2-40B4-BE49-F238E27FC236}">
                <a16:creationId xmlns:a16="http://schemas.microsoft.com/office/drawing/2014/main" id="{D8AAFC17-0245-7A94-0D4E-13DC2F1071AF}"/>
              </a:ext>
            </a:extLst>
          </p:cNvPr>
          <p:cNvSpPr/>
          <p:nvPr/>
        </p:nvSpPr>
        <p:spPr>
          <a:xfrm>
            <a:off x="914400" y="464429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13" name="lab @3">
            <a:extLst>
              <a:ext uri="{FF2B5EF4-FFF2-40B4-BE49-F238E27FC236}">
                <a16:creationId xmlns:a16="http://schemas.microsoft.com/office/drawing/2014/main" id="{C0EFF2FA-CFE5-D67D-943E-DFC95CDE499D}"/>
              </a:ext>
            </a:extLst>
          </p:cNvPr>
          <p:cNvSpPr txBox="1"/>
          <p:nvPr/>
        </p:nvSpPr>
        <p:spPr>
          <a:xfrm>
            <a:off x="1524000" y="463159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If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≪ 2(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), the last term is negligible: the signal current is linear in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304F73B6-0813-7019-9468-B2DF22DC6F1A}"/>
                  </a:ext>
                </a:extLst>
              </p:cNvPr>
              <p:cNvSpPr txBox="1"/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𝑑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304F73B6-0813-7019-9468-B2DF22DC6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hrome page">
            <a:extLst>
              <a:ext uri="{FF2B5EF4-FFF2-40B4-BE49-F238E27FC236}">
                <a16:creationId xmlns:a16="http://schemas.microsoft.com/office/drawing/2014/main" id="{40D54FBB-F514-76D4-1C62-1C09EB6BF4C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BB2FD001-8564-7BA1-F530-66D04CFB7B01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2386558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operation: the tr s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A037E92-0379-F9E6-8800-B1BCF456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Small-signal operation: the transconductance g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m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9A097A08-B839-6A20-549A-7B7785113A1E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1881771A-3790-870F-45A3-E0015CB5ED34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77DFFE6-DB45-570D-895F-F7D16BCDBDE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badge @1">
            <a:extLst>
              <a:ext uri="{FF2B5EF4-FFF2-40B4-BE49-F238E27FC236}">
                <a16:creationId xmlns:a16="http://schemas.microsoft.com/office/drawing/2014/main" id="{8B8A7860-9541-8FA3-AC7A-2F1127E2072D}"/>
              </a:ext>
            </a:extLst>
          </p:cNvPr>
          <p:cNvSpPr/>
          <p:nvPr/>
        </p:nvSpPr>
        <p:spPr>
          <a:xfrm>
            <a:off x="914400" y="22352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7" name="lab @1">
            <a:extLst>
              <a:ext uri="{FF2B5EF4-FFF2-40B4-BE49-F238E27FC236}">
                <a16:creationId xmlns:a16="http://schemas.microsoft.com/office/drawing/2014/main" id="{9101525E-A5B9-3B43-6379-1F1D3CC57150}"/>
              </a:ext>
            </a:extLst>
          </p:cNvPr>
          <p:cNvSpPr txBox="1"/>
          <p:nvPr/>
        </p:nvSpPr>
        <p:spPr>
          <a:xfrm>
            <a:off x="1524000" y="222250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The gate voltage is the bias plus a small signal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F9682E2E-C8B9-B440-76A1-BEB4CD963629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F9682E2E-C8B9-B440-76A1-BEB4CD963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badge @2">
            <a:extLst>
              <a:ext uri="{FF2B5EF4-FFF2-40B4-BE49-F238E27FC236}">
                <a16:creationId xmlns:a16="http://schemas.microsoft.com/office/drawing/2014/main" id="{2152C93C-EF67-47B0-F1D1-5527096BB40B}"/>
              </a:ext>
            </a:extLst>
          </p:cNvPr>
          <p:cNvSpPr/>
          <p:nvPr/>
        </p:nvSpPr>
        <p:spPr>
          <a:xfrm>
            <a:off x="914400" y="3307665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A220BE85-6042-834D-8279-0A120124BC81}"/>
              </a:ext>
            </a:extLst>
          </p:cNvPr>
          <p:cNvSpPr txBox="1"/>
          <p:nvPr/>
        </p:nvSpPr>
        <p:spPr>
          <a:xfrm>
            <a:off x="1524000" y="329496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Substitute into the saturation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18756CE6-917C-60E5-5F4A-E5C42D2624BB}"/>
                  </a:ext>
                </a:extLst>
              </p:cNvPr>
              <p:cNvSpPr txBox="1"/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18756CE6-917C-60E5-5F4A-E5C42D262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badge @3">
            <a:extLst>
              <a:ext uri="{FF2B5EF4-FFF2-40B4-BE49-F238E27FC236}">
                <a16:creationId xmlns:a16="http://schemas.microsoft.com/office/drawing/2014/main" id="{D8AAFC17-0245-7A94-0D4E-13DC2F1071AF}"/>
              </a:ext>
            </a:extLst>
          </p:cNvPr>
          <p:cNvSpPr/>
          <p:nvPr/>
        </p:nvSpPr>
        <p:spPr>
          <a:xfrm>
            <a:off x="914400" y="464429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13" name="lab @3">
            <a:extLst>
              <a:ext uri="{FF2B5EF4-FFF2-40B4-BE49-F238E27FC236}">
                <a16:creationId xmlns:a16="http://schemas.microsoft.com/office/drawing/2014/main" id="{C0EFF2FA-CFE5-D67D-943E-DFC95CDE499D}"/>
              </a:ext>
            </a:extLst>
          </p:cNvPr>
          <p:cNvSpPr txBox="1"/>
          <p:nvPr/>
        </p:nvSpPr>
        <p:spPr>
          <a:xfrm>
            <a:off x="1524000" y="463159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If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≪ 2(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), the last term is negligible: the signal current is linear in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304F73B6-0813-7019-9468-B2DF22DC6F1A}"/>
                  </a:ext>
                </a:extLst>
              </p:cNvPr>
              <p:cNvSpPr txBox="1"/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𝑑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304F73B6-0813-7019-9468-B2DF22DC6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badge @4">
            <a:extLst>
              <a:ext uri="{FF2B5EF4-FFF2-40B4-BE49-F238E27FC236}">
                <a16:creationId xmlns:a16="http://schemas.microsoft.com/office/drawing/2014/main" id="{504BB481-D581-5B99-0411-EA593A575FB7}"/>
              </a:ext>
            </a:extLst>
          </p:cNvPr>
          <p:cNvSpPr/>
          <p:nvPr/>
        </p:nvSpPr>
        <p:spPr>
          <a:xfrm>
            <a:off x="914400" y="5980915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  <p:sp>
        <p:nvSpPr>
          <p:cNvPr id="16" name="lab @4">
            <a:extLst>
              <a:ext uri="{FF2B5EF4-FFF2-40B4-BE49-F238E27FC236}">
                <a16:creationId xmlns:a16="http://schemas.microsoft.com/office/drawing/2014/main" id="{3C72730F-E3D4-6B4C-6DFF-E0B8A27B545C}"/>
              </a:ext>
            </a:extLst>
          </p:cNvPr>
          <p:cNvSpPr txBox="1"/>
          <p:nvPr/>
        </p:nvSpPr>
        <p:spPr>
          <a:xfrm>
            <a:off x="1524000" y="596821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With a drain resistor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, the voltage gain 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q @4">
                <a:extLst>
                  <a:ext uri="{FF2B5EF4-FFF2-40B4-BE49-F238E27FC236}">
                    <a16:creationId xmlns:a16="http://schemas.microsoft.com/office/drawing/2014/main" id="{653A0E39-B842-0CAF-48BD-022CBAE5D682}"/>
                  </a:ext>
                </a:extLst>
              </p:cNvPr>
              <p:cNvSpPr txBox="1"/>
              <p:nvPr/>
            </p:nvSpPr>
            <p:spPr>
              <a:xfrm>
                <a:off x="1524000" y="634217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𝑑𝑠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𝑔𝑠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7" name="eq @4">
                <a:extLst>
                  <a:ext uri="{FF2B5EF4-FFF2-40B4-BE49-F238E27FC236}">
                    <a16:creationId xmlns:a16="http://schemas.microsoft.com/office/drawing/2014/main" id="{653A0E39-B842-0CAF-48BD-022CBAE5D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6342179"/>
                <a:ext cx="15849600" cy="759460"/>
              </a:xfrm>
              <a:prstGeom prst="rect">
                <a:avLst/>
              </a:prstGeom>
              <a:blipFill>
                <a:blip r:embed="rId5"/>
                <a:stretch>
                  <a:fillRect l="-38" b="-2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hrome page">
            <a:extLst>
              <a:ext uri="{FF2B5EF4-FFF2-40B4-BE49-F238E27FC236}">
                <a16:creationId xmlns:a16="http://schemas.microsoft.com/office/drawing/2014/main" id="{9A7594FE-F3DD-9247-13D3-B4F1A6AFBDBD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F6586920-1A4C-4C7B-D507-D258DFBEC04A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14448305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equivalent circui s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E8FB40F-74F5-8316-38CA-2A2D19955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Small-signal equivalent circuits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6CFD6C9-B6EE-D371-244F-674B8A2B8B8A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ED979C88-9ED9-ECA1-2570-255351AD6C91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A5273AE-4B48-D8F9-F381-C4C38DEA598B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4EBA9D08-826A-A314-D649-06BE235ADD0F}"/>
              </a:ext>
            </a:extLst>
          </p:cNvPr>
          <p:cNvSpPr/>
          <p:nvPr/>
        </p:nvSpPr>
        <p:spPr>
          <a:xfrm>
            <a:off x="1336425" y="2095500"/>
            <a:ext cx="7029950" cy="50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BEF10550-B8C8-4F3D-99EF-14D6BCA9E21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425" y="2349500"/>
            <a:ext cx="6521951" cy="4343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A80E9512-045A-B3BA-9BAE-C46E59FCDA8F}"/>
              </a:ext>
            </a:extLst>
          </p:cNvPr>
          <p:cNvSpPr txBox="1"/>
          <p:nvPr/>
        </p:nvSpPr>
        <p:spPr>
          <a:xfrm>
            <a:off x="1590425" y="6819900"/>
            <a:ext cx="652195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figure card">
            <a:extLst>
              <a:ext uri="{FF2B5EF4-FFF2-40B4-BE49-F238E27FC236}">
                <a16:creationId xmlns:a16="http://schemas.microsoft.com/office/drawing/2014/main" id="{742DBB6B-AC6D-8B5E-994B-7CC8D649FFE4}"/>
              </a:ext>
            </a:extLst>
          </p:cNvPr>
          <p:cNvSpPr/>
          <p:nvPr/>
        </p:nvSpPr>
        <p:spPr>
          <a:xfrm>
            <a:off x="9499600" y="2095500"/>
            <a:ext cx="7874000" cy="4975597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figure">
            <a:extLst>
              <a:ext uri="{FF2B5EF4-FFF2-40B4-BE49-F238E27FC236}">
                <a16:creationId xmlns:a16="http://schemas.microsoft.com/office/drawing/2014/main" id="{EBF474BA-5183-6F4E-2E96-923F4E538F5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2349500"/>
            <a:ext cx="7366000" cy="4238997"/>
          </a:xfrm>
          <a:prstGeom prst="rect">
            <a:avLst/>
          </a:prstGeom>
        </p:spPr>
      </p:pic>
      <p:sp>
        <p:nvSpPr>
          <p:cNvPr id="13" name="credit">
            <a:extLst>
              <a:ext uri="{FF2B5EF4-FFF2-40B4-BE49-F238E27FC236}">
                <a16:creationId xmlns:a16="http://schemas.microsoft.com/office/drawing/2014/main" id="{AF93CD00-0B6D-08E8-6750-FF3D7BA2FCA2}"/>
              </a:ext>
            </a:extLst>
          </p:cNvPr>
          <p:cNvSpPr txBox="1"/>
          <p:nvPr/>
        </p:nvSpPr>
        <p:spPr>
          <a:xfrm>
            <a:off x="9753600" y="6715498"/>
            <a:ext cx="736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4" name="point @1">
            <a:extLst>
              <a:ext uri="{FF2B5EF4-FFF2-40B4-BE49-F238E27FC236}">
                <a16:creationId xmlns:a16="http://schemas.microsoft.com/office/drawing/2014/main" id="{11F0897F-A486-F70A-BF8F-BC1B8DFAB52C}"/>
              </a:ext>
            </a:extLst>
          </p:cNvPr>
          <p:cNvSpPr txBox="1"/>
          <p:nvPr/>
        </p:nvSpPr>
        <p:spPr>
          <a:xfrm>
            <a:off x="914400" y="7620000"/>
            <a:ext cx="7874000" cy="7067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The MOSFET as a voltage-controlled current source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g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m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; no current into the gate.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18CB1037-AEDE-0184-62B8-B3A959A7394F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hrome page">
            <a:extLst>
              <a:ext uri="{FF2B5EF4-FFF2-40B4-BE49-F238E27FC236}">
                <a16:creationId xmlns:a16="http://schemas.microsoft.com/office/drawing/2014/main" id="{05B0277F-AC55-CCAD-DAC1-642AB9AC90D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6080864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equivalent circui s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E8FB40F-74F5-8316-38CA-2A2D19955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Small-signal equivalent circuits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6CFD6C9-B6EE-D371-244F-674B8A2B8B8A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ED979C88-9ED9-ECA1-2570-255351AD6C91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A5273AE-4B48-D8F9-F381-C4C38DEA598B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4EBA9D08-826A-A314-D649-06BE235ADD0F}"/>
              </a:ext>
            </a:extLst>
          </p:cNvPr>
          <p:cNvSpPr/>
          <p:nvPr/>
        </p:nvSpPr>
        <p:spPr>
          <a:xfrm>
            <a:off x="1336425" y="2095500"/>
            <a:ext cx="7029950" cy="50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BEF10550-B8C8-4F3D-99EF-14D6BCA9E21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425" y="2349500"/>
            <a:ext cx="6521951" cy="4343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A80E9512-045A-B3BA-9BAE-C46E59FCDA8F}"/>
              </a:ext>
            </a:extLst>
          </p:cNvPr>
          <p:cNvSpPr txBox="1"/>
          <p:nvPr/>
        </p:nvSpPr>
        <p:spPr>
          <a:xfrm>
            <a:off x="1590425" y="6819900"/>
            <a:ext cx="652195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figure card">
            <a:extLst>
              <a:ext uri="{FF2B5EF4-FFF2-40B4-BE49-F238E27FC236}">
                <a16:creationId xmlns:a16="http://schemas.microsoft.com/office/drawing/2014/main" id="{742DBB6B-AC6D-8B5E-994B-7CC8D649FFE4}"/>
              </a:ext>
            </a:extLst>
          </p:cNvPr>
          <p:cNvSpPr/>
          <p:nvPr/>
        </p:nvSpPr>
        <p:spPr>
          <a:xfrm>
            <a:off x="9499600" y="2095500"/>
            <a:ext cx="7874000" cy="4975597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figure">
            <a:extLst>
              <a:ext uri="{FF2B5EF4-FFF2-40B4-BE49-F238E27FC236}">
                <a16:creationId xmlns:a16="http://schemas.microsoft.com/office/drawing/2014/main" id="{EBF474BA-5183-6F4E-2E96-923F4E538F5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2349500"/>
            <a:ext cx="7366000" cy="4238997"/>
          </a:xfrm>
          <a:prstGeom prst="rect">
            <a:avLst/>
          </a:prstGeom>
        </p:spPr>
      </p:pic>
      <p:sp>
        <p:nvSpPr>
          <p:cNvPr id="13" name="credit">
            <a:extLst>
              <a:ext uri="{FF2B5EF4-FFF2-40B4-BE49-F238E27FC236}">
                <a16:creationId xmlns:a16="http://schemas.microsoft.com/office/drawing/2014/main" id="{AF93CD00-0B6D-08E8-6750-FF3D7BA2FCA2}"/>
              </a:ext>
            </a:extLst>
          </p:cNvPr>
          <p:cNvSpPr txBox="1"/>
          <p:nvPr/>
        </p:nvSpPr>
        <p:spPr>
          <a:xfrm>
            <a:off x="9753600" y="6715498"/>
            <a:ext cx="736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4" name="point @1">
            <a:extLst>
              <a:ext uri="{FF2B5EF4-FFF2-40B4-BE49-F238E27FC236}">
                <a16:creationId xmlns:a16="http://schemas.microsoft.com/office/drawing/2014/main" id="{11F0897F-A486-F70A-BF8F-BC1B8DFAB52C}"/>
              </a:ext>
            </a:extLst>
          </p:cNvPr>
          <p:cNvSpPr txBox="1"/>
          <p:nvPr/>
        </p:nvSpPr>
        <p:spPr>
          <a:xfrm>
            <a:off x="914400" y="7620000"/>
            <a:ext cx="7874000" cy="7067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The MOSFET as a voltage-controlled current source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g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m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; no current into the gate.</a:t>
            </a:r>
          </a:p>
        </p:txBody>
      </p:sp>
      <p:sp>
        <p:nvSpPr>
          <p:cNvPr id="15" name="point @2">
            <a:extLst>
              <a:ext uri="{FF2B5EF4-FFF2-40B4-BE49-F238E27FC236}">
                <a16:creationId xmlns:a16="http://schemas.microsoft.com/office/drawing/2014/main" id="{11D88A6B-9263-EBD9-0291-010880775583}"/>
              </a:ext>
            </a:extLst>
          </p:cNvPr>
          <p:cNvSpPr txBox="1"/>
          <p:nvPr/>
        </p:nvSpPr>
        <p:spPr>
          <a:xfrm>
            <a:off x="9499600" y="7620000"/>
            <a:ext cx="7874000" cy="7067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Adding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o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A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/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models the slight slope of the saturation curves (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A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: the Early voltage).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4799BFC9-1032-8EFC-FEAF-37136855BFF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hrome page">
            <a:extLst>
              <a:ext uri="{FF2B5EF4-FFF2-40B4-BE49-F238E27FC236}">
                <a16:creationId xmlns:a16="http://schemas.microsoft.com/office/drawing/2014/main" id="{71E94669-1EFA-5173-5C63-9B9146467E4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39253184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gain and input resist s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548CCF1-765E-8BC5-8A67-642DB417D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gain and input resistance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C79A94B-94E2-E5D3-3E0B-54BA46974795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4C51EC-DDF6-7FAA-8EC2-72642D6F9DE8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444CCEB-6CAF-0862-955E-DBC98E109D39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70199558-5D26-086A-3034-D60300AEBBF9}"/>
              </a:ext>
            </a:extLst>
          </p:cNvPr>
          <p:cNvSpPr txBox="1"/>
          <p:nvPr/>
        </p:nvSpPr>
        <p:spPr>
          <a:xfrm>
            <a:off x="914400" y="1752599"/>
            <a:ext cx="16459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1.5 V, k′</a:t>
            </a:r>
            <a:r>
              <a:rPr lang="en-US" sz="21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(W/L) = 0.25 mA/V²,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A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50 V. Coupling capacitors are short circuits for the signal. Find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A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o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/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and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in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F234A51B-71A3-B341-54D0-DAC0729735F1}"/>
              </a:ext>
            </a:extLst>
          </p:cNvPr>
          <p:cNvSpPr/>
          <p:nvPr/>
        </p:nvSpPr>
        <p:spPr>
          <a:xfrm>
            <a:off x="914400" y="2730500"/>
            <a:ext cx="6604000" cy="4803775"/>
          </a:xfrm>
          <a:prstGeom prst="roundRect">
            <a:avLst>
              <a:gd name="adj" fmla="val 4759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54F45B8-1984-C39A-6025-F27E58CFFFB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984500"/>
            <a:ext cx="6096000" cy="4067175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DC7B6F0F-A146-329B-6968-BCDEF3F8A785}"/>
              </a:ext>
            </a:extLst>
          </p:cNvPr>
          <p:cNvSpPr txBox="1"/>
          <p:nvPr/>
        </p:nvSpPr>
        <p:spPr>
          <a:xfrm>
            <a:off x="1168400" y="7178675"/>
            <a:ext cx="609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A5FE5126-B6D0-194A-C07C-EBD2291624F3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hrome page">
            <a:extLst>
              <a:ext uri="{FF2B5EF4-FFF2-40B4-BE49-F238E27FC236}">
                <a16:creationId xmlns:a16="http://schemas.microsoft.com/office/drawing/2014/main" id="{F24E1E3D-DA20-D478-B153-975DDF0FD8CA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22148122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gain and input resist s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548CCF1-765E-8BC5-8A67-642DB417D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gain and input resistance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C79A94B-94E2-E5D3-3E0B-54BA46974795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4C51EC-DDF6-7FAA-8EC2-72642D6F9DE8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444CCEB-6CAF-0862-955E-DBC98E109D39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70199558-5D26-086A-3034-D60300AEBBF9}"/>
              </a:ext>
            </a:extLst>
          </p:cNvPr>
          <p:cNvSpPr txBox="1"/>
          <p:nvPr/>
        </p:nvSpPr>
        <p:spPr>
          <a:xfrm>
            <a:off x="914400" y="1752599"/>
            <a:ext cx="16459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1.5 V, k′</a:t>
            </a:r>
            <a:r>
              <a:rPr lang="en-US" sz="21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(W/L) = 0.25 mA/V²,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A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50 V. Coupling capacitors are short circuits for the signal. Find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A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o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/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and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in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F234A51B-71A3-B341-54D0-DAC0729735F1}"/>
              </a:ext>
            </a:extLst>
          </p:cNvPr>
          <p:cNvSpPr/>
          <p:nvPr/>
        </p:nvSpPr>
        <p:spPr>
          <a:xfrm>
            <a:off x="914400" y="2730500"/>
            <a:ext cx="6604000" cy="4803775"/>
          </a:xfrm>
          <a:prstGeom prst="roundRect">
            <a:avLst>
              <a:gd name="adj" fmla="val 4759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54F45B8-1984-C39A-6025-F27E58CFFFB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984500"/>
            <a:ext cx="6096000" cy="4067175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DC7B6F0F-A146-329B-6968-BCDEF3F8A785}"/>
              </a:ext>
            </a:extLst>
          </p:cNvPr>
          <p:cNvSpPr txBox="1"/>
          <p:nvPr/>
        </p:nvSpPr>
        <p:spPr>
          <a:xfrm>
            <a:off x="1168400" y="7178675"/>
            <a:ext cx="609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1" name="badge @2">
            <a:extLst>
              <a:ext uri="{FF2B5EF4-FFF2-40B4-BE49-F238E27FC236}">
                <a16:creationId xmlns:a16="http://schemas.microsoft.com/office/drawing/2014/main" id="{5F41BA21-C3BE-B8D6-13C8-280665777F4D}"/>
              </a:ext>
            </a:extLst>
          </p:cNvPr>
          <p:cNvSpPr/>
          <p:nvPr/>
        </p:nvSpPr>
        <p:spPr>
          <a:xfrm>
            <a:off x="8128000" y="27051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12" name="lab @2">
            <a:extLst>
              <a:ext uri="{FF2B5EF4-FFF2-40B4-BE49-F238E27FC236}">
                <a16:creationId xmlns:a16="http://schemas.microsoft.com/office/drawing/2014/main" id="{9DEA81D9-6F16-E5C3-56D9-F00C33B0767A}"/>
              </a:ext>
            </a:extLst>
          </p:cNvPr>
          <p:cNvSpPr txBox="1"/>
          <p:nvPr/>
        </p:nvSpPr>
        <p:spPr>
          <a:xfrm>
            <a:off x="8737600" y="2692400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it-IT" sz="1900">
                <a:solidFill>
                  <a:srgbClr val="4F5E66"/>
                </a:solidFill>
                <a:latin typeface="Nunito" pitchFamily="2" charset="0"/>
              </a:rPr>
              <a:t>DC: no gate current, so </a:t>
            </a:r>
            <a:r>
              <a:rPr lang="it-IT" sz="19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it-IT" sz="19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it-IT" sz="19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it-IT" sz="19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it-IT" sz="19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it-IT" sz="1900">
                <a:solidFill>
                  <a:srgbClr val="4F5E66"/>
                </a:solidFill>
                <a:latin typeface="Nunito" pitchFamily="2" charset="0"/>
              </a:rPr>
              <a:t>  (I in mA)</a:t>
            </a:r>
            <a:endParaRPr lang="en-US" sz="1900">
              <a:solidFill>
                <a:srgbClr val="4F5E66"/>
              </a:solidFill>
              <a:latin typeface="Nunito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AF762DD1-ED8C-5433-D34E-0F254AADEE72}"/>
                  </a:ext>
                </a:extLst>
              </p:cNvPr>
              <p:cNvSpPr txBox="1"/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=15−10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(0.25)(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−1.5</m:t>
                      </m:r>
                      <m:sSup>
                        <m:sSup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AF762DD1-ED8C-5433-D34E-0F254AADE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ab @2">
            <a:extLst>
              <a:ext uri="{FF2B5EF4-FFF2-40B4-BE49-F238E27FC236}">
                <a16:creationId xmlns:a16="http://schemas.microsoft.com/office/drawing/2014/main" id="{E050A257-62AB-2E53-FD45-76F1A444164E}"/>
              </a:ext>
            </a:extLst>
          </p:cNvPr>
          <p:cNvSpPr txBox="1"/>
          <p:nvPr/>
        </p:nvSpPr>
        <p:spPr>
          <a:xfrm>
            <a:off x="8737600" y="3707418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1.06 mA,  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4.4 V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F43D82A7-8EEB-0027-23A4-9A7DF3BB4323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hrome page">
            <a:extLst>
              <a:ext uri="{FF2B5EF4-FFF2-40B4-BE49-F238E27FC236}">
                <a16:creationId xmlns:a16="http://schemas.microsoft.com/office/drawing/2014/main" id="{F44E2085-E3C1-B75F-209E-548689D54BC3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14791039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gain and input resist s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548CCF1-765E-8BC5-8A67-642DB417D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gain and input resistance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C79A94B-94E2-E5D3-3E0B-54BA46974795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4C51EC-DDF6-7FAA-8EC2-72642D6F9DE8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444CCEB-6CAF-0862-955E-DBC98E109D39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70199558-5D26-086A-3034-D60300AEBBF9}"/>
              </a:ext>
            </a:extLst>
          </p:cNvPr>
          <p:cNvSpPr txBox="1"/>
          <p:nvPr/>
        </p:nvSpPr>
        <p:spPr>
          <a:xfrm>
            <a:off x="914400" y="1752599"/>
            <a:ext cx="16459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1.5 V, k′</a:t>
            </a:r>
            <a:r>
              <a:rPr lang="en-US" sz="21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(W/L) = 0.25 mA/V²,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A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50 V. Coupling capacitors are short circuits for the signal. Find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A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o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/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and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in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F234A51B-71A3-B341-54D0-DAC0729735F1}"/>
              </a:ext>
            </a:extLst>
          </p:cNvPr>
          <p:cNvSpPr/>
          <p:nvPr/>
        </p:nvSpPr>
        <p:spPr>
          <a:xfrm>
            <a:off x="914400" y="2730500"/>
            <a:ext cx="6604000" cy="4803775"/>
          </a:xfrm>
          <a:prstGeom prst="roundRect">
            <a:avLst>
              <a:gd name="adj" fmla="val 4759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54F45B8-1984-C39A-6025-F27E58CFFFB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984500"/>
            <a:ext cx="6096000" cy="4067175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DC7B6F0F-A146-329B-6968-BCDEF3F8A785}"/>
              </a:ext>
            </a:extLst>
          </p:cNvPr>
          <p:cNvSpPr txBox="1"/>
          <p:nvPr/>
        </p:nvSpPr>
        <p:spPr>
          <a:xfrm>
            <a:off x="1168400" y="7178675"/>
            <a:ext cx="609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1" name="badge @2">
            <a:extLst>
              <a:ext uri="{FF2B5EF4-FFF2-40B4-BE49-F238E27FC236}">
                <a16:creationId xmlns:a16="http://schemas.microsoft.com/office/drawing/2014/main" id="{5F41BA21-C3BE-B8D6-13C8-280665777F4D}"/>
              </a:ext>
            </a:extLst>
          </p:cNvPr>
          <p:cNvSpPr/>
          <p:nvPr/>
        </p:nvSpPr>
        <p:spPr>
          <a:xfrm>
            <a:off x="8128000" y="27051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12" name="lab @2">
            <a:extLst>
              <a:ext uri="{FF2B5EF4-FFF2-40B4-BE49-F238E27FC236}">
                <a16:creationId xmlns:a16="http://schemas.microsoft.com/office/drawing/2014/main" id="{9DEA81D9-6F16-E5C3-56D9-F00C33B0767A}"/>
              </a:ext>
            </a:extLst>
          </p:cNvPr>
          <p:cNvSpPr txBox="1"/>
          <p:nvPr/>
        </p:nvSpPr>
        <p:spPr>
          <a:xfrm>
            <a:off x="8737600" y="2692400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it-IT" sz="1900">
                <a:solidFill>
                  <a:srgbClr val="4F5E66"/>
                </a:solidFill>
                <a:latin typeface="Nunito" pitchFamily="2" charset="0"/>
              </a:rPr>
              <a:t>DC: no gate current, so </a:t>
            </a:r>
            <a:r>
              <a:rPr lang="it-IT" sz="19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it-IT" sz="19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it-IT" sz="19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it-IT" sz="19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it-IT" sz="19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it-IT" sz="1900">
                <a:solidFill>
                  <a:srgbClr val="4F5E66"/>
                </a:solidFill>
                <a:latin typeface="Nunito" pitchFamily="2" charset="0"/>
              </a:rPr>
              <a:t>  (I in mA)</a:t>
            </a:r>
            <a:endParaRPr lang="en-US" sz="1900">
              <a:solidFill>
                <a:srgbClr val="4F5E66"/>
              </a:solidFill>
              <a:latin typeface="Nunito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AF762DD1-ED8C-5433-D34E-0F254AADEE72}"/>
                  </a:ext>
                </a:extLst>
              </p:cNvPr>
              <p:cNvSpPr txBox="1"/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=15−10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(0.25)(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−1.5</m:t>
                      </m:r>
                      <m:sSup>
                        <m:sSup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AF762DD1-ED8C-5433-D34E-0F254AADE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ab @2">
            <a:extLst>
              <a:ext uri="{FF2B5EF4-FFF2-40B4-BE49-F238E27FC236}">
                <a16:creationId xmlns:a16="http://schemas.microsoft.com/office/drawing/2014/main" id="{E050A257-62AB-2E53-FD45-76F1A444164E}"/>
              </a:ext>
            </a:extLst>
          </p:cNvPr>
          <p:cNvSpPr txBox="1"/>
          <p:nvPr/>
        </p:nvSpPr>
        <p:spPr>
          <a:xfrm>
            <a:off x="8737600" y="3707418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1.06 mA,  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4.4 V</a:t>
            </a:r>
          </a:p>
        </p:txBody>
      </p:sp>
      <p:sp>
        <p:nvSpPr>
          <p:cNvPr id="15" name="badge @3">
            <a:extLst>
              <a:ext uri="{FF2B5EF4-FFF2-40B4-BE49-F238E27FC236}">
                <a16:creationId xmlns:a16="http://schemas.microsoft.com/office/drawing/2014/main" id="{17F77B56-BDFD-6977-EF43-1D6987079630}"/>
              </a:ext>
            </a:extLst>
          </p:cNvPr>
          <p:cNvSpPr/>
          <p:nvPr/>
        </p:nvSpPr>
        <p:spPr>
          <a:xfrm>
            <a:off x="8128000" y="4215706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16" name="lab @3">
            <a:extLst>
              <a:ext uri="{FF2B5EF4-FFF2-40B4-BE49-F238E27FC236}">
                <a16:creationId xmlns:a16="http://schemas.microsoft.com/office/drawing/2014/main" id="{43FEBDA8-4927-0C35-8C42-7A9177B3EB6E}"/>
              </a:ext>
            </a:extLst>
          </p:cNvPr>
          <p:cNvSpPr txBox="1"/>
          <p:nvPr/>
        </p:nvSpPr>
        <p:spPr>
          <a:xfrm>
            <a:off x="8737600" y="4203006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F5E66"/>
                </a:solidFill>
                <a:latin typeface="Nunito" pitchFamily="2" charset="0"/>
              </a:rPr>
              <a:t>Small-signal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q @3">
                <a:extLst>
                  <a:ext uri="{FF2B5EF4-FFF2-40B4-BE49-F238E27FC236}">
                    <a16:creationId xmlns:a16="http://schemas.microsoft.com/office/drawing/2014/main" id="{96A01CDD-8229-C29A-AD43-36055381200A}"/>
                  </a:ext>
                </a:extLst>
              </p:cNvPr>
              <p:cNvSpPr txBox="1"/>
              <p:nvPr/>
            </p:nvSpPr>
            <p:spPr>
              <a:xfrm>
                <a:off x="8737600" y="4546193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=0.25(4.4−1.5)=0.728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50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1.06</m:t>
                          </m:r>
                        </m:den>
                      </m:f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=47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k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7" name="eq @3">
                <a:extLst>
                  <a:ext uri="{FF2B5EF4-FFF2-40B4-BE49-F238E27FC236}">
                    <a16:creationId xmlns:a16="http://schemas.microsoft.com/office/drawing/2014/main" id="{96A01CDD-8229-C29A-AD43-360553812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546193"/>
                <a:ext cx="8636000" cy="6718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hrome page">
            <a:extLst>
              <a:ext uri="{FF2B5EF4-FFF2-40B4-BE49-F238E27FC236}">
                <a16:creationId xmlns:a16="http://schemas.microsoft.com/office/drawing/2014/main" id="{AAA34C56-5CB2-ADE0-4FF3-87EF3E9A1B2E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hrome page">
            <a:extLst>
              <a:ext uri="{FF2B5EF4-FFF2-40B4-BE49-F238E27FC236}">
                <a16:creationId xmlns:a16="http://schemas.microsoft.com/office/drawing/2014/main" id="{B5FB07DB-5297-9DDB-5ED7-C83FA5AA5A6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20717065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gain and input resist s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548CCF1-765E-8BC5-8A67-642DB417D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gain and input resistance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C79A94B-94E2-E5D3-3E0B-54BA46974795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4C51EC-DDF6-7FAA-8EC2-72642D6F9DE8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444CCEB-6CAF-0862-955E-DBC98E109D39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70199558-5D26-086A-3034-D60300AEBBF9}"/>
              </a:ext>
            </a:extLst>
          </p:cNvPr>
          <p:cNvSpPr txBox="1"/>
          <p:nvPr/>
        </p:nvSpPr>
        <p:spPr>
          <a:xfrm>
            <a:off x="914400" y="1752599"/>
            <a:ext cx="16459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1.5 V, k′</a:t>
            </a:r>
            <a:r>
              <a:rPr lang="en-US" sz="21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(W/L) = 0.25 mA/V²,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A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50 V. Coupling capacitors are short circuits for the signal. Find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A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o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/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and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in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F234A51B-71A3-B341-54D0-DAC0729735F1}"/>
              </a:ext>
            </a:extLst>
          </p:cNvPr>
          <p:cNvSpPr/>
          <p:nvPr/>
        </p:nvSpPr>
        <p:spPr>
          <a:xfrm>
            <a:off x="914400" y="2730500"/>
            <a:ext cx="6604000" cy="4803775"/>
          </a:xfrm>
          <a:prstGeom prst="roundRect">
            <a:avLst>
              <a:gd name="adj" fmla="val 4759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54F45B8-1984-C39A-6025-F27E58CFFFB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984500"/>
            <a:ext cx="6096000" cy="4067175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DC7B6F0F-A146-329B-6968-BCDEF3F8A785}"/>
              </a:ext>
            </a:extLst>
          </p:cNvPr>
          <p:cNvSpPr txBox="1"/>
          <p:nvPr/>
        </p:nvSpPr>
        <p:spPr>
          <a:xfrm>
            <a:off x="1168400" y="7178675"/>
            <a:ext cx="609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1" name="badge @2">
            <a:extLst>
              <a:ext uri="{FF2B5EF4-FFF2-40B4-BE49-F238E27FC236}">
                <a16:creationId xmlns:a16="http://schemas.microsoft.com/office/drawing/2014/main" id="{5F41BA21-C3BE-B8D6-13C8-280665777F4D}"/>
              </a:ext>
            </a:extLst>
          </p:cNvPr>
          <p:cNvSpPr/>
          <p:nvPr/>
        </p:nvSpPr>
        <p:spPr>
          <a:xfrm>
            <a:off x="8128000" y="27051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12" name="lab @2">
            <a:extLst>
              <a:ext uri="{FF2B5EF4-FFF2-40B4-BE49-F238E27FC236}">
                <a16:creationId xmlns:a16="http://schemas.microsoft.com/office/drawing/2014/main" id="{9DEA81D9-6F16-E5C3-56D9-F00C33B0767A}"/>
              </a:ext>
            </a:extLst>
          </p:cNvPr>
          <p:cNvSpPr txBox="1"/>
          <p:nvPr/>
        </p:nvSpPr>
        <p:spPr>
          <a:xfrm>
            <a:off x="8737600" y="2692400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it-IT" sz="1900">
                <a:solidFill>
                  <a:srgbClr val="4F5E66"/>
                </a:solidFill>
                <a:latin typeface="Nunito" pitchFamily="2" charset="0"/>
              </a:rPr>
              <a:t>DC: no gate current, so </a:t>
            </a:r>
            <a:r>
              <a:rPr lang="it-IT" sz="19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it-IT" sz="19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it-IT" sz="19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it-IT" sz="19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it-IT" sz="19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it-IT" sz="1900">
                <a:solidFill>
                  <a:srgbClr val="4F5E66"/>
                </a:solidFill>
                <a:latin typeface="Nunito" pitchFamily="2" charset="0"/>
              </a:rPr>
              <a:t>  (I in mA)</a:t>
            </a:r>
            <a:endParaRPr lang="en-US" sz="1900">
              <a:solidFill>
                <a:srgbClr val="4F5E66"/>
              </a:solidFill>
              <a:latin typeface="Nunito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AF762DD1-ED8C-5433-D34E-0F254AADEE72}"/>
                  </a:ext>
                </a:extLst>
              </p:cNvPr>
              <p:cNvSpPr txBox="1"/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=15−10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(0.25)(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−1.5</m:t>
                      </m:r>
                      <m:sSup>
                        <m:sSup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AF762DD1-ED8C-5433-D34E-0F254AADE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ab @2">
            <a:extLst>
              <a:ext uri="{FF2B5EF4-FFF2-40B4-BE49-F238E27FC236}">
                <a16:creationId xmlns:a16="http://schemas.microsoft.com/office/drawing/2014/main" id="{E050A257-62AB-2E53-FD45-76F1A444164E}"/>
              </a:ext>
            </a:extLst>
          </p:cNvPr>
          <p:cNvSpPr txBox="1"/>
          <p:nvPr/>
        </p:nvSpPr>
        <p:spPr>
          <a:xfrm>
            <a:off x="8737600" y="3707418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1.06 mA,  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4.4 V</a:t>
            </a:r>
          </a:p>
        </p:txBody>
      </p:sp>
      <p:sp>
        <p:nvSpPr>
          <p:cNvPr id="15" name="badge @3">
            <a:extLst>
              <a:ext uri="{FF2B5EF4-FFF2-40B4-BE49-F238E27FC236}">
                <a16:creationId xmlns:a16="http://schemas.microsoft.com/office/drawing/2014/main" id="{17F77B56-BDFD-6977-EF43-1D6987079630}"/>
              </a:ext>
            </a:extLst>
          </p:cNvPr>
          <p:cNvSpPr/>
          <p:nvPr/>
        </p:nvSpPr>
        <p:spPr>
          <a:xfrm>
            <a:off x="8128000" y="4215706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16" name="lab @3">
            <a:extLst>
              <a:ext uri="{FF2B5EF4-FFF2-40B4-BE49-F238E27FC236}">
                <a16:creationId xmlns:a16="http://schemas.microsoft.com/office/drawing/2014/main" id="{43FEBDA8-4927-0C35-8C42-7A9177B3EB6E}"/>
              </a:ext>
            </a:extLst>
          </p:cNvPr>
          <p:cNvSpPr txBox="1"/>
          <p:nvPr/>
        </p:nvSpPr>
        <p:spPr>
          <a:xfrm>
            <a:off x="8737600" y="4203006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F5E66"/>
                </a:solidFill>
                <a:latin typeface="Nunito" pitchFamily="2" charset="0"/>
              </a:rPr>
              <a:t>Small-signal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q @3">
                <a:extLst>
                  <a:ext uri="{FF2B5EF4-FFF2-40B4-BE49-F238E27FC236}">
                    <a16:creationId xmlns:a16="http://schemas.microsoft.com/office/drawing/2014/main" id="{96A01CDD-8229-C29A-AD43-36055381200A}"/>
                  </a:ext>
                </a:extLst>
              </p:cNvPr>
              <p:cNvSpPr txBox="1"/>
              <p:nvPr/>
            </p:nvSpPr>
            <p:spPr>
              <a:xfrm>
                <a:off x="8737600" y="4546193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=0.25(4.4−1.5)=0.728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50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1.06</m:t>
                          </m:r>
                        </m:den>
                      </m:f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=47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k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7" name="eq @3">
                <a:extLst>
                  <a:ext uri="{FF2B5EF4-FFF2-40B4-BE49-F238E27FC236}">
                    <a16:creationId xmlns:a16="http://schemas.microsoft.com/office/drawing/2014/main" id="{96A01CDD-8229-C29A-AD43-360553812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546193"/>
                <a:ext cx="8636000" cy="6718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badge @4">
            <a:extLst>
              <a:ext uri="{FF2B5EF4-FFF2-40B4-BE49-F238E27FC236}">
                <a16:creationId xmlns:a16="http://schemas.microsoft.com/office/drawing/2014/main" id="{8C1C7B64-D6AB-9856-778D-FC5E1CFF1FE6}"/>
              </a:ext>
            </a:extLst>
          </p:cNvPr>
          <p:cNvSpPr/>
          <p:nvPr/>
        </p:nvSpPr>
        <p:spPr>
          <a:xfrm>
            <a:off x="8128000" y="5433924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19" name="lab @4">
            <a:extLst>
              <a:ext uri="{FF2B5EF4-FFF2-40B4-BE49-F238E27FC236}">
                <a16:creationId xmlns:a16="http://schemas.microsoft.com/office/drawing/2014/main" id="{BCFF208D-2C0E-574B-19D3-2C4D775FD3B6}"/>
              </a:ext>
            </a:extLst>
          </p:cNvPr>
          <p:cNvSpPr txBox="1"/>
          <p:nvPr/>
        </p:nvSpPr>
        <p:spPr>
          <a:xfrm>
            <a:off x="8737600" y="5421224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F5E66"/>
                </a:solidFill>
                <a:latin typeface="Nunito" pitchFamily="2" charset="0"/>
              </a:rPr>
              <a:t>Gain (</a:t>
            </a:r>
            <a:r>
              <a:rPr lang="en-US" sz="1900" i="1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1900">
                <a:solidFill>
                  <a:srgbClr val="4F5E66"/>
                </a:solidFill>
                <a:latin typeface="Nunito" pitchFamily="2" charset="0"/>
              </a:rPr>
              <a:t> carries negligible signal current)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 @4">
                <a:extLst>
                  <a:ext uri="{FF2B5EF4-FFF2-40B4-BE49-F238E27FC236}">
                    <a16:creationId xmlns:a16="http://schemas.microsoft.com/office/drawing/2014/main" id="{BF8164F1-E827-AD1C-111B-CE141B7AFB8F}"/>
                  </a:ext>
                </a:extLst>
              </p:cNvPr>
              <p:cNvSpPr txBox="1"/>
              <p:nvPr/>
            </p:nvSpPr>
            <p:spPr>
              <a:xfrm>
                <a:off x="8737600" y="5764411"/>
                <a:ext cx="8636000" cy="4381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≈−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)=−0.728(4.52)=−3.29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0" name="eq @4">
                <a:extLst>
                  <a:ext uri="{FF2B5EF4-FFF2-40B4-BE49-F238E27FC236}">
                    <a16:creationId xmlns:a16="http://schemas.microsoft.com/office/drawing/2014/main" id="{BF8164F1-E827-AD1C-111B-CE141B7AF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5764411"/>
                <a:ext cx="8636000" cy="438150"/>
              </a:xfrm>
              <a:prstGeom prst="rect">
                <a:avLst/>
              </a:prstGeom>
              <a:blipFill>
                <a:blip r:embed="rId5"/>
                <a:stretch>
                  <a:fillRect l="-1129" b="-2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hrome page">
            <a:extLst>
              <a:ext uri="{FF2B5EF4-FFF2-40B4-BE49-F238E27FC236}">
                <a16:creationId xmlns:a16="http://schemas.microsoft.com/office/drawing/2014/main" id="{29BEBBBD-E7DB-3CFC-582D-91840D70034A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hrome page">
            <a:extLst>
              <a:ext uri="{FF2B5EF4-FFF2-40B4-BE49-F238E27FC236}">
                <a16:creationId xmlns:a16="http://schemas.microsoft.com/office/drawing/2014/main" id="{19F36D8C-0164-EB3E-677B-25C9DD6FE108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20487528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gain and input resist s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548CCF1-765E-8BC5-8A67-642DB417D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gain and input resistance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C79A94B-94E2-E5D3-3E0B-54BA46974795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4C51EC-DDF6-7FAA-8EC2-72642D6F9DE8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444CCEB-6CAF-0862-955E-DBC98E109D39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70199558-5D26-086A-3034-D60300AEBBF9}"/>
              </a:ext>
            </a:extLst>
          </p:cNvPr>
          <p:cNvSpPr txBox="1"/>
          <p:nvPr/>
        </p:nvSpPr>
        <p:spPr>
          <a:xfrm>
            <a:off x="914400" y="1752599"/>
            <a:ext cx="16459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1.5 V, k′</a:t>
            </a:r>
            <a:r>
              <a:rPr lang="en-US" sz="21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(W/L) = 0.25 mA/V²,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A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50 V. Coupling capacitors are short circuits for the signal. Find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A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o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/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and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in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F234A51B-71A3-B341-54D0-DAC0729735F1}"/>
              </a:ext>
            </a:extLst>
          </p:cNvPr>
          <p:cNvSpPr/>
          <p:nvPr/>
        </p:nvSpPr>
        <p:spPr>
          <a:xfrm>
            <a:off x="914400" y="2730500"/>
            <a:ext cx="6604000" cy="4803775"/>
          </a:xfrm>
          <a:prstGeom prst="roundRect">
            <a:avLst>
              <a:gd name="adj" fmla="val 4759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54F45B8-1984-C39A-6025-F27E58CFFFB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984500"/>
            <a:ext cx="6096000" cy="4067175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DC7B6F0F-A146-329B-6968-BCDEF3F8A785}"/>
              </a:ext>
            </a:extLst>
          </p:cNvPr>
          <p:cNvSpPr txBox="1"/>
          <p:nvPr/>
        </p:nvSpPr>
        <p:spPr>
          <a:xfrm>
            <a:off x="1168400" y="7178675"/>
            <a:ext cx="609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1" name="badge @2">
            <a:extLst>
              <a:ext uri="{FF2B5EF4-FFF2-40B4-BE49-F238E27FC236}">
                <a16:creationId xmlns:a16="http://schemas.microsoft.com/office/drawing/2014/main" id="{5F41BA21-C3BE-B8D6-13C8-280665777F4D}"/>
              </a:ext>
            </a:extLst>
          </p:cNvPr>
          <p:cNvSpPr/>
          <p:nvPr/>
        </p:nvSpPr>
        <p:spPr>
          <a:xfrm>
            <a:off x="8128000" y="27051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12" name="lab @2">
            <a:extLst>
              <a:ext uri="{FF2B5EF4-FFF2-40B4-BE49-F238E27FC236}">
                <a16:creationId xmlns:a16="http://schemas.microsoft.com/office/drawing/2014/main" id="{9DEA81D9-6F16-E5C3-56D9-F00C33B0767A}"/>
              </a:ext>
            </a:extLst>
          </p:cNvPr>
          <p:cNvSpPr txBox="1"/>
          <p:nvPr/>
        </p:nvSpPr>
        <p:spPr>
          <a:xfrm>
            <a:off x="8737600" y="2692400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it-IT" sz="1900">
                <a:solidFill>
                  <a:srgbClr val="4F5E66"/>
                </a:solidFill>
                <a:latin typeface="Nunito" pitchFamily="2" charset="0"/>
              </a:rPr>
              <a:t>DC: no gate current, so </a:t>
            </a:r>
            <a:r>
              <a:rPr lang="it-IT" sz="19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it-IT" sz="19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it-IT" sz="19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it-IT" sz="19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it-IT" sz="19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it-IT" sz="1900">
                <a:solidFill>
                  <a:srgbClr val="4F5E66"/>
                </a:solidFill>
                <a:latin typeface="Nunito" pitchFamily="2" charset="0"/>
              </a:rPr>
              <a:t>  (I in mA)</a:t>
            </a:r>
            <a:endParaRPr lang="en-US" sz="1900">
              <a:solidFill>
                <a:srgbClr val="4F5E66"/>
              </a:solidFill>
              <a:latin typeface="Nunito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AF762DD1-ED8C-5433-D34E-0F254AADEE72}"/>
                  </a:ext>
                </a:extLst>
              </p:cNvPr>
              <p:cNvSpPr txBox="1"/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=15−10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(0.25)(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−1.5</m:t>
                      </m:r>
                      <m:sSup>
                        <m:sSup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AF762DD1-ED8C-5433-D34E-0F254AADE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ab @2">
            <a:extLst>
              <a:ext uri="{FF2B5EF4-FFF2-40B4-BE49-F238E27FC236}">
                <a16:creationId xmlns:a16="http://schemas.microsoft.com/office/drawing/2014/main" id="{E050A257-62AB-2E53-FD45-76F1A444164E}"/>
              </a:ext>
            </a:extLst>
          </p:cNvPr>
          <p:cNvSpPr txBox="1"/>
          <p:nvPr/>
        </p:nvSpPr>
        <p:spPr>
          <a:xfrm>
            <a:off x="8737600" y="3707418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1.06 mA,  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4.4 V</a:t>
            </a:r>
          </a:p>
        </p:txBody>
      </p:sp>
      <p:sp>
        <p:nvSpPr>
          <p:cNvPr id="15" name="badge @3">
            <a:extLst>
              <a:ext uri="{FF2B5EF4-FFF2-40B4-BE49-F238E27FC236}">
                <a16:creationId xmlns:a16="http://schemas.microsoft.com/office/drawing/2014/main" id="{17F77B56-BDFD-6977-EF43-1D6987079630}"/>
              </a:ext>
            </a:extLst>
          </p:cNvPr>
          <p:cNvSpPr/>
          <p:nvPr/>
        </p:nvSpPr>
        <p:spPr>
          <a:xfrm>
            <a:off x="8128000" y="4215706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16" name="lab @3">
            <a:extLst>
              <a:ext uri="{FF2B5EF4-FFF2-40B4-BE49-F238E27FC236}">
                <a16:creationId xmlns:a16="http://schemas.microsoft.com/office/drawing/2014/main" id="{43FEBDA8-4927-0C35-8C42-7A9177B3EB6E}"/>
              </a:ext>
            </a:extLst>
          </p:cNvPr>
          <p:cNvSpPr txBox="1"/>
          <p:nvPr/>
        </p:nvSpPr>
        <p:spPr>
          <a:xfrm>
            <a:off x="8737600" y="4203006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F5E66"/>
                </a:solidFill>
                <a:latin typeface="Nunito" pitchFamily="2" charset="0"/>
              </a:rPr>
              <a:t>Small-signal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q @3">
                <a:extLst>
                  <a:ext uri="{FF2B5EF4-FFF2-40B4-BE49-F238E27FC236}">
                    <a16:creationId xmlns:a16="http://schemas.microsoft.com/office/drawing/2014/main" id="{96A01CDD-8229-C29A-AD43-36055381200A}"/>
                  </a:ext>
                </a:extLst>
              </p:cNvPr>
              <p:cNvSpPr txBox="1"/>
              <p:nvPr/>
            </p:nvSpPr>
            <p:spPr>
              <a:xfrm>
                <a:off x="8737600" y="4546193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=0.25(4.4−1.5)=0.728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50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1.06</m:t>
                          </m:r>
                        </m:den>
                      </m:f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=47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k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7" name="eq @3">
                <a:extLst>
                  <a:ext uri="{FF2B5EF4-FFF2-40B4-BE49-F238E27FC236}">
                    <a16:creationId xmlns:a16="http://schemas.microsoft.com/office/drawing/2014/main" id="{96A01CDD-8229-C29A-AD43-360553812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546193"/>
                <a:ext cx="8636000" cy="6718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badge @4">
            <a:extLst>
              <a:ext uri="{FF2B5EF4-FFF2-40B4-BE49-F238E27FC236}">
                <a16:creationId xmlns:a16="http://schemas.microsoft.com/office/drawing/2014/main" id="{8C1C7B64-D6AB-9856-778D-FC5E1CFF1FE6}"/>
              </a:ext>
            </a:extLst>
          </p:cNvPr>
          <p:cNvSpPr/>
          <p:nvPr/>
        </p:nvSpPr>
        <p:spPr>
          <a:xfrm>
            <a:off x="8128000" y="5433924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19" name="lab @4">
            <a:extLst>
              <a:ext uri="{FF2B5EF4-FFF2-40B4-BE49-F238E27FC236}">
                <a16:creationId xmlns:a16="http://schemas.microsoft.com/office/drawing/2014/main" id="{BCFF208D-2C0E-574B-19D3-2C4D775FD3B6}"/>
              </a:ext>
            </a:extLst>
          </p:cNvPr>
          <p:cNvSpPr txBox="1"/>
          <p:nvPr/>
        </p:nvSpPr>
        <p:spPr>
          <a:xfrm>
            <a:off x="8737600" y="5421224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F5E66"/>
                </a:solidFill>
                <a:latin typeface="Nunito" pitchFamily="2" charset="0"/>
              </a:rPr>
              <a:t>Gain (</a:t>
            </a:r>
            <a:r>
              <a:rPr lang="en-US" sz="1900" i="1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1900">
                <a:solidFill>
                  <a:srgbClr val="4F5E66"/>
                </a:solidFill>
                <a:latin typeface="Nunito" pitchFamily="2" charset="0"/>
              </a:rPr>
              <a:t> carries negligible signal current)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 @4">
                <a:extLst>
                  <a:ext uri="{FF2B5EF4-FFF2-40B4-BE49-F238E27FC236}">
                    <a16:creationId xmlns:a16="http://schemas.microsoft.com/office/drawing/2014/main" id="{BF8164F1-E827-AD1C-111B-CE141B7AFB8F}"/>
                  </a:ext>
                </a:extLst>
              </p:cNvPr>
              <p:cNvSpPr txBox="1"/>
              <p:nvPr/>
            </p:nvSpPr>
            <p:spPr>
              <a:xfrm>
                <a:off x="8737600" y="5764411"/>
                <a:ext cx="8636000" cy="4381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≈−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)=−0.728(4.52)=−3.29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0" name="eq @4">
                <a:extLst>
                  <a:ext uri="{FF2B5EF4-FFF2-40B4-BE49-F238E27FC236}">
                    <a16:creationId xmlns:a16="http://schemas.microsoft.com/office/drawing/2014/main" id="{BF8164F1-E827-AD1C-111B-CE141B7AF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5764411"/>
                <a:ext cx="8636000" cy="438150"/>
              </a:xfrm>
              <a:prstGeom prst="rect">
                <a:avLst/>
              </a:prstGeom>
              <a:blipFill>
                <a:blip r:embed="rId5"/>
                <a:stretch>
                  <a:fillRect l="-1129" b="-2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badge @5">
            <a:extLst>
              <a:ext uri="{FF2B5EF4-FFF2-40B4-BE49-F238E27FC236}">
                <a16:creationId xmlns:a16="http://schemas.microsoft.com/office/drawing/2014/main" id="{EF657968-9F6B-16FF-F053-B20E0CECC1BD}"/>
              </a:ext>
            </a:extLst>
          </p:cNvPr>
          <p:cNvSpPr/>
          <p:nvPr/>
        </p:nvSpPr>
        <p:spPr>
          <a:xfrm>
            <a:off x="8128000" y="6418462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  <p:sp>
        <p:nvSpPr>
          <p:cNvPr id="22" name="lab @5">
            <a:extLst>
              <a:ext uri="{FF2B5EF4-FFF2-40B4-BE49-F238E27FC236}">
                <a16:creationId xmlns:a16="http://schemas.microsoft.com/office/drawing/2014/main" id="{8A3375EB-179B-0BB2-27BD-FCB0A3B6EB37}"/>
              </a:ext>
            </a:extLst>
          </p:cNvPr>
          <p:cNvSpPr txBox="1"/>
          <p:nvPr/>
        </p:nvSpPr>
        <p:spPr>
          <a:xfrm>
            <a:off x="8737600" y="6405762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F5E66"/>
                </a:solidFill>
                <a:latin typeface="Nunito" pitchFamily="2" charset="0"/>
              </a:rPr>
              <a:t>Input resistance: </a:t>
            </a:r>
            <a:r>
              <a:rPr lang="en-US" sz="1900" i="1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1900">
                <a:solidFill>
                  <a:srgbClr val="4F5E66"/>
                </a:solidFill>
                <a:latin typeface="Nunito" pitchFamily="2" charset="0"/>
              </a:rPr>
              <a:t> bridges input and output (Miller effect)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eq @5">
                <a:extLst>
                  <a:ext uri="{FF2B5EF4-FFF2-40B4-BE49-F238E27FC236}">
                    <a16:creationId xmlns:a16="http://schemas.microsoft.com/office/drawing/2014/main" id="{494D8D52-9F07-0932-D3D2-506F9B870C81}"/>
                  </a:ext>
                </a:extLst>
              </p:cNvPr>
              <p:cNvSpPr txBox="1"/>
              <p:nvPr/>
            </p:nvSpPr>
            <p:spPr>
              <a:xfrm>
                <a:off x="8737600" y="6748949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𝑖𝑛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3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3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3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</m:sub>
                          </m:sSub>
                        </m:num>
                        <m:den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3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3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3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sub>
                          </m:sSub>
                        </m:den>
                      </m:f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4.29</m:t>
                          </m:r>
                        </m:den>
                      </m:f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=2.33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M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3" name="eq @5">
                <a:extLst>
                  <a:ext uri="{FF2B5EF4-FFF2-40B4-BE49-F238E27FC236}">
                    <a16:creationId xmlns:a16="http://schemas.microsoft.com/office/drawing/2014/main" id="{494D8D52-9F07-0932-D3D2-506F9B870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6748949"/>
                <a:ext cx="8636000" cy="671830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nswer @5">
            <a:extLst>
              <a:ext uri="{FF2B5EF4-FFF2-40B4-BE49-F238E27FC236}">
                <a16:creationId xmlns:a16="http://schemas.microsoft.com/office/drawing/2014/main" id="{D19F656F-8137-FC49-B2D6-9CA8D3A9A46B}"/>
              </a:ext>
            </a:extLst>
          </p:cNvPr>
          <p:cNvSpPr/>
          <p:nvPr/>
        </p:nvSpPr>
        <p:spPr>
          <a:xfrm>
            <a:off x="8737600" y="7547780"/>
            <a:ext cx="2890520" cy="530860"/>
          </a:xfrm>
          <a:prstGeom prst="roundRect">
            <a:avLst>
              <a:gd name="adj" fmla="val 50000"/>
            </a:avLst>
          </a:prstGeom>
          <a:solidFill>
            <a:srgbClr val="C24E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nswer @5">
            <a:extLst>
              <a:ext uri="{FF2B5EF4-FFF2-40B4-BE49-F238E27FC236}">
                <a16:creationId xmlns:a16="http://schemas.microsoft.com/office/drawing/2014/main" id="{F9F26032-A7C0-9E44-3A08-CC99AE8CF08A}"/>
              </a:ext>
            </a:extLst>
          </p:cNvPr>
          <p:cNvSpPr txBox="1"/>
          <p:nvPr/>
        </p:nvSpPr>
        <p:spPr>
          <a:xfrm>
            <a:off x="8737600" y="7547779"/>
            <a:ext cx="289052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200" b="1" i="1">
                <a:solidFill>
                  <a:srgbClr val="FFFFFF"/>
                </a:solidFill>
                <a:latin typeface="Poppins" panose="00000500000000000000" pitchFamily="2" charset="0"/>
              </a:rPr>
              <a:t>A</a:t>
            </a:r>
            <a:r>
              <a:rPr lang="en-US" sz="2200" b="1" i="1" baseline="-25000">
                <a:solidFill>
                  <a:srgbClr val="FFFFFF"/>
                </a:solidFill>
                <a:latin typeface="Poppins" panose="00000500000000000000" pitchFamily="2" charset="0"/>
              </a:rPr>
              <a:t>v</a:t>
            </a:r>
            <a:r>
              <a:rPr lang="en-US" sz="2200" b="1">
                <a:solidFill>
                  <a:srgbClr val="FFFFFF"/>
                </a:solidFill>
                <a:latin typeface="Poppins" panose="00000500000000000000" pitchFamily="2" charset="0"/>
              </a:rPr>
              <a:t> ≈ −3.3 V/V</a:t>
            </a:r>
          </a:p>
        </p:txBody>
      </p:sp>
      <p:sp>
        <p:nvSpPr>
          <p:cNvPr id="26" name="answer @5">
            <a:extLst>
              <a:ext uri="{FF2B5EF4-FFF2-40B4-BE49-F238E27FC236}">
                <a16:creationId xmlns:a16="http://schemas.microsoft.com/office/drawing/2014/main" id="{D8B2A317-014C-0771-5A3B-574C91C4CF62}"/>
              </a:ext>
            </a:extLst>
          </p:cNvPr>
          <p:cNvSpPr/>
          <p:nvPr/>
        </p:nvSpPr>
        <p:spPr>
          <a:xfrm>
            <a:off x="11882120" y="7547780"/>
            <a:ext cx="2890519" cy="530860"/>
          </a:xfrm>
          <a:prstGeom prst="roundRect">
            <a:avLst>
              <a:gd name="adj" fmla="val 50000"/>
            </a:avLst>
          </a:prstGeom>
          <a:solidFill>
            <a:srgbClr val="C24E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nswer @5">
            <a:extLst>
              <a:ext uri="{FF2B5EF4-FFF2-40B4-BE49-F238E27FC236}">
                <a16:creationId xmlns:a16="http://schemas.microsoft.com/office/drawing/2014/main" id="{0E5275BE-4E0E-D565-4C72-2AF13A4ED034}"/>
              </a:ext>
            </a:extLst>
          </p:cNvPr>
          <p:cNvSpPr txBox="1"/>
          <p:nvPr/>
        </p:nvSpPr>
        <p:spPr>
          <a:xfrm>
            <a:off x="11882120" y="7547779"/>
            <a:ext cx="289052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200" b="1" i="1">
                <a:solidFill>
                  <a:srgbClr val="FFFFFF"/>
                </a:solidFill>
                <a:latin typeface="Poppins" panose="00000500000000000000" pitchFamily="2" charset="0"/>
              </a:rPr>
              <a:t>R</a:t>
            </a:r>
            <a:r>
              <a:rPr lang="en-US" sz="2200" b="1" i="1" baseline="-25000">
                <a:solidFill>
                  <a:srgbClr val="FFFFFF"/>
                </a:solidFill>
                <a:latin typeface="Poppins" panose="00000500000000000000" pitchFamily="2" charset="0"/>
              </a:rPr>
              <a:t>in</a:t>
            </a:r>
            <a:r>
              <a:rPr lang="en-US" sz="2200" b="1">
                <a:solidFill>
                  <a:srgbClr val="FFFFFF"/>
                </a:solidFill>
                <a:latin typeface="Poppins" panose="00000500000000000000" pitchFamily="2" charset="0"/>
              </a:rPr>
              <a:t> = 2.33 M</a:t>
            </a:r>
            <a:r>
              <a:rPr lang="el-GR" sz="2200" b="1">
                <a:solidFill>
                  <a:srgbClr val="FFFFFF"/>
                </a:solidFill>
              </a:rPr>
              <a:t>Ω</a:t>
            </a:r>
            <a:endParaRPr lang="en-US" sz="2200" b="1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61A9DCB4-80EA-366C-344C-35367522B54F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hrome page">
            <a:extLst>
              <a:ext uri="{FF2B5EF4-FFF2-40B4-BE49-F238E27FC236}">
                <a16:creationId xmlns:a16="http://schemas.microsoft.com/office/drawing/2014/main" id="{A48375B2-A38F-4689-6D23-9E6D9869A2D8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34004298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5D073DAB-5D3A-84E1-8250-62CECA626F5E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13C9A11-F799-8A5E-B24F-5584D70D4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2920999"/>
            <a:ext cx="7112000" cy="2286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The MOSFET as a switch</a:t>
            </a:r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63272DB8-FE7A-6287-74EA-5279715B2A16}"/>
              </a:ext>
            </a:extLst>
          </p:cNvPr>
          <p:cNvSpPr/>
          <p:nvPr/>
        </p:nvSpPr>
        <p:spPr>
          <a:xfrm>
            <a:off x="1549400" y="2921000"/>
            <a:ext cx="2667000" cy="266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0" b="1">
                <a:solidFill>
                  <a:srgbClr val="FFFFFF"/>
                </a:solidFill>
                <a:latin typeface="Poppins" panose="00000500000000000000" pitchFamily="2" charset="0"/>
              </a:rPr>
              <a:t>5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C2813172-8C9A-A88A-6857-D2706776A3C0}"/>
              </a:ext>
            </a:extLst>
          </p:cNvPr>
          <p:cNvSpPr txBox="1"/>
          <p:nvPr/>
        </p:nvSpPr>
        <p:spPr>
          <a:xfrm>
            <a:off x="4724400" y="59689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Cutoff: an open switch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45A5053E-CAB3-2D73-D4BF-5D207EFBC653}"/>
              </a:ext>
            </a:extLst>
          </p:cNvPr>
          <p:cNvSpPr txBox="1"/>
          <p:nvPr/>
        </p:nvSpPr>
        <p:spPr>
          <a:xfrm>
            <a:off x="4724400" y="65023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Deep triode: a closed switch</a:t>
            </a:r>
          </a:p>
        </p:txBody>
      </p:sp>
      <p:cxnSp>
        <p:nvCxnSpPr>
          <p:cNvPr id="7" name="motif">
            <a:extLst>
              <a:ext uri="{FF2B5EF4-FFF2-40B4-BE49-F238E27FC236}">
                <a16:creationId xmlns:a16="http://schemas.microsoft.com/office/drawing/2014/main" id="{ACC1E6F8-538A-C3DB-251C-EDB0EC8F5839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motif">
            <a:extLst>
              <a:ext uri="{FF2B5EF4-FFF2-40B4-BE49-F238E27FC236}">
                <a16:creationId xmlns:a16="http://schemas.microsoft.com/office/drawing/2014/main" id="{D1B0CBEA-2192-B67C-4C45-624551195D5B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motif">
            <a:extLst>
              <a:ext uri="{FF2B5EF4-FFF2-40B4-BE49-F238E27FC236}">
                <a16:creationId xmlns:a16="http://schemas.microsoft.com/office/drawing/2014/main" id="{E19E9AB6-960F-3D7C-1435-F5EFAAC958E1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otif">
            <a:extLst>
              <a:ext uri="{FF2B5EF4-FFF2-40B4-BE49-F238E27FC236}">
                <a16:creationId xmlns:a16="http://schemas.microsoft.com/office/drawing/2014/main" id="{33307E76-960F-F975-0794-B1233E415D6B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6C6951BF-1264-8B23-6E21-B3BF2692DEA8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motif">
            <a:extLst>
              <a:ext uri="{FF2B5EF4-FFF2-40B4-BE49-F238E27FC236}">
                <a16:creationId xmlns:a16="http://schemas.microsoft.com/office/drawing/2014/main" id="{606D7A4D-6A5B-6489-0684-A6B5FE091CEA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otif">
            <a:extLst>
              <a:ext uri="{FF2B5EF4-FFF2-40B4-BE49-F238E27FC236}">
                <a16:creationId xmlns:a16="http://schemas.microsoft.com/office/drawing/2014/main" id="{D4F13391-9311-57A5-1A14-B9A1BA3A028B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otif">
            <a:extLst>
              <a:ext uri="{FF2B5EF4-FFF2-40B4-BE49-F238E27FC236}">
                <a16:creationId xmlns:a16="http://schemas.microsoft.com/office/drawing/2014/main" id="{F9A299FA-6786-AD85-BCD8-D47A75977BED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tif">
            <a:extLst>
              <a:ext uri="{FF2B5EF4-FFF2-40B4-BE49-F238E27FC236}">
                <a16:creationId xmlns:a16="http://schemas.microsoft.com/office/drawing/2014/main" id="{B98B62B5-1B34-124E-7C0A-09A238176E67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B03727DF-BE46-C6DD-A91E-211557BCB659}"/>
              </a:ext>
            </a:extLst>
          </p:cNvPr>
          <p:cNvSpPr/>
          <p:nvPr/>
        </p:nvSpPr>
        <p:spPr>
          <a:xfrm>
            <a:off x="12700000" y="38100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DBF945BD-1594-1B0B-4302-1BC6467B4D32}"/>
              </a:ext>
            </a:extLst>
          </p:cNvPr>
          <p:cNvSpPr txBox="1"/>
          <p:nvPr/>
        </p:nvSpPr>
        <p:spPr>
          <a:xfrm>
            <a:off x="12979400" y="38099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1   Structure and operation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915F6DF9-DD36-9501-BCD6-93E71609F2BC}"/>
              </a:ext>
            </a:extLst>
          </p:cNvPr>
          <p:cNvSpPr/>
          <p:nvPr/>
        </p:nvSpPr>
        <p:spPr>
          <a:xfrm>
            <a:off x="12700000" y="45974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1A8A0AD0-26D1-5010-5775-8A9DCF3795CE}"/>
              </a:ext>
            </a:extLst>
          </p:cNvPr>
          <p:cNvSpPr txBox="1"/>
          <p:nvPr/>
        </p:nvSpPr>
        <p:spPr>
          <a:xfrm>
            <a:off x="12979400" y="45973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2   I–V characteristics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81718F7F-3800-4EB7-782C-45A3349BDA57}"/>
              </a:ext>
            </a:extLst>
          </p:cNvPr>
          <p:cNvSpPr/>
          <p:nvPr/>
        </p:nvSpPr>
        <p:spPr>
          <a:xfrm>
            <a:off x="12700000" y="53848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9BF90A51-46B9-21CB-B1FE-F5D44EF541A9}"/>
              </a:ext>
            </a:extLst>
          </p:cNvPr>
          <p:cNvSpPr txBox="1"/>
          <p:nvPr/>
        </p:nvSpPr>
        <p:spPr>
          <a:xfrm>
            <a:off x="12979400" y="53847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3   MOSFETs in DC circuits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D81F7DAD-3A53-C6E1-65C1-9358662F8A6E}"/>
              </a:ext>
            </a:extLst>
          </p:cNvPr>
          <p:cNvSpPr/>
          <p:nvPr/>
        </p:nvSpPr>
        <p:spPr>
          <a:xfrm>
            <a:off x="12700000" y="61722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586E2423-1AF3-0820-D240-31875AE7443D}"/>
              </a:ext>
            </a:extLst>
          </p:cNvPr>
          <p:cNvSpPr txBox="1"/>
          <p:nvPr/>
        </p:nvSpPr>
        <p:spPr>
          <a:xfrm>
            <a:off x="12979400" y="61721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4   The MOSFET as an amplifier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D16AD227-A692-5308-AD51-0393F8D4B48A}"/>
              </a:ext>
            </a:extLst>
          </p:cNvPr>
          <p:cNvSpPr/>
          <p:nvPr/>
        </p:nvSpPr>
        <p:spPr>
          <a:xfrm>
            <a:off x="12700000" y="69596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885FD6BA-E3C9-DC42-32F5-4B28A7DCD401}"/>
              </a:ext>
            </a:extLst>
          </p:cNvPr>
          <p:cNvSpPr txBox="1"/>
          <p:nvPr/>
        </p:nvSpPr>
        <p:spPr>
          <a:xfrm>
            <a:off x="12979400" y="69595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5 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12156962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MOSFET as a switch s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EA92425-0EF7-878E-488C-8DFD73F0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MOSFET as a switch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FFF5B7E-73DD-6723-80CD-0207E5FFEBFA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5 · The MOSFET as a switch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970616F-4DE1-7A45-C467-63A8384CE169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0D275CC-EEA7-AFD9-19B7-74A0566688B6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0CA32BC-4DD3-8937-8E1F-1460DA821A4D}"/>
              </a:ext>
            </a:extLst>
          </p:cNvPr>
          <p:cNvSpPr/>
          <p:nvPr/>
        </p:nvSpPr>
        <p:spPr>
          <a:xfrm>
            <a:off x="914400" y="2222500"/>
            <a:ext cx="8128000" cy="4788102"/>
          </a:xfrm>
          <a:prstGeom prst="roundRect">
            <a:avLst>
              <a:gd name="adj" fmla="val 4774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F9720E94-8E73-ECFE-FE6A-9BAF0CB396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4051502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01AB9A50-C94E-095B-5690-96288453E92A}"/>
              </a:ext>
            </a:extLst>
          </p:cNvPr>
          <p:cNvSpPr txBox="1"/>
          <p:nvPr/>
        </p:nvSpPr>
        <p:spPr>
          <a:xfrm>
            <a:off x="1168400" y="6655002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E44D2A96-1B5A-A158-2216-BA2D44C6A241}"/>
              </a:ext>
            </a:extLst>
          </p:cNvPr>
          <p:cNvSpPr txBox="1"/>
          <p:nvPr/>
        </p:nvSpPr>
        <p:spPr>
          <a:xfrm>
            <a:off x="9652000" y="2413000"/>
            <a:ext cx="7721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: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cutoff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 The switch is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open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and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= 0.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314BED21-E35E-A412-DBCF-CC73007C62A6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E4FF47BB-06FD-C273-19F4-5DB4C01D9EA5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20865557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MOSFET as a switch s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EA92425-0EF7-878E-488C-8DFD73F0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MOSFET as a switch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FFF5B7E-73DD-6723-80CD-0207E5FFEBFA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5 · The MOSFET as a switch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970616F-4DE1-7A45-C467-63A8384CE169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0D275CC-EEA7-AFD9-19B7-74A0566688B6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0CA32BC-4DD3-8937-8E1F-1460DA821A4D}"/>
              </a:ext>
            </a:extLst>
          </p:cNvPr>
          <p:cNvSpPr/>
          <p:nvPr/>
        </p:nvSpPr>
        <p:spPr>
          <a:xfrm>
            <a:off x="914400" y="2222500"/>
            <a:ext cx="8128000" cy="4788102"/>
          </a:xfrm>
          <a:prstGeom prst="roundRect">
            <a:avLst>
              <a:gd name="adj" fmla="val 4774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F9720E94-8E73-ECFE-FE6A-9BAF0CB396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4051502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01AB9A50-C94E-095B-5690-96288453E92A}"/>
              </a:ext>
            </a:extLst>
          </p:cNvPr>
          <p:cNvSpPr txBox="1"/>
          <p:nvPr/>
        </p:nvSpPr>
        <p:spPr>
          <a:xfrm>
            <a:off x="1168400" y="6655002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E44D2A96-1B5A-A158-2216-BA2D44C6A241}"/>
              </a:ext>
            </a:extLst>
          </p:cNvPr>
          <p:cNvSpPr txBox="1"/>
          <p:nvPr/>
        </p:nvSpPr>
        <p:spPr>
          <a:xfrm>
            <a:off x="9652000" y="2413000"/>
            <a:ext cx="7721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: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cutoff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 The switch is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open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and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= 0.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435131E4-3B4C-BD0A-5B8E-944E0E7FC4DC}"/>
              </a:ext>
            </a:extLst>
          </p:cNvPr>
          <p:cNvSpPr txBox="1"/>
          <p:nvPr/>
        </p:nvSpPr>
        <p:spPr>
          <a:xfrm>
            <a:off x="9652000" y="3075582"/>
            <a:ext cx="7721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high and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small: deep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triode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 The switch is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closed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, with a small resistance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AAA3B42B-C8C9-092D-9018-16BD43212AED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60DE39BE-120C-D44F-804E-A627C5512A3F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159987564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MOSFET as a switch s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EA92425-0EF7-878E-488C-8DFD73F0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MOSFET as a switch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FFF5B7E-73DD-6723-80CD-0207E5FFEBFA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5 · The MOSFET as a switch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970616F-4DE1-7A45-C467-63A8384CE169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0D275CC-EEA7-AFD9-19B7-74A0566688B6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0CA32BC-4DD3-8937-8E1F-1460DA821A4D}"/>
              </a:ext>
            </a:extLst>
          </p:cNvPr>
          <p:cNvSpPr/>
          <p:nvPr/>
        </p:nvSpPr>
        <p:spPr>
          <a:xfrm>
            <a:off x="914400" y="2222500"/>
            <a:ext cx="8128000" cy="4788102"/>
          </a:xfrm>
          <a:prstGeom prst="roundRect">
            <a:avLst>
              <a:gd name="adj" fmla="val 4774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F9720E94-8E73-ECFE-FE6A-9BAF0CB396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4051502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01AB9A50-C94E-095B-5690-96288453E92A}"/>
              </a:ext>
            </a:extLst>
          </p:cNvPr>
          <p:cNvSpPr txBox="1"/>
          <p:nvPr/>
        </p:nvSpPr>
        <p:spPr>
          <a:xfrm>
            <a:off x="1168400" y="6655002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E44D2A96-1B5A-A158-2216-BA2D44C6A241}"/>
              </a:ext>
            </a:extLst>
          </p:cNvPr>
          <p:cNvSpPr txBox="1"/>
          <p:nvPr/>
        </p:nvSpPr>
        <p:spPr>
          <a:xfrm>
            <a:off x="9652000" y="2413000"/>
            <a:ext cx="7721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: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cutoff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 The switch is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open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and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= 0.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435131E4-3B4C-BD0A-5B8E-944E0E7FC4DC}"/>
              </a:ext>
            </a:extLst>
          </p:cNvPr>
          <p:cNvSpPr txBox="1"/>
          <p:nvPr/>
        </p:nvSpPr>
        <p:spPr>
          <a:xfrm>
            <a:off x="9652000" y="3075582"/>
            <a:ext cx="7721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high and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small: deep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triode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 The switch is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closed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, with a small resistance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2" name="point @3">
            <a:extLst>
              <a:ext uri="{FF2B5EF4-FFF2-40B4-BE49-F238E27FC236}">
                <a16:creationId xmlns:a16="http://schemas.microsoft.com/office/drawing/2014/main" id="{BBF26C29-F961-2F73-86B6-B403BF6E0250}"/>
              </a:ext>
            </a:extLst>
          </p:cNvPr>
          <p:cNvSpPr txBox="1"/>
          <p:nvPr/>
        </p:nvSpPr>
        <p:spPr>
          <a:xfrm>
            <a:off x="9652000" y="4125962"/>
            <a:ext cx="7721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Driving the gate between these two states is the basis of digital logic.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51F7885E-DC41-7456-BB4A-6A44DDA5572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93259E66-E3DF-CF14-2A2B-2C6DB33C556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25688305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: three regions of oper s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2E5E4EE-E1EC-19EF-21F2-4EDD71493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Summary: three regions of operation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89D4F283-4F08-7DDC-7D56-7E407455714C}"/>
              </a:ext>
            </a:extLst>
          </p:cNvPr>
          <p:cNvSpPr/>
          <p:nvPr/>
        </p:nvSpPr>
        <p:spPr>
          <a:xfrm>
            <a:off x="914400" y="279400"/>
            <a:ext cx="241655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Lecture 3 · summary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F71A25F-DF1A-2197-6D5D-11D9B76E693E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52F93C4-92B7-F615-81F3-AA5EA3BA835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6AB4F14F-427A-1F7A-9A73-F19AFBFFACF0}"/>
              </a:ext>
            </a:extLst>
          </p:cNvPr>
          <p:cNvSpPr/>
          <p:nvPr/>
        </p:nvSpPr>
        <p:spPr>
          <a:xfrm>
            <a:off x="914400" y="2286000"/>
            <a:ext cx="16459200" cy="5588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D71FC81F-8490-00FF-3198-E7295E0BE98B}"/>
              </a:ext>
            </a:extLst>
          </p:cNvPr>
          <p:cNvSpPr txBox="1"/>
          <p:nvPr/>
        </p:nvSpPr>
        <p:spPr>
          <a:xfrm>
            <a:off x="1219200" y="2285999"/>
            <a:ext cx="2819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Poppins" panose="00000500000000000000" pitchFamily="2" charset="0"/>
              </a:rPr>
              <a:t>Region</a:t>
            </a:r>
          </a:p>
        </p:txBody>
      </p:sp>
      <p:sp>
        <p:nvSpPr>
          <p:cNvPr id="8" name="th">
            <a:extLst>
              <a:ext uri="{FF2B5EF4-FFF2-40B4-BE49-F238E27FC236}">
                <a16:creationId xmlns:a16="http://schemas.microsoft.com/office/drawing/2014/main" id="{820ECA0E-6685-E807-AEC5-45163C6D1CC3}"/>
              </a:ext>
            </a:extLst>
          </p:cNvPr>
          <p:cNvSpPr txBox="1"/>
          <p:nvPr/>
        </p:nvSpPr>
        <p:spPr>
          <a:xfrm>
            <a:off x="4343400" y="2285999"/>
            <a:ext cx="5156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Poppins" panose="00000500000000000000" pitchFamily="2" charset="0"/>
              </a:rPr>
              <a:t>Condition</a:t>
            </a:r>
          </a:p>
        </p:txBody>
      </p:sp>
      <p:sp>
        <p:nvSpPr>
          <p:cNvPr id="9" name="th">
            <a:extLst>
              <a:ext uri="{FF2B5EF4-FFF2-40B4-BE49-F238E27FC236}">
                <a16:creationId xmlns:a16="http://schemas.microsoft.com/office/drawing/2014/main" id="{75EBD108-F3F3-FBBB-8F3E-64C0D7E720EB}"/>
              </a:ext>
            </a:extLst>
          </p:cNvPr>
          <p:cNvSpPr txBox="1"/>
          <p:nvPr/>
        </p:nvSpPr>
        <p:spPr>
          <a:xfrm>
            <a:off x="9804400" y="2285999"/>
            <a:ext cx="7569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Poppins" panose="00000500000000000000" pitchFamily="2" charset="0"/>
              </a:rPr>
              <a:t>Drain current</a:t>
            </a:r>
          </a:p>
        </p:txBody>
      </p:sp>
      <p:sp>
        <p:nvSpPr>
          <p:cNvPr id="10" name="td">
            <a:extLst>
              <a:ext uri="{FF2B5EF4-FFF2-40B4-BE49-F238E27FC236}">
                <a16:creationId xmlns:a16="http://schemas.microsoft.com/office/drawing/2014/main" id="{AB800673-6783-DE12-9B23-7F5E9D48AC01}"/>
              </a:ext>
            </a:extLst>
          </p:cNvPr>
          <p:cNvSpPr txBox="1"/>
          <p:nvPr/>
        </p:nvSpPr>
        <p:spPr>
          <a:xfrm>
            <a:off x="1219200" y="29717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Poppins" panose="00000500000000000000" pitchFamily="2" charset="0"/>
              </a:rPr>
              <a:t>Cutoff</a:t>
            </a:r>
          </a:p>
        </p:txBody>
      </p:sp>
      <p:sp>
        <p:nvSpPr>
          <p:cNvPr id="11" name="td">
            <a:extLst>
              <a:ext uri="{FF2B5EF4-FFF2-40B4-BE49-F238E27FC236}">
                <a16:creationId xmlns:a16="http://schemas.microsoft.com/office/drawing/2014/main" id="{E6A8097E-C731-005D-E48D-B3717D82F9A7}"/>
              </a:ext>
            </a:extLst>
          </p:cNvPr>
          <p:cNvSpPr txBox="1"/>
          <p:nvPr/>
        </p:nvSpPr>
        <p:spPr>
          <a:xfrm>
            <a:off x="4343400" y="29717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≤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4308821C-C945-52DD-4B73-32B1D98CEACE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4308821C-C945-52DD-4B73-32B1D98CEACE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3" name="rule">
            <a:extLst>
              <a:ext uri="{FF2B5EF4-FFF2-40B4-BE49-F238E27FC236}">
                <a16:creationId xmlns:a16="http://schemas.microsoft.com/office/drawing/2014/main" id="{9A8E8873-E453-7413-5F08-3E4AF250FEF9}"/>
              </a:ext>
            </a:extLst>
          </p:cNvPr>
          <p:cNvCxnSpPr/>
          <p:nvPr/>
        </p:nvCxnSpPr>
        <p:spPr>
          <a:xfrm>
            <a:off x="914400" y="4089400"/>
            <a:ext cx="16459200" cy="0"/>
          </a:xfrm>
          <a:prstGeom prst="line">
            <a:avLst/>
          </a:prstGeom>
          <a:ln w="12700">
            <a:solidFill>
              <a:srgbClr val="D3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d">
            <a:extLst>
              <a:ext uri="{FF2B5EF4-FFF2-40B4-BE49-F238E27FC236}">
                <a16:creationId xmlns:a16="http://schemas.microsoft.com/office/drawing/2014/main" id="{A2559AFE-CBC8-1EA5-222F-502B7E1CFAD3}"/>
              </a:ext>
            </a:extLst>
          </p:cNvPr>
          <p:cNvSpPr txBox="1"/>
          <p:nvPr/>
        </p:nvSpPr>
        <p:spPr>
          <a:xfrm>
            <a:off x="1219200" y="41909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Poppins" panose="00000500000000000000" pitchFamily="2" charset="0"/>
              </a:rPr>
              <a:t>Triode</a:t>
            </a:r>
          </a:p>
        </p:txBody>
      </p:sp>
      <p:sp>
        <p:nvSpPr>
          <p:cNvPr id="15" name="td">
            <a:extLst>
              <a:ext uri="{FF2B5EF4-FFF2-40B4-BE49-F238E27FC236}">
                <a16:creationId xmlns:a16="http://schemas.microsoft.com/office/drawing/2014/main" id="{DC62D5B0-A4FF-85AE-FB19-B496008B036A}"/>
              </a:ext>
            </a:extLst>
          </p:cNvPr>
          <p:cNvSpPr txBox="1"/>
          <p:nvPr/>
        </p:nvSpPr>
        <p:spPr>
          <a:xfrm>
            <a:off x="4343400" y="41909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, 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D7529AAA-2B7D-4BD8-1FF2-9A598F5F86CF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D7529AAA-2B7D-4BD8-1FF2-9A598F5F86CF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7" name="rule">
            <a:extLst>
              <a:ext uri="{FF2B5EF4-FFF2-40B4-BE49-F238E27FC236}">
                <a16:creationId xmlns:a16="http://schemas.microsoft.com/office/drawing/2014/main" id="{A61C7235-74CF-CC45-447C-4CD6C90CC846}"/>
              </a:ext>
            </a:extLst>
          </p:cNvPr>
          <p:cNvCxnSpPr/>
          <p:nvPr/>
        </p:nvCxnSpPr>
        <p:spPr>
          <a:xfrm>
            <a:off x="914400" y="5308600"/>
            <a:ext cx="16459200" cy="0"/>
          </a:xfrm>
          <a:prstGeom prst="line">
            <a:avLst/>
          </a:prstGeom>
          <a:ln w="12700">
            <a:solidFill>
              <a:srgbClr val="D3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d">
            <a:extLst>
              <a:ext uri="{FF2B5EF4-FFF2-40B4-BE49-F238E27FC236}">
                <a16:creationId xmlns:a16="http://schemas.microsoft.com/office/drawing/2014/main" id="{BDA7E086-511E-33F5-193C-1FEE2A9C8409}"/>
              </a:ext>
            </a:extLst>
          </p:cNvPr>
          <p:cNvSpPr txBox="1"/>
          <p:nvPr/>
        </p:nvSpPr>
        <p:spPr>
          <a:xfrm>
            <a:off x="1219200" y="54101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Poppins" panose="00000500000000000000" pitchFamily="2" charset="0"/>
              </a:rPr>
              <a:t>Saturation</a:t>
            </a:r>
          </a:p>
        </p:txBody>
      </p:sp>
      <p:sp>
        <p:nvSpPr>
          <p:cNvPr id="19" name="td">
            <a:extLst>
              <a:ext uri="{FF2B5EF4-FFF2-40B4-BE49-F238E27FC236}">
                <a16:creationId xmlns:a16="http://schemas.microsoft.com/office/drawing/2014/main" id="{5CB3A866-4505-180D-C85A-DE1BBCDBD7E3}"/>
              </a:ext>
            </a:extLst>
          </p:cNvPr>
          <p:cNvSpPr txBox="1"/>
          <p:nvPr/>
        </p:nvSpPr>
        <p:spPr>
          <a:xfrm>
            <a:off x="4343400" y="54101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, 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≥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2122D70F-D1F3-A08A-CEA1-7E2BC9E86ECB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2122D70F-D1F3-A08A-CEA1-7E2BC9E86ECB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1" name="rule">
            <a:extLst>
              <a:ext uri="{FF2B5EF4-FFF2-40B4-BE49-F238E27FC236}">
                <a16:creationId xmlns:a16="http://schemas.microsoft.com/office/drawing/2014/main" id="{FCFF8052-5DBC-EA0C-E6A3-543912980453}"/>
              </a:ext>
            </a:extLst>
          </p:cNvPr>
          <p:cNvCxnSpPr/>
          <p:nvPr/>
        </p:nvCxnSpPr>
        <p:spPr>
          <a:xfrm>
            <a:off x="914400" y="6527800"/>
            <a:ext cx="16459200" cy="0"/>
          </a:xfrm>
          <a:prstGeom prst="line">
            <a:avLst/>
          </a:prstGeom>
          <a:ln w="12700">
            <a:solidFill>
              <a:srgbClr val="D3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int">
            <a:extLst>
              <a:ext uri="{FF2B5EF4-FFF2-40B4-BE49-F238E27FC236}">
                <a16:creationId xmlns:a16="http://schemas.microsoft.com/office/drawing/2014/main" id="{866E345C-C47E-D237-9604-E8765BA61D16}"/>
              </a:ext>
            </a:extLst>
          </p:cNvPr>
          <p:cNvSpPr txBox="1"/>
          <p:nvPr/>
        </p:nvSpPr>
        <p:spPr>
          <a:xfrm>
            <a:off x="914400" y="6883400"/>
            <a:ext cx="16459200" cy="3512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DC problems: </a:t>
            </a:r>
            <a:r>
              <a:rPr lang="en-US" sz="2200" b="1">
                <a:solidFill>
                  <a:srgbClr val="17262E"/>
                </a:solidFill>
                <a:latin typeface="Nunito" pitchFamily="2" charset="0"/>
              </a:rPr>
              <a:t>assume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a region, </a:t>
            </a:r>
            <a:r>
              <a:rPr lang="en-US" sz="2200" b="1">
                <a:solidFill>
                  <a:srgbClr val="17262E"/>
                </a:solidFill>
                <a:latin typeface="Nunito" pitchFamily="2" charset="0"/>
              </a:rPr>
              <a:t>solve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, then </a:t>
            </a:r>
            <a:r>
              <a:rPr lang="en-US" sz="2200" b="1">
                <a:solidFill>
                  <a:srgbClr val="17262E"/>
                </a:solidFill>
                <a:latin typeface="Nunito" pitchFamily="2" charset="0"/>
              </a:rPr>
              <a:t>check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the assumption.</a:t>
            </a:r>
          </a:p>
        </p:txBody>
      </p:sp>
      <p:sp>
        <p:nvSpPr>
          <p:cNvPr id="23" name="point">
            <a:extLst>
              <a:ext uri="{FF2B5EF4-FFF2-40B4-BE49-F238E27FC236}">
                <a16:creationId xmlns:a16="http://schemas.microsoft.com/office/drawing/2014/main" id="{91DC9E6B-91A9-2254-73C3-0FE7C0FBC553}"/>
              </a:ext>
            </a:extLst>
          </p:cNvPr>
          <p:cNvSpPr txBox="1"/>
          <p:nvPr/>
        </p:nvSpPr>
        <p:spPr>
          <a:xfrm>
            <a:off x="914400" y="7387050"/>
            <a:ext cx="16459200" cy="3512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Small signals: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g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m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= k′</a:t>
            </a:r>
            <a:r>
              <a:rPr lang="en-US" sz="2200" baseline="-25000">
                <a:solidFill>
                  <a:srgbClr val="17262E"/>
                </a:solidFill>
                <a:latin typeface="Nunito" pitchFamily="2" charset="0"/>
              </a:rPr>
              <a:t>n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(W/L)(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); a common-source stage has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A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= −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g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m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2200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24" name="chrome page">
            <a:extLst>
              <a:ext uri="{FF2B5EF4-FFF2-40B4-BE49-F238E27FC236}">
                <a16:creationId xmlns:a16="http://schemas.microsoft.com/office/drawing/2014/main" id="{348085DE-423B-5928-0C5C-3427E6FFBF3E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hrome page">
            <a:extLst>
              <a:ext uri="{FF2B5EF4-FFF2-40B4-BE49-F238E27FC236}">
                <a16:creationId xmlns:a16="http://schemas.microsoft.com/office/drawing/2014/main" id="{A2B59D26-9999-5591-0A8E-FBB9BF414D87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18686128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ing #nochrome s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BD303567-E0D8-ECA2-BE68-1DD5FE05E1AE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937250B-E713-681D-5640-1BA4AF67B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0" y="2921000"/>
            <a:ext cx="9652000" cy="1270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Thank you</a:t>
            </a:r>
          </a:p>
        </p:txBody>
      </p:sp>
      <p:cxnSp>
        <p:nvCxnSpPr>
          <p:cNvPr id="4" name="motif">
            <a:extLst>
              <a:ext uri="{FF2B5EF4-FFF2-40B4-BE49-F238E27FC236}">
                <a16:creationId xmlns:a16="http://schemas.microsoft.com/office/drawing/2014/main" id="{76622A57-52AE-A679-9D07-42D21BA05A8F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motif">
            <a:extLst>
              <a:ext uri="{FF2B5EF4-FFF2-40B4-BE49-F238E27FC236}">
                <a16:creationId xmlns:a16="http://schemas.microsoft.com/office/drawing/2014/main" id="{87C14B7A-6622-BC83-8EF1-669652C5F36C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motif">
            <a:extLst>
              <a:ext uri="{FF2B5EF4-FFF2-40B4-BE49-F238E27FC236}">
                <a16:creationId xmlns:a16="http://schemas.microsoft.com/office/drawing/2014/main" id="{A225FC30-E155-6AE3-64B6-61267559B2D2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motif">
            <a:extLst>
              <a:ext uri="{FF2B5EF4-FFF2-40B4-BE49-F238E27FC236}">
                <a16:creationId xmlns:a16="http://schemas.microsoft.com/office/drawing/2014/main" id="{C813B7B0-3FB7-660A-CF33-4AA8ADB4C5D7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motif">
            <a:extLst>
              <a:ext uri="{FF2B5EF4-FFF2-40B4-BE49-F238E27FC236}">
                <a16:creationId xmlns:a16="http://schemas.microsoft.com/office/drawing/2014/main" id="{9CE83C23-0409-35F9-095F-CABF1C60A966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otif">
            <a:extLst>
              <a:ext uri="{FF2B5EF4-FFF2-40B4-BE49-F238E27FC236}">
                <a16:creationId xmlns:a16="http://schemas.microsoft.com/office/drawing/2014/main" id="{A823D8A3-E7A5-7976-F34A-F20D66579228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otif">
            <a:extLst>
              <a:ext uri="{FF2B5EF4-FFF2-40B4-BE49-F238E27FC236}">
                <a16:creationId xmlns:a16="http://schemas.microsoft.com/office/drawing/2014/main" id="{08FDE3B1-44C8-87EB-291F-FA724B843A4E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otif">
            <a:extLst>
              <a:ext uri="{FF2B5EF4-FFF2-40B4-BE49-F238E27FC236}">
                <a16:creationId xmlns:a16="http://schemas.microsoft.com/office/drawing/2014/main" id="{F467641A-61EF-CEE2-E17D-0BF3A1D4E23C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otif">
            <a:extLst>
              <a:ext uri="{FF2B5EF4-FFF2-40B4-BE49-F238E27FC236}">
                <a16:creationId xmlns:a16="http://schemas.microsoft.com/office/drawing/2014/main" id="{DAF50217-E183-D074-51B7-E880E662AA92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ag">
            <a:extLst>
              <a:ext uri="{FF2B5EF4-FFF2-40B4-BE49-F238E27FC236}">
                <a16:creationId xmlns:a16="http://schemas.microsoft.com/office/drawing/2014/main" id="{2F35122A-C919-571E-4AE4-2362BEF98858}"/>
              </a:ext>
            </a:extLst>
          </p:cNvPr>
          <p:cNvSpPr/>
          <p:nvPr/>
        </p:nvSpPr>
        <p:spPr>
          <a:xfrm>
            <a:off x="1422400" y="4826000"/>
            <a:ext cx="169468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Next lecture</a:t>
            </a:r>
          </a:p>
        </p:txBody>
      </p:sp>
      <p:sp>
        <p:nvSpPr>
          <p:cNvPr id="14" name="next">
            <a:extLst>
              <a:ext uri="{FF2B5EF4-FFF2-40B4-BE49-F238E27FC236}">
                <a16:creationId xmlns:a16="http://schemas.microsoft.com/office/drawing/2014/main" id="{1E5E4E8C-20A0-5E01-8D55-F3C331C4B760}"/>
              </a:ext>
            </a:extLst>
          </p:cNvPr>
          <p:cNvSpPr txBox="1"/>
          <p:nvPr/>
        </p:nvSpPr>
        <p:spPr>
          <a:xfrm>
            <a:off x="1422400" y="5333999"/>
            <a:ext cx="8890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7262E"/>
                </a:solidFill>
                <a:latin typeface="Poppins" panose="00000500000000000000" pitchFamily="2" charset="0"/>
              </a:rPr>
              <a:t>Lecture 4: Bipolar junction transistors (BJTs)</a:t>
            </a:r>
          </a:p>
        </p:txBody>
      </p:sp>
      <p:sp>
        <p:nvSpPr>
          <p:cNvPr id="15" name="thanks">
            <a:extLst>
              <a:ext uri="{FF2B5EF4-FFF2-40B4-BE49-F238E27FC236}">
                <a16:creationId xmlns:a16="http://schemas.microsoft.com/office/drawing/2014/main" id="{CFBE5579-905F-F065-5531-E08280830BA3}"/>
              </a:ext>
            </a:extLst>
          </p:cNvPr>
          <p:cNvSpPr txBox="1"/>
          <p:nvPr/>
        </p:nvSpPr>
        <p:spPr>
          <a:xfrm>
            <a:off x="1422400" y="6603999"/>
            <a:ext cx="965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With thanks to </a:t>
            </a:r>
            <a:r>
              <a:rPr lang="en-US" sz="2000" b="1">
                <a:solidFill>
                  <a:srgbClr val="4F5E66"/>
                </a:solidFill>
                <a:latin typeface="Nunito" pitchFamily="2" charset="0"/>
              </a:rPr>
              <a:t>Dr. Sameh Osama Ezzat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, who prepared the original material for this lecture.</a:t>
            </a:r>
          </a:p>
        </p:txBody>
      </p:sp>
      <p:sp>
        <p:nvSpPr>
          <p:cNvPr id="16" name="sources">
            <a:extLst>
              <a:ext uri="{FF2B5EF4-FFF2-40B4-BE49-F238E27FC236}">
                <a16:creationId xmlns:a16="http://schemas.microsoft.com/office/drawing/2014/main" id="{989591FD-21EB-7F27-19B1-C93FF9B7C110}"/>
              </a:ext>
            </a:extLst>
          </p:cNvPr>
          <p:cNvSpPr txBox="1"/>
          <p:nvPr/>
        </p:nvSpPr>
        <p:spPr>
          <a:xfrm>
            <a:off x="1422400" y="7492999"/>
            <a:ext cx="965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F5E66"/>
                </a:solidFill>
                <a:latin typeface="Nunito" pitchFamily="2" charset="0"/>
              </a:rPr>
              <a:t>Figures: Sedra &amp; Smith, Microelectronic Circuits (Oxford University Press); other diagrams from web sources via the original slides.</a:t>
            </a:r>
          </a:p>
        </p:txBody>
      </p:sp>
    </p:spTree>
    <p:extLst>
      <p:ext uri="{BB962C8B-B14F-4D97-AF65-F5344CB8AC3E}">
        <p14:creationId xmlns:p14="http://schemas.microsoft.com/office/powerpoint/2010/main" val="3493643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5293</Words>
  <Application>Microsoft Office PowerPoint</Application>
  <PresentationFormat>Custom</PresentationFormat>
  <Paragraphs>712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9" baseType="lpstr">
      <vt:lpstr>Aptos</vt:lpstr>
      <vt:lpstr>Aptos Display</vt:lpstr>
      <vt:lpstr>Arial</vt:lpstr>
      <vt:lpstr>Cambria Math</vt:lpstr>
      <vt:lpstr>Nunito</vt:lpstr>
      <vt:lpstr>Poppins</vt:lpstr>
      <vt:lpstr>Office Theme</vt:lpstr>
      <vt:lpstr>MOSFETs</vt:lpstr>
      <vt:lpstr>Lecture map</vt:lpstr>
      <vt:lpstr>Structure and operation</vt:lpstr>
      <vt:lpstr>The n-channel enhancement MOSFET</vt:lpstr>
      <vt:lpstr>The n-channel enhancement MOSFET</vt:lpstr>
      <vt:lpstr>The n-channel enhancement MOSFET</vt:lpstr>
      <vt:lpstr>With no gate voltage, no current flows</vt:lpstr>
      <vt:lpstr>With no gate voltage, no current flows</vt:lpstr>
      <vt:lpstr>With no gate voltage, no current flows</vt:lpstr>
      <vt:lpstr>Creating a channel: the threshold voltage</vt:lpstr>
      <vt:lpstr>Creating a channel: the threshold voltage</vt:lpstr>
      <vt:lpstr>Creating a channel: the threshold voltage</vt:lpstr>
      <vt:lpstr>Increasing vDS: the channel tapers and pinches off</vt:lpstr>
      <vt:lpstr>Increasing vDS: the channel tapers and pinches off</vt:lpstr>
      <vt:lpstr>Increasing vDS: the channel tapers and pinches off</vt:lpstr>
      <vt:lpstr>CMOS: NMOS and PMOS on one chip</vt:lpstr>
      <vt:lpstr>CMOS: NMOS and PMOS on one chip</vt:lpstr>
      <vt:lpstr>Circuit symbols: n-channel and p-channel</vt:lpstr>
      <vt:lpstr>Circuit symbols: n-channel and p-channel</vt:lpstr>
      <vt:lpstr>I–V characteristics</vt:lpstr>
      <vt:lpstr>The iD–vDS family of curves</vt:lpstr>
      <vt:lpstr>The iD–vDS family of curves</vt:lpstr>
      <vt:lpstr>The iD–vDS family of curves</vt:lpstr>
      <vt:lpstr>The iD–vDS family of curves</vt:lpstr>
      <vt:lpstr>In saturation, iD depends only on vGS</vt:lpstr>
      <vt:lpstr>In saturation, iD depends only on vGS</vt:lpstr>
      <vt:lpstr>In saturation, iD depends only on vGS</vt:lpstr>
      <vt:lpstr>Triode and saturation: one curve, two equations</vt:lpstr>
      <vt:lpstr>Triode and saturation: one curve, two equations</vt:lpstr>
      <vt:lpstr>Triode and saturation: one curve, two equations</vt:lpstr>
      <vt:lpstr>Triode and saturation: one curve, two equations</vt:lpstr>
      <vt:lpstr>Small vDS: a voltage-controlled resistor</vt:lpstr>
      <vt:lpstr>Small vDS: a voltage-controlled resistor</vt:lpstr>
      <vt:lpstr>Small vDS: a voltage-controlled resistor</vt:lpstr>
      <vt:lpstr>Large-signal model in saturation</vt:lpstr>
      <vt:lpstr>Large-signal model in saturation</vt:lpstr>
      <vt:lpstr>Large-signal model in saturation</vt:lpstr>
      <vt:lpstr>MOSFETs in DC circuits</vt:lpstr>
      <vt:lpstr>DC analysis: assume, solve, check</vt:lpstr>
      <vt:lpstr>DC analysis: assume, solve, check</vt:lpstr>
      <vt:lpstr>DC analysis: assume, solve, check</vt:lpstr>
      <vt:lpstr>DC analysis: assume, solve, check</vt:lpstr>
      <vt:lpstr>Example: find the drain voltage</vt:lpstr>
      <vt:lpstr>Example: find the drain voltage</vt:lpstr>
      <vt:lpstr>Example: find the drain voltage</vt:lpstr>
      <vt:lpstr>Example: find the drain voltage</vt:lpstr>
      <vt:lpstr>Example: find the drain voltage</vt:lpstr>
      <vt:lpstr>Example: find the drain voltage</vt:lpstr>
      <vt:lpstr>The current mirror</vt:lpstr>
      <vt:lpstr>The current mirror</vt:lpstr>
      <vt:lpstr>The current mirror</vt:lpstr>
      <vt:lpstr>The MOSFET as an amplifier</vt:lpstr>
      <vt:lpstr>Amplifier action: the load line</vt:lpstr>
      <vt:lpstr>Amplifier action: the load line</vt:lpstr>
      <vt:lpstr>Amplifier action: the load line</vt:lpstr>
      <vt:lpstr>Small-signal operation: the transconductance gm</vt:lpstr>
      <vt:lpstr>Small-signal operation: the transconductance gm</vt:lpstr>
      <vt:lpstr>Small-signal operation: the transconductance gm</vt:lpstr>
      <vt:lpstr>Small-signal operation: the transconductance gm</vt:lpstr>
      <vt:lpstr>Small-signal equivalent circuits</vt:lpstr>
      <vt:lpstr>Small-signal equivalent circuits</vt:lpstr>
      <vt:lpstr>Example: gain and input resistance</vt:lpstr>
      <vt:lpstr>Example: gain and input resistance</vt:lpstr>
      <vt:lpstr>Example: gain and input resistance</vt:lpstr>
      <vt:lpstr>Example: gain and input resistance</vt:lpstr>
      <vt:lpstr>Example: gain and input resistance</vt:lpstr>
      <vt:lpstr>The MOSFET as a switch</vt:lpstr>
      <vt:lpstr>The MOSFET as a switch</vt:lpstr>
      <vt:lpstr>The MOSFET as a switch</vt:lpstr>
      <vt:lpstr>The MOSFET as a switch</vt:lpstr>
      <vt:lpstr>Summary: three regions of operation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2</cp:revision>
  <dcterms:created xsi:type="dcterms:W3CDTF">2026-10-01T04:27:28Z</dcterms:created>
  <dcterms:modified xsi:type="dcterms:W3CDTF">2026-10-01T04:28:21Z</dcterms:modified>
</cp:coreProperties>
</file>